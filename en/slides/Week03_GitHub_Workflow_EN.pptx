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  <ns0:sldId id="271" ns1:id="rId17"/>
    <ns0:sldId id="272" ns1:id="rId18"/>
    <ns0:sldId id="273" ns1:id="rId19"/>
    <ns0:sldId id="274" ns1:id="rId20"/>
    <ns0:sldId id="275" ns1:id="rId21"/>
    <ns0:sldId id="276" ns1:id="rId22"/>
  </ns0:sldIdLst>
  <ns0:notesMasterIdLst>
    <ns0:notesMasterId ns1:id="rId23"/>
  </ns0:notesMasterIdLst>
  <ns0:sldSz cx="12192000" cy="6858000"/>
  <ns0:notesSz cx="6858000" cy="12192000"/>
  <ns0:defaultTextStyle>
    <ns2:lvl1pPr marL="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1pPr>
    <ns2:lvl2pPr marL="4572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2pPr>
    <ns2:lvl3pPr marL="9144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3pPr>
    <ns2:lvl4pPr marL="13716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4pPr>
    <ns2:lvl5pPr marL="18288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5pPr>
    <ns2:lvl6pPr marL="22860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6pPr>
    <ns2:lvl7pPr marL="27432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7pPr>
    <ns2:lvl8pPr marL="32004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8pPr>
    <ns2:lvl9pPr marL="36576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9pPr>
  </ns0:defaultTextStyle>
</ns0:presentation>
</file>

<file path=ppt/presProps.xml><?xml version="1.0" encoding="utf-8"?>
<ns0:presentationPr xmlns:ns0="http://schemas.openxmlformats.org/presentationml/2006/main"/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normalViewPr horzBarState="maximized">
    <ns0:restoredLeft sz="15611"/>
    <ns0:restoredTop sz="94610"/>
  </ns0:normalViewPr>
  <ns0:slideViewPr>
    <ns0:cSldViewPr snapToGrid="0" snapToObjects="1">
      <ns0:cViewPr varScale="1">
        <ns0:scale>
          <ns1:sx n="136" d="100"/>
          <ns1:sy n="136" d="100"/>
        </ns0:scale>
        <ns0:origin x="216" y="312"/>
      </ns0:cViewPr>
      <ns0:guideLst/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6200" cy="76200"/>
</ns0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ns0:notesMaster xmlns:ns0="http://schemas.openxmlformats.org/presentationml/2006/main" xmlns:ns1="http://schemas.openxmlformats.org/drawingml/2006/main" xmlns:ns2="http://schemas.microsoft.com/office/powerpoint/2010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Header Placeholder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fld id="{5282F153-3F37-0F45-9E97-73ACFA13230C}" type="datetimeFigureOut">
              <ns1:rPr lang="ja-JP">
                <ns1:latin typeface="Meiryo"/>
                <ns1:ea typeface="Meiryo"/>
                <ns1:cs typeface="Meiryo"/>
              </ns1:rPr>
              <ns1:t>7/23/19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Image Placeholder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Notes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ja-JP">
                <ns1:latin typeface="Meiryo"/>
                <ns1:ea typeface="Meiryo"/>
                <ns1:cs typeface="Meiryo"/>
              </ns1:rPr>
              <ns1:t>Click to edit Master text styles</ns1:t>
            </ns1:r>
          </ns1:p>
          <ns1:p>
            <ns1:pPr lvl="1"/>
            <ns1:r>
              <ns1:rPr lang="ja-JP">
                <ns1:latin typeface="Meiryo"/>
                <ns1:ea typeface="Meiryo"/>
                <ns1:cs typeface="Meiryo"/>
              </ns1:rPr>
              <ns1:t>Second level</ns1:t>
            </ns1:r>
          </ns1:p>
          <ns1:p>
            <ns1:pPr lvl="2"/>
            <ns1:r>
              <ns1:rPr lang="ja-JP">
                <ns1:latin typeface="Meiryo"/>
                <ns1:ea typeface="Meiryo"/>
                <ns1:cs typeface="Meiryo"/>
              </ns1:rPr>
              <ns1:t>Third level</ns1:t>
            </ns1:r>
          </ns1:p>
          <ns1:p>
            <ns1:pPr lvl="3"/>
            <ns1:r>
              <ns1:rPr lang="ja-JP">
                <ns1:latin typeface="Meiryo"/>
                <ns1:ea typeface="Meiryo"/>
                <ns1:cs typeface="Meiryo"/>
              </ns1:rPr>
              <ns1:t>Fourth level</ns1:t>
            </ns1:r>
          </ns1:p>
          <ns1:p>
            <ns1:pPr lvl="4"/>
            <ns1:r>
              <ns1:rPr lang="ja-JP">
                <ns1:latin typeface="Meiryo"/>
                <ns1:ea typeface="Meiryo"/>
                <ns1:cs typeface="Meiryo"/>
              </ns1:rPr>
              <ns1:t>Fifth level</ns1:t>
            </ns1: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fld id="{CE5E9CC1-C706-0F49-92D6-E571CC5EEA8F}" type="slidenum">
              <ns1:rPr lang="ja-JP">
                <ns1:latin typeface="Meiryo"/>
                <ns1:ea typeface="Meiryo"/>
                <ns1:cs typeface="Meiryo"/>
              </ns1:rPr>
              <ns1:t>‹#›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1pPr>
    <ns1:lvl2pPr marL="4572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2pPr>
    <ns1:lvl3pPr marL="9144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3pPr>
    <ns1:lvl4pPr marL="13716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4pPr>
    <ns1:lvl5pPr marL="18288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5pPr>
    <ns1:lvl6pPr marL="22860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6pPr>
    <ns1:lvl7pPr marL="27432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7pPr>
    <ns1:lvl8pPr marL="32004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8pPr>
    <ns1:lvl9pPr marL="36576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9pPr>
  </ns0:notesStyle>
</ns0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https://docs.github.com/en/desktop/making-changes-in-a-branch/committing-and-reviewing-changes-to-your-project-in-github-desktop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schematic of the controls, not a service screenshot. Their positions may change.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schematic of the controls, not a service screenshot. Their positions may change.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schematic of the controls, not a service screenshot. Their positions may change.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schematic of the controls, not a service screenshot. Their positions may change.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Use en/assets/week03/practice.txt and add it to the student’s private repository. Commit directly to main where available; ask the instructor if branch protection prevents this. The illustrated procedure is a schematic.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https://docs.github.com/en/repositories/working-with-files/managing-files/adding-a-file-to-a-repository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Add the copyable link line to week03/README.md. The relative path practice.txt works when the file is in the same folder. Update the link if the filename changes. Markdown syntax need not be memorized.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https://docs.github.com/en/desktop/making-changes-in-a-branch/pushing-changes-to-github-from-github-desktop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https://docs.github.com/en/desktop/adding-and-cloning-repositories/cloning-and-forking-repositories-from-github-desktop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https://docs.github.com/en/desktop/making-changes-in-a-branch/committing-and-reviewing-changes-to-your-project-in-github-desktop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https://docs.github.com/en/desktop/making-changes-in-a-branch/pushing-changes-to-github-from-github-desktop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preserve="1">
  <ns0:cSld name="DEFAULT"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3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03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Can you explain&#10;what you changed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Can you explain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what you changed?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3: Edit, compare and commit.&#10;Check the version you submit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3: Edit, compare and commit.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Check the version you submit.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git-commit-horizo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nnecting three operat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Connecting three operations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Edit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Edit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dd a short text&#10;and revise it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a short text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revise it.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git-bra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Compare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Compare the text&#10;before and after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the text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and after.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uplo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Identify the version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25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Identify the version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Submit its&#10;commit URL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its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URL.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3  02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02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Git and GitHub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Git and GitHub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:Records file change history.&#10;A commit saves a version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Records file change history.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commit saves a version.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Hosts files managed with Git.&#10;You can also edit them&#10;in a browser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Hosts files managed with Git.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 can also edit them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a browser.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3  03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03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One file, different vers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One file, different versions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2144" y="2093976"/>
            <a:ext cx="3694176" cy="0"/>
          </a:xfrm>
          <a:prstGeom prst="line">
            <a:avLst/>
          </a:prstGeom>
          <a:noFill/>
          <a:ln w="38100">
            <a:solidFill>
              <a:srgbClr val="007F82"/>
            </a:solidFill>
            <a:prstDash val="solid"/>
          </a:ln>
        </p:spPr>
      </p:sp>
      <p:pic>
        <p:nvPicPr>
          <p:cNvPr id="5" name="Image 0" descr="Lucide git-commit-horizo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19656"/>
            <a:ext cx="566928" cy="566928"/>
          </a:xfrm>
          <a:prstGeom prst="rect">
            <a:avLst/>
          </a:prstGeom>
        </p:spPr>
      </p:pic>
      <p:sp>
        <p:nvSpPr>
          <p:cNvPr id="6" name="Text 3:First version"/>
          <p:cNvSpPr txBox="1"/>
          <p:nvPr/>
        </p:nvSpPr>
        <p:spPr>
          <a:xfrm>
            <a:off x="914400" y="27980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First version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7" name="Text 4:Ask AI for an explanation"/>
          <p:cNvSpPr txBox="1"/>
          <p:nvPr/>
        </p:nvSpPr>
        <p:spPr>
          <a:xfrm>
            <a:off x="914400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 AI for an explanation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46320" y="2093976"/>
            <a:ext cx="3694176" cy="0"/>
          </a:xfrm>
          <a:prstGeom prst="line">
            <a:avLst/>
          </a:prstGeom>
          <a:noFill/>
          <a:ln w="38100">
            <a:solidFill>
              <a:srgbClr val="007F82"/>
            </a:solidFill>
            <a:prstDash val="solid"/>
          </a:ln>
        </p:spPr>
      </p:sp>
      <p:pic>
        <p:nvPicPr>
          <p:cNvPr id="9" name="Image 1" descr="Lucide git-commit-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819656"/>
            <a:ext cx="566928" cy="566928"/>
          </a:xfrm>
          <a:prstGeom prst="rect">
            <a:avLst/>
          </a:prstGeom>
        </p:spPr>
      </p:pic>
      <p:sp>
        <p:nvSpPr>
          <p:cNvPr id="10" name="Text 6:Revised version"/>
          <p:cNvSpPr txBox="1"/>
          <p:nvPr/>
        </p:nvSpPr>
        <p:spPr>
          <a:xfrm>
            <a:off x="4608576" y="27980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Revised version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1" name="Text 7:Add information&#10;checked against a source"/>
          <p:cNvSpPr txBox="1"/>
          <p:nvPr/>
        </p:nvSpPr>
        <p:spPr>
          <a:xfrm>
            <a:off x="4608576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information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checked against a source</a:t>
            </a:r>
            <a:endParaRPr sz="2400">
              <a:latin typeface="Meiryo"/>
              <a:ea typeface="Meiryo"/>
              <a:cs typeface="Meiryo"/>
            </a:endParaRPr>
          </a:p>
        </p:txBody>
      </p:sp>
      <p:pic>
        <p:nvPicPr>
          <p:cNvPr id="12" name="Image 2" descr="Lucide git-commit-horizon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19656"/>
            <a:ext cx="566928" cy="566928"/>
          </a:xfrm>
          <a:prstGeom prst="rect">
            <a:avLst/>
          </a:prstGeom>
        </p:spPr>
      </p:pic>
      <p:sp>
        <p:nvSpPr>
          <p:cNvPr id="13" name="Text 8:Submitted version"/>
          <p:cNvSpPr txBox="1"/>
          <p:nvPr/>
        </p:nvSpPr>
        <p:spPr>
          <a:xfrm>
            <a:off x="8302752" y="27980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Submitted version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4" name="Text 9:Read it again and&#10;choose the version to submit"/>
          <p:cNvSpPr txBox="1"/>
          <p:nvPr/>
        </p:nvSpPr>
        <p:spPr>
          <a:xfrm>
            <a:off x="8302752" y="3666744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it again and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the version to submit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A change history alone does not prove accuracy or who did the work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change history alone does not prove accuracy or who did the work.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3  04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04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own week03 folder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own week03 folder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0" cy="530352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6824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ai-learning / week03 / README.md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0976" y="2350008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:Check your own account name"/>
          <p:cNvSpPr txBox="1"/>
          <p:nvPr/>
        </p:nvSpPr>
        <p:spPr>
          <a:xfrm>
            <a:off x="1124712" y="2505456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your own account name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0976" y="3246120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4712" y="3401568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week03 → README.md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0976" y="4142232"/>
            <a:ext cx="5742432" cy="768096"/>
          </a:xfrm>
          <a:prstGeom prst="rect">
            <a:avLst/>
          </a:prstGeom>
          <a:solidFill>
            <a:srgbClr val="EAF4F3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2" name="Text 10:Pencil edit button"/>
          <p:cNvSpPr txBox="1"/>
          <p:nvPr/>
        </p:nvSpPr>
        <p:spPr>
          <a:xfrm>
            <a:off x="1124712" y="4297680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Pencil edit button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3" name="Text 11:Diagram of the controls to use"/>
          <p:cNvSpPr txBox="1"/>
          <p:nvPr/>
        </p:nvSpPr>
        <p:spPr>
          <a:xfrm>
            <a:off x="822960" y="52303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Diagram of the controls to use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06640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:Open your own repository&#10;for your work."/>
          <p:cNvSpPr txBox="1"/>
          <p:nvPr/>
        </p:nvSpPr>
        <p:spPr>
          <a:xfrm>
            <a:off x="7936992" y="1682496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your own repository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your work.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06640" y="29809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:Open week03."/>
          <p:cNvSpPr txBox="1"/>
          <p:nvPr/>
        </p:nvSpPr>
        <p:spPr>
          <a:xfrm>
            <a:off x="7936992" y="2980944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week03.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06640" y="4279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Text 17:Edit README.md."/>
          <p:cNvSpPr txBox="1"/>
          <p:nvPr/>
        </p:nvSpPr>
        <p:spPr>
          <a:xfrm>
            <a:off x="7936992" y="4279392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Edit README.md.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20" name="Text 1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1" name="Text 19:Week 03  05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05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riting a short learning record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Writing a short learning record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Enter this in the README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Enter this in the README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## What I delegated to AI&#10;I asked AI to explain a term.&#10;I followed up on the part I did not understand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## What I delegated to AI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asked AI to explain a term.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followed up on the part I did not understand.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This is an editing example. Replace it with what you actually did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This is an editing example. Replace it with what you actually did.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3  06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06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first com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first commit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0" cy="530352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6824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Commit changes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0976" y="2350008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:Message: Add a learning record"/>
          <p:cNvSpPr txBox="1"/>
          <p:nvPr/>
        </p:nvSpPr>
        <p:spPr>
          <a:xfrm>
            <a:off x="1124712" y="2505456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Message: Add a learning record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0976" y="3246120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:Check your changes"/>
          <p:cNvSpPr txBox="1"/>
          <p:nvPr/>
        </p:nvSpPr>
        <p:spPr>
          <a:xfrm>
            <a:off x="1124712" y="3401568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your changes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0976" y="4142232"/>
            <a:ext cx="5742432" cy="768096"/>
          </a:xfrm>
          <a:prstGeom prst="rect">
            <a:avLst/>
          </a:prstGeom>
          <a:solidFill>
            <a:srgbClr val="EAF4F3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4712" y="4297680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Commit changes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Diagram of the controls to use"/>
          <p:cNvSpPr txBox="1"/>
          <p:nvPr/>
        </p:nvSpPr>
        <p:spPr>
          <a:xfrm>
            <a:off x="822960" y="52303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Diagram of the controls to use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06640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:Check the display&#10;in Preview."/>
          <p:cNvSpPr txBox="1"/>
          <p:nvPr/>
        </p:nvSpPr>
        <p:spPr>
          <a:xfrm>
            <a:off x="7936992" y="1682496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display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Preview.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06640" y="29809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rite a short commit message."/>
          <p:cNvSpPr txBox="1"/>
          <p:nvPr/>
        </p:nvSpPr>
        <p:spPr>
          <a:xfrm>
            <a:off x="7936992" y="2980944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a short commit message.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06640" y="4279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Text 17:Select Commit changes&#10;to save."/>
          <p:cNvSpPr txBox="1"/>
          <p:nvPr/>
        </p:nvSpPr>
        <p:spPr>
          <a:xfrm>
            <a:off x="7936992" y="4279392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Select Commit changes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88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to save.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20" name="Text 1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1" name="Text 19:Week 03  07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07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dding your own chec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Adding your own check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Enter this in the README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Enter this in the README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I checked the term in the course material.&#10;Its meaning matched AI's explanation.&#10;&#10;Write what you actually checked yourself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the term in the course material.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Its meaning matched AI's explanation.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what you actually checked yourself.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Keep the first text and add a record of your check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Keep the first text and add a record of your check.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3  08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08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dded lines in the diff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added lines in the diff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63624"/>
            <a:ext cx="10908792" cy="400507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Existing text"/>
          <p:cNvSpPr txBox="1"/>
          <p:nvPr/>
        </p:nvSpPr>
        <p:spPr>
          <a:xfrm>
            <a:off x="932688" y="18288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0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Existing text</a:t>
            </a:r>
            <a:endParaRPr sz="2000">
              <a:latin typeface="Meiryo"/>
              <a:ea typeface="Meiryo"/>
              <a:cs typeface="Meiryo"/>
            </a:endParaRPr>
          </a:p>
        </p:txBody>
      </p:sp>
      <p:sp>
        <p:nvSpPr>
          <p:cNvPr id="6" name="Text 4:I asked AI to explain a term.&#10;I followed up on the unclear part."/>
          <p:cNvSpPr txBox="1"/>
          <p:nvPr/>
        </p:nvSpPr>
        <p:spPr>
          <a:xfrm>
            <a:off x="978408" y="2450592"/>
            <a:ext cx="99669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asked AI to explain a term.</a:t>
            </a:r>
            <a:endParaRPr sz="25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followed up on the unclear part.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3816" y="3840480"/>
            <a:ext cx="10561320" cy="144475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0690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9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ja-JP" sz="29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I checked its meaning in the course material.&#10;It matched AI's explanation."/>
          <p:cNvSpPr txBox="1"/>
          <p:nvPr/>
        </p:nvSpPr>
        <p:spPr>
          <a:xfrm>
            <a:off x="1691640" y="4023360"/>
            <a:ext cx="9400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its meaning in the course material.</a:t>
            </a:r>
            <a:endParaRPr sz="25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matched AI's explanation.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10" name="Text 8:Read the text and the + markers. Color alone is insufficient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Read the text and the + markers. Color alone is insufficient.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3  09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09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Opening the second com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Opening the second commit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0" cy="530352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6824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/ Commits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0976" y="2350008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:Add what I checked"/>
          <p:cNvSpPr txBox="1"/>
          <p:nvPr/>
        </p:nvSpPr>
        <p:spPr>
          <a:xfrm>
            <a:off x="1124712" y="2505456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what I checked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0976" y="3246120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:Changed file: README.md"/>
          <p:cNvSpPr txBox="1"/>
          <p:nvPr/>
        </p:nvSpPr>
        <p:spPr>
          <a:xfrm>
            <a:off x="1124712" y="3401568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Changed file: README.md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0976" y="4142232"/>
            <a:ext cx="5742432" cy="768096"/>
          </a:xfrm>
          <a:prstGeom prst="rect">
            <a:avLst/>
          </a:prstGeom>
          <a:solidFill>
            <a:srgbClr val="EAF4F3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2" name="Text 10:Check the added lines"/>
          <p:cNvSpPr txBox="1"/>
          <p:nvPr/>
        </p:nvSpPr>
        <p:spPr>
          <a:xfrm>
            <a:off x="1124712" y="4297680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added lines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3" name="Text 11:Diagram of the controls to use"/>
          <p:cNvSpPr txBox="1"/>
          <p:nvPr/>
        </p:nvSpPr>
        <p:spPr>
          <a:xfrm>
            <a:off x="822960" y="52303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Diagram of the controls to use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06640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:Commit the new&#10;changes again."/>
          <p:cNvSpPr txBox="1"/>
          <p:nvPr/>
        </p:nvSpPr>
        <p:spPr>
          <a:xfrm>
            <a:off x="7936992" y="1682496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the new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changes again.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06640" y="29809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:Open the history&#10;and select the commit."/>
          <p:cNvSpPr txBox="1"/>
          <p:nvPr/>
        </p:nvSpPr>
        <p:spPr>
          <a:xfrm>
            <a:off x="7936992" y="2980944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2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the history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32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select the commit.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06640" y="4279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Text 17:Check the lines&#10;you added."/>
          <p:cNvSpPr txBox="1"/>
          <p:nvPr/>
        </p:nvSpPr>
        <p:spPr>
          <a:xfrm>
            <a:off x="7936992" y="4279392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lines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 added.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20" name="Text 1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1" name="Text 19:Week 03  10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10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commit URL identifies your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commit URL identifies your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Repository URL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Repository URL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github.com/your-username/ai-learning&#10;&#10;Opens the whole repository.&#10;It does not fix a submitted version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github.com/your-username/ai-learning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Opens the whole repository.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does not fix a submitted version.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Submitted version URL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Submitted version URL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github.com/your-username/ai-learning&#10;/commit/commit-hash&#10;&#10;Identifies this commit's version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github.com/your-username/ai-learning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/commit/commit-hash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Identifies this commit's version.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These are examples. Copy the displayed URL rather than typing a commit hash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These are examples. Copy the displayed URL rather than typing a commit hash.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3  11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11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ll the files in your submitt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All the files in your submitted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Open the commit you will submit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the commit you will submit.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This page mainly shows the files changed in that commit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This page mainly shows the files changed in that commit.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version using Browse files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version using Browse files.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You can inspect all files as they were at that commit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You can inspect all files as they were at that commit.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Open week03 and its README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week03 and its README.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heck that this version contains every required file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this version contains every required file.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file may be in this version even when it does not appear in the latest diff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file may be in this version even when it does not appear in the latest diff.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3  12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12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dding a practice fil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Adding a practice file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00" cy="530352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6824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ai-learning / week03 / Upload files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0976" y="2350008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4712" y="2505456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Add file → Upload files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0976" y="3246120"/>
            <a:ext cx="57424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:Select practice.txt"/>
          <p:cNvSpPr txBox="1"/>
          <p:nvPr/>
        </p:nvSpPr>
        <p:spPr>
          <a:xfrm>
            <a:off x="1124712" y="3401568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Select practice.txt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0976" y="4142232"/>
            <a:ext cx="5742432" cy="768096"/>
          </a:xfrm>
          <a:prstGeom prst="rect">
            <a:avLst/>
          </a:prstGeom>
          <a:solidFill>
            <a:srgbClr val="EAF4F3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2" name="Text 10:Write a message and commit"/>
          <p:cNvSpPr txBox="1"/>
          <p:nvPr/>
        </p:nvSpPr>
        <p:spPr>
          <a:xfrm>
            <a:off x="1124712" y="4297680"/>
            <a:ext cx="5394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a message and commit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3" name="Text 11:Diagram of the controls to use"/>
          <p:cNvSpPr txBox="1"/>
          <p:nvPr/>
        </p:nvSpPr>
        <p:spPr>
          <a:xfrm>
            <a:off x="822960" y="52303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Diagram of the controls to use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06640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:Save the supplied&#10;practice.txt&#10;on your computer."/>
          <p:cNvSpPr txBox="1"/>
          <p:nvPr/>
        </p:nvSpPr>
        <p:spPr>
          <a:xfrm>
            <a:off x="7936992" y="1682496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Save the supplied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practice.txt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 your computer.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06640" y="298094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:In week03,&#10;open Upload files."/>
          <p:cNvSpPr txBox="1"/>
          <p:nvPr/>
        </p:nvSpPr>
        <p:spPr>
          <a:xfrm>
            <a:off x="7936992" y="2980944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 week03,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Upload files.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06640" y="42793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Text 17:Choose the file&#10;and commit the change."/>
          <p:cNvSpPr txBox="1"/>
          <p:nvPr/>
        </p:nvSpPr>
        <p:spPr>
          <a:xfrm>
            <a:off x="7936992" y="4279392"/>
            <a:ext cx="34564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the file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commit the change.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20" name="Text 18:After uploading, check the file list to confirm that the file is in week03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After uploading, check the file list to confirm that the file is in week03.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1" name="Text 1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22" name="Text 20:Week 03  13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13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Linking a file from your READM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Linking a file from your README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Enter this in the README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Enter this in the README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[Open the practice file](practice.txt)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[Open the practice file](practice.txt)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the link in Preview. After committing, open the file using the link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link in Preview. After committing, open the file using the link.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Images and PDFs work the same way. Match the filename and folder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Images and PDFs work the same way. Match the filename and folder.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8:Week 03  14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14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aving and submitting in a browser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Saving and submitting in a browser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Edit in the browser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Edit in the browser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Edit, then commit.&#10;&#10;Changes save on GitHub.&#10;A separate push is unnecessary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Edit, then commit.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Changes save on GitHub.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separate push is unnecessary.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Submit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Submit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Use the latest commit URL.&#10;&#10;Choose the assignment's week&#10;and submit the course form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the latest commit URL.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Choose the assignment's week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submit the course form.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3  15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15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aving files and a record in the browser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Saving files and a record in the browser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Open your own ai-learning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your own ai-learning.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Read the instructor's course handouts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Read the instructor's course handouts.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your own week03 folder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your own week03 folder.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Keep the README headings when you edit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Keep the README headings when you edit.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Add required files using Upload files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required files using Upload files.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heck Preview and save with Commit changes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Preview and save with Commit changes.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Initial setup uses setup. This week's assignment belongs in your own week03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Initial setup uses setup. This week's assignment belongs in your own week03.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3  16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16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your latest com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your latest commit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Open your own week03 folder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your own week03 folder.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at your README and work are saved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your README and work are saved.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e latest commit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the latest commit.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its version contains the required files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its version contains the required files.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opy the displayed commit URL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Copy the displayed commit URL.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Submit the weekly form with the course's specified account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Submit the weekly form with the course's specified account.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Initial registration: repository URL. Weekly submission: latest commit URL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Initial registration: repository URL. Weekly submission: latest commit URL.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3  17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17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mmon problem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Common problems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Wrong repository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25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Wrong repository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Check your own username&#10;and ai-learning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your own username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ai-learning.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up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File not visible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File not visible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Check your repository&#10;after the commit&#10;has saved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your repository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after the commit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has saved.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lock-keyho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Instructor cannot open it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88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88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Instructor cannot open it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Check the pending invitation&#10;and URL, then await the check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pending invitation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URL, then await the check.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3  18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18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week03/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Changes and verification results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Changes and verification results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3  19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19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3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03.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3  20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20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an explain the difference before and after editing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can explain the difference before and after editing.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opened the files at the commit I submitted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opened the files at the commit I submitted.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used my own Private repository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used my own Private repository.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3  21 / 2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03  21 / 21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Meiryo"/>
        <ns0:ea typeface="Meiryo"/>
        <ns0:cs typeface="Meiryo"/>
        <ns0:font script="Jpan" typeface="Meiryo"/>
        <ns0:font script="Hang" typeface="Meiryo"/>
        <ns0:font script="Hans" typeface="Meiryo"/>
        <ns0:font script="Hant" typeface="Meiryo"/>
        <ns0:font script="Arab" typeface="Meiryo"/>
        <ns0:font script="Hebr" typeface="Meiryo"/>
        <ns0:font script="Thai" typeface="Meiryo"/>
        <ns0:font script="Ethi" typeface="Meiryo"/>
        <ns0:font script="Beng" typeface="Meiryo"/>
        <ns0:font script="Gujr" typeface="Meiryo"/>
        <ns0:font script="Khmr" typeface="Meiryo"/>
        <ns0:font script="Knda" typeface="Meiryo"/>
        <ns0:font script="Guru" typeface="Meiryo"/>
        <ns0:font script="Cans" typeface="Meiryo"/>
        <ns0:font script="Cher" typeface="Meiryo"/>
        <ns0:font script="Yiii" typeface="Meiryo"/>
        <ns0:font script="Tibt" typeface="Meiryo"/>
        <ns0:font script="Thaa" typeface="Meiryo"/>
        <ns0:font script="Deva" typeface="Meiryo"/>
        <ns0:font script="Telu" typeface="Meiryo"/>
        <ns0:font script="Taml" typeface="Meiryo"/>
        <ns0:font script="Syrc" typeface="Meiryo"/>
        <ns0:font script="Orya" typeface="Meiryo"/>
        <ns0:font script="Mlym" typeface="Meiryo"/>
        <ns0:font script="Laoo" typeface="Meiryo"/>
        <ns0:font script="Sinh" typeface="Meiryo"/>
        <ns0:font script="Mong" typeface="Meiryo"/>
        <ns0:font script="Viet" typeface="Meiryo"/>
        <ns0:font script="Uigh" typeface="Meiryo"/>
        <ns0:font script="Geor" typeface="Meiryo"/>
        <ns0:font script="Armn" typeface="Meiryo"/>
        <ns0:font script="Bugi" typeface="Meiryo"/>
        <ns0:font script="Bopo" typeface="Meiryo"/>
        <ns0:font script="Java" typeface="Meiryo"/>
        <ns0:font script="Lisu" typeface="Meiryo"/>
        <ns0:font script="Mymr" typeface="Meiryo"/>
        <ns0:font script="Nkoo" typeface="Meiryo"/>
        <ns0:font script="Olck" typeface="Meiryo"/>
        <ns0:font script="Osma" typeface="Meiryo"/>
        <ns0:font script="Phag" typeface="Meiryo"/>
        <ns0:font script="Syrn" typeface="Meiryo"/>
        <ns0:font script="Syrj" typeface="Meiryo"/>
        <ns0:font script="Syre" typeface="Meiryo"/>
        <ns0:font script="Sora" typeface="Meiryo"/>
        <ns0:font script="Tale" typeface="Meiryo"/>
        <ns0:font script="Talu" typeface="Meiryo"/>
        <ns0:font script="Tfng" typeface="Meiryo"/>
      </ns0:majorFont>
      <ns0:minorFont>
        <ns0:latin typeface="Meiryo"/>
        <ns0:ea typeface="Meiryo"/>
        <ns0:cs typeface="Meiryo"/>
        <ns0:font script="Jpan" typeface="Meiryo"/>
        <ns0:font script="Hang" typeface="Meiryo"/>
        <ns0:font script="Hans" typeface="Meiryo"/>
        <ns0:font script="Hant" typeface="Meiryo"/>
        <ns0:font script="Arab" typeface="Meiryo"/>
        <ns0:font script="Hebr" typeface="Meiryo"/>
        <ns0:font script="Thai" typeface="Meiryo"/>
        <ns0:font script="Ethi" typeface="Meiryo"/>
        <ns0:font script="Beng" typeface="Meiryo"/>
        <ns0:font script="Gujr" typeface="Meiryo"/>
        <ns0:font script="Khmr" typeface="Meiryo"/>
        <ns0:font script="Knda" typeface="Meiryo"/>
        <ns0:font script="Guru" typeface="Meiryo"/>
        <ns0:font script="Cans" typeface="Meiryo"/>
        <ns0:font script="Cher" typeface="Meiryo"/>
        <ns0:font script="Yiii" typeface="Meiryo"/>
        <ns0:font script="Tibt" typeface="Meiryo"/>
        <ns0:font script="Thaa" typeface="Meiryo"/>
        <ns0:font script="Deva" typeface="Meiryo"/>
        <ns0:font script="Telu" typeface="Meiryo"/>
        <ns0:font script="Taml" typeface="Meiryo"/>
        <ns0:font script="Syrc" typeface="Meiryo"/>
        <ns0:font script="Orya" typeface="Meiryo"/>
        <ns0:font script="Mlym" typeface="Meiryo"/>
        <ns0:font script="Laoo" typeface="Meiryo"/>
        <ns0:font script="Sinh" typeface="Meiryo"/>
        <ns0:font script="Mong" typeface="Meiryo"/>
        <ns0:font script="Viet" typeface="Meiryo"/>
        <ns0:font script="Uigh" typeface="Meiryo"/>
        <ns0:font script="Geor" typeface="Meiryo"/>
        <ns0:font script="Armn" typeface="Meiryo"/>
        <ns0:font script="Bugi" typeface="Meiryo"/>
        <ns0:font script="Bopo" typeface="Meiryo"/>
        <ns0:font script="Java" typeface="Meiryo"/>
        <ns0:font script="Lisu" typeface="Meiryo"/>
        <ns0:font script="Mymr" typeface="Meiryo"/>
        <ns0:font script="Nkoo" typeface="Meiryo"/>
        <ns0:font script="Olck" typeface="Meiryo"/>
        <ns0:font script="Osma" typeface="Meiryo"/>
        <ns0:font script="Phag" typeface="Meiryo"/>
        <ns0:font script="Syrn" typeface="Meiryo"/>
        <ns0:font script="Syrj" typeface="Meiryo"/>
        <ns0:font script="Syre" typeface="Meiryo"/>
        <ns0:font script="Sora" typeface="Meiryo"/>
        <ns0:font script="Tale" typeface="Meiryo"/>
        <ns0:font script="Talu" typeface="Meiryo"/>
        <ns0:font script="Tfng" typeface="Meiryo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/>
  <ns0:extraClrSchemeLst/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Can you explain what you changed?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