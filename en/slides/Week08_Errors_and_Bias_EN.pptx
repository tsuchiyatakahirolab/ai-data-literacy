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5282F153-3F37-0F45-9E97-73ACFA13230C}" type="datetimeFigureOut">
              <a:rPr lang="ja-JP">
                <a:latin typeface="Meiryo"/>
                <a:ea typeface="Meiryo"/>
                <a:cs typeface="Meiryo"/>
              </a:rPr>
              <a:t>7/23/19</a:t>
            </a:fld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>
                <a:latin typeface="Meiryo"/>
                <a:ea typeface="Meiryo"/>
                <a:cs typeface="Meiryo"/>
              </a:rPr>
              <a:t>Click to edit Master text styles</a:t>
            </a:r>
          </a:p>
          <a:p>
            <a:pPr lvl="1"/>
            <a:r>
              <a:rPr lang="ja-JP">
                <a:latin typeface="Meiryo"/>
                <a:ea typeface="Meiryo"/>
                <a:cs typeface="Meiryo"/>
              </a:rPr>
              <a:t>Second level</a:t>
            </a:r>
          </a:p>
          <a:p>
            <a:pPr lvl="2"/>
            <a:r>
              <a:rPr lang="ja-JP">
                <a:latin typeface="Meiryo"/>
                <a:ea typeface="Meiryo"/>
                <a:cs typeface="Meiryo"/>
              </a:rPr>
              <a:t>Third level</a:t>
            </a:r>
          </a:p>
          <a:p>
            <a:pPr lvl="3"/>
            <a:r>
              <a:rPr lang="ja-JP">
                <a:latin typeface="Meiryo"/>
                <a:ea typeface="Meiryo"/>
                <a:cs typeface="Meiryo"/>
              </a:rPr>
              <a:t>Fourth level</a:t>
            </a:r>
          </a:p>
          <a:p>
            <a:pPr lvl="4"/>
            <a:r>
              <a:rPr lang="ja-JP">
                <a:latin typeface="Meiryo"/>
                <a:ea typeface="Meiryo"/>
                <a:cs typeface="Meiryo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CE5E9CC1-C706-0F49-92D6-E571CC5EEA8F}" type="slidenum">
              <a:rPr lang="ja-JP">
                <a:latin typeface="Meiryo"/>
                <a:ea typeface="Meiryo"/>
                <a:cs typeface="Meiryo"/>
              </a:rPr>
              <a:t>‹#›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Copyable prompts are in en/handouts/. Treat prompts as examples rather than phrases to memorize.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5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6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7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8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Copyable prompts are in en/handouts/. Treat prompts as examples rather than phrases to memorize.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9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10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Do not require full chat logs, shared-chat links, or arbitrary retry counts. If no change was needed, record what was checked and the result.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The browser route saves directly to GitHub. Students who independently use Desktop must Push origin and confirm the result on GitHub. Check the form’s submission confirmation. Instructor access is a separate requirement.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References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https://docs.github.com/en/repositories/working-with-files/managing-files/editing-files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This is a self-check with files and screens available, not a memorization test.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ns0:Relationship Id="rIdPersonalAuthorLogo" Type="http://schemas.openxmlformats.org/officeDocument/2006/relationships/image" Target="../media/personal-author-logo.png" /></ns0:Relationships>
</file>

<file path=ppt/slideMasters/slideMaster1.xml><?xml version="1.0" encoding="utf-8"?>
<p:sldMaster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685800" y="85748"/>
            <a:ext cx="1714500" cy="210457"/>
          </a:xfrm>
          <a:prstGeom prst="rect">
            <a:avLst/>
          </a:prstGeom>
        </p:spPr>
      </p:pic>
      <p:sp>
        <p:nvSpPr>
          <p:cNvPr id="3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60748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60748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ja-JP">
          <a:solidFill>
            <a:schemeClr val="tx1"/>
          </a:solidFill>
          <a:latin typeface="Meiryo"/>
          <a:ea typeface="Meiryo"/>
          <a:cs typeface="Meiryo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Meiryo" pitchFamily="34" charset="0"/>
        <a:buChar char="•"/>
        <a:defRPr sz="32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742950" indent="-285750" algn="l" defTabSz="914400" rtl="0" eaLnBrk="1" latinLnBrk="0" hangingPunct="1">
        <a:spcBef>
          <a:spcPct val="20000"/>
        </a:spcBef>
        <a:buFont typeface="Meiryo" pitchFamily="34" charset="0"/>
        <a:buChar char="–"/>
        <a:defRPr sz="2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1143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4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600200" indent="-228600" algn="l" defTabSz="914400" rtl="0" eaLnBrk="1" latinLnBrk="0" hangingPunct="1">
        <a:spcBef>
          <a:spcPct val="20000"/>
        </a:spcBef>
        <a:buFont typeface="Meiryo" pitchFamily="34" charset="0"/>
        <a:buChar char="–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2057400" indent="-228600" algn="l" defTabSz="914400" rtl="0" eaLnBrk="1" latinLnBrk="0" hangingPunct="1">
        <a:spcBef>
          <a:spcPct val="20000"/>
        </a:spcBef>
        <a:buFont typeface="Meiryo" pitchFamily="34" charset="0"/>
        <a:buChar char="»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5146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9718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429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8862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9pPr>
    </p:bodyStyle>
    <p:otherStyle>
      <a:defPPr>
        <a:defRPr lang="ja-JP">
          <a:latin typeface="Meiryo"/>
          <a:ea typeface="Meiryo"/>
          <a:cs typeface="Meiryo"/>
        </a:defRPr>
      </a:defPPr>
      <a:lvl1pPr marL="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457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914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371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18288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2860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743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200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657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image" Target="../media/image-1-1.png" /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1.xml" /><ns0:Relationship Id="rIdPersonalAuthorLogo" Type="http://schemas.openxmlformats.org/officeDocument/2006/relationships/image" Target="../media/personal-author-logo-white.png" /></ns0: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 showMasterSp="0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4" name="Text 2:Week 08"/>
          <p:cNvSpPr txBox="1"/>
          <p:nvPr/>
        </p:nvSpPr>
        <p:spPr>
          <a:xfrm>
            <a:off x="713232" y="55778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B1D6D5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B1D6D5"/>
                </a:solidFill>
                <a:latin typeface="Meiryo"/>
                <a:ea typeface="Meiryo"/>
                <a:cs typeface="Meiryo"/>
              </a:rPr>
              <a:t>Week 08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5" name="Text 3:Does the evidence&#10;really support that?"/>
          <p:cNvSpPr txBox="1"/>
          <p:nvPr/>
        </p:nvSpPr>
        <p:spPr>
          <a:xfrm>
            <a:off x="713232" y="1554480"/>
            <a:ext cx="9418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4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Does the evidence</a:t>
            </a:r>
            <a:endParaRPr sz="42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4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really support that?</a:t>
            </a:r>
            <a:endParaRPr sz="4200">
              <a:latin typeface="Meiryo"/>
              <a:ea typeface="Meiryo"/>
              <a:cs typeface="Meiryo"/>
            </a:endParaRPr>
          </a:p>
        </p:txBody>
      </p:sp>
      <p:sp>
        <p:nvSpPr>
          <p:cNvPr id="6" name="Text 4:Week 8: Revise assertions, generalizations&#10;and stereotypes to fit the evidence."/>
          <p:cNvSpPr txBox="1"/>
          <p:nvPr/>
        </p:nvSpPr>
        <p:spPr>
          <a:xfrm>
            <a:off x="749808" y="4169664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D9E7EC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D9E7EC"/>
                </a:solidFill>
                <a:latin typeface="Meiryo"/>
                <a:ea typeface="Meiryo"/>
                <a:cs typeface="Meiryo"/>
              </a:rPr>
              <a:t>Week 8: Revise assertions, generalizations</a:t>
            </a:r>
            <a:endParaRPr sz="26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600" b="0">
                <a:solidFill>
                  <a:srgbClr val="D9E7EC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D9E7EC"/>
                </a:solidFill>
                <a:latin typeface="Meiryo"/>
                <a:ea typeface="Meiryo"/>
                <a:cs typeface="Meiryo"/>
              </a:rPr>
              <a:t>and stereotypes to fit the evidence.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7" name="Image 0" descr="Lucide triangle-ale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566928"/>
            <a:ext cx="841248" cy="841248"/>
          </a:xfrm>
          <a:prstGeom prst="rect">
            <a:avLst/>
          </a:prstGeom>
        </p:spPr>
      </p:pic>
      <p:sp>
        <p:nvSpPr>
          <p:cNvPr id="8" name="Text 5:AI and Data Literacy for University Students"/>
          <p:cNvSpPr txBox="1"/>
          <p:nvPr/>
        </p:nvSpPr>
        <p:spPr>
          <a:xfrm>
            <a:off x="749808" y="6281928"/>
            <a:ext cx="9144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D9E7EC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D9E7EC"/>
                </a:solidFill>
                <a:latin typeface="Meiryo"/>
                <a:ea typeface="Meiryo"/>
                <a:cs typeface="Meiryo"/>
              </a:rPr>
              <a:t>AI and Data Literacy for University Students</a:t>
            </a:r>
            <a:endParaRPr sz="1800">
              <a:latin typeface="Meiryo"/>
              <a:ea typeface="Meiryo"/>
              <a:cs typeface="Meiryo"/>
            </a:endParaRPr>
          </a:p>
        </p:txBody>
      </p:sp>
      <p:pic>
        <p:nvPicPr>
          <p:cNvPr id="10" name="" descr="TSUCHIYA TAKAHIRO white logo supplied in Brandeis cover; original bytes reused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3810000" y="109728"/>
            <a:ext cx="4572000" cy="561219"/>
          </a:xfrm>
          <a:prstGeom prst="rect">
            <a:avLst/>
          </a:prstGeom>
        </p:spPr>
      </p:pic>
      <p:sp>
        <p:nvSpPr>
          <p:cNvPr id="11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AECFD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AECFD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Questioning a sample text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Questioning a sample text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ile-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:University students always get higher grades with AI.&#10;AI is more accurate than humans and can give&#10;the best answer to every assignment.&#10;&#10;Students who do not use AI are behind the times&#10;and have poor data literacy.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University students always get higher grades with AI.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AI is more accurate than humans and can give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the best answer to every assignment.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</a:pPr>
            <a:r>
              <a:t/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Students who do not use AI are behind the times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and have poor data literacy.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7" name="Text 4:Fictional text with deliberate problems for this exercise. It is not a recorded AI response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Fictional text with deliberate problems for this exercise. It is not a recorded AI response.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8" name="Text 5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9" name="Text 6:Week 08  02 /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08  02 / 13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Three ways to examine a claim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Three ways to examine a claim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19656"/>
            <a:ext cx="530352" cy="530352"/>
          </a:xfrm>
          <a:prstGeom prst="rect">
            <a:avLst/>
          </a:prstGeom>
        </p:spPr>
      </p:pic>
      <p:sp>
        <p:nvSpPr>
          <p:cNvPr id="6" name="Text 3:Evidence"/>
          <p:cNvSpPr txBox="1"/>
          <p:nvPr/>
        </p:nvSpPr>
        <p:spPr>
          <a:xfrm>
            <a:off x="896112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Evidence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7" name="Text 4:Is there support&#10;for the word always?"/>
          <p:cNvSpPr txBox="1"/>
          <p:nvPr/>
        </p:nvSpPr>
        <p:spPr>
          <a:xfrm>
            <a:off x="896112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Is there support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for the word always?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346448" y="1536192"/>
            <a:ext cx="3496056" cy="3977640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9" name="Image 1" descr="Lucide list-check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480" y="1819656"/>
            <a:ext cx="530352" cy="530352"/>
          </a:xfrm>
          <a:prstGeom prst="rect">
            <a:avLst/>
          </a:prstGeom>
        </p:spPr>
      </p:pic>
      <p:sp>
        <p:nvSpPr>
          <p:cNvPr id="10" name="Text 6:Scope"/>
          <p:cNvSpPr txBox="1"/>
          <p:nvPr/>
        </p:nvSpPr>
        <p:spPr>
          <a:xfrm>
            <a:off x="4602480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Scope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11" name="Text 7:Does a result for one task&#10;justify a claim about&#10;every assignment?"/>
          <p:cNvSpPr txBox="1"/>
          <p:nvPr/>
        </p:nvSpPr>
        <p:spPr>
          <a:xfrm>
            <a:off x="4602480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88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88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Does a result for one task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288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88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justify a claim about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288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88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every assignment?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052816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3" name="Image 2" descr="Lucide triangle-ale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848" y="1819656"/>
            <a:ext cx="530352" cy="530352"/>
          </a:xfrm>
          <a:prstGeom prst="rect">
            <a:avLst/>
          </a:prstGeom>
        </p:spPr>
      </p:pic>
      <p:sp>
        <p:nvSpPr>
          <p:cNvPr id="14" name="Text 9:Stereotypes"/>
          <p:cNvSpPr txBox="1"/>
          <p:nvPr/>
        </p:nvSpPr>
        <p:spPr>
          <a:xfrm>
            <a:off x="8308848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Stereotypes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15" name="Text 10:Does the text ignore&#10;reasons for not using AI?"/>
          <p:cNvSpPr txBox="1"/>
          <p:nvPr/>
        </p:nvSpPr>
        <p:spPr>
          <a:xfrm>
            <a:off x="8308848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Does the text ignore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reasons for not using AI?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6" name="Text 11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7" name="Text 12:Week 08  03 /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08  03 / 13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1. Your own first check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1. Your own first check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:Read the supplied text.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Read the supplied text.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6" name="Text 4:Choose three phrases that concern you.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Choose three phrases that concern you.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:Explain why each concerns you.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Explain why each concerns you.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0" name="Text 8:Consider weak evidence, generalization and stereotyping.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Consider weak evidence, generalization and stereotyping.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:Give AI the text and your reasons.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Give AI the text and your reasons.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4" name="Text 12:Compare AI's observations with your own.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Compare AI's observations with your own.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5" name="Text 13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6" name="Text 14:Week 08  04 /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08  04 / 13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2. Asking AI to examine the text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2. Asking AI to examine the text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:Try this prompt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Try this prompt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:Identify unsupported assertions,&#10;overly broad generalizations and stereotypes&#10;about students in this text.&#10;Show the original phrases that cause the problem.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Identify unsupported assertions,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overly broad generalizations and stereotypes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about students in this text.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Show the original phrases that cause the problem.</a:t>
            </a:r>
            <a:endParaRPr sz="270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:Look for the exact phrase and reason, rather than a general verdict that the text is wrong.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Look for the exact phrase and reason, rather than a general verdict that the text is wrong.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0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7:Week 08  05 /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08  05 / 13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More than removing always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More than removing always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:Only weaker wording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Only weaker wording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6" name="Text 4:Using generative AI&#10;probably might improve&#10;your grades.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Using generative AI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probably might improve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your grades.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:Relevant conditions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Relevant conditions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9" name="Text 7:AI can help explain and practice.&#10;Its impact on grades depends&#10;on the task and how it is used.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AI can help explain and practice.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Its impact on grades depends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on the task and how it is used.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0" name="Text 8:This is an illustrative rewrite for the exercise, rather than an empirical finding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This is an illustrative rewrite for the exercise, rather than an empirical finding.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9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2" name="Text 10:Week 08  06 /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08  06 / 13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Reasons for not using AI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Reasons for not using AI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:A stereotype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 stereotype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6" name="Text 4:Students who do not use AI&#10;have low ability.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Students who do not use AI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have low ability.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:Conditions to consider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Conditions to consider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9" name="Text 7:Different devices or accounts.&#10;Different course rules.&#10;Concern about sharing information.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Different devices or accounts.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Different course rules.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Concern about sharing information.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0" name="Text 8:Not using AI alone does not establish a student's ability or motivation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Not using AI alone does not establish a student's ability or motivation.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9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2" name="Text 10:Week 08  07 /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08  07 / 13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Matching problems and revisions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Matching problems and revisions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15468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5" name="Text 3:Original phrase"/>
          <p:cNvSpPr txBox="1"/>
          <p:nvPr/>
        </p:nvSpPr>
        <p:spPr>
          <a:xfrm>
            <a:off x="786384" y="1709928"/>
            <a:ext cx="2862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Original phrase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794760" y="1554480"/>
            <a:ext cx="365760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7" name="Text 5:Problem"/>
          <p:cNvSpPr txBox="1"/>
          <p:nvPr/>
        </p:nvSpPr>
        <p:spPr>
          <a:xfrm>
            <a:off x="3941064" y="170992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Problem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52360" y="1554480"/>
            <a:ext cx="4096512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9" name="Text 7:Revision approach"/>
          <p:cNvSpPr txBox="1"/>
          <p:nvPr/>
        </p:nvSpPr>
        <p:spPr>
          <a:xfrm>
            <a:off x="7598664" y="1709928"/>
            <a:ext cx="3803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Revision approach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258568"/>
            <a:ext cx="315468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1" name="Text 9:Always improves grades"/>
          <p:cNvSpPr txBox="1"/>
          <p:nvPr/>
        </p:nvSpPr>
        <p:spPr>
          <a:xfrm>
            <a:off x="786384" y="2386584"/>
            <a:ext cx="2862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63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1863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Always improves grades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794760" y="2258568"/>
            <a:ext cx="365760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3" name="Text 11:Unsupported assertion"/>
          <p:cNvSpPr txBox="1"/>
          <p:nvPr/>
        </p:nvSpPr>
        <p:spPr>
          <a:xfrm>
            <a:off x="3941064" y="2386584"/>
            <a:ext cx="3364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Unsupported assertion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452360" y="2258568"/>
            <a:ext cx="40965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5" name="Text 13:Separate conditions and evidence"/>
          <p:cNvSpPr txBox="1"/>
          <p:nvPr/>
        </p:nvSpPr>
        <p:spPr>
          <a:xfrm>
            <a:off x="7598664" y="2386584"/>
            <a:ext cx="38039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63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1863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Separate conditions and evidence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017520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017520"/>
            <a:ext cx="315468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:Every assignment"/>
          <p:cNvSpPr txBox="1"/>
          <p:nvPr/>
        </p:nvSpPr>
        <p:spPr>
          <a:xfrm>
            <a:off x="786384" y="3145536"/>
            <a:ext cx="2862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Every assignment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794760" y="3017520"/>
            <a:ext cx="36576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:Overgeneralization"/>
          <p:cNvSpPr txBox="1"/>
          <p:nvPr/>
        </p:nvSpPr>
        <p:spPr>
          <a:xfrm>
            <a:off x="3941064" y="3145536"/>
            <a:ext cx="3364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Overgeneralization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452360" y="3017520"/>
            <a:ext cx="4096512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:Limit the scope"/>
          <p:cNvSpPr txBox="1"/>
          <p:nvPr/>
        </p:nvSpPr>
        <p:spPr>
          <a:xfrm>
            <a:off x="7598664" y="3145536"/>
            <a:ext cx="38039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Limit the scope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" y="3776472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776472"/>
            <a:ext cx="315468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5" name="Text 23:Behind the times"/>
          <p:cNvSpPr txBox="1"/>
          <p:nvPr/>
        </p:nvSpPr>
        <p:spPr>
          <a:xfrm>
            <a:off x="786384" y="3904488"/>
            <a:ext cx="2862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Behind the times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794760" y="3776472"/>
            <a:ext cx="365760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7" name="Text 25:Stereotyping students"/>
          <p:cNvSpPr txBox="1"/>
          <p:nvPr/>
        </p:nvSpPr>
        <p:spPr>
          <a:xfrm>
            <a:off x="3941064" y="3904488"/>
            <a:ext cx="3364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Stereotyping students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452360" y="3776472"/>
            <a:ext cx="40965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9" name="Text 27:Remove; consider other reasons"/>
          <p:cNvSpPr txBox="1"/>
          <p:nvPr/>
        </p:nvSpPr>
        <p:spPr>
          <a:xfrm>
            <a:off x="7598664" y="3904488"/>
            <a:ext cx="38039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63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1863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Remove; consider other reasons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0080" y="453542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31" name="Text 29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32" name="Text 30:Week 08  08 /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08  08 / 13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3. Revising to fit the evidence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3. Revising to fit the evidence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:Try this prompt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Try this prompt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:Revise the phrases you identified.&#10;Separate what is known from what needs evidence.&#10;Add no invented studies or statistics.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Revise the phrases you identified.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Separate what is known from what needs evidence.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Add no invented studies or statistics.</a:t>
            </a:r>
            <a:endParaRPr sz="270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:Check that the revision introduces no new unsupported assertions.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Check that the revision introduces no new unsupported assertions.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0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7:Week 08  09 /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08  09 / 13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Keeping parts that need no change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Keeping parts that need no change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:Each identified phrase has a corresponding reason.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Each identified phrase has a corresponding reason.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:Relevant conditions are stated.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Relevant conditions are stated.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:I assessed AI's suggestions before accepting them.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assessed AI's suggestions before accepting them.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:I added no unsupported statistics or study names.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added no unsupported statistics or study names.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12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3" name="Text 7:Week 08  10 /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08  10 / 13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Your work and your checks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Your work and your checks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257800" cy="4041648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28800"/>
            <a:ext cx="448056" cy="4480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72768" y="18196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week08/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:README.md:&#10;Three problems and a revised text"/>
          <p:cNvSpPr txBox="1"/>
          <p:nvPr/>
        </p:nvSpPr>
        <p:spPr>
          <a:xfrm>
            <a:off x="950976" y="2660904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05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05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README.md:</a:t>
            </a:r>
            <a:endParaRPr sz="22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05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05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Three problems and a revised text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8" name="Text 5:Your README record"/>
          <p:cNvSpPr txBox="1"/>
          <p:nvPr/>
        </p:nvSpPr>
        <p:spPr>
          <a:xfrm>
            <a:off x="6391656" y="180136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Your README record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9" name="Text 6:What I delegated to AI&#10;What I checked myself&#10;What I could not verify"/>
          <p:cNvSpPr txBox="1"/>
          <p:nvPr/>
        </p:nvSpPr>
        <p:spPr>
          <a:xfrm>
            <a:off x="6400800" y="2779776"/>
            <a:ext cx="48097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I delegated to AI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I checked myself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I could not verify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0" name="Text 7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8:Week 08  11 /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08  11 / 13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Submitting the saved version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Submitting the saved version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:Commit your changes on GitHub.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Commit your changes on GitHub.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6" name="Text 4:Check the updated files and commit them.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Check the updated files and commit them.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:Open that commit's page.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Open that commit's page.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0" name="Text 8:Check that the URL contains /commit/.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Check that the URL contains /commit/.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:Submit the course form.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Submit the course form.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4" name="Text 12:Use the specified course account and choose Week 08.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Use the specified course account and choose Week 08.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5" name="Text 13:A browser commit saves to GitHub. A separate push is unnecessary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 browser commit saves to GitHub. A separate push is unnecessary.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6" name="Text 14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7" name="Text 15:Week 08  12 /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08  12 / 13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Before you submit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Before you submit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:I identified the exact problems in the original.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identified the exact problems in the original.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:I explained my reasons for revising them.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explained my reasons for revising them.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:I treated the text as a teaching example, not a recorded AI response.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treated the text as a teaching example, not a recorded AI response.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:I submitted the commit URL containing my work.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submitted the commit URL containing my work.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12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3" name="Text 7:Week 08  13 /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08  13 / 13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ajorFont>
      <a:min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Tsuchiya Lab</Company>
  <LinksUpToDate>false</LinksUpToDate>
  <SharedDoc>false</SharedDoc>
  <HyperlinksChanged>false</HyperlinksChanged>
  <AppVersion>16.0000</AppVersion>
</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Does the evidence really support that?</dc:title>
  <dc:subject>AI and Data Literacy — English teaching edition</dc:subject>
  <dc:creator>Takahiro Tsuchiya</dc:creator>
  <ns0:lastModifiedBy>Takahiro Tsuchiya</ns0:lastModifiedBy>
  <ns0:revision>1</ns0:revision>
  <ns2:created xsi:type="dcterms:W3CDTF">2026-09-17T11:31:39Z</ns2:created>
  <ns2:modified xsi:type="dcterms:W3CDTF">2026-09-17T11:31:39Z</ns2:modified>
  <dc:description>English slides and teaching notes with hands-on activities.</dc:description>
  <ns0:keywords>AI, GitHub, data literacy, English, university teaching</ns0:keywords>
</ns0:coreProperties>
</file>