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Copyable prompts are in en/handouts/. Treat prompts as examples rather than phrases to memorize.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Wait while students follow the slide. Check the result on their screens before moving on.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Do not require full chat logs, shared-chat links, or arbitrary retry counts. If no change was needed, record what was checked and the result.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When someone is stuck, identify the visible screen and the step where progress stopped. Never ask for passwords or verification codes.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The browser route saves directly to GitHub. Students who independently use Desktop must Push origin and confirm the result on GitHub. Check the form’s submission confirmation. Instructor access is a separate requirement.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References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Teaching notes — Workshop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This is a self-check with files and screens available, not a memorization test.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Icons: see assets/icons/lucide/LICENSE.txt for the Lucide license.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:Week 09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B1D6D5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B1D6D5"/>
                </a:solidFill>
                <a:latin typeface="Meiryo"/>
                <a:ea typeface="Meiryo"/>
                <a:cs typeface="Meiryo"/>
              </a:rPr>
              <a:t>Week 09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5" name="Text 3:What percentage&#10;of which people?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What percentage</a:t>
            </a:r>
            <a:endParaRPr sz="4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4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4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of which people?</a:t>
            </a:r>
            <a:endParaRPr sz="4200">
              <a:latin typeface="Meiryo"/>
              <a:ea typeface="Meiryo"/>
              <a:cs typeface="Meiryo"/>
            </a:endParaRPr>
          </a:p>
        </p:txBody>
      </p:sp>
      <p:sp>
        <p:nvSpPr>
          <p:cNvPr id="6" name="Text 4:Week 9: Calculate percentages yourself&#10;and check AI's numbers and explanations.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Week 9: Calculate percentages yourself</a:t>
            </a:r>
            <a:endParaRPr sz="26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6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and check AI's numbers and explanations.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tab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:AI and Data Literacy for University Students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D9E7EC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D9E7EC"/>
                </a:solidFill>
                <a:latin typeface="Meiryo"/>
                <a:ea typeface="Meiryo"/>
                <a:cs typeface="Meiryo"/>
              </a:rPr>
              <a:t>AI and Data Literacy for University Students</a:t>
            </a:r>
            <a:endParaRPr sz="180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Fictional data for four group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Fictional data for four groups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103327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Group"/>
          <p:cNvSpPr txBox="1"/>
          <p:nvPr/>
        </p:nvSpPr>
        <p:spPr>
          <a:xfrm>
            <a:off x="786384" y="1709928"/>
            <a:ext cx="740664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7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87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Group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673352" y="1554480"/>
            <a:ext cx="20574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Students"/>
          <p:cNvSpPr txBox="1"/>
          <p:nvPr/>
        </p:nvSpPr>
        <p:spPr>
          <a:xfrm>
            <a:off x="1819656" y="1709928"/>
            <a:ext cx="1764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Students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730752" y="1554480"/>
            <a:ext cx="228600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:Submitted"/>
          <p:cNvSpPr txBox="1"/>
          <p:nvPr/>
        </p:nvSpPr>
        <p:spPr>
          <a:xfrm>
            <a:off x="3877056" y="170992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Submitted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16752" y="1554480"/>
            <a:ext cx="2651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11" name="Text 9:AI users"/>
          <p:cNvSpPr txBox="1"/>
          <p:nvPr/>
        </p:nvSpPr>
        <p:spPr>
          <a:xfrm>
            <a:off x="6163056" y="1709928"/>
            <a:ext cx="23591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AI users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668512" y="1554480"/>
            <a:ext cx="28803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13" name="Text 11:Source checkers"/>
          <p:cNvSpPr txBox="1"/>
          <p:nvPr/>
        </p:nvSpPr>
        <p:spPr>
          <a:xfrm>
            <a:off x="8814816" y="1709928"/>
            <a:ext cx="2587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Source checkers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40080" y="2258568"/>
            <a:ext cx="103327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2386584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1673352" y="2258568"/>
            <a:ext cx="20574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819656" y="2386584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32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730752" y="2258568"/>
            <a:ext cx="22860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77056" y="2386584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016752" y="2258568"/>
            <a:ext cx="2651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163056" y="2386584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25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68512" y="2258568"/>
            <a:ext cx="28803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814816" y="2386584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017520"/>
            <a:ext cx="103327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3145536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673352" y="3017520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819656" y="3145536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30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730752" y="3017520"/>
            <a:ext cx="22860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877056" y="3145536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016752" y="3017520"/>
            <a:ext cx="2651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163056" y="3145536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668512" y="3017520"/>
            <a:ext cx="28803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814816" y="3145536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13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" y="3776472"/>
            <a:ext cx="103327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86384" y="3904488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1673352" y="3776472"/>
            <a:ext cx="20574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819656" y="3904488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35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3730752" y="3776472"/>
            <a:ext cx="228600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3877056" y="3904488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016752" y="3776472"/>
            <a:ext cx="2651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163056" y="3904488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668512" y="3776472"/>
            <a:ext cx="28803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814816" y="3904488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17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0080" y="4535424"/>
            <a:ext cx="103327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86384" y="4663440"/>
            <a:ext cx="7406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673352" y="4535424"/>
            <a:ext cx="20574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819656" y="4663440"/>
            <a:ext cx="17647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29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3730752" y="4535424"/>
            <a:ext cx="228600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877056" y="4663440"/>
            <a:ext cx="19933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016752" y="4535424"/>
            <a:ext cx="2651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6163056" y="4663440"/>
            <a:ext cx="2359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18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8668512" y="4535424"/>
            <a:ext cx="28803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814816" y="4663440"/>
            <a:ext cx="25877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58" name="Text 56:Fictional teaching data from numbers_exercise.csv. These are not real student records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Fictional teaching data from numbers_exercise.csv. These are not real student records.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59" name="Text 5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60" name="Text 58:Week 09  0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02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1. Asking AI to calculate submission rate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1. Asking AI to calculate submission rates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Using this table, calculate each group's&#10;submission rate and the overall submission rate.&#10;Use submitted / students x 100.&#10;Show the numerator, denominator and formula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Using this table, calculate each group's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submission rate and the overall submission rate.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submitted / students x 100.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Show the numerator, denominator and formula.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If you cannot attach the CSV, paste the four-row table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If you cannot attach the CSV, paste the four-row table.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9  0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03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Group A: a calculator check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Group A: a calculator check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:28 submitted / 32 students"/>
          <p:cNvSpPr txBox="1"/>
          <p:nvPr/>
        </p:nvSpPr>
        <p:spPr>
          <a:xfrm>
            <a:off x="777240" y="1609344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28 submitted / 32 students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96896"/>
            <a:ext cx="10908792" cy="141732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535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3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 ÷ 32 × 100 = 87.5％</a:t>
            </a:r>
            <a:endParaRPr lang="ja-JP" sz="36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:Compare AI's formula and answer with your calculator.&#10;A matching result is also a check worth recording."/>
          <p:cNvSpPr txBox="1"/>
          <p:nvPr/>
        </p:nvSpPr>
        <p:spPr>
          <a:xfrm>
            <a:off x="822960" y="4590288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Compare AI's formula and answer with your calculator.</a:t>
            </a:r>
            <a:endParaRPr sz="25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 matching result is also a check worth recording.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8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7:Week 09  0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04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e same 18 people, different denominator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same 18 people, different denominators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All students as denominator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All students as denominator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18 source checkers / 32 students&#10;&#10;56.25%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18 source checkers / 32 students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56.25%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AI users as denominator?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AI users as denominator?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The table does not show whether&#10;all 18 also used AI.&#10;It does not justify using 18 / 25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table does not show whether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all 18 also used AI.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It does not justify using 18 / 25.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This aggregate table does not tell us which categories overlap for each person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This aggregate table does not tell us which categories overlap for each person.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2" name="Text 10:Week 09  05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05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Overall rate: add the counts firs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Overall rate: add the counts first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:Submitted: 28 + 24 + 31 + 20 = 103 people"/>
          <p:cNvSpPr txBox="1"/>
          <p:nvPr/>
        </p:nvSpPr>
        <p:spPr>
          <a:xfrm>
            <a:off x="777240" y="1609344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Submitted: 28 + 24 + 31 + 20 = 103 people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596896"/>
            <a:ext cx="10908792" cy="141732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95351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ja-JP" altLang="en-US" sz="3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103 ÷ 126 × 100 ≈ 81.7％</a:t>
            </a:r>
            <a:endParaRPr lang="ja-JP" sz="36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5:Students: 32 + 30 + 35 + 29 = 126 people&#10;Calculate from totals rather than averaging the group percentages."/>
          <p:cNvSpPr txBox="1"/>
          <p:nvPr/>
        </p:nvSpPr>
        <p:spPr>
          <a:xfrm>
            <a:off x="822960" y="4590288"/>
            <a:ext cx="106070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Students: 32 + 30 + 35 + 29 = 126 people</a:t>
            </a:r>
            <a:endParaRPr sz="25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5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5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Calculate from totals rather than averaging the group percentages.</a:t>
            </a:r>
            <a:endParaRPr sz="2500">
              <a:latin typeface="Meiryo"/>
              <a:ea typeface="Meiryo"/>
              <a:cs typeface="Meiryo"/>
            </a:endParaRPr>
          </a:p>
        </p:txBody>
      </p:sp>
      <p:sp>
        <p:nvSpPr>
          <p:cNvPr id="8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9" name="Text 7:Week 09  06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06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Results by group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Results by group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347472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5" name="Text 3:Group"/>
          <p:cNvSpPr txBox="1"/>
          <p:nvPr/>
        </p:nvSpPr>
        <p:spPr>
          <a:xfrm>
            <a:off x="786384" y="1709928"/>
            <a:ext cx="31821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Group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114800" y="1554480"/>
            <a:ext cx="3794760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7" name="Text 5:Numerator / denominator"/>
          <p:cNvSpPr txBox="1"/>
          <p:nvPr/>
        </p:nvSpPr>
        <p:spPr>
          <a:xfrm>
            <a:off x="4261104" y="1709928"/>
            <a:ext cx="3502152" cy="51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Numerator / denominator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909560" y="1554480"/>
            <a:ext cx="3639312" cy="704088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9" name="Text 7:Submission rate"/>
          <p:cNvSpPr txBox="1"/>
          <p:nvPr/>
        </p:nvSpPr>
        <p:spPr>
          <a:xfrm>
            <a:off x="8055864" y="1709928"/>
            <a:ext cx="33467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FFFFFF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FFFFFF"/>
                </a:solidFill>
                <a:latin typeface="Meiryo"/>
                <a:ea typeface="Meiryo"/>
                <a:cs typeface="Meiryo"/>
              </a:rPr>
              <a:t>Submission rate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58568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2386584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114800" y="2258568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61104" y="2386584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28／32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9560" y="2258568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55864" y="2386584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87.5％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017520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3017520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86384" y="3145536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14800" y="3017520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3145536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24／30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09560" y="3017520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55864" y="3145536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80.0％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776472"/>
            <a:ext cx="347472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6384" y="3904488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114800" y="3776472"/>
            <a:ext cx="3794760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261104" y="3904488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31／35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909560" y="3776472"/>
            <a:ext cx="3639312" cy="758952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55864" y="3904488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88.6％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453542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535424"/>
            <a:ext cx="34747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" y="4663440"/>
            <a:ext cx="3182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114800" y="4535424"/>
            <a:ext cx="379476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261104" y="4663440"/>
            <a:ext cx="35021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20／29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7909560" y="4535424"/>
            <a:ext cx="3639312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55864" y="4663440"/>
            <a:ext cx="33467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69.0％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" y="5294376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38" name="Text 36:Round to one decimal place. Recalculating from rounded values can introduce rounding error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Round to one decimal place. Recalculating from rounded values can introduce rounding error.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39" name="Text 3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40" name="Text 38:Week 09  07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07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Percentage points and relative increase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Percentage points and relative increase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:Difference in percentages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Difference in percentages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6" name="Text 4:From 60% to 75%.&#10;&#10;75 - 60 = 15 percentage points.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From 60% to 75%.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75 - 60 = 15 percentage points.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:Relative increase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Relative increase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7:The same change: 60% to 75%.&#10;&#10;(75 - 60) / 60 = 25% increase.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same change: 60% to 75%.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</a:pPr>
            <a:r>
              <a:t/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(75 - 60) / 60 = 25% increase.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8:State what changed and which starting value you used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State what changed and which starting value you used.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9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2" name="Text 10:Week 09  08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08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2. Checking calculations and explanation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2. Checking calculations and explanations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Use a calculator for one group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Use a calculator for one group.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numerator and denominator against the table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numerator and denominator against the table.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Calculate the overall rate from the totals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Calculate the overall rate from the totals.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Add the counts before dividing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Add the counts before dividing.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Read AI's explanation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 AI's explanation.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Make clear which people and which proportion the result describes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188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188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Make clear which people and which proportion the result describes.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Week 09  09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09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3. Explaining what a number mean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3. Explaining what a number means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:Try this prompt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1">
                <a:solidFill>
                  <a:srgbClr val="007F82"/>
                </a:solidFill>
                <a:latin typeface="Meiryo"/>
                <a:ea typeface="Meiryo"/>
                <a:cs typeface="Meiryo"/>
              </a:defRPr>
            </a:pPr>
            <a:r>
              <a:rPr sz="2200" b="1">
                <a:solidFill>
                  <a:srgbClr val="007F82"/>
                </a:solidFill>
                <a:latin typeface="Meiryo"/>
                <a:ea typeface="Meiryo"/>
                <a:cs typeface="Meiryo"/>
              </a:rPr>
              <a:t>Try this prompt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:The overall submission rate was about 81.7%.&#10;Explain it in one sentence that identifies&#10;the numerator and denominator.&#10;Avoid speculation about causes.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overall submission rate was about 81.7%.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Explain it in one sentence that identifies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numerator and denominator.</a:t>
            </a:r>
            <a:endParaRPr sz="27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7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7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Avoid speculation about causes.</a:t>
            </a:r>
            <a:endParaRPr sz="270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:The table alone cannot explain the submission rate or establish AI's effect.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2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2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The table alone cannot explain the submission rate or establish AI's effect.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10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7:Week 09  10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10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The scope of your explanat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The scope of your explanation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distinguished counts from percentages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distinguished counts from percentages.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stated the denominator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stated the denominator.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used consistent rounding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used consistent rounding.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avoided inferring a cause from these numbers alone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avoided inferring a cause from these numbers alone.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9  11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11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Your work and your checks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work and your checks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week09/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:README.md:&#10;Calculations, formulas and one-sentence explanation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7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7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README.md:</a:t>
            </a:r>
            <a:endParaRPr sz="22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1713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1713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Calculations, formulas and one-sentence explanation</a:t>
            </a:r>
            <a:endParaRPr sz="2200">
              <a:latin typeface="Meiryo"/>
              <a:ea typeface="Meiryo"/>
              <a:cs typeface="Meiryo"/>
            </a:endParaRPr>
          </a:p>
        </p:txBody>
      </p:sp>
      <p:sp>
        <p:nvSpPr>
          <p:cNvPr id="8" name="Text 5:Your README record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Your README record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9" name="Text 6:What I delegated to AI&#10;What I checked myself&#10;What I could not verify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delegated to AI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checked myself</a:t>
            </a:r>
            <a:endParaRPr sz="2400">
              <a:latin typeface="Meiryo"/>
              <a:ea typeface="Meiryo"/>
              <a:cs typeface="Meiryo"/>
            </a:endParaRPr>
          </a:p>
          <a:p>
            <a:pPr marL="0" indent="0">
              <a:lnSpc>
                <a:spcPct val="106000"/>
              </a:lnSpc>
              <a:buNone/>
              <a:defRPr sz="24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4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What I could not verify</a:t>
            </a:r>
            <a:endParaRPr sz="2400">
              <a:latin typeface="Meiryo"/>
              <a:ea typeface="Meiryo"/>
              <a:cs typeface="Meiryo"/>
            </a:endParaRPr>
          </a:p>
        </p:txBody>
      </p:sp>
      <p:sp>
        <p:nvSpPr>
          <p:cNvPr id="10" name="Text 7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1" name="Text 8:Week 09  12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12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Submitting the saved version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Submitting the saved version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:Commit your changes on GitHub.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Commit your changes on GitHub.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6" name="Text 4:Check the updated files and commit them.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the updated files and commit them.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:Open that commit's page.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Open that commit's page.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0" name="Text 8:Check that the URL contains /commit/.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Check that the URL contains /commit/.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:Submit the course form.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8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8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Submit the course form.</a:t>
            </a:r>
            <a:endParaRPr sz="2800">
              <a:latin typeface="Meiryo"/>
              <a:ea typeface="Meiryo"/>
              <a:cs typeface="Meiryo"/>
            </a:endParaRPr>
          </a:p>
        </p:txBody>
      </p:sp>
      <p:sp>
        <p:nvSpPr>
          <p:cNvPr id="14" name="Text 12:Use the specified course account and choose Week 09.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3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23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Use the specified course account and choose Week 09.</a:t>
            </a:r>
            <a:endParaRPr sz="2300">
              <a:latin typeface="Meiryo"/>
              <a:ea typeface="Meiryo"/>
              <a:cs typeface="Meiryo"/>
            </a:endParaRPr>
          </a:p>
        </p:txBody>
      </p:sp>
      <p:sp>
        <p:nvSpPr>
          <p:cNvPr id="15" name="Text 13:A browser commit saves to GitHub. A separate push is unnecessary.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 browser commit saves to GitHub. A separate push is unnecessary.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6" name="Text 14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7" name="Text 15:Week 09  13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13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:Before you submit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3400" b="1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3400" b="1">
                <a:solidFill>
                  <a:srgbClr val="1B2D3B"/>
                </a:solidFill>
                <a:latin typeface="Meiryo"/>
                <a:ea typeface="Meiryo"/>
                <a:cs typeface="Meiryo"/>
              </a:rPr>
              <a:t>Before you submit</a:t>
            </a:r>
            <a:endParaRPr sz="340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:I calculated one group and the overall rate myself.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calculated one group and the overall rate myself.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:I stated the denominator explicitly.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stated the denominator explicitly.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:I identified the data as fictional teaching data.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identified the data as fictional teaching data.</a:t>
            </a:r>
            <a:endParaRPr sz="260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:I submitted the commit URL containing my work.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2600" b="0">
                <a:solidFill>
                  <a:srgbClr val="1B2D3B"/>
                </a:solidFill>
                <a:latin typeface="Meiryo"/>
                <a:ea typeface="Meiryo"/>
                <a:cs typeface="Meiryo"/>
              </a:defRPr>
            </a:pPr>
            <a:r>
              <a:rPr sz="2600" b="0">
                <a:solidFill>
                  <a:srgbClr val="1B2D3B"/>
                </a:solidFill>
                <a:latin typeface="Meiryo"/>
                <a:ea typeface="Meiryo"/>
                <a:cs typeface="Meiryo"/>
              </a:rPr>
              <a:t>I submitted the commit URL containing my work.</a:t>
            </a:r>
            <a:endParaRPr sz="2600">
              <a:latin typeface="Meiryo"/>
              <a:ea typeface="Meiryo"/>
              <a:cs typeface="Meiryo"/>
            </a:endParaRPr>
          </a:p>
        </p:txBody>
      </p:sp>
      <p:sp>
        <p:nvSpPr>
          <p:cNvPr id="12" name="Text 6:AI and Data Literacy    Workshop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AI and Data Literacy    Workshop</a:t>
            </a:r>
            <a:endParaRPr sz="1800">
              <a:latin typeface="Meiryo"/>
              <a:ea typeface="Meiryo"/>
              <a:cs typeface="Meiryo"/>
            </a:endParaRPr>
          </a:p>
        </p:txBody>
      </p:sp>
      <p:sp>
        <p:nvSpPr>
          <p:cNvPr id="13" name="Text 7:Week 09  14 /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06000"/>
              </a:lnSpc>
              <a:buNone/>
              <a:defRPr sz="1800" b="0">
                <a:solidFill>
                  <a:srgbClr val="4D626D"/>
                </a:solidFill>
                <a:latin typeface="Meiryo"/>
                <a:ea typeface="Meiryo"/>
                <a:cs typeface="Meiryo"/>
              </a:defRPr>
            </a:pPr>
            <a:r>
              <a:rPr sz="1800" b="0">
                <a:solidFill>
                  <a:srgbClr val="4D626D"/>
                </a:solidFill>
                <a:latin typeface="Meiryo"/>
                <a:ea typeface="Meiryo"/>
                <a:cs typeface="Meiryo"/>
              </a:rPr>
              <a:t>Week 09  14 / 14</a:t>
            </a:r>
            <a:endParaRPr sz="180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What percentage of which people?</dc:title>
  <dc:subject>AI and Data Literacy — English teaching edition</dc:subject>
  <dc:creator>Takahiro Tsuchiya</dc:creator>
  <ns0:lastModifiedBy>Takahiro Tsuchiya</ns0:lastModifiedBy>
  <ns0:revision>1</ns0:revision>
  <ns2:created xsi:type="dcterms:W3CDTF">2026-09-17T11:31:39Z</ns2:created>
  <ns2:modified xsi:type="dcterms:W3CDTF">2026-09-17T11:31:39Z</ns2:modified>
  <dc:description>English slides and teaching notes with hands-on activities.</dc:description>
  <ns0:keywords>AI, GitHub, data literacy, English, university teaching</ns0:keywords>
</ns0:coreProperties>
</file>