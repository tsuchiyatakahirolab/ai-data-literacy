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lang="ja-JP">
        <a:solidFill>
          <a:schemeClr val="tx1"/>
        </a:solidFill>
        <a:latin typeface="Meiryo"/>
        <a:ea typeface="Meiryo"/>
        <a:cs typeface="Meiryo"/>
      </a:defRPr>
    </a:lvl1pPr>
    <a:lvl2pPr marL="457200" algn="l" defTabSz="914400" rtl="0" eaLnBrk="1" latinLnBrk="0" hangingPunct="1">
      <a:defRPr sz="1800" kern="1200" lang="ja-JP">
        <a:solidFill>
          <a:schemeClr val="tx1"/>
        </a:solidFill>
        <a:latin typeface="Meiryo"/>
        <a:ea typeface="Meiryo"/>
        <a:cs typeface="Meiryo"/>
      </a:defRPr>
    </a:lvl2pPr>
    <a:lvl3pPr marL="914400" algn="l" defTabSz="914400" rtl="0" eaLnBrk="1" latinLnBrk="0" hangingPunct="1">
      <a:defRPr sz="1800" kern="1200" lang="ja-JP">
        <a:solidFill>
          <a:schemeClr val="tx1"/>
        </a:solidFill>
        <a:latin typeface="Meiryo"/>
        <a:ea typeface="Meiryo"/>
        <a:cs typeface="Meiryo"/>
      </a:defRPr>
    </a:lvl3pPr>
    <a:lvl4pPr marL="1371600" algn="l" defTabSz="914400" rtl="0" eaLnBrk="1" latinLnBrk="0" hangingPunct="1">
      <a:defRPr sz="1800" kern="1200" lang="ja-JP">
        <a:solidFill>
          <a:schemeClr val="tx1"/>
        </a:solidFill>
        <a:latin typeface="Meiryo"/>
        <a:ea typeface="Meiryo"/>
        <a:cs typeface="Meiryo"/>
      </a:defRPr>
    </a:lvl4pPr>
    <a:lvl5pPr marL="1828800" algn="l" defTabSz="914400" rtl="0" eaLnBrk="1" latinLnBrk="0" hangingPunct="1">
      <a:defRPr sz="1800" kern="1200" lang="ja-JP">
        <a:solidFill>
          <a:schemeClr val="tx1"/>
        </a:solidFill>
        <a:latin typeface="Meiryo"/>
        <a:ea typeface="Meiryo"/>
        <a:cs typeface="Meiryo"/>
      </a:defRPr>
    </a:lvl5pPr>
    <a:lvl6pPr marL="2286000" algn="l" defTabSz="914400" rtl="0" eaLnBrk="1" latinLnBrk="0" hangingPunct="1">
      <a:defRPr sz="1800" kern="1200" lang="ja-JP">
        <a:solidFill>
          <a:schemeClr val="tx1"/>
        </a:solidFill>
        <a:latin typeface="Meiryo"/>
        <a:ea typeface="Meiryo"/>
        <a:cs typeface="Meiryo"/>
      </a:defRPr>
    </a:lvl6pPr>
    <a:lvl7pPr marL="2743200" algn="l" defTabSz="914400" rtl="0" eaLnBrk="1" latinLnBrk="0" hangingPunct="1">
      <a:defRPr sz="1800" kern="1200" lang="ja-JP">
        <a:solidFill>
          <a:schemeClr val="tx1"/>
        </a:solidFill>
        <a:latin typeface="Meiryo"/>
        <a:ea typeface="Meiryo"/>
        <a:cs typeface="Meiryo"/>
      </a:defRPr>
    </a:lvl7pPr>
    <a:lvl8pPr marL="3200400" algn="l" defTabSz="914400" rtl="0" eaLnBrk="1" latinLnBrk="0" hangingPunct="1">
      <a:defRPr sz="1800" kern="1200" lang="ja-JP">
        <a:solidFill>
          <a:schemeClr val="tx1"/>
        </a:solidFill>
        <a:latin typeface="Meiryo"/>
        <a:ea typeface="Meiryo"/>
        <a:cs typeface="Meiryo"/>
      </a:defRPr>
    </a:lvl8pPr>
    <a:lvl9pPr marL="3657600" algn="l" defTabSz="914400" rtl="0" eaLnBrk="1" latinLnBrk="0" hangingPunct="1">
      <a:defRPr sz="1800" kern="1200" lang="ja-JP">
        <a:solidFill>
          <a:schemeClr val="tx1"/>
        </a:solidFill>
        <a:latin typeface="Meiryo"/>
        <a:ea typeface="Meiryo"/>
        <a:cs typeface="Meiryo"/>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lang="ja-JP">
                <a:latin typeface="Meiryo"/>
                <a:ea typeface="Meiryo"/>
                <a:cs typeface="Meiryo"/>
              </a:defRPr>
            </a:lvl1pPr>
          </a:lstStyle>
          <a:p>
            <a:endParaRPr lang="ja-JP">
              <a:latin typeface="Meiryo"/>
              <a:ea typeface="Meiryo"/>
              <a:cs typeface="Meiryo"/>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lang="ja-JP">
                <a:latin typeface="Meiryo"/>
                <a:ea typeface="Meiryo"/>
                <a:cs typeface="Meiryo"/>
              </a:defRPr>
            </a:lvl1pPr>
          </a:lstStyle>
          <a:p>
            <a:fld id="{5282F153-3F37-0F45-9E97-73ACFA13230C}" type="datetimeFigureOut">
              <a:rPr lang="ja-JP">
                <a:latin typeface="Meiryo"/>
                <a:ea typeface="Meiryo"/>
                <a:cs typeface="Meiryo"/>
              </a:rPr>
              <a:t>7/23/19</a:t>
            </a:fld>
            <a:endParaRPr lang="ja-JP">
              <a:latin typeface="Meiryo"/>
              <a:ea typeface="Meiryo"/>
              <a:cs typeface="Meiryo"/>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atin typeface="Meiryo"/>
              <a:ea typeface="Meiryo"/>
              <a:cs typeface="Meiryo"/>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atin typeface="Meiryo"/>
                <a:ea typeface="Meiryo"/>
                <a:cs typeface="Meiryo"/>
              </a:rPr>
              <a:t>Click to edit Master text styles</a:t>
            </a:r>
          </a:p>
          <a:p>
            <a:pPr lvl="1"/>
            <a:r>
              <a:rPr lang="ja-JP">
                <a:latin typeface="Meiryo"/>
                <a:ea typeface="Meiryo"/>
                <a:cs typeface="Meiryo"/>
              </a:rPr>
              <a:t>Second level</a:t>
            </a:r>
          </a:p>
          <a:p>
            <a:pPr lvl="2"/>
            <a:r>
              <a:rPr lang="ja-JP">
                <a:latin typeface="Meiryo"/>
                <a:ea typeface="Meiryo"/>
                <a:cs typeface="Meiryo"/>
              </a:rPr>
              <a:t>Third level</a:t>
            </a:r>
          </a:p>
          <a:p>
            <a:pPr lvl="3"/>
            <a:r>
              <a:rPr lang="ja-JP">
                <a:latin typeface="Meiryo"/>
                <a:ea typeface="Meiryo"/>
                <a:cs typeface="Meiryo"/>
              </a:rPr>
              <a:t>Fourth level</a:t>
            </a:r>
          </a:p>
          <a:p>
            <a:pPr lvl="4"/>
            <a:r>
              <a:rPr lang="ja-JP">
                <a:latin typeface="Meiryo"/>
                <a:ea typeface="Meiryo"/>
                <a:cs typeface="Meiryo"/>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lang="ja-JP">
                <a:latin typeface="Meiryo"/>
                <a:ea typeface="Meiryo"/>
                <a:cs typeface="Meiryo"/>
              </a:defRPr>
            </a:lvl1pPr>
          </a:lstStyle>
          <a:p>
            <a:endParaRPr lang="ja-JP">
              <a:latin typeface="Meiryo"/>
              <a:ea typeface="Meiryo"/>
              <a:cs typeface="Meiryo"/>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lang="ja-JP">
                <a:latin typeface="Meiryo"/>
                <a:ea typeface="Meiryo"/>
                <a:cs typeface="Meiryo"/>
              </a:defRPr>
            </a:lvl1pPr>
          </a:lstStyle>
          <a:p>
            <a:fld id="{CE5E9CC1-C706-0F49-92D6-E571CC5EEA8F}" type="slidenum">
              <a:rPr lang="ja-JP">
                <a:latin typeface="Meiryo"/>
                <a:ea typeface="Meiryo"/>
                <a:cs typeface="Meiryo"/>
              </a:rPr>
              <a:t>‹#›</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lang="ja-JP">
        <a:solidFill>
          <a:schemeClr val="tx1"/>
        </a:solidFill>
        <a:latin typeface="Meiryo"/>
        <a:ea typeface="Meiryo"/>
        <a:cs typeface="Meiryo"/>
      </a:defRPr>
    </a:lvl1pPr>
    <a:lvl2pPr marL="457200" algn="l" defTabSz="914400" rtl="0" eaLnBrk="1" latinLnBrk="0" hangingPunct="1">
      <a:defRPr sz="1200" kern="1200" lang="ja-JP">
        <a:solidFill>
          <a:schemeClr val="tx1"/>
        </a:solidFill>
        <a:latin typeface="Meiryo"/>
        <a:ea typeface="Meiryo"/>
        <a:cs typeface="Meiryo"/>
      </a:defRPr>
    </a:lvl2pPr>
    <a:lvl3pPr marL="914400" algn="l" defTabSz="914400" rtl="0" eaLnBrk="1" latinLnBrk="0" hangingPunct="1">
      <a:defRPr sz="1200" kern="1200" lang="ja-JP">
        <a:solidFill>
          <a:schemeClr val="tx1"/>
        </a:solidFill>
        <a:latin typeface="Meiryo"/>
        <a:ea typeface="Meiryo"/>
        <a:cs typeface="Meiryo"/>
      </a:defRPr>
    </a:lvl3pPr>
    <a:lvl4pPr marL="1371600" algn="l" defTabSz="914400" rtl="0" eaLnBrk="1" latinLnBrk="0" hangingPunct="1">
      <a:defRPr sz="1200" kern="1200" lang="ja-JP">
        <a:solidFill>
          <a:schemeClr val="tx1"/>
        </a:solidFill>
        <a:latin typeface="Meiryo"/>
        <a:ea typeface="Meiryo"/>
        <a:cs typeface="Meiryo"/>
      </a:defRPr>
    </a:lvl4pPr>
    <a:lvl5pPr marL="1828800" algn="l" defTabSz="914400" rtl="0" eaLnBrk="1" latinLnBrk="0" hangingPunct="1">
      <a:defRPr sz="1200" kern="1200" lang="ja-JP">
        <a:solidFill>
          <a:schemeClr val="tx1"/>
        </a:solidFill>
        <a:latin typeface="Meiryo"/>
        <a:ea typeface="Meiryo"/>
        <a:cs typeface="Meiryo"/>
      </a:defRPr>
    </a:lvl5pPr>
    <a:lvl6pPr marL="2286000" algn="l" defTabSz="914400" rtl="0" eaLnBrk="1" latinLnBrk="0" hangingPunct="1">
      <a:defRPr sz="1200" kern="1200" lang="ja-JP">
        <a:solidFill>
          <a:schemeClr val="tx1"/>
        </a:solidFill>
        <a:latin typeface="Meiryo"/>
        <a:ea typeface="Meiryo"/>
        <a:cs typeface="Meiryo"/>
      </a:defRPr>
    </a:lvl6pPr>
    <a:lvl7pPr marL="2743200" algn="l" defTabSz="914400" rtl="0" eaLnBrk="1" latinLnBrk="0" hangingPunct="1">
      <a:defRPr sz="1200" kern="1200" lang="ja-JP">
        <a:solidFill>
          <a:schemeClr val="tx1"/>
        </a:solidFill>
        <a:latin typeface="Meiryo"/>
        <a:ea typeface="Meiryo"/>
        <a:cs typeface="Meiryo"/>
      </a:defRPr>
    </a:lvl7pPr>
    <a:lvl8pPr marL="3200400" algn="l" defTabSz="914400" rtl="0" eaLnBrk="1" latinLnBrk="0" hangingPunct="1">
      <a:defRPr sz="1200" kern="1200" lang="ja-JP">
        <a:solidFill>
          <a:schemeClr val="tx1"/>
        </a:solidFill>
        <a:latin typeface="Meiryo"/>
        <a:ea typeface="Meiryo"/>
        <a:cs typeface="Meiryo"/>
      </a:defRPr>
    </a:lvl8pPr>
    <a:lvl9pPr marL="3657600" algn="l" defTabSz="914400" rtl="0" eaLnBrk="1" latinLnBrk="0" hangingPunct="1">
      <a:defRPr sz="1200" kern="1200" lang="ja-JP">
        <a:solidFill>
          <a:schemeClr val="tx1"/>
        </a:solidFill>
        <a:latin typeface="Meiryo"/>
        <a:ea typeface="Meiryo"/>
        <a:cs typeface="Meiryo"/>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Wait while students follow the slide. Check the result on their screens before moving on.</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Wait while students follow the slide. Check the result on their screens before moving on.</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References</a:t>
            </a:r>
            <a:endParaRPr sz="1200">
              <a:latin typeface="Meiryo"/>
              <a:ea typeface="Meiryo"/>
              <a:cs typeface="Meiryo"/>
            </a:endParaRPr>
          </a:p>
          <a:p>
            <a:r>
              <a:rPr sz="1200">
                <a:latin typeface="Meiryo"/>
                <a:ea typeface="Meiryo"/>
                <a:cs typeface="Meiryo"/>
              </a:rPr>
              <a:t>https://help.openai.com/en/articles/9260256-chatgpt-capabilities-overview</a:t>
            </a:r>
            <a:endParaRPr sz="1200">
              <a:latin typeface="Meiryo"/>
              <a:ea typeface="Meiryo"/>
              <a:cs typeface="Meiryo"/>
            </a:endParaRPr>
          </a:p>
          <a:p>
            <a:r>
              <a:rPr sz="1200">
                <a:latin typeface="Meiryo"/>
                <a:ea typeface="Meiryo"/>
                <a:cs typeface="Meiryo"/>
              </a:rPr>
              <a:t>https://support.google.com/gemini/answer/14903178?co=GENIE.Platform%3DDesktop&amp;hl=en</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2</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Wait while students follow the slide. Check the result on their screens before moving on.</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3</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These are fictional educational data, not findings from an effectiveness study or a university performance report. Open both the CSV and its data dictionary.</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4</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Wait while students follow the slide. Check the result on their screens before moving on.</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When someone is stuck, identify the visible screen and the step where progress stopped. Never ask for passwords or verification codes.</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References</a:t>
            </a:r>
            <a:endParaRPr sz="1200">
              <a:latin typeface="Meiryo"/>
              <a:ea typeface="Meiryo"/>
              <a:cs typeface="Meiryo"/>
            </a:endParaRPr>
          </a:p>
          <a:p>
            <a:r>
              <a:rPr sz="1200">
                <a:latin typeface="Meiryo"/>
                <a:ea typeface="Meiryo"/>
                <a:cs typeface="Meiryo"/>
              </a:rPr>
              <a:t>https://help.openai.com/en/articles/9260256-chatgpt-capabilities-overview</a:t>
            </a:r>
            <a:endParaRPr sz="1200">
              <a:latin typeface="Meiryo"/>
              <a:ea typeface="Meiryo"/>
              <a:cs typeface="Meiryo"/>
            </a:endParaRPr>
          </a:p>
          <a:p>
            <a:r>
              <a:rPr sz="1200">
                <a:latin typeface="Meiryo"/>
                <a:ea typeface="Meiryo"/>
                <a:cs typeface="Meiryo"/>
              </a:rPr>
              <a:t>https://support.google.com/gemini/answer/14903178?co=GENIE.Platform%3DDesktop&amp;hl=en</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5</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Wait while students follow the slide. Check the result on their screens before moving on.</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When someone is stuck, identify the visible screen and the step where progress stopped. Never ask for passwords or verification codes.</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Copyable prompts are in en/handouts/. Treat prompts as examples rather than phrases to memorize.</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6</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Wait while students follow the slide. Check the result on their screens before moving on.</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7</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Wait while students follow the slide. Check the result on their screens before moving on.</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When someone is stuck, identify the visible screen and the step where progress stopped. Never ask for passwords or verification codes.</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Copyable prompts are in en/handouts/. Treat prompts as examples rather than phrases to memorize.</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8</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The reference values were checked by aggregating the supplied CSV in Python. If AI returns different values, check the chosen columns, missing values, and file. Hide this slide if answers should be revealed later.</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9</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1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Wait while students follow the slide. Check the result on their screens before moving on.</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10</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1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Wait while students follow the slide. Check the result on their screens before moving on.</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When someone is stuck, identify the visible screen and the step where progress stopped. Never ask for passwords or verification codes.</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Copyable prompts are in en/handouts/. Treat prompts as examples rather than phrases to memorize.</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11</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1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Wait while students follow the slide. Check the result on their screens before moving on.</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12</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1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Wait while students follow the slide. Check the result on their screens before moving on.</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13</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1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Wait while students follow the slide. Check the result on their screens before moving on.</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When someone is stuck, identify the visible screen and the step where progress stopped. Never ask for passwords or verification codes.</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14</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1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Do not require full chat logs, shared-chat links, or arbitrary retry counts. If no change was needed, record what was checked and the result.</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15</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1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When someone is stuck, identify the visible screen and the step where progress stopped. Never ask for passwords or verification codes.</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The browser route saves directly to GitHub. Students who independently use Desktop must Push origin and confirm the result on GitHub. Check the form’s submission confirmation. Instructor access is a separate requirement.</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References</a:t>
            </a:r>
            <a:endParaRPr sz="1200">
              <a:latin typeface="Meiryo"/>
              <a:ea typeface="Meiryo"/>
              <a:cs typeface="Meiryo"/>
            </a:endParaRPr>
          </a:p>
          <a:p>
            <a:r>
              <a:rPr sz="1200">
                <a:latin typeface="Meiryo"/>
                <a:ea typeface="Meiryo"/>
                <a:cs typeface="Meiryo"/>
              </a:rPr>
              <a:t>https://docs.github.com/en/repositories/working-with-files/managing-files/editing-files</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16</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1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Teaching notes — Workshop</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This is a self-check with files and screens available, not a memorization test.</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Icons: see assets/icons/lucide/LICENSE.txt for the Lucide license.</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17</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theme" Target="../theme/theme1.xml" /><ns0:Relationship Id="rIdPersonalAuthorLogo" Type="http://schemas.openxmlformats.org/officeDocument/2006/relationships/image" Target="../media/personal-author-logo.png" /></ns0:Relationships>
</file>

<file path=ppt/slideMasters/slideMaster1.xml><?xml version="1.0" encoding="utf-8"?>
<p:sldMaster xmlns:a="http://schemas.openxmlformats.org/drawingml/2006/main" xmlns:ns3="http://schemas.microsoft.com/office/drawing/2014/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
          <p:cNvPicPr>
            <a:picLocks noChangeAspect="1"/>
          </p:cNvPicPr>
          <p:nvPr/>
        </p:nvPicPr>
        <p:blipFill>
          <a:blip r:embed="rIdPersonalAuthorLogo"/>
          <a:stretch/>
        </p:blipFill>
        <p:spPr>
          <a:xfrm>
            <a:off x="685800" y="85748"/>
            <a:ext cx="1714500" cy="210457"/>
          </a:xfrm>
          <a:prstGeom prst="rect">
            <a:avLst/>
          </a:prstGeom>
        </p:spPr>
      </p:pic>
      <p:sp>
        <p:nvSpPr>
          <p:cNvPr id="3" name="Personal author website">
            <a:extLst>
              <a:ext uri="{FF2B5EF4-FFF2-40B4-BE49-F238E27FC236}">
                <ns3:creationId id="{2B199CB2-0940-4D13-9CAC-E3F074FAA0ED}"/>
              </a:ext>
            </a:extLst>
          </p:cNvPr>
          <p:cNvSpPr>
            <a:spLocks noGrp="1"/>
          </p:cNvSpPr>
          <p:nvPr/>
        </p:nvSpPr>
        <p:spPr>
          <a:xfrm>
            <a:off x="6286500" y="6477000"/>
            <a:ext cx="4000500" cy="266700"/>
          </a:xfrm>
          <a:prstGeom prst="rect">
            <a:avLst/>
          </a:prstGeom>
          <a:noFill/>
          <a:ln w="0">
            <a:noFill/>
          </a:ln>
        </p:spPr>
        <p:txBody>
          <a:bodyPr>
            <a:noAutofit/>
          </a:bodyPr>
          <a:lstStyle/>
          <a:p>
            <a:pPr>
              <a:defRPr sz="1800">
                <a:solidFill>
                  <a:srgbClr val="607482"/>
                </a:solidFill>
                <a:latin typeface="Meiryo"/>
                <a:ea typeface="Meiryo"/>
                <a:cs typeface="Meiryo"/>
              </a:defRPr>
            </a:pPr>
            <a:r>
              <a:rPr sz="1800">
                <a:solidFill>
                  <a:srgbClr val="607482"/>
                </a:solidFill>
                <a:latin typeface="Meiryo"/>
                <a:ea typeface="Meiryo"/>
                <a:cs typeface="Meiryo"/>
              </a:rPr>
              <a:t>tsuchiyatakahiro.com</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lang="ja-JP">
          <a:solidFill>
            <a:schemeClr val="tx1"/>
          </a:solidFill>
          <a:latin typeface="Meiryo"/>
          <a:ea typeface="Meiryo"/>
          <a:cs typeface="Meiryo"/>
        </a:defRPr>
      </a:lvl1pPr>
    </p:titleStyle>
    <p:bodyStyle>
      <a:lvl1pPr marL="342900" indent="-342900" algn="l" defTabSz="914400" rtl="0" eaLnBrk="1" latinLnBrk="0" hangingPunct="1">
        <a:spcBef>
          <a:spcPct val="20000"/>
        </a:spcBef>
        <a:buFont typeface="Meiryo" pitchFamily="34" charset="0"/>
        <a:buChar char="•"/>
        <a:defRPr sz="3200" kern="1200" lang="ja-JP">
          <a:solidFill>
            <a:schemeClr val="tx1"/>
          </a:solidFill>
          <a:latin typeface="Meiryo"/>
          <a:ea typeface="Meiryo"/>
          <a:cs typeface="Meiryo"/>
        </a:defRPr>
      </a:lvl1pPr>
      <a:lvl2pPr marL="742950" indent="-285750" algn="l" defTabSz="914400" rtl="0" eaLnBrk="1" latinLnBrk="0" hangingPunct="1">
        <a:spcBef>
          <a:spcPct val="20000"/>
        </a:spcBef>
        <a:buFont typeface="Meiryo" pitchFamily="34" charset="0"/>
        <a:buChar char="–"/>
        <a:defRPr sz="2800" kern="1200" lang="ja-JP">
          <a:solidFill>
            <a:schemeClr val="tx1"/>
          </a:solidFill>
          <a:latin typeface="Meiryo"/>
          <a:ea typeface="Meiryo"/>
          <a:cs typeface="Meiryo"/>
        </a:defRPr>
      </a:lvl2pPr>
      <a:lvl3pPr marL="1143000" indent="-228600" algn="l" defTabSz="914400" rtl="0" eaLnBrk="1" latinLnBrk="0" hangingPunct="1">
        <a:spcBef>
          <a:spcPct val="20000"/>
        </a:spcBef>
        <a:buFont typeface="Meiryo" pitchFamily="34" charset="0"/>
        <a:buChar char="•"/>
        <a:defRPr sz="2400" kern="1200" lang="ja-JP">
          <a:solidFill>
            <a:schemeClr val="tx1"/>
          </a:solidFill>
          <a:latin typeface="Meiryo"/>
          <a:ea typeface="Meiryo"/>
          <a:cs typeface="Meiryo"/>
        </a:defRPr>
      </a:lvl3pPr>
      <a:lvl4pPr marL="16002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4pPr>
      <a:lvl5pPr marL="20574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5pPr>
      <a:lvl6pPr marL="25146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6pPr>
      <a:lvl7pPr marL="29718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7pPr>
      <a:lvl8pPr marL="34290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8pPr>
      <a:lvl9pPr marL="38862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9pPr>
    </p:bodyStyle>
    <p:otherStyle>
      <a:defPPr>
        <a:defRPr lang="ja-JP">
          <a:latin typeface="Meiryo"/>
          <a:ea typeface="Meiryo"/>
          <a:cs typeface="Meiryo"/>
        </a:defRPr>
      </a:defPPr>
      <a:lvl1pPr marL="0" algn="l" defTabSz="914400" rtl="0" eaLnBrk="1" latinLnBrk="0" hangingPunct="1">
        <a:defRPr sz="1800" kern="1200" lang="ja-JP">
          <a:solidFill>
            <a:schemeClr val="tx1"/>
          </a:solidFill>
          <a:latin typeface="Meiryo"/>
          <a:ea typeface="Meiryo"/>
          <a:cs typeface="Meiryo"/>
        </a:defRPr>
      </a:lvl1pPr>
      <a:lvl2pPr marL="457200" algn="l" defTabSz="914400" rtl="0" eaLnBrk="1" latinLnBrk="0" hangingPunct="1">
        <a:defRPr sz="1800" kern="1200" lang="ja-JP">
          <a:solidFill>
            <a:schemeClr val="tx1"/>
          </a:solidFill>
          <a:latin typeface="Meiryo"/>
          <a:ea typeface="Meiryo"/>
          <a:cs typeface="Meiryo"/>
        </a:defRPr>
      </a:lvl2pPr>
      <a:lvl3pPr marL="914400" algn="l" defTabSz="914400" rtl="0" eaLnBrk="1" latinLnBrk="0" hangingPunct="1">
        <a:defRPr sz="1800" kern="1200" lang="ja-JP">
          <a:solidFill>
            <a:schemeClr val="tx1"/>
          </a:solidFill>
          <a:latin typeface="Meiryo"/>
          <a:ea typeface="Meiryo"/>
          <a:cs typeface="Meiryo"/>
        </a:defRPr>
      </a:lvl3pPr>
      <a:lvl4pPr marL="1371600" algn="l" defTabSz="914400" rtl="0" eaLnBrk="1" latinLnBrk="0" hangingPunct="1">
        <a:defRPr sz="1800" kern="1200" lang="ja-JP">
          <a:solidFill>
            <a:schemeClr val="tx1"/>
          </a:solidFill>
          <a:latin typeface="Meiryo"/>
          <a:ea typeface="Meiryo"/>
          <a:cs typeface="Meiryo"/>
        </a:defRPr>
      </a:lvl4pPr>
      <a:lvl5pPr marL="1828800" algn="l" defTabSz="914400" rtl="0" eaLnBrk="1" latinLnBrk="0" hangingPunct="1">
        <a:defRPr sz="1800" kern="1200" lang="ja-JP">
          <a:solidFill>
            <a:schemeClr val="tx1"/>
          </a:solidFill>
          <a:latin typeface="Meiryo"/>
          <a:ea typeface="Meiryo"/>
          <a:cs typeface="Meiryo"/>
        </a:defRPr>
      </a:lvl5pPr>
      <a:lvl6pPr marL="2286000" algn="l" defTabSz="914400" rtl="0" eaLnBrk="1" latinLnBrk="0" hangingPunct="1">
        <a:defRPr sz="1800" kern="1200" lang="ja-JP">
          <a:solidFill>
            <a:schemeClr val="tx1"/>
          </a:solidFill>
          <a:latin typeface="Meiryo"/>
          <a:ea typeface="Meiryo"/>
          <a:cs typeface="Meiryo"/>
        </a:defRPr>
      </a:lvl6pPr>
      <a:lvl7pPr marL="2743200" algn="l" defTabSz="914400" rtl="0" eaLnBrk="1" latinLnBrk="0" hangingPunct="1">
        <a:defRPr sz="1800" kern="1200" lang="ja-JP">
          <a:solidFill>
            <a:schemeClr val="tx1"/>
          </a:solidFill>
          <a:latin typeface="Meiryo"/>
          <a:ea typeface="Meiryo"/>
          <a:cs typeface="Meiryo"/>
        </a:defRPr>
      </a:lvl7pPr>
      <a:lvl8pPr marL="3200400" algn="l" defTabSz="914400" rtl="0" eaLnBrk="1" latinLnBrk="0" hangingPunct="1">
        <a:defRPr sz="1800" kern="1200" lang="ja-JP">
          <a:solidFill>
            <a:schemeClr val="tx1"/>
          </a:solidFill>
          <a:latin typeface="Meiryo"/>
          <a:ea typeface="Meiryo"/>
          <a:cs typeface="Meiryo"/>
        </a:defRPr>
      </a:lvl8pPr>
      <a:lvl9pPr marL="3657600" algn="l" defTabSz="914400" rtl="0" eaLnBrk="1" latinLnBrk="0" hangingPunct="1">
        <a:defRPr sz="1800" kern="1200" lang="ja-JP">
          <a:solidFill>
            <a:schemeClr val="tx1"/>
          </a:solidFill>
          <a:latin typeface="Meiryo"/>
          <a:ea typeface="Meiryo"/>
          <a:cs typeface="Meiryo"/>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image" Target="../media/image-1-1.png" /><ns0:Relationship Id="rId2" Type="http://schemas.openxmlformats.org/officeDocument/2006/relationships/slideLayout" Target="../slideLayouts/slideLayout1.xml" /><ns0:Relationship Id="rId3" Type="http://schemas.openxmlformats.org/officeDocument/2006/relationships/notesSlide" Target="../notesSlides/notesSlide1.xml" /><ns0:Relationship Id="rIdPersonalAuthorLogo" Type="http://schemas.openxmlformats.org/officeDocument/2006/relationships/image" Target="../media/personal-author-logo-white.png" /></ns0: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1.png"/><Relationship Id="rId4" Type="http://schemas.openxmlformats.org/officeDocument/2006/relationships/image" Target="../media/image-17-1.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slide1.xml><?xml version="1.0" encoding="utf-8"?>
<p:sld xmlns:a="http://schemas.openxmlformats.org/drawingml/2006/main" xmlns:ns3="http://schemas.microsoft.com/office/drawing/2014/main" xmlns:p="http://schemas.openxmlformats.org/presentationml/2006/main" xmlns:r="http://schemas.openxmlformats.org/officeDocument/2006/relationships" showMasterSp="0">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32B39"/>
          </a:solidFill>
          <a:ln w="12700">
            <a:solidFill>
              <a:srgbClr val="132B39"/>
            </a:solidFill>
            <a:prstDash val="solid"/>
          </a:ln>
        </p:spPr>
      </p:sp>
      <p:sp>
        <p:nvSpPr>
          <p:cNvPr id="3" name="Shape 1"/>
          <p:cNvSpPr/>
          <p:nvPr/>
        </p:nvSpPr>
        <p:spPr>
          <a:xfrm>
            <a:off x="0" y="0"/>
            <a:ext cx="182880" cy="6858000"/>
          </a:xfrm>
          <a:prstGeom prst="rect">
            <a:avLst/>
          </a:prstGeom>
          <a:solidFill>
            <a:srgbClr val="007F82"/>
          </a:solidFill>
          <a:ln w="12700">
            <a:solidFill>
              <a:srgbClr val="007F82"/>
            </a:solidFill>
            <a:prstDash val="solid"/>
          </a:ln>
        </p:spPr>
      </p:sp>
      <p:sp>
        <p:nvSpPr>
          <p:cNvPr id="4" name="Text 2:Week 11"/>
          <p:cNvSpPr txBox="1"/>
          <p:nvPr/>
        </p:nvSpPr>
        <p:spPr>
          <a:xfrm>
            <a:off x="713232" y="557784"/>
            <a:ext cx="5486400" cy="502920"/>
          </a:xfrm>
          <a:prstGeom prst="rect">
            <a:avLst/>
          </a:prstGeom>
          <a:noFill/>
          <a:ln/>
        </p:spPr>
        <p:txBody>
          <a:bodyPr wrap="square" lIns="0" tIns="0" rIns="0" bIns="0" rtlCol="0" anchor="t"/>
          <a:lstStyle/>
          <a:p>
            <a:pPr marL="0" indent="0">
              <a:lnSpc>
                <a:spcPct val="106000"/>
              </a:lnSpc>
              <a:buNone/>
              <a:defRPr sz="2600" b="0">
                <a:solidFill>
                  <a:srgbClr val="B1D6D5"/>
                </a:solidFill>
                <a:latin typeface="Meiryo"/>
                <a:ea typeface="Meiryo"/>
                <a:cs typeface="Meiryo"/>
              </a:defRPr>
            </a:pPr>
            <a:r>
              <a:rPr sz="2600" b="0">
                <a:solidFill>
                  <a:srgbClr val="B1D6D5"/>
                </a:solidFill>
                <a:latin typeface="Meiryo"/>
                <a:ea typeface="Meiryo"/>
                <a:cs typeface="Meiryo"/>
              </a:rPr>
              <a:t>Week 11</a:t>
            </a:r>
            <a:endParaRPr sz="2600">
              <a:latin typeface="Meiryo"/>
              <a:ea typeface="Meiryo"/>
              <a:cs typeface="Meiryo"/>
            </a:endParaRPr>
          </a:p>
        </p:txBody>
      </p:sp>
      <p:sp>
        <p:nvSpPr>
          <p:cNvPr id="5" name="Text 3:What do you check&#10;when you receive data?"/>
          <p:cNvSpPr txBox="1"/>
          <p:nvPr/>
        </p:nvSpPr>
        <p:spPr>
          <a:xfrm>
            <a:off x="713232" y="1554480"/>
            <a:ext cx="9418320" cy="2240280"/>
          </a:xfrm>
          <a:prstGeom prst="rect">
            <a:avLst/>
          </a:prstGeom>
          <a:noFill/>
          <a:ln/>
        </p:spPr>
        <p:txBody>
          <a:bodyPr wrap="square" lIns="0" tIns="0" rIns="0" bIns="0" rtlCol="0" anchor="t"/>
          <a:lstStyle/>
          <a:p>
            <a:pPr marL="0" indent="0">
              <a:lnSpc>
                <a:spcPct val="106000"/>
              </a:lnSpc>
              <a:buNone/>
              <a:defRPr sz="4200" b="1">
                <a:solidFill>
                  <a:srgbClr val="FFFFFF"/>
                </a:solidFill>
                <a:latin typeface="Meiryo"/>
                <a:ea typeface="Meiryo"/>
                <a:cs typeface="Meiryo"/>
              </a:defRPr>
            </a:pPr>
            <a:r>
              <a:rPr sz="4200" b="1">
                <a:solidFill>
                  <a:srgbClr val="FFFFFF"/>
                </a:solidFill>
                <a:latin typeface="Meiryo"/>
                <a:ea typeface="Meiryo"/>
                <a:cs typeface="Meiryo"/>
              </a:rPr>
              <a:t>What do you check</a:t>
            </a:r>
            <a:endParaRPr sz="4200">
              <a:latin typeface="Meiryo"/>
              <a:ea typeface="Meiryo"/>
              <a:cs typeface="Meiryo"/>
            </a:endParaRPr>
          </a:p>
          <a:p>
            <a:pPr marL="0" indent="0">
              <a:lnSpc>
                <a:spcPct val="106000"/>
              </a:lnSpc>
              <a:buNone/>
              <a:defRPr sz="4200" b="1">
                <a:solidFill>
                  <a:srgbClr val="FFFFFF"/>
                </a:solidFill>
                <a:latin typeface="Meiryo"/>
                <a:ea typeface="Meiryo"/>
                <a:cs typeface="Meiryo"/>
              </a:defRPr>
            </a:pPr>
            <a:r>
              <a:rPr sz="4200" b="1">
                <a:solidFill>
                  <a:srgbClr val="FFFFFF"/>
                </a:solidFill>
                <a:latin typeface="Meiryo"/>
                <a:ea typeface="Meiryo"/>
                <a:cs typeface="Meiryo"/>
              </a:rPr>
              <a:t>when you receive data?</a:t>
            </a:r>
            <a:endParaRPr sz="4200">
              <a:latin typeface="Meiryo"/>
              <a:ea typeface="Meiryo"/>
              <a:cs typeface="Meiryo"/>
            </a:endParaRPr>
          </a:p>
        </p:txBody>
      </p:sp>
      <p:sp>
        <p:nvSpPr>
          <p:cNvPr id="6" name="Text 4:Week 11: Use 60 fictional data rows&#10;and check tables, summaries and charts."/>
          <p:cNvSpPr txBox="1"/>
          <p:nvPr/>
        </p:nvSpPr>
        <p:spPr>
          <a:xfrm>
            <a:off x="749808" y="4169664"/>
            <a:ext cx="9692640" cy="1188720"/>
          </a:xfrm>
          <a:prstGeom prst="rect">
            <a:avLst/>
          </a:prstGeom>
          <a:noFill/>
          <a:ln/>
        </p:spPr>
        <p:txBody>
          <a:bodyPr wrap="square" lIns="0" tIns="0" rIns="0" bIns="0" rtlCol="0" anchor="t"/>
          <a:lstStyle/>
          <a:p>
            <a:pPr marL="0" indent="0">
              <a:lnSpc>
                <a:spcPct val="106000"/>
              </a:lnSpc>
              <a:buNone/>
              <a:defRPr sz="2600" b="0">
                <a:solidFill>
                  <a:srgbClr val="D9E7EC"/>
                </a:solidFill>
                <a:latin typeface="Meiryo"/>
                <a:ea typeface="Meiryo"/>
                <a:cs typeface="Meiryo"/>
              </a:defRPr>
            </a:pPr>
            <a:r>
              <a:rPr sz="2600" b="0">
                <a:solidFill>
                  <a:srgbClr val="D9E7EC"/>
                </a:solidFill>
                <a:latin typeface="Meiryo"/>
                <a:ea typeface="Meiryo"/>
                <a:cs typeface="Meiryo"/>
              </a:rPr>
              <a:t>Week 11: Use 60 fictional data rows</a:t>
            </a:r>
            <a:endParaRPr sz="2600">
              <a:latin typeface="Meiryo"/>
              <a:ea typeface="Meiryo"/>
              <a:cs typeface="Meiryo"/>
            </a:endParaRPr>
          </a:p>
          <a:p>
            <a:pPr marL="0" indent="0">
              <a:lnSpc>
                <a:spcPct val="106000"/>
              </a:lnSpc>
              <a:buNone/>
              <a:defRPr sz="2600" b="0">
                <a:solidFill>
                  <a:srgbClr val="D9E7EC"/>
                </a:solidFill>
                <a:latin typeface="Meiryo"/>
                <a:ea typeface="Meiryo"/>
                <a:cs typeface="Meiryo"/>
              </a:defRPr>
            </a:pPr>
            <a:r>
              <a:rPr sz="2600" b="0">
                <a:solidFill>
                  <a:srgbClr val="D9E7EC"/>
                </a:solidFill>
                <a:latin typeface="Meiryo"/>
                <a:ea typeface="Meiryo"/>
                <a:cs typeface="Meiryo"/>
              </a:rPr>
              <a:t>and check tables, summaries and charts.</a:t>
            </a:r>
            <a:endParaRPr sz="2600">
              <a:latin typeface="Meiryo"/>
              <a:ea typeface="Meiryo"/>
              <a:cs typeface="Meiryo"/>
            </a:endParaRPr>
          </a:p>
        </p:txBody>
      </p:sp>
      <p:pic>
        <p:nvPicPr>
          <p:cNvPr id="7" name="Image 0" descr="Lucide table">    </p:cNvPr>
          <p:cNvPicPr>
            <a:picLocks noChangeAspect="1"/>
          </p:cNvPicPr>
          <p:nvPr/>
        </p:nvPicPr>
        <p:blipFill>
          <a:blip r:embed="rId1"/>
          <a:stretch>
            <a:fillRect/>
          </a:stretch>
        </p:blipFill>
        <p:spPr>
          <a:xfrm>
            <a:off x="10497312" y="566928"/>
            <a:ext cx="841248" cy="841248"/>
          </a:xfrm>
          <a:prstGeom prst="rect">
            <a:avLst/>
          </a:prstGeom>
        </p:spPr>
      </p:pic>
      <p:sp>
        <p:nvSpPr>
          <p:cNvPr id="8" name="Text 5:AI and Data Literacy for University Students"/>
          <p:cNvSpPr txBox="1"/>
          <p:nvPr/>
        </p:nvSpPr>
        <p:spPr>
          <a:xfrm>
            <a:off x="749808" y="6281928"/>
            <a:ext cx="9144000" cy="338328"/>
          </a:xfrm>
          <a:prstGeom prst="rect">
            <a:avLst/>
          </a:prstGeom>
          <a:noFill/>
          <a:ln/>
        </p:spPr>
        <p:txBody>
          <a:bodyPr wrap="square" lIns="0" tIns="0" rIns="0" bIns="0" rtlCol="0" anchor="t"/>
          <a:lstStyle/>
          <a:p>
            <a:pPr marL="0" indent="0">
              <a:lnSpc>
                <a:spcPct val="106000"/>
              </a:lnSpc>
              <a:buNone/>
              <a:defRPr sz="1800" b="0">
                <a:solidFill>
                  <a:srgbClr val="D9E7EC"/>
                </a:solidFill>
                <a:latin typeface="Meiryo"/>
                <a:ea typeface="Meiryo"/>
                <a:cs typeface="Meiryo"/>
              </a:defRPr>
            </a:pPr>
            <a:r>
              <a:rPr sz="1800" b="0">
                <a:solidFill>
                  <a:srgbClr val="D9E7EC"/>
                </a:solidFill>
                <a:latin typeface="Meiryo"/>
                <a:ea typeface="Meiryo"/>
                <a:cs typeface="Meiryo"/>
              </a:rPr>
              <a:t>AI and Data Literacy for University Students</a:t>
            </a:r>
            <a:endParaRPr sz="1800">
              <a:latin typeface="Meiryo"/>
              <a:ea typeface="Meiryo"/>
              <a:cs typeface="Meiryo"/>
            </a:endParaRPr>
          </a:p>
        </p:txBody>
      </p:sp>
      <p:pic>
        <p:nvPicPr>
          <p:cNvPr id="10" name="" descr="TSUCHIYA TAKAHIRO white logo supplied in Brandeis cover; original bytes reused"/>
          <p:cNvPicPr>
            <a:picLocks noChangeAspect="1"/>
          </p:cNvPicPr>
          <p:nvPr/>
        </p:nvPicPr>
        <p:blipFill>
          <a:blip r:embed="rIdPersonalAuthorLogo"/>
          <a:stretch/>
        </p:blipFill>
        <p:spPr>
          <a:xfrm>
            <a:off x="3810000" y="109728"/>
            <a:ext cx="4572000" cy="561219"/>
          </a:xfrm>
          <a:prstGeom prst="rect">
            <a:avLst/>
          </a:prstGeom>
        </p:spPr>
      </p:pic>
      <p:sp>
        <p:nvSpPr>
          <p:cNvPr id="11" name="Personal author website">
            <a:extLst>
              <a:ext uri="{FF2B5EF4-FFF2-40B4-BE49-F238E27FC236}">
                <ns3:creationId id="{2B199CB2-0940-4D13-9CAC-E3F074FAA0ED}"/>
              </a:ext>
            </a:extLst>
          </p:cNvPr>
          <p:cNvSpPr>
            <a:spLocks noGrp="1"/>
          </p:cNvSpPr>
          <p:nvPr/>
        </p:nvSpPr>
        <p:spPr>
          <a:xfrm>
            <a:off x="6286500" y="6477000"/>
            <a:ext cx="4000500" cy="266700"/>
          </a:xfrm>
          <a:prstGeom prst="rect">
            <a:avLst/>
          </a:prstGeom>
          <a:noFill/>
          <a:ln w="0">
            <a:noFill/>
          </a:ln>
        </p:spPr>
        <p:txBody>
          <a:bodyPr>
            <a:noAutofit/>
          </a:bodyPr>
          <a:lstStyle/>
          <a:p>
            <a:pPr>
              <a:defRPr sz="1800">
                <a:solidFill>
                  <a:srgbClr val="AECFD2"/>
                </a:solidFill>
                <a:latin typeface="Meiryo"/>
                <a:ea typeface="Meiryo"/>
                <a:cs typeface="Meiryo"/>
              </a:defRPr>
            </a:pPr>
            <a:r>
              <a:rPr sz="1800">
                <a:solidFill>
                  <a:srgbClr val="AECFD2"/>
                </a:solidFill>
                <a:latin typeface="Meiryo"/>
                <a:ea typeface="Meiryo"/>
                <a:cs typeface="Meiryo"/>
              </a:rPr>
              <a:t>tsuchiyatakahiro.com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Slide 2">
    <p:bg>
      <p:bgPr>
        <a:solidFill>
          <a:srgbClr val="FFFFFF"/>
        </a:solidFill>
      </p:bgPr>
    </p:bg>
    <p:spTree>
      <p:nvGrpSpPr>
        <p:cNvPr id="1" name=""/>
        <p:cNvGrpSpPr/>
        <p:nvPr/>
      </p:nvGrpSpPr>
      <p:grpSpPr>
        <a:xfrm>
          <a:off x="0" y="0"/>
          <a:ext cx="0" cy="0"/>
          <a:chOff x="0" y="0"/>
          <a:chExt cx="0" cy="0"/>
        </a:xfrm>
      </p:grpSpPr>
      <p:sp>
        <p:nvSpPr>
          <p:cNvPr id="2" name="Text 0:No coding required today"/>
          <p:cNvSpPr txBox="1"/>
          <p:nvPr/>
        </p:nvSpPr>
        <p:spPr>
          <a:xfrm>
            <a:off x="621792" y="493776"/>
            <a:ext cx="10936224" cy="685800"/>
          </a:xfrm>
          <a:prstGeom prst="rect">
            <a:avLst/>
          </a:prstGeom>
          <a:noFill/>
          <a:ln/>
        </p:spPr>
        <p:txBody>
          <a:bodyPr wrap="square" lIns="0" tIns="0" rIns="0" bIns="0" rtlCol="0" anchor="t"/>
          <a:lstStyle/>
          <a:p>
            <a:pPr marL="0" indent="0">
              <a:lnSpc>
                <a:spcPct val="106000"/>
              </a:lnSpc>
              <a:buNone/>
              <a:defRPr sz="3400" b="1">
                <a:solidFill>
                  <a:srgbClr val="1B2D3B"/>
                </a:solidFill>
                <a:latin typeface="Meiryo"/>
                <a:ea typeface="Meiryo"/>
                <a:cs typeface="Meiryo"/>
              </a:defRPr>
            </a:pPr>
            <a:r>
              <a:rPr sz="3400" b="1">
                <a:solidFill>
                  <a:srgbClr val="1B2D3B"/>
                </a:solidFill>
                <a:latin typeface="Meiryo"/>
                <a:ea typeface="Meiryo"/>
                <a:cs typeface="Meiryo"/>
              </a:rPr>
              <a:t>No coding required today</a:t>
            </a:r>
            <a:endParaRPr sz="340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17904"/>
            <a:ext cx="10908792" cy="4050792"/>
          </a:xfrm>
          <a:prstGeom prst="rect">
            <a:avLst/>
          </a:prstGeom>
          <a:solidFill>
            <a:srgbClr val="EAF4F3"/>
          </a:solidFill>
          <a:ln w="12700">
            <a:solidFill>
              <a:srgbClr val="EAF4F3"/>
            </a:solidFill>
            <a:prstDash val="solid"/>
          </a:ln>
        </p:spPr>
      </p:sp>
      <p:pic>
        <p:nvPicPr>
          <p:cNvPr id="5" name="Image 0" descr="Lucide keyboard">    </p:cNvPr>
          <p:cNvPicPr>
            <a:picLocks noChangeAspect="1"/>
          </p:cNvPicPr>
          <p:nvPr/>
        </p:nvPicPr>
        <p:blipFill>
          <a:blip r:embed="rId1"/>
          <a:stretch>
            <a:fillRect/>
          </a:stretch>
        </p:blipFill>
        <p:spPr>
          <a:xfrm>
            <a:off x="941832" y="1801368"/>
            <a:ext cx="438912" cy="438912"/>
          </a:xfrm>
          <a:prstGeom prst="rect">
            <a:avLst/>
          </a:prstGeom>
        </p:spPr>
      </p:pic>
      <p:sp>
        <p:nvSpPr>
          <p:cNvPr id="6" name="Text 3:Give AI the supplied CSV and ask it&#10;to calculate summaries.&#10;&#10;Check the calculations against the source&#10;or with a spreadsheet as well.&#10;AI's output alone is insufficient evidence."/>
          <p:cNvSpPr txBox="1"/>
          <p:nvPr/>
        </p:nvSpPr>
        <p:spPr>
          <a:xfrm>
            <a:off x="1627632" y="1810512"/>
            <a:ext cx="9546336" cy="3639312"/>
          </a:xfrm>
          <a:prstGeom prst="rect">
            <a:avLst/>
          </a:prstGeom>
          <a:noFill/>
          <a:ln/>
        </p:spPr>
        <p:txBody>
          <a:bodyPr wrap="square" lIns="0" tIns="0" rIns="0" bIns="0" rtlCol="0" anchor="t"/>
          <a:lstStyle/>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Give AI the supplied CSV and ask it</a:t>
            </a:r>
            <a:endParaRPr sz="2700">
              <a:latin typeface="Meiryo"/>
              <a:ea typeface="Meiryo"/>
              <a:cs typeface="Meiryo"/>
            </a:endParaRPr>
          </a:p>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to calculate summaries.</a:t>
            </a:r>
            <a:endParaRPr sz="2700">
              <a:latin typeface="Meiryo"/>
              <a:ea typeface="Meiryo"/>
              <a:cs typeface="Meiryo"/>
            </a:endParaRPr>
          </a:p>
          <a:p>
            <a:pPr marL="0" indent="0">
              <a:lnSpc>
                <a:spcPct val="106000"/>
              </a:lnSpc>
              <a:buNone/>
            </a:pPr>
            <a:r>
              <a:t/>
            </a:r>
            <a:endParaRPr sz="2700">
              <a:latin typeface="Meiryo"/>
              <a:ea typeface="Meiryo"/>
              <a:cs typeface="Meiryo"/>
            </a:endParaRPr>
          </a:p>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Check the calculations against the source</a:t>
            </a:r>
            <a:endParaRPr sz="2700">
              <a:latin typeface="Meiryo"/>
              <a:ea typeface="Meiryo"/>
              <a:cs typeface="Meiryo"/>
            </a:endParaRPr>
          </a:p>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or with a spreadsheet as well.</a:t>
            </a:r>
            <a:endParaRPr sz="2700">
              <a:latin typeface="Meiryo"/>
              <a:ea typeface="Meiryo"/>
              <a:cs typeface="Meiryo"/>
            </a:endParaRPr>
          </a:p>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AI's output alone is insufficient evidence.</a:t>
            </a:r>
            <a:endParaRPr sz="2700">
              <a:latin typeface="Meiryo"/>
              <a:ea typeface="Meiryo"/>
              <a:cs typeface="Meiryo"/>
            </a:endParaRPr>
          </a:p>
        </p:txBody>
      </p:sp>
      <p:sp>
        <p:nvSpPr>
          <p:cNvPr id="7" name="Text 4:AI and Data Literacy    Workshop"/>
          <p:cNvSpPr txBox="1"/>
          <p:nvPr/>
        </p:nvSpPr>
        <p:spPr>
          <a:xfrm>
            <a:off x="667512" y="6428232"/>
            <a:ext cx="3840480" cy="310896"/>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AI and Data Literacy    Workshop</a:t>
            </a:r>
            <a:endParaRPr sz="1800">
              <a:latin typeface="Meiryo"/>
              <a:ea typeface="Meiryo"/>
              <a:cs typeface="Meiryo"/>
            </a:endParaRPr>
          </a:p>
        </p:txBody>
      </p:sp>
      <p:sp>
        <p:nvSpPr>
          <p:cNvPr id="8" name="Text 5:Week 11  02 / 17"/>
          <p:cNvSpPr txBox="1"/>
          <p:nvPr/>
        </p:nvSpPr>
        <p:spPr>
          <a:xfrm>
            <a:off x="8412480" y="6428232"/>
            <a:ext cx="3108960" cy="310896"/>
          </a:xfrm>
          <a:prstGeom prst="rect">
            <a:avLst/>
          </a:prstGeom>
          <a:noFill/>
          <a:ln/>
        </p:spPr>
        <p:txBody>
          <a:bodyPr wrap="square" lIns="0" tIns="0" rIns="0" bIns="0" rtlCol="0" anchor="t"/>
          <a:lstStyle/>
          <a:p>
            <a:pPr marL="0" indent="0" algn="r">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Week 11  02 / 17</a:t>
            </a:r>
            <a:endParaRPr sz="1800">
              <a:latin typeface="Meiryo"/>
              <a:ea typeface="Meiryo"/>
              <a:cs typeface="Meiryo"/>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Slide 3">
    <p:bg>
      <p:bgPr>
        <a:solidFill>
          <a:srgbClr val="FFFFFF"/>
        </a:solidFill>
      </p:bgPr>
    </p:bg>
    <p:spTree>
      <p:nvGrpSpPr>
        <p:cNvPr id="1" name=""/>
        <p:cNvGrpSpPr/>
        <p:nvPr/>
      </p:nvGrpSpPr>
      <p:grpSpPr>
        <a:xfrm>
          <a:off x="0" y="0"/>
          <a:ext cx="0" cy="0"/>
          <a:chOff x="0" y="0"/>
          <a:chExt cx="0" cy="0"/>
        </a:xfrm>
      </p:grpSpPr>
      <p:sp>
        <p:nvSpPr>
          <p:cNvPr id="2" name="Text 0:Your analysis sequence"/>
          <p:cNvSpPr txBox="1"/>
          <p:nvPr/>
        </p:nvSpPr>
        <p:spPr>
          <a:xfrm>
            <a:off x="621792" y="493776"/>
            <a:ext cx="10936224" cy="685800"/>
          </a:xfrm>
          <a:prstGeom prst="rect">
            <a:avLst/>
          </a:prstGeom>
          <a:noFill/>
          <a:ln/>
        </p:spPr>
        <p:txBody>
          <a:bodyPr wrap="square" lIns="0" tIns="0" rIns="0" bIns="0" rtlCol="0" anchor="t"/>
          <a:lstStyle/>
          <a:p>
            <a:pPr marL="0" indent="0">
              <a:lnSpc>
                <a:spcPct val="106000"/>
              </a:lnSpc>
              <a:buNone/>
              <a:defRPr sz="3400" b="1">
                <a:solidFill>
                  <a:srgbClr val="1B2D3B"/>
                </a:solidFill>
                <a:latin typeface="Meiryo"/>
                <a:ea typeface="Meiryo"/>
                <a:cs typeface="Meiryo"/>
              </a:defRPr>
            </a:pPr>
            <a:r>
              <a:rPr sz="3400" b="1">
                <a:solidFill>
                  <a:srgbClr val="1B2D3B"/>
                </a:solidFill>
                <a:latin typeface="Meiryo"/>
                <a:ea typeface="Meiryo"/>
                <a:cs typeface="Meiryo"/>
              </a:rPr>
              <a:t>Your analysis sequence</a:t>
            </a:r>
            <a:endParaRPr sz="340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36192"/>
            <a:ext cx="3496056" cy="3977640"/>
          </a:xfrm>
          <a:prstGeom prst="rect">
            <a:avLst/>
          </a:prstGeom>
          <a:solidFill>
            <a:srgbClr val="F7F8FA"/>
          </a:solidFill>
          <a:ln w="12700">
            <a:solidFill>
              <a:srgbClr val="F7F8FA"/>
            </a:solidFill>
            <a:prstDash val="solid"/>
          </a:ln>
        </p:spPr>
      </p:sp>
      <p:pic>
        <p:nvPicPr>
          <p:cNvPr id="5" name="Image 0" descr="Lucide table">    </p:cNvPr>
          <p:cNvPicPr>
            <a:picLocks noChangeAspect="1"/>
          </p:cNvPicPr>
          <p:nvPr/>
        </p:nvPicPr>
        <p:blipFill>
          <a:blip r:embed="rId1"/>
          <a:stretch>
            <a:fillRect/>
          </a:stretch>
        </p:blipFill>
        <p:spPr>
          <a:xfrm>
            <a:off x="896112" y="1819656"/>
            <a:ext cx="530352" cy="530352"/>
          </a:xfrm>
          <a:prstGeom prst="rect">
            <a:avLst/>
          </a:prstGeom>
        </p:spPr>
      </p:pic>
      <p:sp>
        <p:nvSpPr>
          <p:cNvPr id="6" name="Text 3:Inspect"/>
          <p:cNvSpPr txBox="1"/>
          <p:nvPr/>
        </p:nvSpPr>
        <p:spPr>
          <a:xfrm>
            <a:off x="896112" y="2660904"/>
            <a:ext cx="2983992" cy="731520"/>
          </a:xfrm>
          <a:prstGeom prst="rect">
            <a:avLst/>
          </a:prstGeom>
          <a:noFill/>
          <a:ln/>
        </p:spPr>
        <p:txBody>
          <a:bodyPr wrap="square" lIns="0" tIns="0" rIns="0" bIns="0" rtlCol="0" anchor="t"/>
          <a:lstStyle/>
          <a:p>
            <a:pPr marL="0" indent="0">
              <a:lnSpc>
                <a:spcPct val="106000"/>
              </a:lnSpc>
              <a:buNone/>
              <a:defRPr sz="2700" b="1">
                <a:solidFill>
                  <a:srgbClr val="1B2D3B"/>
                </a:solidFill>
                <a:latin typeface="Meiryo"/>
                <a:ea typeface="Meiryo"/>
                <a:cs typeface="Meiryo"/>
              </a:defRPr>
            </a:pPr>
            <a:r>
              <a:rPr sz="2700" b="1">
                <a:solidFill>
                  <a:srgbClr val="1B2D3B"/>
                </a:solidFill>
                <a:latin typeface="Meiryo"/>
                <a:ea typeface="Meiryo"/>
                <a:cs typeface="Meiryo"/>
              </a:rPr>
              <a:t>Inspect</a:t>
            </a:r>
            <a:endParaRPr sz="2700">
              <a:latin typeface="Meiryo"/>
              <a:ea typeface="Meiryo"/>
              <a:cs typeface="Meiryo"/>
            </a:endParaRPr>
          </a:p>
        </p:txBody>
      </p:sp>
      <p:sp>
        <p:nvSpPr>
          <p:cNvPr id="7" name="Text 4:Check rows, columns&#10;and missing values."/>
          <p:cNvSpPr txBox="1"/>
          <p:nvPr/>
        </p:nvSpPr>
        <p:spPr>
          <a:xfrm>
            <a:off x="896112" y="3639312"/>
            <a:ext cx="2983992" cy="1600200"/>
          </a:xfrm>
          <a:prstGeom prst="rect">
            <a:avLst/>
          </a:prstGeom>
          <a:noFill/>
          <a:ln/>
        </p:spPr>
        <p:txBody>
          <a:bodyPr wrap="square" lIns="0" tIns="0" rIns="0" bIns="0" rtlCol="0" anchor="t"/>
          <a:lstStyle/>
          <a:p>
            <a:pPr marL="0" indent="0">
              <a:lnSpc>
                <a:spcPct val="106000"/>
              </a:lnSpc>
              <a:buNone/>
              <a:defRPr sz="2400" b="0">
                <a:solidFill>
                  <a:srgbClr val="1B2D3B"/>
                </a:solidFill>
                <a:latin typeface="Meiryo"/>
                <a:ea typeface="Meiryo"/>
                <a:cs typeface="Meiryo"/>
              </a:defRPr>
            </a:pPr>
            <a:r>
              <a:rPr sz="2400" b="0">
                <a:solidFill>
                  <a:srgbClr val="1B2D3B"/>
                </a:solidFill>
                <a:latin typeface="Meiryo"/>
                <a:ea typeface="Meiryo"/>
                <a:cs typeface="Meiryo"/>
              </a:rPr>
              <a:t>Check rows, columns</a:t>
            </a:r>
            <a:endParaRPr sz="2400">
              <a:latin typeface="Meiryo"/>
              <a:ea typeface="Meiryo"/>
              <a:cs typeface="Meiryo"/>
            </a:endParaRPr>
          </a:p>
          <a:p>
            <a:pPr marL="0" indent="0">
              <a:lnSpc>
                <a:spcPct val="106000"/>
              </a:lnSpc>
              <a:buNone/>
              <a:defRPr sz="2400" b="0">
                <a:solidFill>
                  <a:srgbClr val="1B2D3B"/>
                </a:solidFill>
                <a:latin typeface="Meiryo"/>
                <a:ea typeface="Meiryo"/>
                <a:cs typeface="Meiryo"/>
              </a:defRPr>
            </a:pPr>
            <a:r>
              <a:rPr sz="2400" b="0">
                <a:solidFill>
                  <a:srgbClr val="1B2D3B"/>
                </a:solidFill>
                <a:latin typeface="Meiryo"/>
                <a:ea typeface="Meiryo"/>
                <a:cs typeface="Meiryo"/>
              </a:rPr>
              <a:t>and missing values.</a:t>
            </a:r>
            <a:endParaRPr sz="2400">
              <a:latin typeface="Meiryo"/>
              <a:ea typeface="Meiryo"/>
              <a:cs typeface="Meiryo"/>
            </a:endParaRPr>
          </a:p>
        </p:txBody>
      </p:sp>
      <p:sp>
        <p:nvSpPr>
          <p:cNvPr id="8" name="Shape 5"/>
          <p:cNvSpPr/>
          <p:nvPr/>
        </p:nvSpPr>
        <p:spPr>
          <a:xfrm>
            <a:off x="4346448" y="1536192"/>
            <a:ext cx="3496056" cy="3977640"/>
          </a:xfrm>
          <a:prstGeom prst="rect">
            <a:avLst/>
          </a:prstGeom>
          <a:solidFill>
            <a:srgbClr val="EAF4F3"/>
          </a:solidFill>
          <a:ln w="12700">
            <a:solidFill>
              <a:srgbClr val="EAF4F3"/>
            </a:solidFill>
            <a:prstDash val="solid"/>
          </a:ln>
        </p:spPr>
      </p:sp>
      <p:pic>
        <p:nvPicPr>
          <p:cNvPr id="9" name="Image 1" descr="Lucide chart-column">    </p:cNvPr>
          <p:cNvPicPr>
            <a:picLocks noChangeAspect="1"/>
          </p:cNvPicPr>
          <p:nvPr/>
        </p:nvPicPr>
        <p:blipFill>
          <a:blip r:embed="rId2"/>
          <a:stretch>
            <a:fillRect/>
          </a:stretch>
        </p:blipFill>
        <p:spPr>
          <a:xfrm>
            <a:off x="4602480" y="1819656"/>
            <a:ext cx="530352" cy="530352"/>
          </a:xfrm>
          <a:prstGeom prst="rect">
            <a:avLst/>
          </a:prstGeom>
        </p:spPr>
      </p:pic>
      <p:sp>
        <p:nvSpPr>
          <p:cNvPr id="10" name="Text 6:Summarize"/>
          <p:cNvSpPr txBox="1"/>
          <p:nvPr/>
        </p:nvSpPr>
        <p:spPr>
          <a:xfrm>
            <a:off x="4602480" y="2660904"/>
            <a:ext cx="2983992" cy="731520"/>
          </a:xfrm>
          <a:prstGeom prst="rect">
            <a:avLst/>
          </a:prstGeom>
          <a:noFill/>
          <a:ln/>
        </p:spPr>
        <p:txBody>
          <a:bodyPr wrap="square" lIns="0" tIns="0" rIns="0" bIns="0" rtlCol="0" anchor="t"/>
          <a:lstStyle/>
          <a:p>
            <a:pPr marL="0" indent="0">
              <a:lnSpc>
                <a:spcPct val="106000"/>
              </a:lnSpc>
              <a:buNone/>
              <a:defRPr sz="2700" b="1">
                <a:solidFill>
                  <a:srgbClr val="1B2D3B"/>
                </a:solidFill>
                <a:latin typeface="Meiryo"/>
                <a:ea typeface="Meiryo"/>
                <a:cs typeface="Meiryo"/>
              </a:defRPr>
            </a:pPr>
            <a:r>
              <a:rPr sz="2700" b="1">
                <a:solidFill>
                  <a:srgbClr val="1B2D3B"/>
                </a:solidFill>
                <a:latin typeface="Meiryo"/>
                <a:ea typeface="Meiryo"/>
                <a:cs typeface="Meiryo"/>
              </a:rPr>
              <a:t>Summarize</a:t>
            </a:r>
            <a:endParaRPr sz="2700">
              <a:latin typeface="Meiryo"/>
              <a:ea typeface="Meiryo"/>
              <a:cs typeface="Meiryo"/>
            </a:endParaRPr>
          </a:p>
        </p:txBody>
      </p:sp>
      <p:sp>
        <p:nvSpPr>
          <p:cNvPr id="11" name="Text 7:Show group means&#10;in a table and chart."/>
          <p:cNvSpPr txBox="1"/>
          <p:nvPr/>
        </p:nvSpPr>
        <p:spPr>
          <a:xfrm>
            <a:off x="4602480" y="3639312"/>
            <a:ext cx="2983992" cy="1600200"/>
          </a:xfrm>
          <a:prstGeom prst="rect">
            <a:avLst/>
          </a:prstGeom>
          <a:noFill/>
          <a:ln/>
        </p:spPr>
        <p:txBody>
          <a:bodyPr wrap="square" lIns="0" tIns="0" rIns="0" bIns="0" rtlCol="0" anchor="t"/>
          <a:lstStyle/>
          <a:p>
            <a:pPr marL="0" indent="0">
              <a:lnSpc>
                <a:spcPct val="106000"/>
              </a:lnSpc>
              <a:buNone/>
              <a:defRPr sz="2400" b="0">
                <a:solidFill>
                  <a:srgbClr val="1B2D3B"/>
                </a:solidFill>
                <a:latin typeface="Meiryo"/>
                <a:ea typeface="Meiryo"/>
                <a:cs typeface="Meiryo"/>
              </a:defRPr>
            </a:pPr>
            <a:r>
              <a:rPr sz="2400" b="0">
                <a:solidFill>
                  <a:srgbClr val="1B2D3B"/>
                </a:solidFill>
                <a:latin typeface="Meiryo"/>
                <a:ea typeface="Meiryo"/>
                <a:cs typeface="Meiryo"/>
              </a:rPr>
              <a:t>Show group means</a:t>
            </a:r>
            <a:endParaRPr sz="2400">
              <a:latin typeface="Meiryo"/>
              <a:ea typeface="Meiryo"/>
              <a:cs typeface="Meiryo"/>
            </a:endParaRPr>
          </a:p>
          <a:p>
            <a:pPr marL="0" indent="0">
              <a:lnSpc>
                <a:spcPct val="106000"/>
              </a:lnSpc>
              <a:buNone/>
              <a:defRPr sz="2400" b="0">
                <a:solidFill>
                  <a:srgbClr val="1B2D3B"/>
                </a:solidFill>
                <a:latin typeface="Meiryo"/>
                <a:ea typeface="Meiryo"/>
                <a:cs typeface="Meiryo"/>
              </a:defRPr>
            </a:pPr>
            <a:r>
              <a:rPr sz="2400" b="0">
                <a:solidFill>
                  <a:srgbClr val="1B2D3B"/>
                </a:solidFill>
                <a:latin typeface="Meiryo"/>
                <a:ea typeface="Meiryo"/>
                <a:cs typeface="Meiryo"/>
              </a:rPr>
              <a:t>in a table and chart.</a:t>
            </a:r>
            <a:endParaRPr sz="2400">
              <a:latin typeface="Meiryo"/>
              <a:ea typeface="Meiryo"/>
              <a:cs typeface="Meiryo"/>
            </a:endParaRPr>
          </a:p>
        </p:txBody>
      </p:sp>
      <p:sp>
        <p:nvSpPr>
          <p:cNvPr id="12" name="Shape 8"/>
          <p:cNvSpPr/>
          <p:nvPr/>
        </p:nvSpPr>
        <p:spPr>
          <a:xfrm>
            <a:off x="8052816" y="1536192"/>
            <a:ext cx="3496056" cy="3977640"/>
          </a:xfrm>
          <a:prstGeom prst="rect">
            <a:avLst/>
          </a:prstGeom>
          <a:solidFill>
            <a:srgbClr val="F7F8FA"/>
          </a:solidFill>
          <a:ln w="12700">
            <a:solidFill>
              <a:srgbClr val="F7F8FA"/>
            </a:solidFill>
            <a:prstDash val="solid"/>
          </a:ln>
        </p:spPr>
      </p:sp>
      <p:pic>
        <p:nvPicPr>
          <p:cNvPr id="13" name="Image 2" descr="Lucide circle-check">    </p:cNvPr>
          <p:cNvPicPr>
            <a:picLocks noChangeAspect="1"/>
          </p:cNvPicPr>
          <p:nvPr/>
        </p:nvPicPr>
        <p:blipFill>
          <a:blip r:embed="rId3"/>
          <a:stretch>
            <a:fillRect/>
          </a:stretch>
        </p:blipFill>
        <p:spPr>
          <a:xfrm>
            <a:off x="8308848" y="1819656"/>
            <a:ext cx="530352" cy="530352"/>
          </a:xfrm>
          <a:prstGeom prst="rect">
            <a:avLst/>
          </a:prstGeom>
        </p:spPr>
      </p:pic>
      <p:sp>
        <p:nvSpPr>
          <p:cNvPr id="14" name="Text 9:Verify"/>
          <p:cNvSpPr txBox="1"/>
          <p:nvPr/>
        </p:nvSpPr>
        <p:spPr>
          <a:xfrm>
            <a:off x="8308848" y="2660904"/>
            <a:ext cx="2983992" cy="731520"/>
          </a:xfrm>
          <a:prstGeom prst="rect">
            <a:avLst/>
          </a:prstGeom>
          <a:noFill/>
          <a:ln/>
        </p:spPr>
        <p:txBody>
          <a:bodyPr wrap="square" lIns="0" tIns="0" rIns="0" bIns="0" rtlCol="0" anchor="t"/>
          <a:lstStyle/>
          <a:p>
            <a:pPr marL="0" indent="0">
              <a:lnSpc>
                <a:spcPct val="106000"/>
              </a:lnSpc>
              <a:buNone/>
              <a:defRPr sz="2700" b="1">
                <a:solidFill>
                  <a:srgbClr val="1B2D3B"/>
                </a:solidFill>
                <a:latin typeface="Meiryo"/>
                <a:ea typeface="Meiryo"/>
                <a:cs typeface="Meiryo"/>
              </a:defRPr>
            </a:pPr>
            <a:r>
              <a:rPr sz="2700" b="1">
                <a:solidFill>
                  <a:srgbClr val="1B2D3B"/>
                </a:solidFill>
                <a:latin typeface="Meiryo"/>
                <a:ea typeface="Meiryo"/>
                <a:cs typeface="Meiryo"/>
              </a:rPr>
              <a:t>Verify</a:t>
            </a:r>
            <a:endParaRPr sz="2700">
              <a:latin typeface="Meiryo"/>
              <a:ea typeface="Meiryo"/>
              <a:cs typeface="Meiryo"/>
            </a:endParaRPr>
          </a:p>
        </p:txBody>
      </p:sp>
      <p:sp>
        <p:nvSpPr>
          <p:cNvPr id="15" name="Text 10:Check a calculation.&#10;State the limits of the result."/>
          <p:cNvSpPr txBox="1"/>
          <p:nvPr/>
        </p:nvSpPr>
        <p:spPr>
          <a:xfrm>
            <a:off x="8308848" y="3639312"/>
            <a:ext cx="2983992" cy="1600200"/>
          </a:xfrm>
          <a:prstGeom prst="rect">
            <a:avLst/>
          </a:prstGeom>
          <a:noFill/>
          <a:ln/>
        </p:spPr>
        <p:txBody>
          <a:bodyPr wrap="square" lIns="0" tIns="0" rIns="0" bIns="0" rtlCol="0" anchor="t"/>
          <a:lstStyle/>
          <a:p>
            <a:pPr marL="0" indent="0">
              <a:lnSpc>
                <a:spcPct val="106000"/>
              </a:lnSpc>
              <a:buNone/>
              <a:defRPr sz="2400" b="0">
                <a:solidFill>
                  <a:srgbClr val="1B2D3B"/>
                </a:solidFill>
                <a:latin typeface="Meiryo"/>
                <a:ea typeface="Meiryo"/>
                <a:cs typeface="Meiryo"/>
              </a:defRPr>
            </a:pPr>
            <a:r>
              <a:rPr sz="2400" b="0">
                <a:solidFill>
                  <a:srgbClr val="1B2D3B"/>
                </a:solidFill>
                <a:latin typeface="Meiryo"/>
                <a:ea typeface="Meiryo"/>
                <a:cs typeface="Meiryo"/>
              </a:rPr>
              <a:t>Check a calculation.</a:t>
            </a:r>
            <a:endParaRPr sz="2400">
              <a:latin typeface="Meiryo"/>
              <a:ea typeface="Meiryo"/>
              <a:cs typeface="Meiryo"/>
            </a:endParaRPr>
          </a:p>
          <a:p>
            <a:pPr marL="0" indent="0">
              <a:lnSpc>
                <a:spcPct val="106000"/>
              </a:lnSpc>
              <a:buNone/>
              <a:defRPr sz="2400" b="0">
                <a:solidFill>
                  <a:srgbClr val="1B2D3B"/>
                </a:solidFill>
                <a:latin typeface="Meiryo"/>
                <a:ea typeface="Meiryo"/>
                <a:cs typeface="Meiryo"/>
              </a:defRPr>
            </a:pPr>
            <a:r>
              <a:rPr sz="2400" b="0">
                <a:solidFill>
                  <a:srgbClr val="1B2D3B"/>
                </a:solidFill>
                <a:latin typeface="Meiryo"/>
                <a:ea typeface="Meiryo"/>
                <a:cs typeface="Meiryo"/>
              </a:rPr>
              <a:t>State the limits of the result.</a:t>
            </a:r>
            <a:endParaRPr sz="2400">
              <a:latin typeface="Meiryo"/>
              <a:ea typeface="Meiryo"/>
              <a:cs typeface="Meiryo"/>
            </a:endParaRPr>
          </a:p>
        </p:txBody>
      </p:sp>
      <p:sp>
        <p:nvSpPr>
          <p:cNvPr id="16" name="Text 11:AI and Data Literacy    Workshop"/>
          <p:cNvSpPr txBox="1"/>
          <p:nvPr/>
        </p:nvSpPr>
        <p:spPr>
          <a:xfrm>
            <a:off x="667512" y="6428232"/>
            <a:ext cx="3840480" cy="310896"/>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AI and Data Literacy    Workshop</a:t>
            </a:r>
            <a:endParaRPr sz="1800">
              <a:latin typeface="Meiryo"/>
              <a:ea typeface="Meiryo"/>
              <a:cs typeface="Meiryo"/>
            </a:endParaRPr>
          </a:p>
        </p:txBody>
      </p:sp>
      <p:sp>
        <p:nvSpPr>
          <p:cNvPr id="17" name="Text 12:Week 11  03 / 17"/>
          <p:cNvSpPr txBox="1"/>
          <p:nvPr/>
        </p:nvSpPr>
        <p:spPr>
          <a:xfrm>
            <a:off x="8412480" y="6428232"/>
            <a:ext cx="3108960" cy="310896"/>
          </a:xfrm>
          <a:prstGeom prst="rect">
            <a:avLst/>
          </a:prstGeom>
          <a:noFill/>
          <a:ln/>
        </p:spPr>
        <p:txBody>
          <a:bodyPr wrap="square" lIns="0" tIns="0" rIns="0" bIns="0" rtlCol="0" anchor="t"/>
          <a:lstStyle/>
          <a:p>
            <a:pPr marL="0" indent="0" algn="r">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Week 11  03 / 17</a:t>
            </a:r>
            <a:endParaRPr sz="1800">
              <a:latin typeface="Meiryo"/>
              <a:ea typeface="Meiryo"/>
              <a:cs typeface="Meiryo"/>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Slide 4">
    <p:bg>
      <p:bgPr>
        <a:solidFill>
          <a:srgbClr val="FFFFFF"/>
        </a:solidFill>
      </p:bgPr>
    </p:bg>
    <p:spTree>
      <p:nvGrpSpPr>
        <p:cNvPr id="1" name=""/>
        <p:cNvGrpSpPr/>
        <p:nvPr/>
      </p:nvGrpSpPr>
      <p:grpSpPr>
        <a:xfrm>
          <a:off x="0" y="0"/>
          <a:ext cx="0" cy="0"/>
          <a:chOff x="0" y="0"/>
          <a:chExt cx="0" cy="0"/>
        </a:xfrm>
      </p:grpSpPr>
      <p:sp>
        <p:nvSpPr>
          <p:cNvPr id="2" name="Text 0:Fictional data, not student records"/>
          <p:cNvSpPr txBox="1"/>
          <p:nvPr/>
        </p:nvSpPr>
        <p:spPr>
          <a:xfrm>
            <a:off x="621792" y="493776"/>
            <a:ext cx="10936224" cy="685800"/>
          </a:xfrm>
          <a:prstGeom prst="rect">
            <a:avLst/>
          </a:prstGeom>
          <a:noFill/>
          <a:ln/>
        </p:spPr>
        <p:txBody>
          <a:bodyPr wrap="square" lIns="0" tIns="0" rIns="0" bIns="0" rtlCol="0" anchor="t"/>
          <a:lstStyle/>
          <a:p>
            <a:pPr marL="0" indent="0">
              <a:lnSpc>
                <a:spcPct val="106000"/>
              </a:lnSpc>
              <a:buNone/>
              <a:defRPr sz="3400" b="1">
                <a:solidFill>
                  <a:srgbClr val="1B2D3B"/>
                </a:solidFill>
                <a:latin typeface="Meiryo"/>
                <a:ea typeface="Meiryo"/>
                <a:cs typeface="Meiryo"/>
              </a:defRPr>
            </a:pPr>
            <a:r>
              <a:rPr sz="3400" b="1">
                <a:solidFill>
                  <a:srgbClr val="1B2D3B"/>
                </a:solidFill>
                <a:latin typeface="Meiryo"/>
                <a:ea typeface="Meiryo"/>
                <a:cs typeface="Meiryo"/>
              </a:rPr>
              <a:t>Fictional data, not student records</a:t>
            </a:r>
            <a:endParaRPr sz="340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17904"/>
            <a:ext cx="10908792" cy="4050792"/>
          </a:xfrm>
          <a:prstGeom prst="rect">
            <a:avLst/>
          </a:prstGeom>
          <a:solidFill>
            <a:srgbClr val="F7F8FA"/>
          </a:solidFill>
          <a:ln w="12700">
            <a:solidFill>
              <a:srgbClr val="F7F8FA"/>
            </a:solidFill>
            <a:prstDash val="solid"/>
          </a:ln>
        </p:spPr>
      </p:sp>
      <p:pic>
        <p:nvPicPr>
          <p:cNvPr id="5" name="Image 0" descr="Lucide file-text">    </p:cNvPr>
          <p:cNvPicPr>
            <a:picLocks noChangeAspect="1"/>
          </p:cNvPicPr>
          <p:nvPr/>
        </p:nvPicPr>
        <p:blipFill>
          <a:blip r:embed="rId1"/>
          <a:stretch>
            <a:fillRect/>
          </a:stretch>
        </p:blipFill>
        <p:spPr>
          <a:xfrm>
            <a:off x="941832" y="1801368"/>
            <a:ext cx="438912" cy="438912"/>
          </a:xfrm>
          <a:prstGeom prst="rect">
            <a:avLst/>
          </a:prstGeom>
        </p:spPr>
      </p:pic>
      <p:sp>
        <p:nvSpPr>
          <p:cNvPr id="6" name="Text 3:This data was created for teaching.&#10;&#10;60 rows and 6 columns: group, AI-use time,&#10;self-ratings before and after, source checking&#10;and submission on time."/>
          <p:cNvSpPr txBox="1"/>
          <p:nvPr/>
        </p:nvSpPr>
        <p:spPr>
          <a:xfrm>
            <a:off x="1627632" y="1810512"/>
            <a:ext cx="9546336" cy="3639312"/>
          </a:xfrm>
          <a:prstGeom prst="rect">
            <a:avLst/>
          </a:prstGeom>
          <a:noFill/>
          <a:ln/>
        </p:spPr>
        <p:txBody>
          <a:bodyPr wrap="square" lIns="0" tIns="0" rIns="0" bIns="0" rtlCol="0" anchor="t"/>
          <a:lstStyle/>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This data was created for teaching.</a:t>
            </a:r>
            <a:endParaRPr sz="2700">
              <a:latin typeface="Meiryo"/>
              <a:ea typeface="Meiryo"/>
              <a:cs typeface="Meiryo"/>
            </a:endParaRPr>
          </a:p>
          <a:p>
            <a:pPr marL="0" indent="0">
              <a:lnSpc>
                <a:spcPct val="106000"/>
              </a:lnSpc>
              <a:buNone/>
            </a:pPr>
            <a:r>
              <a:t/>
            </a:r>
            <a:endParaRPr sz="2700">
              <a:latin typeface="Meiryo"/>
              <a:ea typeface="Meiryo"/>
              <a:cs typeface="Meiryo"/>
            </a:endParaRPr>
          </a:p>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60 rows and 6 columns: group, AI-use time,</a:t>
            </a:r>
            <a:endParaRPr sz="2700">
              <a:latin typeface="Meiryo"/>
              <a:ea typeface="Meiryo"/>
              <a:cs typeface="Meiryo"/>
            </a:endParaRPr>
          </a:p>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self-ratings before and after, source checking</a:t>
            </a:r>
            <a:endParaRPr sz="2700">
              <a:latin typeface="Meiryo"/>
              <a:ea typeface="Meiryo"/>
              <a:cs typeface="Meiryo"/>
            </a:endParaRPr>
          </a:p>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and submission on time.</a:t>
            </a:r>
            <a:endParaRPr sz="2700">
              <a:latin typeface="Meiryo"/>
              <a:ea typeface="Meiryo"/>
              <a:cs typeface="Meiryo"/>
            </a:endParaRPr>
          </a:p>
        </p:txBody>
      </p:sp>
      <p:sp>
        <p:nvSpPr>
          <p:cNvPr id="7" name="Text 4:Use en/assets/week11/ai_study_data.csv and data_dictionary.md."/>
          <p:cNvSpPr txBox="1"/>
          <p:nvPr/>
        </p:nvSpPr>
        <p:spPr>
          <a:xfrm>
            <a:off x="667512" y="5779008"/>
            <a:ext cx="10844784" cy="548640"/>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Use en/assets/week11/ai_study_data.csv and data_dictionary.md.</a:t>
            </a:r>
            <a:endParaRPr sz="1800">
              <a:latin typeface="Meiryo"/>
              <a:ea typeface="Meiryo"/>
              <a:cs typeface="Meiryo"/>
            </a:endParaRPr>
          </a:p>
        </p:txBody>
      </p:sp>
      <p:sp>
        <p:nvSpPr>
          <p:cNvPr id="8" name="Text 5:AI and Data Literacy    Workshop"/>
          <p:cNvSpPr txBox="1"/>
          <p:nvPr/>
        </p:nvSpPr>
        <p:spPr>
          <a:xfrm>
            <a:off x="667512" y="6428232"/>
            <a:ext cx="3840480" cy="310896"/>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AI and Data Literacy    Workshop</a:t>
            </a:r>
            <a:endParaRPr sz="1800">
              <a:latin typeface="Meiryo"/>
              <a:ea typeface="Meiryo"/>
              <a:cs typeface="Meiryo"/>
            </a:endParaRPr>
          </a:p>
        </p:txBody>
      </p:sp>
      <p:sp>
        <p:nvSpPr>
          <p:cNvPr id="9" name="Text 6:Week 11  04 / 17"/>
          <p:cNvSpPr txBox="1"/>
          <p:nvPr/>
        </p:nvSpPr>
        <p:spPr>
          <a:xfrm>
            <a:off x="8412480" y="6428232"/>
            <a:ext cx="3108960" cy="310896"/>
          </a:xfrm>
          <a:prstGeom prst="rect">
            <a:avLst/>
          </a:prstGeom>
          <a:noFill/>
          <a:ln/>
        </p:spPr>
        <p:txBody>
          <a:bodyPr wrap="square" lIns="0" tIns="0" rIns="0" bIns="0" rtlCol="0" anchor="t"/>
          <a:lstStyle/>
          <a:p>
            <a:pPr marL="0" indent="0" algn="r">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Week 11  04 / 17</a:t>
            </a:r>
            <a:endParaRPr sz="1800">
              <a:latin typeface="Meiryo"/>
              <a:ea typeface="Meiryo"/>
              <a:cs typeface="Meiryo"/>
            </a:endParaRPr>
          </a:p>
        </p:txBody>
      </p:sp>
    </p:spTree>
  </p:cSld>
  <p:clrMapOvr>
    <a:masterClrMapping/>
  </p:clrMapOvr>
</p:sld>
</file>

<file path=ppt/slides/slide5.xml><?xml version="1.0" encoding="utf-8"?>
<p:sld xmlns:a="http://schemas.openxmlformats.org/drawingml/2006/main"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1. Giving AI the CSV"/>
          <p:cNvSpPr txBox="1"/>
          <p:nvPr/>
        </p:nvSpPr>
        <p:spPr>
          <a:xfrm>
            <a:off x="621792" y="493776"/>
            <a:ext cx="10936224" cy="685800"/>
          </a:xfrm>
          <a:prstGeom prst="rect">
            <a:avLst/>
          </a:prstGeom>
          <a:noFill/>
          <a:ln/>
        </p:spPr>
        <p:txBody>
          <a:bodyPr wrap="square" lIns="0" tIns="0" rIns="0" bIns="0" rtlCol="0" anchor="t"/>
          <a:lstStyle/>
          <a:p>
            <a:pPr marL="0" indent="0">
              <a:lnSpc>
                <a:spcPct val="106000"/>
              </a:lnSpc>
              <a:buNone/>
              <a:defRPr sz="3400" b="1">
                <a:solidFill>
                  <a:srgbClr val="1B2D3B"/>
                </a:solidFill>
                <a:latin typeface="Meiryo"/>
                <a:ea typeface="Meiryo"/>
                <a:cs typeface="Meiryo"/>
              </a:defRPr>
            </a:pPr>
            <a:r>
              <a:rPr sz="3400" b="1">
                <a:solidFill>
                  <a:srgbClr val="1B2D3B"/>
                </a:solidFill>
                <a:latin typeface="Meiryo"/>
                <a:ea typeface="Meiryo"/>
                <a:cs typeface="Meiryo"/>
              </a:rPr>
              <a:t>1. Giving AI the CSV</a:t>
            </a:r>
            <a:endParaRPr sz="340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Text 2"/>
          <p:cNvSpPr txBox="1"/>
          <p:nvPr/>
        </p:nvSpPr>
        <p:spPr>
          <a:xfrm>
            <a:off x="704088" y="1572768"/>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01</a:t>
            </a:r>
            <a:endParaRPr lang="ja-JP" sz="3200" dirty="0">
              <a:latin typeface="Meiryo"/>
              <a:ea typeface="Meiryo"/>
              <a:cs typeface="Meiryo"/>
            </a:endParaRPr>
          </a:p>
        </p:txBody>
      </p:sp>
      <p:sp>
        <p:nvSpPr>
          <p:cNvPr id="5" name="Text 3:Save the CSV linked in the handout."/>
          <p:cNvSpPr txBox="1"/>
          <p:nvPr/>
        </p:nvSpPr>
        <p:spPr>
          <a:xfrm>
            <a:off x="1737360" y="1508760"/>
            <a:ext cx="9235440" cy="621792"/>
          </a:xfrm>
          <a:prstGeom prst="rect">
            <a:avLst/>
          </a:prstGeom>
          <a:noFill/>
          <a:ln/>
        </p:spPr>
        <p:txBody>
          <a:bodyPr wrap="square" lIns="0" tIns="0" rIns="0" bIns="0" rtlCol="0" anchor="t"/>
          <a:lstStyle/>
          <a:p>
            <a:pPr marL="0" indent="0">
              <a:lnSpc>
                <a:spcPct val="106000"/>
              </a:lnSpc>
              <a:buNone/>
              <a:defRPr sz="2800" b="1">
                <a:solidFill>
                  <a:srgbClr val="1B2D3B"/>
                </a:solidFill>
                <a:latin typeface="Meiryo"/>
                <a:ea typeface="Meiryo"/>
                <a:cs typeface="Meiryo"/>
              </a:defRPr>
            </a:pPr>
            <a:r>
              <a:rPr sz="2800" b="1">
                <a:solidFill>
                  <a:srgbClr val="1B2D3B"/>
                </a:solidFill>
                <a:latin typeface="Meiryo"/>
                <a:ea typeface="Meiryo"/>
                <a:cs typeface="Meiryo"/>
              </a:rPr>
              <a:t>Save the CSV linked in the handout.</a:t>
            </a:r>
            <a:endParaRPr sz="2800">
              <a:latin typeface="Meiryo"/>
              <a:ea typeface="Meiryo"/>
              <a:cs typeface="Meiryo"/>
            </a:endParaRPr>
          </a:p>
        </p:txBody>
      </p:sp>
      <p:sp>
        <p:nvSpPr>
          <p:cNvPr id="6" name="Text 4:Open the file and check that it has column headings."/>
          <p:cNvSpPr txBox="1"/>
          <p:nvPr/>
        </p:nvSpPr>
        <p:spPr>
          <a:xfrm>
            <a:off x="1737360" y="2212848"/>
            <a:ext cx="9235440" cy="530352"/>
          </a:xfrm>
          <a:prstGeom prst="rect">
            <a:avLst/>
          </a:prstGeom>
          <a:noFill/>
          <a:ln/>
        </p:spPr>
        <p:txBody>
          <a:bodyPr wrap="square" lIns="0" tIns="0" rIns="0" bIns="0" rtlCol="0" anchor="t"/>
          <a:lstStyle/>
          <a:p>
            <a:pPr marL="0" indent="0">
              <a:lnSpc>
                <a:spcPct val="106000"/>
              </a:lnSpc>
              <a:buNone/>
              <a:defRPr sz="2300" b="0">
                <a:solidFill>
                  <a:srgbClr val="4D626D"/>
                </a:solidFill>
                <a:latin typeface="Meiryo"/>
                <a:ea typeface="Meiryo"/>
                <a:cs typeface="Meiryo"/>
              </a:defRPr>
            </a:pPr>
            <a:r>
              <a:rPr sz="2300" b="0">
                <a:solidFill>
                  <a:srgbClr val="4D626D"/>
                </a:solidFill>
                <a:latin typeface="Meiryo"/>
                <a:ea typeface="Meiryo"/>
                <a:cs typeface="Meiryo"/>
              </a:rPr>
              <a:t>Open the file and check that it has column headings.</a:t>
            </a:r>
            <a:endParaRPr sz="2300">
              <a:latin typeface="Meiryo"/>
              <a:ea typeface="Meiryo"/>
              <a:cs typeface="Meiryo"/>
            </a:endParaRPr>
          </a:p>
        </p:txBody>
      </p:sp>
      <p:sp>
        <p:nvSpPr>
          <p:cNvPr id="7" name="Shape 5"/>
          <p:cNvSpPr/>
          <p:nvPr/>
        </p:nvSpPr>
        <p:spPr>
          <a:xfrm>
            <a:off x="1737360" y="2752344"/>
            <a:ext cx="9738360" cy="0"/>
          </a:xfrm>
          <a:prstGeom prst="line">
            <a:avLst/>
          </a:prstGeom>
          <a:noFill/>
          <a:ln w="12700">
            <a:solidFill>
              <a:srgbClr val="CBD7DC"/>
            </a:solidFill>
            <a:prstDash val="solid"/>
          </a:ln>
        </p:spPr>
      </p:sp>
      <p:sp>
        <p:nvSpPr>
          <p:cNvPr id="8" name="Text 6"/>
          <p:cNvSpPr txBox="1"/>
          <p:nvPr/>
        </p:nvSpPr>
        <p:spPr>
          <a:xfrm>
            <a:off x="704088" y="2926080"/>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02</a:t>
            </a:r>
            <a:endParaRPr lang="ja-JP" sz="3200" dirty="0">
              <a:latin typeface="Meiryo"/>
              <a:ea typeface="Meiryo"/>
              <a:cs typeface="Meiryo"/>
            </a:endParaRPr>
          </a:p>
        </p:txBody>
      </p:sp>
      <p:sp>
        <p:nvSpPr>
          <p:cNvPr id="9" name="Text 7:Attach it using the AI's file control."/>
          <p:cNvSpPr txBox="1"/>
          <p:nvPr/>
        </p:nvSpPr>
        <p:spPr>
          <a:xfrm>
            <a:off x="1737360" y="2862072"/>
            <a:ext cx="9235440" cy="621792"/>
          </a:xfrm>
          <a:prstGeom prst="rect">
            <a:avLst/>
          </a:prstGeom>
          <a:noFill/>
          <a:ln/>
        </p:spPr>
        <p:txBody>
          <a:bodyPr wrap="square" lIns="0" tIns="0" rIns="0" bIns="0" rtlCol="0" anchor="t"/>
          <a:lstStyle/>
          <a:p>
            <a:pPr marL="0" indent="0">
              <a:lnSpc>
                <a:spcPct val="106000"/>
              </a:lnSpc>
              <a:buNone/>
              <a:defRPr sz="2800" b="1">
                <a:solidFill>
                  <a:srgbClr val="1B2D3B"/>
                </a:solidFill>
                <a:latin typeface="Meiryo"/>
                <a:ea typeface="Meiryo"/>
                <a:cs typeface="Meiryo"/>
              </a:defRPr>
            </a:pPr>
            <a:r>
              <a:rPr sz="2800" b="1">
                <a:solidFill>
                  <a:srgbClr val="1B2D3B"/>
                </a:solidFill>
                <a:latin typeface="Meiryo"/>
                <a:ea typeface="Meiryo"/>
                <a:cs typeface="Meiryo"/>
              </a:rPr>
              <a:t>Attach it using the AI's file control.</a:t>
            </a:r>
            <a:endParaRPr sz="2800">
              <a:latin typeface="Meiryo"/>
              <a:ea typeface="Meiryo"/>
              <a:cs typeface="Meiryo"/>
            </a:endParaRPr>
          </a:p>
        </p:txBody>
      </p:sp>
      <p:sp>
        <p:nvSpPr>
          <p:cNvPr id="10" name="Text 8:Check that you selected the correct file."/>
          <p:cNvSpPr txBox="1"/>
          <p:nvPr/>
        </p:nvSpPr>
        <p:spPr>
          <a:xfrm>
            <a:off x="1737360" y="3566160"/>
            <a:ext cx="9235440" cy="530352"/>
          </a:xfrm>
          <a:prstGeom prst="rect">
            <a:avLst/>
          </a:prstGeom>
          <a:noFill/>
          <a:ln/>
        </p:spPr>
        <p:txBody>
          <a:bodyPr wrap="square" lIns="0" tIns="0" rIns="0" bIns="0" rtlCol="0" anchor="t"/>
          <a:lstStyle/>
          <a:p>
            <a:pPr marL="0" indent="0">
              <a:lnSpc>
                <a:spcPct val="106000"/>
              </a:lnSpc>
              <a:buNone/>
              <a:defRPr sz="2300" b="0">
                <a:solidFill>
                  <a:srgbClr val="4D626D"/>
                </a:solidFill>
                <a:latin typeface="Meiryo"/>
                <a:ea typeface="Meiryo"/>
                <a:cs typeface="Meiryo"/>
              </a:defRPr>
            </a:pPr>
            <a:r>
              <a:rPr sz="2300" b="0">
                <a:solidFill>
                  <a:srgbClr val="4D626D"/>
                </a:solidFill>
                <a:latin typeface="Meiryo"/>
                <a:ea typeface="Meiryo"/>
                <a:cs typeface="Meiryo"/>
              </a:rPr>
              <a:t>Check that you selected the correct file.</a:t>
            </a:r>
            <a:endParaRPr sz="2300">
              <a:latin typeface="Meiryo"/>
              <a:ea typeface="Meiryo"/>
              <a:cs typeface="Meiryo"/>
            </a:endParaRPr>
          </a:p>
        </p:txBody>
      </p:sp>
      <p:sp>
        <p:nvSpPr>
          <p:cNvPr id="11" name="Shape 9"/>
          <p:cNvSpPr/>
          <p:nvPr/>
        </p:nvSpPr>
        <p:spPr>
          <a:xfrm>
            <a:off x="1737360" y="4105656"/>
            <a:ext cx="9738360" cy="0"/>
          </a:xfrm>
          <a:prstGeom prst="line">
            <a:avLst/>
          </a:prstGeom>
          <a:noFill/>
          <a:ln w="12700">
            <a:solidFill>
              <a:srgbClr val="CBD7DC"/>
            </a:solidFill>
            <a:prstDash val="solid"/>
          </a:ln>
        </p:spPr>
      </p:sp>
      <p:sp>
        <p:nvSpPr>
          <p:cNvPr id="12" name="Text 10"/>
          <p:cNvSpPr txBox="1"/>
          <p:nvPr/>
        </p:nvSpPr>
        <p:spPr>
          <a:xfrm>
            <a:off x="704088" y="4279392"/>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03</a:t>
            </a:r>
            <a:endParaRPr lang="ja-JP" sz="3200" dirty="0">
              <a:latin typeface="Meiryo"/>
              <a:ea typeface="Meiryo"/>
              <a:cs typeface="Meiryo"/>
            </a:endParaRPr>
          </a:p>
        </p:txBody>
      </p:sp>
      <p:sp>
        <p:nvSpPr>
          <p:cNvPr id="13" name="Text 11:If attachments are unavailable, use a spreadsheet."/>
          <p:cNvSpPr txBox="1"/>
          <p:nvPr/>
        </p:nvSpPr>
        <p:spPr>
          <a:xfrm>
            <a:off x="1737360" y="4215384"/>
            <a:ext cx="9235440" cy="621792"/>
          </a:xfrm>
          <a:prstGeom prst="rect">
            <a:avLst/>
          </a:prstGeom>
          <a:noFill/>
          <a:ln/>
        </p:spPr>
        <p:txBody>
          <a:bodyPr wrap="none" lIns="0" tIns="0" rIns="0" bIns="0" rtlCol="0" anchor="t"/>
          <a:lstStyle/>
          <a:p>
            <a:pPr marL="0" indent="0">
              <a:lnSpc>
                <a:spcPct val="106000"/>
              </a:lnSpc>
              <a:buNone/>
              <a:defRPr sz="2400" b="1">
                <a:solidFill>
                  <a:srgbClr val="1B2D3B"/>
                </a:solidFill>
                <a:latin typeface="Meiryo"/>
                <a:ea typeface="Meiryo"/>
                <a:cs typeface="Meiryo"/>
              </a:defRPr>
            </a:pPr>
            <a:r>
              <a:rPr sz="2400" b="1">
                <a:solidFill>
                  <a:srgbClr val="1B2D3B"/>
                </a:solidFill>
                <a:latin typeface="Meiryo"/>
                <a:ea typeface="Meiryo"/>
                <a:cs typeface="Meiryo"/>
              </a:rPr>
              <a:t>If attachments are unavailable, use a spreadsheet.</a:t>
            </a:r>
            <a:endParaRPr sz="2800">
              <a:latin typeface="Meiryo"/>
              <a:ea typeface="Meiryo"/>
              <a:cs typeface="Meiryo"/>
            </a:endParaRPr>
          </a:p>
        </p:txBody>
      </p:sp>
      <p:sp>
        <p:nvSpPr>
          <p:cNvPr id="14" name="Text 12:Summarize it in a spreadsheet, then ask AI to explain your results."/>
          <p:cNvSpPr txBox="1"/>
          <p:nvPr/>
        </p:nvSpPr>
        <p:spPr>
          <a:xfrm>
            <a:off x="1737360" y="4919472"/>
            <a:ext cx="9235440" cy="530352"/>
          </a:xfrm>
          <a:prstGeom prst="rect">
            <a:avLst/>
          </a:prstGeom>
          <a:noFill/>
          <a:ln/>
        </p:spPr>
        <p:txBody>
          <a:bodyPr wrap="square" lIns="0" tIns="0" rIns="0" bIns="0" rtlCol="0" anchor="t"/>
          <a:lstStyle/>
          <a:p>
            <a:pPr marL="0" indent="0">
              <a:lnSpc>
                <a:spcPct val="106000"/>
              </a:lnSpc>
              <a:buNone/>
              <a:defRPr sz="2188" b="0">
                <a:solidFill>
                  <a:srgbClr val="4D626D"/>
                </a:solidFill>
                <a:latin typeface="Meiryo"/>
                <a:ea typeface="Meiryo"/>
                <a:cs typeface="Meiryo"/>
              </a:defRPr>
            </a:pPr>
            <a:r>
              <a:rPr sz="2188" b="0">
                <a:solidFill>
                  <a:srgbClr val="4D626D"/>
                </a:solidFill>
                <a:latin typeface="Meiryo"/>
                <a:ea typeface="Meiryo"/>
                <a:cs typeface="Meiryo"/>
              </a:rPr>
              <a:t>Summarize it in a spreadsheet, then ask AI to explain your results.</a:t>
            </a:r>
            <a:endParaRPr sz="2300">
              <a:latin typeface="Meiryo"/>
              <a:ea typeface="Meiryo"/>
              <a:cs typeface="Meiryo"/>
            </a:endParaRPr>
          </a:p>
        </p:txBody>
      </p:sp>
      <p:sp>
        <p:nvSpPr>
          <p:cNvPr id="15" name="Text 13:AI and Data Literacy    Workshop"/>
          <p:cNvSpPr txBox="1"/>
          <p:nvPr/>
        </p:nvSpPr>
        <p:spPr>
          <a:xfrm>
            <a:off x="667512" y="6428232"/>
            <a:ext cx="3840480" cy="310896"/>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AI and Data Literacy    Workshop</a:t>
            </a:r>
            <a:endParaRPr sz="1800">
              <a:latin typeface="Meiryo"/>
              <a:ea typeface="Meiryo"/>
              <a:cs typeface="Meiryo"/>
            </a:endParaRPr>
          </a:p>
        </p:txBody>
      </p:sp>
      <p:sp>
        <p:nvSpPr>
          <p:cNvPr id="16" name="Text 14:Week 11  05 / 17"/>
          <p:cNvSpPr txBox="1"/>
          <p:nvPr/>
        </p:nvSpPr>
        <p:spPr>
          <a:xfrm>
            <a:off x="8412480" y="6428232"/>
            <a:ext cx="3108960" cy="310896"/>
          </a:xfrm>
          <a:prstGeom prst="rect">
            <a:avLst/>
          </a:prstGeom>
          <a:noFill/>
          <a:ln/>
        </p:spPr>
        <p:txBody>
          <a:bodyPr wrap="square" lIns="0" tIns="0" rIns="0" bIns="0" rtlCol="0" anchor="t"/>
          <a:lstStyle/>
          <a:p>
            <a:pPr marL="0" indent="0" algn="r">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Week 11  05 / 17</a:t>
            </a:r>
            <a:endParaRPr sz="1800">
              <a:latin typeface="Meiryo"/>
              <a:ea typeface="Meiryo"/>
              <a:cs typeface="Meiryo"/>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lide 6">
    <p:bg>
      <p:bgPr>
        <a:solidFill>
          <a:srgbClr val="FFFFFF"/>
        </a:solidFill>
      </p:bgPr>
    </p:bg>
    <p:spTree>
      <p:nvGrpSpPr>
        <p:cNvPr id="1" name=""/>
        <p:cNvGrpSpPr/>
        <p:nvPr/>
      </p:nvGrpSpPr>
      <p:grpSpPr>
        <a:xfrm>
          <a:off x="0" y="0"/>
          <a:ext cx="0" cy="0"/>
          <a:chOff x="0" y="0"/>
          <a:chExt cx="0" cy="0"/>
        </a:xfrm>
      </p:grpSpPr>
      <p:sp>
        <p:nvSpPr>
          <p:cNvPr id="2" name="Text 0:2. Checking rows and columns"/>
          <p:cNvSpPr txBox="1"/>
          <p:nvPr/>
        </p:nvSpPr>
        <p:spPr>
          <a:xfrm>
            <a:off x="621792" y="493776"/>
            <a:ext cx="10936224" cy="685800"/>
          </a:xfrm>
          <a:prstGeom prst="rect">
            <a:avLst/>
          </a:prstGeom>
          <a:noFill/>
          <a:ln/>
        </p:spPr>
        <p:txBody>
          <a:bodyPr wrap="square" lIns="0" tIns="0" rIns="0" bIns="0" rtlCol="0" anchor="t"/>
          <a:lstStyle/>
          <a:p>
            <a:pPr marL="0" indent="0">
              <a:lnSpc>
                <a:spcPct val="106000"/>
              </a:lnSpc>
              <a:buNone/>
              <a:defRPr sz="3400" b="1">
                <a:solidFill>
                  <a:srgbClr val="1B2D3B"/>
                </a:solidFill>
                <a:latin typeface="Meiryo"/>
                <a:ea typeface="Meiryo"/>
                <a:cs typeface="Meiryo"/>
              </a:defRPr>
            </a:pPr>
            <a:r>
              <a:rPr sz="3400" b="1">
                <a:solidFill>
                  <a:srgbClr val="1B2D3B"/>
                </a:solidFill>
                <a:latin typeface="Meiryo"/>
                <a:ea typeface="Meiryo"/>
                <a:cs typeface="Meiryo"/>
              </a:rPr>
              <a:t>2. Checking rows and columns</a:t>
            </a:r>
            <a:endParaRPr sz="340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pic>
        <p:nvPicPr>
          <p:cNvPr id="4" name="Image 0" descr="Lucide keyboard">    </p:cNvPr>
          <p:cNvPicPr>
            <a:picLocks noChangeAspect="1"/>
          </p:cNvPicPr>
          <p:nvPr/>
        </p:nvPicPr>
        <p:blipFill>
          <a:blip r:embed="rId1"/>
          <a:stretch>
            <a:fillRect/>
          </a:stretch>
        </p:blipFill>
        <p:spPr>
          <a:xfrm>
            <a:off x="713232" y="1499616"/>
            <a:ext cx="384048" cy="384048"/>
          </a:xfrm>
          <a:prstGeom prst="rect">
            <a:avLst/>
          </a:prstGeom>
        </p:spPr>
      </p:pic>
      <p:sp>
        <p:nvSpPr>
          <p:cNvPr id="5" name="Text 2:Try this prompt"/>
          <p:cNvSpPr txBox="1"/>
          <p:nvPr/>
        </p:nvSpPr>
        <p:spPr>
          <a:xfrm>
            <a:off x="1280160" y="1490472"/>
            <a:ext cx="7315200" cy="475488"/>
          </a:xfrm>
          <a:prstGeom prst="rect">
            <a:avLst/>
          </a:prstGeom>
          <a:noFill/>
          <a:ln/>
        </p:spPr>
        <p:txBody>
          <a:bodyPr wrap="square" lIns="0" tIns="0" rIns="0" bIns="0" rtlCol="0" anchor="t"/>
          <a:lstStyle/>
          <a:p>
            <a:pPr marL="0" indent="0">
              <a:lnSpc>
                <a:spcPct val="106000"/>
              </a:lnSpc>
              <a:buNone/>
              <a:defRPr sz="2200" b="1">
                <a:solidFill>
                  <a:srgbClr val="007F82"/>
                </a:solidFill>
                <a:latin typeface="Meiryo"/>
                <a:ea typeface="Meiryo"/>
                <a:cs typeface="Meiryo"/>
              </a:defRPr>
            </a:pPr>
            <a:r>
              <a:rPr sz="2200" b="1">
                <a:solidFill>
                  <a:srgbClr val="007F82"/>
                </a:solidFill>
                <a:latin typeface="Meiryo"/>
                <a:ea typeface="Meiryo"/>
                <a:cs typeface="Meiryo"/>
              </a:rPr>
              <a:t>Try this prompt</a:t>
            </a:r>
            <a:endParaRPr sz="2200">
              <a:latin typeface="Meiryo"/>
              <a:ea typeface="Meiryo"/>
              <a:cs typeface="Meiryo"/>
            </a:endParaRPr>
          </a:p>
        </p:txBody>
      </p:sp>
      <p:sp>
        <p:nvSpPr>
          <p:cNvPr id="6" name="Shape 3"/>
          <p:cNvSpPr/>
          <p:nvPr/>
        </p:nvSpPr>
        <p:spPr>
          <a:xfrm>
            <a:off x="640080" y="2084832"/>
            <a:ext cx="10908792" cy="2871216"/>
          </a:xfrm>
          <a:prstGeom prst="rect">
            <a:avLst/>
          </a:prstGeom>
          <a:solidFill>
            <a:srgbClr val="EAF4F3"/>
          </a:solidFill>
          <a:ln w="12700">
            <a:solidFill>
              <a:srgbClr val="EAF4F3"/>
            </a:solidFill>
            <a:prstDash val="solid"/>
          </a:ln>
        </p:spPr>
      </p:sp>
      <p:sp>
        <p:nvSpPr>
          <p:cNvPr id="7" name="Text 4:Check this CSV's data row count and column names.&#10;Explain what each column represents.&#10;Check for missing values.&#10;Exclude the header row from the data row count."/>
          <p:cNvSpPr txBox="1"/>
          <p:nvPr/>
        </p:nvSpPr>
        <p:spPr>
          <a:xfrm>
            <a:off x="950976" y="2350008"/>
            <a:ext cx="10287000" cy="2423160"/>
          </a:xfrm>
          <a:prstGeom prst="rect">
            <a:avLst/>
          </a:prstGeom>
          <a:noFill/>
          <a:ln/>
        </p:spPr>
        <p:txBody>
          <a:bodyPr wrap="square" lIns="0" tIns="0" rIns="0" bIns="0" rtlCol="0" anchor="t"/>
          <a:lstStyle/>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Check this CSV's data row count and column names.</a:t>
            </a:r>
            <a:endParaRPr sz="2700">
              <a:latin typeface="Meiryo"/>
              <a:ea typeface="Meiryo"/>
              <a:cs typeface="Meiryo"/>
            </a:endParaRPr>
          </a:p>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Explain what each column represents.</a:t>
            </a:r>
            <a:endParaRPr sz="2700">
              <a:latin typeface="Meiryo"/>
              <a:ea typeface="Meiryo"/>
              <a:cs typeface="Meiryo"/>
            </a:endParaRPr>
          </a:p>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Check for missing values.</a:t>
            </a:r>
            <a:endParaRPr sz="2700">
              <a:latin typeface="Meiryo"/>
              <a:ea typeface="Meiryo"/>
              <a:cs typeface="Meiryo"/>
            </a:endParaRPr>
          </a:p>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Exclude the header row from the data row count.</a:t>
            </a:r>
            <a:endParaRPr sz="2700">
              <a:latin typeface="Meiryo"/>
              <a:ea typeface="Meiryo"/>
              <a:cs typeface="Meiryo"/>
            </a:endParaRPr>
          </a:p>
        </p:txBody>
      </p:sp>
      <p:pic>
        <p:nvPicPr>
          <p:cNvPr id="8" name="Image 1" descr="Lucide circle-check">    </p:cNvPr>
          <p:cNvPicPr>
            <a:picLocks noChangeAspect="1"/>
          </p:cNvPicPr>
          <p:nvPr/>
        </p:nvPicPr>
        <p:blipFill>
          <a:blip r:embed="rId2"/>
          <a:stretch>
            <a:fillRect/>
          </a:stretch>
        </p:blipFill>
        <p:spPr>
          <a:xfrm>
            <a:off x="731520" y="5230368"/>
            <a:ext cx="338328" cy="338328"/>
          </a:xfrm>
          <a:prstGeom prst="rect">
            <a:avLst/>
          </a:prstGeom>
        </p:spPr>
      </p:pic>
      <p:sp>
        <p:nvSpPr>
          <p:cNvPr id="9" name="Text 5:Open the data dictionary and compare it with AI's explanation."/>
          <p:cNvSpPr txBox="1"/>
          <p:nvPr/>
        </p:nvSpPr>
        <p:spPr>
          <a:xfrm>
            <a:off x="1225296" y="5166360"/>
            <a:ext cx="10241280" cy="777240"/>
          </a:xfrm>
          <a:prstGeom prst="rect">
            <a:avLst/>
          </a:prstGeom>
          <a:noFill/>
          <a:ln/>
        </p:spPr>
        <p:txBody>
          <a:bodyPr wrap="square" lIns="0" tIns="0" rIns="0" bIns="0" rtlCol="0" anchor="t"/>
          <a:lstStyle/>
          <a:p>
            <a:pPr marL="0" indent="0">
              <a:lnSpc>
                <a:spcPct val="106000"/>
              </a:lnSpc>
              <a:buNone/>
              <a:defRPr sz="2200" b="0">
                <a:solidFill>
                  <a:srgbClr val="4D626D"/>
                </a:solidFill>
                <a:latin typeface="Meiryo"/>
                <a:ea typeface="Meiryo"/>
                <a:cs typeface="Meiryo"/>
              </a:defRPr>
            </a:pPr>
            <a:r>
              <a:rPr sz="2200" b="0">
                <a:solidFill>
                  <a:srgbClr val="4D626D"/>
                </a:solidFill>
                <a:latin typeface="Meiryo"/>
                <a:ea typeface="Meiryo"/>
                <a:cs typeface="Meiryo"/>
              </a:rPr>
              <a:t>Open the data dictionary and compare it with AI's explanation.</a:t>
            </a:r>
            <a:endParaRPr sz="2200">
              <a:latin typeface="Meiryo"/>
              <a:ea typeface="Meiryo"/>
              <a:cs typeface="Meiryo"/>
            </a:endParaRPr>
          </a:p>
        </p:txBody>
      </p:sp>
      <p:sp>
        <p:nvSpPr>
          <p:cNvPr id="10" name="Text 6:AI and Data Literacy    Workshop"/>
          <p:cNvSpPr txBox="1"/>
          <p:nvPr/>
        </p:nvSpPr>
        <p:spPr>
          <a:xfrm>
            <a:off x="667512" y="6428232"/>
            <a:ext cx="3840480" cy="310896"/>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AI and Data Literacy    Workshop</a:t>
            </a:r>
            <a:endParaRPr sz="1800">
              <a:latin typeface="Meiryo"/>
              <a:ea typeface="Meiryo"/>
              <a:cs typeface="Meiryo"/>
            </a:endParaRPr>
          </a:p>
        </p:txBody>
      </p:sp>
      <p:sp>
        <p:nvSpPr>
          <p:cNvPr id="11" name="Text 7:Week 11  06 / 17"/>
          <p:cNvSpPr txBox="1"/>
          <p:nvPr/>
        </p:nvSpPr>
        <p:spPr>
          <a:xfrm>
            <a:off x="8412480" y="6428232"/>
            <a:ext cx="3108960" cy="310896"/>
          </a:xfrm>
          <a:prstGeom prst="rect">
            <a:avLst/>
          </a:prstGeom>
          <a:noFill/>
          <a:ln/>
        </p:spPr>
        <p:txBody>
          <a:bodyPr wrap="square" lIns="0" tIns="0" rIns="0" bIns="0" rtlCol="0" anchor="t"/>
          <a:lstStyle/>
          <a:p>
            <a:pPr marL="0" indent="0" algn="r">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Week 11  06 / 17</a:t>
            </a:r>
            <a:endParaRPr sz="1800">
              <a:latin typeface="Meiryo"/>
              <a:ea typeface="Meiryo"/>
              <a:cs typeface="Meiryo"/>
            </a:endParaRPr>
          </a:p>
        </p:txBody>
      </p:sp>
    </p:spTree>
  </p:cSld>
  <p:clrMapOvr>
    <a:masterClrMapping/>
  </p:clrMapOvr>
</p:sld>
</file>

<file path=ppt/slides/slide7.xml><?xml version="1.0" encoding="utf-8"?>
<p:sld xmlns:a="http://schemas.openxmlformats.org/drawingml/2006/main"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Column names and their definitions"/>
          <p:cNvSpPr txBox="1"/>
          <p:nvPr/>
        </p:nvSpPr>
        <p:spPr>
          <a:xfrm>
            <a:off x="621792" y="493776"/>
            <a:ext cx="10936224" cy="685800"/>
          </a:xfrm>
          <a:prstGeom prst="rect">
            <a:avLst/>
          </a:prstGeom>
          <a:noFill/>
          <a:ln/>
        </p:spPr>
        <p:txBody>
          <a:bodyPr wrap="square" lIns="0" tIns="0" rIns="0" bIns="0" rtlCol="0" anchor="t"/>
          <a:lstStyle/>
          <a:p>
            <a:pPr marL="0" indent="0">
              <a:lnSpc>
                <a:spcPct val="106000"/>
              </a:lnSpc>
              <a:buNone/>
              <a:defRPr sz="3400" b="1">
                <a:solidFill>
                  <a:srgbClr val="1B2D3B"/>
                </a:solidFill>
                <a:latin typeface="Meiryo"/>
                <a:ea typeface="Meiryo"/>
                <a:cs typeface="Meiryo"/>
              </a:defRPr>
            </a:pPr>
            <a:r>
              <a:rPr sz="3400" b="1">
                <a:solidFill>
                  <a:srgbClr val="1B2D3B"/>
                </a:solidFill>
                <a:latin typeface="Meiryo"/>
                <a:ea typeface="Meiryo"/>
                <a:cs typeface="Meiryo"/>
              </a:rPr>
              <a:t>Column names and their definitions</a:t>
            </a:r>
            <a:endParaRPr sz="340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54480"/>
            <a:ext cx="3383280" cy="704088"/>
          </a:xfrm>
          <a:prstGeom prst="rect">
            <a:avLst/>
          </a:prstGeom>
          <a:solidFill>
            <a:srgbClr val="132B39"/>
          </a:solidFill>
          <a:ln w="12700">
            <a:solidFill>
              <a:srgbClr val="132B39"/>
            </a:solidFill>
            <a:prstDash val="solid"/>
          </a:ln>
        </p:spPr>
      </p:sp>
      <p:sp>
        <p:nvSpPr>
          <p:cNvPr id="5" name="Text 3:Column"/>
          <p:cNvSpPr txBox="1"/>
          <p:nvPr/>
        </p:nvSpPr>
        <p:spPr>
          <a:xfrm>
            <a:off x="786384" y="1709928"/>
            <a:ext cx="3090672" cy="512064"/>
          </a:xfrm>
          <a:prstGeom prst="rect">
            <a:avLst/>
          </a:prstGeom>
          <a:noFill/>
          <a:ln/>
        </p:spPr>
        <p:txBody>
          <a:bodyPr wrap="square" lIns="0" tIns="0" rIns="0" bIns="0" rtlCol="0" anchor="t"/>
          <a:lstStyle/>
          <a:p>
            <a:pPr marL="0" indent="0">
              <a:lnSpc>
                <a:spcPct val="106000"/>
              </a:lnSpc>
              <a:buNone/>
              <a:defRPr sz="2200" b="1">
                <a:solidFill>
                  <a:srgbClr val="FFFFFF"/>
                </a:solidFill>
                <a:latin typeface="Meiryo"/>
                <a:ea typeface="Meiryo"/>
                <a:cs typeface="Meiryo"/>
              </a:defRPr>
            </a:pPr>
            <a:r>
              <a:rPr sz="2200" b="1">
                <a:solidFill>
                  <a:srgbClr val="FFFFFF"/>
                </a:solidFill>
                <a:latin typeface="Meiryo"/>
                <a:ea typeface="Meiryo"/>
                <a:cs typeface="Meiryo"/>
              </a:rPr>
              <a:t>Column</a:t>
            </a:r>
            <a:endParaRPr sz="2200">
              <a:latin typeface="Meiryo"/>
              <a:ea typeface="Meiryo"/>
              <a:cs typeface="Meiryo"/>
            </a:endParaRPr>
          </a:p>
        </p:txBody>
      </p:sp>
      <p:sp>
        <p:nvSpPr>
          <p:cNvPr id="6" name="Shape 4"/>
          <p:cNvSpPr/>
          <p:nvPr/>
        </p:nvSpPr>
        <p:spPr>
          <a:xfrm>
            <a:off x="4023360" y="1554480"/>
            <a:ext cx="7525512" cy="704088"/>
          </a:xfrm>
          <a:prstGeom prst="rect">
            <a:avLst/>
          </a:prstGeom>
          <a:solidFill>
            <a:srgbClr val="132B39"/>
          </a:solidFill>
          <a:ln w="12700">
            <a:solidFill>
              <a:srgbClr val="132B39"/>
            </a:solidFill>
            <a:prstDash val="solid"/>
          </a:ln>
        </p:spPr>
      </p:sp>
      <p:sp>
        <p:nvSpPr>
          <p:cNvPr id="7" name="Text 5:Meaning"/>
          <p:cNvSpPr txBox="1"/>
          <p:nvPr/>
        </p:nvSpPr>
        <p:spPr>
          <a:xfrm>
            <a:off x="4169664" y="1709928"/>
            <a:ext cx="7232904" cy="512064"/>
          </a:xfrm>
          <a:prstGeom prst="rect">
            <a:avLst/>
          </a:prstGeom>
          <a:noFill/>
          <a:ln/>
        </p:spPr>
        <p:txBody>
          <a:bodyPr wrap="square" lIns="0" tIns="0" rIns="0" bIns="0" rtlCol="0" anchor="t"/>
          <a:lstStyle/>
          <a:p>
            <a:pPr marL="0" indent="0">
              <a:lnSpc>
                <a:spcPct val="106000"/>
              </a:lnSpc>
              <a:buNone/>
              <a:defRPr sz="2200" b="1">
                <a:solidFill>
                  <a:srgbClr val="FFFFFF"/>
                </a:solidFill>
                <a:latin typeface="Meiryo"/>
                <a:ea typeface="Meiryo"/>
                <a:cs typeface="Meiryo"/>
              </a:defRPr>
            </a:pPr>
            <a:r>
              <a:rPr sz="2200" b="1">
                <a:solidFill>
                  <a:srgbClr val="FFFFFF"/>
                </a:solidFill>
                <a:latin typeface="Meiryo"/>
                <a:ea typeface="Meiryo"/>
                <a:cs typeface="Meiryo"/>
              </a:rPr>
              <a:t>Meaning</a:t>
            </a:r>
            <a:endParaRPr sz="2200">
              <a:latin typeface="Meiryo"/>
              <a:ea typeface="Meiryo"/>
              <a:cs typeface="Meiryo"/>
            </a:endParaRPr>
          </a:p>
        </p:txBody>
      </p:sp>
      <p:sp>
        <p:nvSpPr>
          <p:cNvPr id="8" name="Shape 6"/>
          <p:cNvSpPr/>
          <p:nvPr/>
        </p:nvSpPr>
        <p:spPr>
          <a:xfrm>
            <a:off x="640080" y="2258568"/>
            <a:ext cx="3383280" cy="758952"/>
          </a:xfrm>
          <a:prstGeom prst="rect">
            <a:avLst/>
          </a:prstGeom>
          <a:solidFill>
            <a:srgbClr val="F7F8FA"/>
          </a:solidFill>
          <a:ln w="12700">
            <a:solidFill>
              <a:srgbClr val="F7F8FA"/>
            </a:solidFill>
            <a:prstDash val="solid"/>
          </a:ln>
        </p:spPr>
      </p:sp>
      <p:sp>
        <p:nvSpPr>
          <p:cNvPr id="9" name="Text 7"/>
          <p:cNvSpPr txBox="1"/>
          <p:nvPr/>
        </p:nvSpPr>
        <p:spPr>
          <a:xfrm>
            <a:off x="786384" y="2386584"/>
            <a:ext cx="309067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student_group</a:t>
            </a:r>
            <a:endParaRPr lang="ja-JP" sz="2200" dirty="0">
              <a:latin typeface="Meiryo"/>
              <a:ea typeface="Meiryo"/>
              <a:cs typeface="Meiryo"/>
            </a:endParaRPr>
          </a:p>
        </p:txBody>
      </p:sp>
      <p:sp>
        <p:nvSpPr>
          <p:cNvPr id="10" name="Shape 8"/>
          <p:cNvSpPr/>
          <p:nvPr/>
        </p:nvSpPr>
        <p:spPr>
          <a:xfrm>
            <a:off x="4023360" y="2258568"/>
            <a:ext cx="7525512" cy="758952"/>
          </a:xfrm>
          <a:prstGeom prst="rect">
            <a:avLst/>
          </a:prstGeom>
          <a:solidFill>
            <a:srgbClr val="F7F8FA"/>
          </a:solidFill>
          <a:ln w="12700">
            <a:solidFill>
              <a:srgbClr val="F7F8FA"/>
            </a:solidFill>
            <a:prstDash val="solid"/>
          </a:ln>
        </p:spPr>
      </p:sp>
      <p:sp>
        <p:nvSpPr>
          <p:cNvPr id="11" name="Text 9:Groups A, B and C"/>
          <p:cNvSpPr txBox="1"/>
          <p:nvPr/>
        </p:nvSpPr>
        <p:spPr>
          <a:xfrm>
            <a:off x="4169664" y="2386584"/>
            <a:ext cx="7232904" cy="603504"/>
          </a:xfrm>
          <a:prstGeom prst="rect">
            <a:avLst/>
          </a:prstGeom>
          <a:noFill/>
          <a:ln/>
        </p:spPr>
        <p:txBody>
          <a:bodyPr wrap="square" lIns="0" tIns="0" rIns="0" bIns="0" rtlCol="0" anchor="t"/>
          <a:lstStyle/>
          <a:p>
            <a:pPr marL="0" indent="0">
              <a:lnSpc>
                <a:spcPct val="106000"/>
              </a:lnSpc>
              <a:buNone/>
              <a:defRPr sz="2200" b="0">
                <a:solidFill>
                  <a:srgbClr val="1B2D3B"/>
                </a:solidFill>
                <a:latin typeface="Meiryo"/>
                <a:ea typeface="Meiryo"/>
                <a:cs typeface="Meiryo"/>
              </a:defRPr>
            </a:pPr>
            <a:r>
              <a:rPr sz="2200" b="0">
                <a:solidFill>
                  <a:srgbClr val="1B2D3B"/>
                </a:solidFill>
                <a:latin typeface="Meiryo"/>
                <a:ea typeface="Meiryo"/>
                <a:cs typeface="Meiryo"/>
              </a:rPr>
              <a:t>Groups A, B and C</a:t>
            </a:r>
            <a:endParaRPr sz="2200">
              <a:latin typeface="Meiryo"/>
              <a:ea typeface="Meiryo"/>
              <a:cs typeface="Meiryo"/>
            </a:endParaRPr>
          </a:p>
        </p:txBody>
      </p:sp>
      <p:sp>
        <p:nvSpPr>
          <p:cNvPr id="12" name="Shape 10"/>
          <p:cNvSpPr/>
          <p:nvPr/>
        </p:nvSpPr>
        <p:spPr>
          <a:xfrm>
            <a:off x="640080" y="3017520"/>
            <a:ext cx="10908792" cy="0"/>
          </a:xfrm>
          <a:prstGeom prst="line">
            <a:avLst/>
          </a:prstGeom>
          <a:noFill/>
          <a:ln w="12700">
            <a:solidFill>
              <a:srgbClr val="CBD7DC"/>
            </a:solidFill>
            <a:prstDash val="solid"/>
          </a:ln>
        </p:spPr>
      </p:sp>
      <p:sp>
        <p:nvSpPr>
          <p:cNvPr id="13" name="Shape 11"/>
          <p:cNvSpPr/>
          <p:nvPr/>
        </p:nvSpPr>
        <p:spPr>
          <a:xfrm>
            <a:off x="640080" y="3017520"/>
            <a:ext cx="3383280" cy="758952"/>
          </a:xfrm>
          <a:prstGeom prst="rect">
            <a:avLst/>
          </a:prstGeom>
          <a:solidFill>
            <a:srgbClr val="FFFFFF"/>
          </a:solidFill>
          <a:ln w="12700">
            <a:solidFill>
              <a:srgbClr val="FFFFFF"/>
            </a:solidFill>
            <a:prstDash val="solid"/>
          </a:ln>
        </p:spPr>
      </p:sp>
      <p:sp>
        <p:nvSpPr>
          <p:cNvPr id="14" name="Text 12:confidence_before /&#10;after"/>
          <p:cNvSpPr txBox="1"/>
          <p:nvPr/>
        </p:nvSpPr>
        <p:spPr>
          <a:xfrm>
            <a:off x="786384" y="3145536"/>
            <a:ext cx="3090672" cy="603504"/>
          </a:xfrm>
          <a:prstGeom prst="rect">
            <a:avLst/>
          </a:prstGeom>
          <a:noFill/>
          <a:ln/>
        </p:spPr>
        <p:txBody>
          <a:bodyPr wrap="none" lIns="0" tIns="0" rIns="0" bIns="0" rtlCol="0" anchor="t"/>
          <a:lstStyle/>
          <a:p>
            <a:pPr marL="0" indent="0">
              <a:lnSpc>
                <a:spcPct val="106000"/>
              </a:lnSpc>
              <a:buNone/>
              <a:defRPr sz="1350" b="0">
                <a:solidFill>
                  <a:srgbClr val="1B2D3B"/>
                </a:solidFill>
                <a:latin typeface="Meiryo"/>
                <a:ea typeface="Meiryo"/>
                <a:cs typeface="Meiryo"/>
              </a:defRPr>
            </a:pPr>
            <a:r>
              <a:rPr sz="1350" b="0">
                <a:solidFill>
                  <a:srgbClr val="1B2D3B"/>
                </a:solidFill>
                <a:latin typeface="Meiryo"/>
                <a:ea typeface="Meiryo"/>
                <a:cs typeface="Meiryo"/>
              </a:rPr>
              <a:t>confidence_before /</a:t>
            </a:r>
            <a:endParaRPr sz="2200">
              <a:latin typeface="Meiryo"/>
              <a:ea typeface="Meiryo"/>
              <a:cs typeface="Meiryo"/>
            </a:endParaRPr>
          </a:p>
          <a:p>
            <a:pPr marL="0" indent="0">
              <a:lnSpc>
                <a:spcPct val="106000"/>
              </a:lnSpc>
              <a:buNone/>
              <a:defRPr sz="1350" b="0">
                <a:solidFill>
                  <a:srgbClr val="1B2D3B"/>
                </a:solidFill>
                <a:latin typeface="Meiryo"/>
                <a:ea typeface="Meiryo"/>
                <a:cs typeface="Meiryo"/>
              </a:defRPr>
            </a:pPr>
            <a:r>
              <a:rPr sz="1350" b="0">
                <a:solidFill>
                  <a:srgbClr val="1B2D3B"/>
                </a:solidFill>
                <a:latin typeface="Meiryo"/>
                <a:ea typeface="Meiryo"/>
                <a:cs typeface="Meiryo"/>
              </a:rPr>
              <a:t>after</a:t>
            </a:r>
            <a:endParaRPr sz="2200">
              <a:latin typeface="Meiryo"/>
              <a:ea typeface="Meiryo"/>
              <a:cs typeface="Meiryo"/>
            </a:endParaRPr>
          </a:p>
        </p:txBody>
      </p:sp>
      <p:sp>
        <p:nvSpPr>
          <p:cNvPr id="15" name="Shape 13"/>
          <p:cNvSpPr/>
          <p:nvPr/>
        </p:nvSpPr>
        <p:spPr>
          <a:xfrm>
            <a:off x="4023360" y="3017520"/>
            <a:ext cx="7525512" cy="758952"/>
          </a:xfrm>
          <a:prstGeom prst="rect">
            <a:avLst/>
          </a:prstGeom>
          <a:solidFill>
            <a:srgbClr val="FFFFFF"/>
          </a:solidFill>
          <a:ln w="12700">
            <a:solidFill>
              <a:srgbClr val="FFFFFF"/>
            </a:solidFill>
            <a:prstDash val="solid"/>
          </a:ln>
        </p:spPr>
      </p:sp>
      <p:sp>
        <p:nvSpPr>
          <p:cNvPr id="16" name="Text 14:Self-ratings before and after"/>
          <p:cNvSpPr txBox="1"/>
          <p:nvPr/>
        </p:nvSpPr>
        <p:spPr>
          <a:xfrm>
            <a:off x="4169664" y="3145536"/>
            <a:ext cx="7232904" cy="603504"/>
          </a:xfrm>
          <a:prstGeom prst="rect">
            <a:avLst/>
          </a:prstGeom>
          <a:noFill/>
          <a:ln/>
        </p:spPr>
        <p:txBody>
          <a:bodyPr wrap="square" lIns="0" tIns="0" rIns="0" bIns="0" rtlCol="0" anchor="t"/>
          <a:lstStyle/>
          <a:p>
            <a:pPr marL="0" indent="0">
              <a:lnSpc>
                <a:spcPct val="106000"/>
              </a:lnSpc>
              <a:buNone/>
              <a:defRPr sz="2200" b="0">
                <a:solidFill>
                  <a:srgbClr val="1B2D3B"/>
                </a:solidFill>
                <a:latin typeface="Meiryo"/>
                <a:ea typeface="Meiryo"/>
                <a:cs typeface="Meiryo"/>
              </a:defRPr>
            </a:pPr>
            <a:r>
              <a:rPr sz="2200" b="0">
                <a:solidFill>
                  <a:srgbClr val="1B2D3B"/>
                </a:solidFill>
                <a:latin typeface="Meiryo"/>
                <a:ea typeface="Meiryo"/>
                <a:cs typeface="Meiryo"/>
              </a:rPr>
              <a:t>Self-ratings before and after</a:t>
            </a:r>
            <a:endParaRPr sz="2200">
              <a:latin typeface="Meiryo"/>
              <a:ea typeface="Meiryo"/>
              <a:cs typeface="Meiryo"/>
            </a:endParaRPr>
          </a:p>
        </p:txBody>
      </p:sp>
      <p:sp>
        <p:nvSpPr>
          <p:cNvPr id="17" name="Shape 15"/>
          <p:cNvSpPr/>
          <p:nvPr/>
        </p:nvSpPr>
        <p:spPr>
          <a:xfrm>
            <a:off x="640080" y="3776472"/>
            <a:ext cx="10908792" cy="0"/>
          </a:xfrm>
          <a:prstGeom prst="line">
            <a:avLst/>
          </a:prstGeom>
          <a:noFill/>
          <a:ln w="12700">
            <a:solidFill>
              <a:srgbClr val="CBD7DC"/>
            </a:solidFill>
            <a:prstDash val="solid"/>
          </a:ln>
        </p:spPr>
      </p:sp>
      <p:sp>
        <p:nvSpPr>
          <p:cNvPr id="18" name="Shape 16"/>
          <p:cNvSpPr/>
          <p:nvPr/>
        </p:nvSpPr>
        <p:spPr>
          <a:xfrm>
            <a:off x="640080" y="3776472"/>
            <a:ext cx="3383280" cy="758952"/>
          </a:xfrm>
          <a:prstGeom prst="rect">
            <a:avLst/>
          </a:prstGeom>
          <a:solidFill>
            <a:srgbClr val="F7F8FA"/>
          </a:solidFill>
          <a:ln w="12700">
            <a:solidFill>
              <a:srgbClr val="F7F8FA"/>
            </a:solidFill>
            <a:prstDash val="solid"/>
          </a:ln>
        </p:spPr>
      </p:sp>
      <p:sp>
        <p:nvSpPr>
          <p:cNvPr id="19" name="Text 17"/>
          <p:cNvSpPr txBox="1"/>
          <p:nvPr/>
        </p:nvSpPr>
        <p:spPr>
          <a:xfrm>
            <a:off x="786384" y="3904488"/>
            <a:ext cx="309067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source_checked</a:t>
            </a:r>
            <a:endParaRPr lang="ja-JP" sz="2200" dirty="0">
              <a:latin typeface="Meiryo"/>
              <a:ea typeface="Meiryo"/>
              <a:cs typeface="Meiryo"/>
            </a:endParaRPr>
          </a:p>
        </p:txBody>
      </p:sp>
      <p:sp>
        <p:nvSpPr>
          <p:cNvPr id="20" name="Shape 18"/>
          <p:cNvSpPr/>
          <p:nvPr/>
        </p:nvSpPr>
        <p:spPr>
          <a:xfrm>
            <a:off x="4023360" y="3776472"/>
            <a:ext cx="7525512" cy="758952"/>
          </a:xfrm>
          <a:prstGeom prst="rect">
            <a:avLst/>
          </a:prstGeom>
          <a:solidFill>
            <a:srgbClr val="F7F8FA"/>
          </a:solidFill>
          <a:ln w="12700">
            <a:solidFill>
              <a:srgbClr val="F7F8FA"/>
            </a:solidFill>
            <a:prstDash val="solid"/>
          </a:ln>
        </p:spPr>
      </p:sp>
      <p:sp>
        <p:nvSpPr>
          <p:cNvPr id="21" name="Text 19:Source checked: yes / no"/>
          <p:cNvSpPr txBox="1"/>
          <p:nvPr/>
        </p:nvSpPr>
        <p:spPr>
          <a:xfrm>
            <a:off x="4169664" y="3904488"/>
            <a:ext cx="7232904" cy="603504"/>
          </a:xfrm>
          <a:prstGeom prst="rect">
            <a:avLst/>
          </a:prstGeom>
          <a:noFill/>
          <a:ln/>
        </p:spPr>
        <p:txBody>
          <a:bodyPr wrap="square" lIns="0" tIns="0" rIns="0" bIns="0" rtlCol="0" anchor="t"/>
          <a:lstStyle/>
          <a:p>
            <a:pPr marL="0" indent="0">
              <a:lnSpc>
                <a:spcPct val="106000"/>
              </a:lnSpc>
              <a:buNone/>
              <a:defRPr sz="2200" b="0">
                <a:solidFill>
                  <a:srgbClr val="1B2D3B"/>
                </a:solidFill>
                <a:latin typeface="Meiryo"/>
                <a:ea typeface="Meiryo"/>
                <a:cs typeface="Meiryo"/>
              </a:defRPr>
            </a:pPr>
            <a:r>
              <a:rPr sz="2200" b="0">
                <a:solidFill>
                  <a:srgbClr val="1B2D3B"/>
                </a:solidFill>
                <a:latin typeface="Meiryo"/>
                <a:ea typeface="Meiryo"/>
                <a:cs typeface="Meiryo"/>
              </a:rPr>
              <a:t>Source checked: yes / no</a:t>
            </a:r>
            <a:endParaRPr sz="2200">
              <a:latin typeface="Meiryo"/>
              <a:ea typeface="Meiryo"/>
              <a:cs typeface="Meiryo"/>
            </a:endParaRPr>
          </a:p>
        </p:txBody>
      </p:sp>
      <p:sp>
        <p:nvSpPr>
          <p:cNvPr id="22" name="Shape 20"/>
          <p:cNvSpPr/>
          <p:nvPr/>
        </p:nvSpPr>
        <p:spPr>
          <a:xfrm>
            <a:off x="640080" y="4535424"/>
            <a:ext cx="10908792" cy="0"/>
          </a:xfrm>
          <a:prstGeom prst="line">
            <a:avLst/>
          </a:prstGeom>
          <a:noFill/>
          <a:ln w="12700">
            <a:solidFill>
              <a:srgbClr val="CBD7DC"/>
            </a:solidFill>
            <a:prstDash val="solid"/>
          </a:ln>
        </p:spPr>
      </p:sp>
      <p:sp>
        <p:nvSpPr>
          <p:cNvPr id="23" name="Shape 21"/>
          <p:cNvSpPr/>
          <p:nvPr/>
        </p:nvSpPr>
        <p:spPr>
          <a:xfrm>
            <a:off x="640080" y="4535424"/>
            <a:ext cx="3383280" cy="758952"/>
          </a:xfrm>
          <a:prstGeom prst="rect">
            <a:avLst/>
          </a:prstGeom>
          <a:solidFill>
            <a:srgbClr val="FFFFFF"/>
          </a:solidFill>
          <a:ln w="12700">
            <a:solidFill>
              <a:srgbClr val="FFFFFF"/>
            </a:solidFill>
            <a:prstDash val="solid"/>
          </a:ln>
        </p:spPr>
      </p:sp>
      <p:sp>
        <p:nvSpPr>
          <p:cNvPr id="24" name="Text 22"/>
          <p:cNvSpPr txBox="1"/>
          <p:nvPr/>
        </p:nvSpPr>
        <p:spPr>
          <a:xfrm>
            <a:off x="786384" y="4663440"/>
            <a:ext cx="309067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submitted_on_time</a:t>
            </a:r>
            <a:endParaRPr lang="ja-JP" sz="2200" dirty="0">
              <a:latin typeface="Meiryo"/>
              <a:ea typeface="Meiryo"/>
              <a:cs typeface="Meiryo"/>
            </a:endParaRPr>
          </a:p>
        </p:txBody>
      </p:sp>
      <p:sp>
        <p:nvSpPr>
          <p:cNvPr id="25" name="Shape 23"/>
          <p:cNvSpPr/>
          <p:nvPr/>
        </p:nvSpPr>
        <p:spPr>
          <a:xfrm>
            <a:off x="4023360" y="4535424"/>
            <a:ext cx="7525512" cy="758952"/>
          </a:xfrm>
          <a:prstGeom prst="rect">
            <a:avLst/>
          </a:prstGeom>
          <a:solidFill>
            <a:srgbClr val="FFFFFF"/>
          </a:solidFill>
          <a:ln w="12700">
            <a:solidFill>
              <a:srgbClr val="FFFFFF"/>
            </a:solidFill>
            <a:prstDash val="solid"/>
          </a:ln>
        </p:spPr>
      </p:sp>
      <p:sp>
        <p:nvSpPr>
          <p:cNvPr id="26" name="Text 24:Submitted on time: yes / no"/>
          <p:cNvSpPr txBox="1"/>
          <p:nvPr/>
        </p:nvSpPr>
        <p:spPr>
          <a:xfrm>
            <a:off x="4169664" y="4663440"/>
            <a:ext cx="7232904" cy="603504"/>
          </a:xfrm>
          <a:prstGeom prst="rect">
            <a:avLst/>
          </a:prstGeom>
          <a:noFill/>
          <a:ln/>
        </p:spPr>
        <p:txBody>
          <a:bodyPr wrap="square" lIns="0" tIns="0" rIns="0" bIns="0" rtlCol="0" anchor="t"/>
          <a:lstStyle/>
          <a:p>
            <a:pPr marL="0" indent="0">
              <a:lnSpc>
                <a:spcPct val="106000"/>
              </a:lnSpc>
              <a:buNone/>
              <a:defRPr sz="2200" b="0">
                <a:solidFill>
                  <a:srgbClr val="1B2D3B"/>
                </a:solidFill>
                <a:latin typeface="Meiryo"/>
                <a:ea typeface="Meiryo"/>
                <a:cs typeface="Meiryo"/>
              </a:defRPr>
            </a:pPr>
            <a:r>
              <a:rPr sz="2200" b="0">
                <a:solidFill>
                  <a:srgbClr val="1B2D3B"/>
                </a:solidFill>
                <a:latin typeface="Meiryo"/>
                <a:ea typeface="Meiryo"/>
                <a:cs typeface="Meiryo"/>
              </a:rPr>
              <a:t>Submitted on time: yes / no</a:t>
            </a:r>
            <a:endParaRPr sz="2200">
              <a:latin typeface="Meiryo"/>
              <a:ea typeface="Meiryo"/>
              <a:cs typeface="Meiryo"/>
            </a:endParaRPr>
          </a:p>
        </p:txBody>
      </p:sp>
      <p:sp>
        <p:nvSpPr>
          <p:cNvPr id="27" name="Shape 25"/>
          <p:cNvSpPr/>
          <p:nvPr/>
        </p:nvSpPr>
        <p:spPr>
          <a:xfrm>
            <a:off x="640080" y="5294376"/>
            <a:ext cx="10908792" cy="0"/>
          </a:xfrm>
          <a:prstGeom prst="line">
            <a:avLst/>
          </a:prstGeom>
          <a:noFill/>
          <a:ln w="12700">
            <a:solidFill>
              <a:srgbClr val="CBD7DC"/>
            </a:solidFill>
            <a:prstDash val="solid"/>
          </a:ln>
        </p:spPr>
      </p:sp>
      <p:sp>
        <p:nvSpPr>
          <p:cNvPr id="28" name="Text 26:A self-rating is not a measure of academic ability. Read the definitions in the data dictionary."/>
          <p:cNvSpPr txBox="1"/>
          <p:nvPr/>
        </p:nvSpPr>
        <p:spPr>
          <a:xfrm>
            <a:off x="667512" y="5779008"/>
            <a:ext cx="10844784" cy="548640"/>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 self-rating is not a measure of academic ability. Read the definitions in the data dictionary.</a:t>
            </a:r>
            <a:endParaRPr sz="1800">
              <a:latin typeface="Meiryo"/>
              <a:ea typeface="Meiryo"/>
              <a:cs typeface="Meiryo"/>
            </a:endParaRPr>
          </a:p>
        </p:txBody>
      </p:sp>
      <p:sp>
        <p:nvSpPr>
          <p:cNvPr id="29" name="Text 27:AI and Data Literacy    Workshop"/>
          <p:cNvSpPr txBox="1"/>
          <p:nvPr/>
        </p:nvSpPr>
        <p:spPr>
          <a:xfrm>
            <a:off x="667512" y="6428232"/>
            <a:ext cx="3840480" cy="310896"/>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AI and Data Literacy    Workshop</a:t>
            </a:r>
            <a:endParaRPr sz="1800">
              <a:latin typeface="Meiryo"/>
              <a:ea typeface="Meiryo"/>
              <a:cs typeface="Meiryo"/>
            </a:endParaRPr>
          </a:p>
        </p:txBody>
      </p:sp>
      <p:sp>
        <p:nvSpPr>
          <p:cNvPr id="30" name="Text 28:Week 11  07 / 17"/>
          <p:cNvSpPr txBox="1"/>
          <p:nvPr/>
        </p:nvSpPr>
        <p:spPr>
          <a:xfrm>
            <a:off x="8412480" y="6428232"/>
            <a:ext cx="3108960" cy="310896"/>
          </a:xfrm>
          <a:prstGeom prst="rect">
            <a:avLst/>
          </a:prstGeom>
          <a:noFill/>
          <a:ln/>
        </p:spPr>
        <p:txBody>
          <a:bodyPr wrap="square" lIns="0" tIns="0" rIns="0" bIns="0" rtlCol="0" anchor="t"/>
          <a:lstStyle/>
          <a:p>
            <a:pPr marL="0" indent="0" algn="r">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Week 11  07 / 17</a:t>
            </a:r>
            <a:endParaRPr sz="1800">
              <a:latin typeface="Meiryo"/>
              <a:ea typeface="Meiryo"/>
              <a:cs typeface="Meiryo"/>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Slide 8">
    <p:bg>
      <p:bgPr>
        <a:solidFill>
          <a:srgbClr val="FFFFFF"/>
        </a:solidFill>
      </p:bgPr>
    </p:bg>
    <p:spTree>
      <p:nvGrpSpPr>
        <p:cNvPr id="1" name=""/>
        <p:cNvGrpSpPr/>
        <p:nvPr/>
      </p:nvGrpSpPr>
      <p:grpSpPr>
        <a:xfrm>
          <a:off x="0" y="0"/>
          <a:ext cx="0" cy="0"/>
          <a:chOff x="0" y="0"/>
          <a:chExt cx="0" cy="0"/>
        </a:xfrm>
      </p:grpSpPr>
      <p:sp>
        <p:nvSpPr>
          <p:cNvPr id="2" name="Text 0:3. A summary for each group"/>
          <p:cNvSpPr txBox="1"/>
          <p:nvPr/>
        </p:nvSpPr>
        <p:spPr>
          <a:xfrm>
            <a:off x="621792" y="493776"/>
            <a:ext cx="10936224" cy="685800"/>
          </a:xfrm>
          <a:prstGeom prst="rect">
            <a:avLst/>
          </a:prstGeom>
          <a:noFill/>
          <a:ln/>
        </p:spPr>
        <p:txBody>
          <a:bodyPr wrap="square" lIns="0" tIns="0" rIns="0" bIns="0" rtlCol="0" anchor="t"/>
          <a:lstStyle/>
          <a:p>
            <a:pPr marL="0" indent="0">
              <a:lnSpc>
                <a:spcPct val="106000"/>
              </a:lnSpc>
              <a:buNone/>
              <a:defRPr sz="3400" b="1">
                <a:solidFill>
                  <a:srgbClr val="1B2D3B"/>
                </a:solidFill>
                <a:latin typeface="Meiryo"/>
                <a:ea typeface="Meiryo"/>
                <a:cs typeface="Meiryo"/>
              </a:defRPr>
            </a:pPr>
            <a:r>
              <a:rPr sz="3400" b="1">
                <a:solidFill>
                  <a:srgbClr val="1B2D3B"/>
                </a:solidFill>
                <a:latin typeface="Meiryo"/>
                <a:ea typeface="Meiryo"/>
                <a:cs typeface="Meiryo"/>
              </a:rPr>
              <a:t>3. A summary for each group</a:t>
            </a:r>
            <a:endParaRPr sz="340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pic>
        <p:nvPicPr>
          <p:cNvPr id="4" name="Image 0" descr="Lucide keyboard">    </p:cNvPr>
          <p:cNvPicPr>
            <a:picLocks noChangeAspect="1"/>
          </p:cNvPicPr>
          <p:nvPr/>
        </p:nvPicPr>
        <p:blipFill>
          <a:blip r:embed="rId1"/>
          <a:stretch>
            <a:fillRect/>
          </a:stretch>
        </p:blipFill>
        <p:spPr>
          <a:xfrm>
            <a:off x="713232" y="1499616"/>
            <a:ext cx="384048" cy="384048"/>
          </a:xfrm>
          <a:prstGeom prst="rect">
            <a:avLst/>
          </a:prstGeom>
        </p:spPr>
      </p:pic>
      <p:sp>
        <p:nvSpPr>
          <p:cNvPr id="5" name="Text 2:Try this prompt"/>
          <p:cNvSpPr txBox="1"/>
          <p:nvPr/>
        </p:nvSpPr>
        <p:spPr>
          <a:xfrm>
            <a:off x="1280160" y="1490472"/>
            <a:ext cx="7315200" cy="475488"/>
          </a:xfrm>
          <a:prstGeom prst="rect">
            <a:avLst/>
          </a:prstGeom>
          <a:noFill/>
          <a:ln/>
        </p:spPr>
        <p:txBody>
          <a:bodyPr wrap="square" lIns="0" tIns="0" rIns="0" bIns="0" rtlCol="0" anchor="t"/>
          <a:lstStyle/>
          <a:p>
            <a:pPr marL="0" indent="0">
              <a:lnSpc>
                <a:spcPct val="106000"/>
              </a:lnSpc>
              <a:buNone/>
              <a:defRPr sz="2200" b="1">
                <a:solidFill>
                  <a:srgbClr val="007F82"/>
                </a:solidFill>
                <a:latin typeface="Meiryo"/>
                <a:ea typeface="Meiryo"/>
                <a:cs typeface="Meiryo"/>
              </a:defRPr>
            </a:pPr>
            <a:r>
              <a:rPr sz="2200" b="1">
                <a:solidFill>
                  <a:srgbClr val="007F82"/>
                </a:solidFill>
                <a:latin typeface="Meiryo"/>
                <a:ea typeface="Meiryo"/>
                <a:cs typeface="Meiryo"/>
              </a:rPr>
              <a:t>Try this prompt</a:t>
            </a:r>
            <a:endParaRPr sz="2200">
              <a:latin typeface="Meiryo"/>
              <a:ea typeface="Meiryo"/>
              <a:cs typeface="Meiryo"/>
            </a:endParaRPr>
          </a:p>
        </p:txBody>
      </p:sp>
      <p:sp>
        <p:nvSpPr>
          <p:cNvPr id="6" name="Shape 3"/>
          <p:cNvSpPr/>
          <p:nvPr/>
        </p:nvSpPr>
        <p:spPr>
          <a:xfrm>
            <a:off x="640080" y="2084832"/>
            <a:ext cx="10908792" cy="2871216"/>
          </a:xfrm>
          <a:prstGeom prst="rect">
            <a:avLst/>
          </a:prstGeom>
          <a:solidFill>
            <a:srgbClr val="EAF4F3"/>
          </a:solidFill>
          <a:ln w="12700">
            <a:solidFill>
              <a:srgbClr val="EAF4F3"/>
            </a:solidFill>
            <a:prstDash val="solid"/>
          </a:ln>
        </p:spPr>
      </p:sp>
      <p:sp>
        <p:nvSpPr>
          <p:cNvPr id="7" name="Text 4:For each student_group, calculate the count&#10;and mean of confidence_after.&#10;State the columns used and how you handled missing values."/>
          <p:cNvSpPr txBox="1"/>
          <p:nvPr/>
        </p:nvSpPr>
        <p:spPr>
          <a:xfrm>
            <a:off x="950976" y="2350008"/>
            <a:ext cx="10287000" cy="2423160"/>
          </a:xfrm>
          <a:prstGeom prst="rect">
            <a:avLst/>
          </a:prstGeom>
          <a:noFill/>
          <a:ln/>
        </p:spPr>
        <p:txBody>
          <a:bodyPr wrap="square" lIns="0" tIns="0" rIns="0" bIns="0" rtlCol="0" anchor="t"/>
          <a:lstStyle/>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For each student_group, calculate the count</a:t>
            </a:r>
            <a:endParaRPr sz="2700">
              <a:latin typeface="Meiryo"/>
              <a:ea typeface="Meiryo"/>
              <a:cs typeface="Meiryo"/>
            </a:endParaRPr>
          </a:p>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and mean of confidence_after.</a:t>
            </a:r>
            <a:endParaRPr sz="2700">
              <a:latin typeface="Meiryo"/>
              <a:ea typeface="Meiryo"/>
              <a:cs typeface="Meiryo"/>
            </a:endParaRPr>
          </a:p>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State the columns used and how you handled missing values.</a:t>
            </a:r>
            <a:endParaRPr sz="2700">
              <a:latin typeface="Meiryo"/>
              <a:ea typeface="Meiryo"/>
              <a:cs typeface="Meiryo"/>
            </a:endParaRPr>
          </a:p>
        </p:txBody>
      </p:sp>
      <p:pic>
        <p:nvPicPr>
          <p:cNvPr id="8" name="Image 1" descr="Lucide circle-check">    </p:cNvPr>
          <p:cNvPicPr>
            <a:picLocks noChangeAspect="1"/>
          </p:cNvPicPr>
          <p:nvPr/>
        </p:nvPicPr>
        <p:blipFill>
          <a:blip r:embed="rId2"/>
          <a:stretch>
            <a:fillRect/>
          </a:stretch>
        </p:blipFill>
        <p:spPr>
          <a:xfrm>
            <a:off x="731520" y="5230368"/>
            <a:ext cx="338328" cy="338328"/>
          </a:xfrm>
          <a:prstGeom prst="rect">
            <a:avLst/>
          </a:prstGeom>
        </p:spPr>
      </p:pic>
      <p:sp>
        <p:nvSpPr>
          <p:cNvPr id="9" name="Text 5:Check the group counts as well as the means."/>
          <p:cNvSpPr txBox="1"/>
          <p:nvPr/>
        </p:nvSpPr>
        <p:spPr>
          <a:xfrm>
            <a:off x="1225296" y="5166360"/>
            <a:ext cx="10241280" cy="777240"/>
          </a:xfrm>
          <a:prstGeom prst="rect">
            <a:avLst/>
          </a:prstGeom>
          <a:noFill/>
          <a:ln/>
        </p:spPr>
        <p:txBody>
          <a:bodyPr wrap="square" lIns="0" tIns="0" rIns="0" bIns="0" rtlCol="0" anchor="t"/>
          <a:lstStyle/>
          <a:p>
            <a:pPr marL="0" indent="0">
              <a:lnSpc>
                <a:spcPct val="106000"/>
              </a:lnSpc>
              <a:buNone/>
              <a:defRPr sz="2200" b="0">
                <a:solidFill>
                  <a:srgbClr val="4D626D"/>
                </a:solidFill>
                <a:latin typeface="Meiryo"/>
                <a:ea typeface="Meiryo"/>
                <a:cs typeface="Meiryo"/>
              </a:defRPr>
            </a:pPr>
            <a:r>
              <a:rPr sz="2200" b="0">
                <a:solidFill>
                  <a:srgbClr val="4D626D"/>
                </a:solidFill>
                <a:latin typeface="Meiryo"/>
                <a:ea typeface="Meiryo"/>
                <a:cs typeface="Meiryo"/>
              </a:rPr>
              <a:t>Check the group counts as well as the means.</a:t>
            </a:r>
            <a:endParaRPr sz="2200">
              <a:latin typeface="Meiryo"/>
              <a:ea typeface="Meiryo"/>
              <a:cs typeface="Meiryo"/>
            </a:endParaRPr>
          </a:p>
        </p:txBody>
      </p:sp>
      <p:sp>
        <p:nvSpPr>
          <p:cNvPr id="10" name="Text 6:AI and Data Literacy    Workshop"/>
          <p:cNvSpPr txBox="1"/>
          <p:nvPr/>
        </p:nvSpPr>
        <p:spPr>
          <a:xfrm>
            <a:off x="667512" y="6428232"/>
            <a:ext cx="3840480" cy="310896"/>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AI and Data Literacy    Workshop</a:t>
            </a:r>
            <a:endParaRPr sz="1800">
              <a:latin typeface="Meiryo"/>
              <a:ea typeface="Meiryo"/>
              <a:cs typeface="Meiryo"/>
            </a:endParaRPr>
          </a:p>
        </p:txBody>
      </p:sp>
      <p:sp>
        <p:nvSpPr>
          <p:cNvPr id="11" name="Text 7:Week 11  08 / 17"/>
          <p:cNvSpPr txBox="1"/>
          <p:nvPr/>
        </p:nvSpPr>
        <p:spPr>
          <a:xfrm>
            <a:off x="8412480" y="6428232"/>
            <a:ext cx="3108960" cy="310896"/>
          </a:xfrm>
          <a:prstGeom prst="rect">
            <a:avLst/>
          </a:prstGeom>
          <a:noFill/>
          <a:ln/>
        </p:spPr>
        <p:txBody>
          <a:bodyPr wrap="square" lIns="0" tIns="0" rIns="0" bIns="0" rtlCol="0" anchor="t"/>
          <a:lstStyle/>
          <a:p>
            <a:pPr marL="0" indent="0" algn="r">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Week 11  08 / 17</a:t>
            </a:r>
            <a:endParaRPr sz="1800">
              <a:latin typeface="Meiryo"/>
              <a:ea typeface="Meiryo"/>
              <a:cs typeface="Meiryo"/>
            </a:endParaRPr>
          </a:p>
        </p:txBody>
      </p:sp>
    </p:spTree>
  </p:cSld>
  <p:clrMapOvr>
    <a:masterClrMapping/>
  </p:clrMapOvr>
</p:sld>
</file>

<file path=ppt/slides/slide9.xml><?xml version="1.0" encoding="utf-8"?>
<p:sld xmlns:a="http://schemas.openxmlformats.org/drawingml/2006/main"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Comparing with the reference values"/>
          <p:cNvSpPr txBox="1"/>
          <p:nvPr/>
        </p:nvSpPr>
        <p:spPr>
          <a:xfrm>
            <a:off x="621792" y="493776"/>
            <a:ext cx="10936224" cy="685800"/>
          </a:xfrm>
          <a:prstGeom prst="rect">
            <a:avLst/>
          </a:prstGeom>
          <a:noFill/>
          <a:ln/>
        </p:spPr>
        <p:txBody>
          <a:bodyPr wrap="square" lIns="0" tIns="0" rIns="0" bIns="0" rtlCol="0" anchor="t"/>
          <a:lstStyle/>
          <a:p>
            <a:pPr marL="0" indent="0">
              <a:lnSpc>
                <a:spcPct val="106000"/>
              </a:lnSpc>
              <a:buNone/>
              <a:defRPr sz="3400" b="1">
                <a:solidFill>
                  <a:srgbClr val="1B2D3B"/>
                </a:solidFill>
                <a:latin typeface="Meiryo"/>
                <a:ea typeface="Meiryo"/>
                <a:cs typeface="Meiryo"/>
              </a:defRPr>
            </a:pPr>
            <a:r>
              <a:rPr sz="3400" b="1">
                <a:solidFill>
                  <a:srgbClr val="1B2D3B"/>
                </a:solidFill>
                <a:latin typeface="Meiryo"/>
                <a:ea typeface="Meiryo"/>
                <a:cs typeface="Meiryo"/>
              </a:rPr>
              <a:t>Comparing with the reference values</a:t>
            </a:r>
            <a:endParaRPr sz="340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54480"/>
            <a:ext cx="3474720" cy="704088"/>
          </a:xfrm>
          <a:prstGeom prst="rect">
            <a:avLst/>
          </a:prstGeom>
          <a:solidFill>
            <a:srgbClr val="132B39"/>
          </a:solidFill>
          <a:ln w="12700">
            <a:solidFill>
              <a:srgbClr val="132B39"/>
            </a:solidFill>
            <a:prstDash val="solid"/>
          </a:ln>
        </p:spPr>
      </p:sp>
      <p:sp>
        <p:nvSpPr>
          <p:cNvPr id="5" name="Text 3:Group"/>
          <p:cNvSpPr txBox="1"/>
          <p:nvPr/>
        </p:nvSpPr>
        <p:spPr>
          <a:xfrm>
            <a:off x="786384" y="1709928"/>
            <a:ext cx="3182112" cy="512064"/>
          </a:xfrm>
          <a:prstGeom prst="rect">
            <a:avLst/>
          </a:prstGeom>
          <a:noFill/>
          <a:ln/>
        </p:spPr>
        <p:txBody>
          <a:bodyPr wrap="square" lIns="0" tIns="0" rIns="0" bIns="0" rtlCol="0" anchor="t"/>
          <a:lstStyle/>
          <a:p>
            <a:pPr marL="0" indent="0">
              <a:lnSpc>
                <a:spcPct val="106000"/>
              </a:lnSpc>
              <a:buNone/>
              <a:defRPr sz="2200" b="1">
                <a:solidFill>
                  <a:srgbClr val="FFFFFF"/>
                </a:solidFill>
                <a:latin typeface="Meiryo"/>
                <a:ea typeface="Meiryo"/>
                <a:cs typeface="Meiryo"/>
              </a:defRPr>
            </a:pPr>
            <a:r>
              <a:rPr sz="2200" b="1">
                <a:solidFill>
                  <a:srgbClr val="FFFFFF"/>
                </a:solidFill>
                <a:latin typeface="Meiryo"/>
                <a:ea typeface="Meiryo"/>
                <a:cs typeface="Meiryo"/>
              </a:rPr>
              <a:t>Group</a:t>
            </a:r>
            <a:endParaRPr sz="2200">
              <a:latin typeface="Meiryo"/>
              <a:ea typeface="Meiryo"/>
              <a:cs typeface="Meiryo"/>
            </a:endParaRPr>
          </a:p>
        </p:txBody>
      </p:sp>
      <p:sp>
        <p:nvSpPr>
          <p:cNvPr id="6" name="Shape 4"/>
          <p:cNvSpPr/>
          <p:nvPr/>
        </p:nvSpPr>
        <p:spPr>
          <a:xfrm>
            <a:off x="4114800" y="1554480"/>
            <a:ext cx="3794760" cy="704088"/>
          </a:xfrm>
          <a:prstGeom prst="rect">
            <a:avLst/>
          </a:prstGeom>
          <a:solidFill>
            <a:srgbClr val="132B39"/>
          </a:solidFill>
          <a:ln w="12700">
            <a:solidFill>
              <a:srgbClr val="132B39"/>
            </a:solidFill>
            <a:prstDash val="solid"/>
          </a:ln>
        </p:spPr>
      </p:sp>
      <p:sp>
        <p:nvSpPr>
          <p:cNvPr id="7" name="Text 5:Count"/>
          <p:cNvSpPr txBox="1"/>
          <p:nvPr/>
        </p:nvSpPr>
        <p:spPr>
          <a:xfrm>
            <a:off x="4261104" y="1709928"/>
            <a:ext cx="3502152" cy="512064"/>
          </a:xfrm>
          <a:prstGeom prst="rect">
            <a:avLst/>
          </a:prstGeom>
          <a:noFill/>
          <a:ln/>
        </p:spPr>
        <p:txBody>
          <a:bodyPr wrap="square" lIns="0" tIns="0" rIns="0" bIns="0" rtlCol="0" anchor="t"/>
          <a:lstStyle/>
          <a:p>
            <a:pPr marL="0" indent="0">
              <a:lnSpc>
                <a:spcPct val="106000"/>
              </a:lnSpc>
              <a:buNone/>
              <a:defRPr sz="2200" b="1">
                <a:solidFill>
                  <a:srgbClr val="FFFFFF"/>
                </a:solidFill>
                <a:latin typeface="Meiryo"/>
                <a:ea typeface="Meiryo"/>
                <a:cs typeface="Meiryo"/>
              </a:defRPr>
            </a:pPr>
            <a:r>
              <a:rPr sz="2200" b="1">
                <a:solidFill>
                  <a:srgbClr val="FFFFFF"/>
                </a:solidFill>
                <a:latin typeface="Meiryo"/>
                <a:ea typeface="Meiryo"/>
                <a:cs typeface="Meiryo"/>
              </a:rPr>
              <a:t>Count</a:t>
            </a:r>
            <a:endParaRPr sz="2200">
              <a:latin typeface="Meiryo"/>
              <a:ea typeface="Meiryo"/>
              <a:cs typeface="Meiryo"/>
            </a:endParaRPr>
          </a:p>
        </p:txBody>
      </p:sp>
      <p:sp>
        <p:nvSpPr>
          <p:cNvPr id="8" name="Shape 6"/>
          <p:cNvSpPr/>
          <p:nvPr/>
        </p:nvSpPr>
        <p:spPr>
          <a:xfrm>
            <a:off x="7909560" y="1554480"/>
            <a:ext cx="3639312" cy="704088"/>
          </a:xfrm>
          <a:prstGeom prst="rect">
            <a:avLst/>
          </a:prstGeom>
          <a:solidFill>
            <a:srgbClr val="132B39"/>
          </a:solidFill>
          <a:ln w="12700">
            <a:solidFill>
              <a:srgbClr val="132B39"/>
            </a:solidFill>
            <a:prstDash val="solid"/>
          </a:ln>
        </p:spPr>
      </p:sp>
      <p:sp>
        <p:nvSpPr>
          <p:cNvPr id="9" name="Text 7:Mean after"/>
          <p:cNvSpPr txBox="1"/>
          <p:nvPr/>
        </p:nvSpPr>
        <p:spPr>
          <a:xfrm>
            <a:off x="8055864" y="1709928"/>
            <a:ext cx="3346704" cy="512064"/>
          </a:xfrm>
          <a:prstGeom prst="rect">
            <a:avLst/>
          </a:prstGeom>
          <a:noFill/>
          <a:ln/>
        </p:spPr>
        <p:txBody>
          <a:bodyPr wrap="square" lIns="0" tIns="0" rIns="0" bIns="0" rtlCol="0" anchor="t"/>
          <a:lstStyle/>
          <a:p>
            <a:pPr marL="0" indent="0">
              <a:lnSpc>
                <a:spcPct val="106000"/>
              </a:lnSpc>
              <a:buNone/>
              <a:defRPr sz="2200" b="1">
                <a:solidFill>
                  <a:srgbClr val="FFFFFF"/>
                </a:solidFill>
                <a:latin typeface="Meiryo"/>
                <a:ea typeface="Meiryo"/>
                <a:cs typeface="Meiryo"/>
              </a:defRPr>
            </a:pPr>
            <a:r>
              <a:rPr sz="2200" b="1">
                <a:solidFill>
                  <a:srgbClr val="FFFFFF"/>
                </a:solidFill>
                <a:latin typeface="Meiryo"/>
                <a:ea typeface="Meiryo"/>
                <a:cs typeface="Meiryo"/>
              </a:rPr>
              <a:t>Mean after</a:t>
            </a:r>
            <a:endParaRPr sz="2200">
              <a:latin typeface="Meiryo"/>
              <a:ea typeface="Meiryo"/>
              <a:cs typeface="Meiryo"/>
            </a:endParaRPr>
          </a:p>
        </p:txBody>
      </p:sp>
      <p:sp>
        <p:nvSpPr>
          <p:cNvPr id="10" name="Shape 8"/>
          <p:cNvSpPr/>
          <p:nvPr/>
        </p:nvSpPr>
        <p:spPr>
          <a:xfrm>
            <a:off x="640080" y="2258568"/>
            <a:ext cx="3474720" cy="758952"/>
          </a:xfrm>
          <a:prstGeom prst="rect">
            <a:avLst/>
          </a:prstGeom>
          <a:solidFill>
            <a:srgbClr val="F7F8FA"/>
          </a:solidFill>
          <a:ln w="12700">
            <a:solidFill>
              <a:srgbClr val="F7F8FA"/>
            </a:solidFill>
            <a:prstDash val="solid"/>
          </a:ln>
        </p:spPr>
      </p:sp>
      <p:sp>
        <p:nvSpPr>
          <p:cNvPr id="11" name="Text 9"/>
          <p:cNvSpPr txBox="1"/>
          <p:nvPr/>
        </p:nvSpPr>
        <p:spPr>
          <a:xfrm>
            <a:off x="786384" y="2386584"/>
            <a:ext cx="318211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A</a:t>
            </a:r>
            <a:endParaRPr lang="ja-JP" sz="2200" dirty="0">
              <a:latin typeface="Meiryo"/>
              <a:ea typeface="Meiryo"/>
              <a:cs typeface="Meiryo"/>
            </a:endParaRPr>
          </a:p>
        </p:txBody>
      </p:sp>
      <p:sp>
        <p:nvSpPr>
          <p:cNvPr id="12" name="Shape 10"/>
          <p:cNvSpPr/>
          <p:nvPr/>
        </p:nvSpPr>
        <p:spPr>
          <a:xfrm>
            <a:off x="4114800" y="2258568"/>
            <a:ext cx="3794760" cy="758952"/>
          </a:xfrm>
          <a:prstGeom prst="rect">
            <a:avLst/>
          </a:prstGeom>
          <a:solidFill>
            <a:srgbClr val="F7F8FA"/>
          </a:solidFill>
          <a:ln w="12700">
            <a:solidFill>
              <a:srgbClr val="F7F8FA"/>
            </a:solidFill>
            <a:prstDash val="solid"/>
          </a:ln>
        </p:spPr>
      </p:sp>
      <p:sp>
        <p:nvSpPr>
          <p:cNvPr id="13" name="Text 11"/>
          <p:cNvSpPr txBox="1"/>
          <p:nvPr/>
        </p:nvSpPr>
        <p:spPr>
          <a:xfrm>
            <a:off x="4261104" y="2386584"/>
            <a:ext cx="350215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27</a:t>
            </a:r>
            <a:endParaRPr lang="ja-JP" sz="2200" dirty="0">
              <a:latin typeface="Meiryo"/>
              <a:ea typeface="Meiryo"/>
              <a:cs typeface="Meiryo"/>
            </a:endParaRPr>
          </a:p>
        </p:txBody>
      </p:sp>
      <p:sp>
        <p:nvSpPr>
          <p:cNvPr id="14" name="Shape 12"/>
          <p:cNvSpPr/>
          <p:nvPr/>
        </p:nvSpPr>
        <p:spPr>
          <a:xfrm>
            <a:off x="7909560" y="2258568"/>
            <a:ext cx="3639312" cy="758952"/>
          </a:xfrm>
          <a:prstGeom prst="rect">
            <a:avLst/>
          </a:prstGeom>
          <a:solidFill>
            <a:srgbClr val="F7F8FA"/>
          </a:solidFill>
          <a:ln w="12700">
            <a:solidFill>
              <a:srgbClr val="F7F8FA"/>
            </a:solidFill>
            <a:prstDash val="solid"/>
          </a:ln>
        </p:spPr>
      </p:sp>
      <p:sp>
        <p:nvSpPr>
          <p:cNvPr id="15" name="Text 13"/>
          <p:cNvSpPr txBox="1"/>
          <p:nvPr/>
        </p:nvSpPr>
        <p:spPr>
          <a:xfrm>
            <a:off x="8055864" y="2386584"/>
            <a:ext cx="33467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4.00</a:t>
            </a:r>
            <a:endParaRPr lang="ja-JP" sz="2200" dirty="0">
              <a:latin typeface="Meiryo"/>
              <a:ea typeface="Meiryo"/>
              <a:cs typeface="Meiryo"/>
            </a:endParaRPr>
          </a:p>
        </p:txBody>
      </p:sp>
      <p:sp>
        <p:nvSpPr>
          <p:cNvPr id="16" name="Shape 14"/>
          <p:cNvSpPr/>
          <p:nvPr/>
        </p:nvSpPr>
        <p:spPr>
          <a:xfrm>
            <a:off x="640080" y="3017520"/>
            <a:ext cx="10908792" cy="0"/>
          </a:xfrm>
          <a:prstGeom prst="line">
            <a:avLst/>
          </a:prstGeom>
          <a:noFill/>
          <a:ln w="12700">
            <a:solidFill>
              <a:srgbClr val="CBD7DC"/>
            </a:solidFill>
            <a:prstDash val="solid"/>
          </a:ln>
        </p:spPr>
      </p:sp>
      <p:sp>
        <p:nvSpPr>
          <p:cNvPr id="17" name="Shape 15"/>
          <p:cNvSpPr/>
          <p:nvPr/>
        </p:nvSpPr>
        <p:spPr>
          <a:xfrm>
            <a:off x="640080" y="3017520"/>
            <a:ext cx="3474720" cy="758952"/>
          </a:xfrm>
          <a:prstGeom prst="rect">
            <a:avLst/>
          </a:prstGeom>
          <a:solidFill>
            <a:srgbClr val="FFFFFF"/>
          </a:solidFill>
          <a:ln w="12700">
            <a:solidFill>
              <a:srgbClr val="FFFFFF"/>
            </a:solidFill>
            <a:prstDash val="solid"/>
          </a:ln>
        </p:spPr>
      </p:sp>
      <p:sp>
        <p:nvSpPr>
          <p:cNvPr id="18" name="Text 16"/>
          <p:cNvSpPr txBox="1"/>
          <p:nvPr/>
        </p:nvSpPr>
        <p:spPr>
          <a:xfrm>
            <a:off x="786384" y="3145536"/>
            <a:ext cx="318211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B</a:t>
            </a:r>
            <a:endParaRPr lang="ja-JP" sz="2200" dirty="0">
              <a:latin typeface="Meiryo"/>
              <a:ea typeface="Meiryo"/>
              <a:cs typeface="Meiryo"/>
            </a:endParaRPr>
          </a:p>
        </p:txBody>
      </p:sp>
      <p:sp>
        <p:nvSpPr>
          <p:cNvPr id="19" name="Shape 17"/>
          <p:cNvSpPr/>
          <p:nvPr/>
        </p:nvSpPr>
        <p:spPr>
          <a:xfrm>
            <a:off x="4114800" y="3017520"/>
            <a:ext cx="3794760" cy="758952"/>
          </a:xfrm>
          <a:prstGeom prst="rect">
            <a:avLst/>
          </a:prstGeom>
          <a:solidFill>
            <a:srgbClr val="FFFFFF"/>
          </a:solidFill>
          <a:ln w="12700">
            <a:solidFill>
              <a:srgbClr val="FFFFFF"/>
            </a:solidFill>
            <a:prstDash val="solid"/>
          </a:ln>
        </p:spPr>
      </p:sp>
      <p:sp>
        <p:nvSpPr>
          <p:cNvPr id="20" name="Text 18"/>
          <p:cNvSpPr txBox="1"/>
          <p:nvPr/>
        </p:nvSpPr>
        <p:spPr>
          <a:xfrm>
            <a:off x="4261104" y="3145536"/>
            <a:ext cx="350215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12</a:t>
            </a:r>
            <a:endParaRPr lang="ja-JP" sz="2200" dirty="0">
              <a:latin typeface="Meiryo"/>
              <a:ea typeface="Meiryo"/>
              <a:cs typeface="Meiryo"/>
            </a:endParaRPr>
          </a:p>
        </p:txBody>
      </p:sp>
      <p:sp>
        <p:nvSpPr>
          <p:cNvPr id="21" name="Shape 19"/>
          <p:cNvSpPr/>
          <p:nvPr/>
        </p:nvSpPr>
        <p:spPr>
          <a:xfrm>
            <a:off x="7909560" y="3017520"/>
            <a:ext cx="3639312" cy="758952"/>
          </a:xfrm>
          <a:prstGeom prst="rect">
            <a:avLst/>
          </a:prstGeom>
          <a:solidFill>
            <a:srgbClr val="FFFFFF"/>
          </a:solidFill>
          <a:ln w="12700">
            <a:solidFill>
              <a:srgbClr val="FFFFFF"/>
            </a:solidFill>
            <a:prstDash val="solid"/>
          </a:ln>
        </p:spPr>
      </p:sp>
      <p:sp>
        <p:nvSpPr>
          <p:cNvPr id="22" name="Text 20"/>
          <p:cNvSpPr txBox="1"/>
          <p:nvPr/>
        </p:nvSpPr>
        <p:spPr>
          <a:xfrm>
            <a:off x="8055864" y="3145536"/>
            <a:ext cx="33467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3.25</a:t>
            </a:r>
            <a:endParaRPr lang="ja-JP" sz="2200" dirty="0">
              <a:latin typeface="Meiryo"/>
              <a:ea typeface="Meiryo"/>
              <a:cs typeface="Meiryo"/>
            </a:endParaRPr>
          </a:p>
        </p:txBody>
      </p:sp>
      <p:sp>
        <p:nvSpPr>
          <p:cNvPr id="23" name="Shape 21"/>
          <p:cNvSpPr/>
          <p:nvPr/>
        </p:nvSpPr>
        <p:spPr>
          <a:xfrm>
            <a:off x="640080" y="3776472"/>
            <a:ext cx="10908792" cy="0"/>
          </a:xfrm>
          <a:prstGeom prst="line">
            <a:avLst/>
          </a:prstGeom>
          <a:noFill/>
          <a:ln w="12700">
            <a:solidFill>
              <a:srgbClr val="CBD7DC"/>
            </a:solidFill>
            <a:prstDash val="solid"/>
          </a:ln>
        </p:spPr>
      </p:sp>
      <p:sp>
        <p:nvSpPr>
          <p:cNvPr id="24" name="Shape 22"/>
          <p:cNvSpPr/>
          <p:nvPr/>
        </p:nvSpPr>
        <p:spPr>
          <a:xfrm>
            <a:off x="640080" y="3776472"/>
            <a:ext cx="3474720" cy="758952"/>
          </a:xfrm>
          <a:prstGeom prst="rect">
            <a:avLst/>
          </a:prstGeom>
          <a:solidFill>
            <a:srgbClr val="F7F8FA"/>
          </a:solidFill>
          <a:ln w="12700">
            <a:solidFill>
              <a:srgbClr val="F7F8FA"/>
            </a:solidFill>
            <a:prstDash val="solid"/>
          </a:ln>
        </p:spPr>
      </p:sp>
      <p:sp>
        <p:nvSpPr>
          <p:cNvPr id="25" name="Text 23"/>
          <p:cNvSpPr txBox="1"/>
          <p:nvPr/>
        </p:nvSpPr>
        <p:spPr>
          <a:xfrm>
            <a:off x="786384" y="3904488"/>
            <a:ext cx="318211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C</a:t>
            </a:r>
            <a:endParaRPr lang="ja-JP" sz="2200" dirty="0">
              <a:latin typeface="Meiryo"/>
              <a:ea typeface="Meiryo"/>
              <a:cs typeface="Meiryo"/>
            </a:endParaRPr>
          </a:p>
        </p:txBody>
      </p:sp>
      <p:sp>
        <p:nvSpPr>
          <p:cNvPr id="26" name="Shape 24"/>
          <p:cNvSpPr/>
          <p:nvPr/>
        </p:nvSpPr>
        <p:spPr>
          <a:xfrm>
            <a:off x="4114800" y="3776472"/>
            <a:ext cx="3794760" cy="758952"/>
          </a:xfrm>
          <a:prstGeom prst="rect">
            <a:avLst/>
          </a:prstGeom>
          <a:solidFill>
            <a:srgbClr val="F7F8FA"/>
          </a:solidFill>
          <a:ln w="12700">
            <a:solidFill>
              <a:srgbClr val="F7F8FA"/>
            </a:solidFill>
            <a:prstDash val="solid"/>
          </a:ln>
        </p:spPr>
      </p:sp>
      <p:sp>
        <p:nvSpPr>
          <p:cNvPr id="27" name="Text 25"/>
          <p:cNvSpPr txBox="1"/>
          <p:nvPr/>
        </p:nvSpPr>
        <p:spPr>
          <a:xfrm>
            <a:off x="4261104" y="3904488"/>
            <a:ext cx="350215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21</a:t>
            </a:r>
            <a:endParaRPr lang="ja-JP" sz="2200" dirty="0">
              <a:latin typeface="Meiryo"/>
              <a:ea typeface="Meiryo"/>
              <a:cs typeface="Meiryo"/>
            </a:endParaRPr>
          </a:p>
        </p:txBody>
      </p:sp>
      <p:sp>
        <p:nvSpPr>
          <p:cNvPr id="28" name="Shape 26"/>
          <p:cNvSpPr/>
          <p:nvPr/>
        </p:nvSpPr>
        <p:spPr>
          <a:xfrm>
            <a:off x="7909560" y="3776472"/>
            <a:ext cx="3639312" cy="758952"/>
          </a:xfrm>
          <a:prstGeom prst="rect">
            <a:avLst/>
          </a:prstGeom>
          <a:solidFill>
            <a:srgbClr val="F7F8FA"/>
          </a:solidFill>
          <a:ln w="12700">
            <a:solidFill>
              <a:srgbClr val="F7F8FA"/>
            </a:solidFill>
            <a:prstDash val="solid"/>
          </a:ln>
        </p:spPr>
      </p:sp>
      <p:sp>
        <p:nvSpPr>
          <p:cNvPr id="29" name="Text 27"/>
          <p:cNvSpPr txBox="1"/>
          <p:nvPr/>
        </p:nvSpPr>
        <p:spPr>
          <a:xfrm>
            <a:off x="8055864" y="3904488"/>
            <a:ext cx="33467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3.86</a:t>
            </a:r>
            <a:endParaRPr lang="ja-JP" sz="2200" dirty="0">
              <a:latin typeface="Meiryo"/>
              <a:ea typeface="Meiryo"/>
              <a:cs typeface="Meiryo"/>
            </a:endParaRPr>
          </a:p>
        </p:txBody>
      </p:sp>
      <p:sp>
        <p:nvSpPr>
          <p:cNvPr id="30" name="Shape 28"/>
          <p:cNvSpPr/>
          <p:nvPr/>
        </p:nvSpPr>
        <p:spPr>
          <a:xfrm>
            <a:off x="640080" y="4535424"/>
            <a:ext cx="10908792" cy="0"/>
          </a:xfrm>
          <a:prstGeom prst="line">
            <a:avLst/>
          </a:prstGeom>
          <a:noFill/>
          <a:ln w="12700">
            <a:solidFill>
              <a:srgbClr val="CBD7DC"/>
            </a:solidFill>
            <a:prstDash val="solid"/>
          </a:ln>
        </p:spPr>
      </p:sp>
      <p:sp>
        <p:nvSpPr>
          <p:cNvPr id="31" name="Text 29:Calculated from the supplied 60 fictional rows. Means are rounded to two decimal places."/>
          <p:cNvSpPr txBox="1"/>
          <p:nvPr/>
        </p:nvSpPr>
        <p:spPr>
          <a:xfrm>
            <a:off x="667512" y="5779008"/>
            <a:ext cx="10844784" cy="548640"/>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Calculated from the supplied 60 fictional rows. Means are rounded to two decimal places.</a:t>
            </a:r>
            <a:endParaRPr sz="1800">
              <a:latin typeface="Meiryo"/>
              <a:ea typeface="Meiryo"/>
              <a:cs typeface="Meiryo"/>
            </a:endParaRPr>
          </a:p>
        </p:txBody>
      </p:sp>
      <p:sp>
        <p:nvSpPr>
          <p:cNvPr id="32" name="Text 30:AI and Data Literacy    Workshop"/>
          <p:cNvSpPr txBox="1"/>
          <p:nvPr/>
        </p:nvSpPr>
        <p:spPr>
          <a:xfrm>
            <a:off x="667512" y="6428232"/>
            <a:ext cx="3840480" cy="310896"/>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AI and Data Literacy    Workshop</a:t>
            </a:r>
            <a:endParaRPr sz="1800">
              <a:latin typeface="Meiryo"/>
              <a:ea typeface="Meiryo"/>
              <a:cs typeface="Meiryo"/>
            </a:endParaRPr>
          </a:p>
        </p:txBody>
      </p:sp>
      <p:sp>
        <p:nvSpPr>
          <p:cNvPr id="33" name="Text 31:Week 11  09 / 17"/>
          <p:cNvSpPr txBox="1"/>
          <p:nvPr/>
        </p:nvSpPr>
        <p:spPr>
          <a:xfrm>
            <a:off x="8412480" y="6428232"/>
            <a:ext cx="3108960" cy="310896"/>
          </a:xfrm>
          <a:prstGeom prst="rect">
            <a:avLst/>
          </a:prstGeom>
          <a:noFill/>
          <a:ln/>
        </p:spPr>
        <p:txBody>
          <a:bodyPr wrap="square" lIns="0" tIns="0" rIns="0" bIns="0" rtlCol="0" anchor="t"/>
          <a:lstStyle/>
          <a:p>
            <a:pPr marL="0" indent="0" algn="r">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Week 11  09 / 17</a:t>
            </a:r>
            <a:endParaRPr sz="1800">
              <a:latin typeface="Meiryo"/>
              <a:ea typeface="Meiryo"/>
              <a:cs typeface="Meiryo"/>
            </a:endParaRPr>
          </a:p>
        </p:txBody>
      </p:sp>
    </p:spTree>
  </p:cSld>
  <p:clrMapOvr>
    <a:masterClrMapping/>
  </p:clrMapOvr>
</p:sld>
</file>

<file path=ppt/slides/slide10.xml><?xml version="1.0" encoding="utf-8"?>
<p:sld xmlns:a="http://schemas.openxmlformats.org/drawingml/2006/main"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One check using another method"/>
          <p:cNvSpPr txBox="1"/>
          <p:nvPr/>
        </p:nvSpPr>
        <p:spPr>
          <a:xfrm>
            <a:off x="621792" y="493776"/>
            <a:ext cx="10936224" cy="685800"/>
          </a:xfrm>
          <a:prstGeom prst="rect">
            <a:avLst/>
          </a:prstGeom>
          <a:noFill/>
          <a:ln/>
        </p:spPr>
        <p:txBody>
          <a:bodyPr wrap="square" lIns="0" tIns="0" rIns="0" bIns="0" rtlCol="0" anchor="t"/>
          <a:lstStyle/>
          <a:p>
            <a:pPr marL="0" indent="0">
              <a:lnSpc>
                <a:spcPct val="106000"/>
              </a:lnSpc>
              <a:buNone/>
              <a:defRPr sz="3400" b="1">
                <a:solidFill>
                  <a:srgbClr val="1B2D3B"/>
                </a:solidFill>
                <a:latin typeface="Meiryo"/>
                <a:ea typeface="Meiryo"/>
                <a:cs typeface="Meiryo"/>
              </a:defRPr>
            </a:pPr>
            <a:r>
              <a:rPr sz="3400" b="1">
                <a:solidFill>
                  <a:srgbClr val="1B2D3B"/>
                </a:solidFill>
                <a:latin typeface="Meiryo"/>
                <a:ea typeface="Meiryo"/>
                <a:cs typeface="Meiryo"/>
              </a:rPr>
              <a:t>One check using another method</a:t>
            </a:r>
            <a:endParaRPr sz="340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Text 2:Rows with source_checked = yes: 42"/>
          <p:cNvSpPr txBox="1"/>
          <p:nvPr/>
        </p:nvSpPr>
        <p:spPr>
          <a:xfrm>
            <a:off x="777240" y="1609344"/>
            <a:ext cx="10607040" cy="786384"/>
          </a:xfrm>
          <a:prstGeom prst="rect">
            <a:avLst/>
          </a:prstGeom>
          <a:noFill/>
          <a:ln/>
        </p:spPr>
        <p:txBody>
          <a:bodyPr wrap="square" lIns="0" tIns="0" rIns="0" bIns="0" rtlCol="0" anchor="t"/>
          <a:lstStyle/>
          <a:p>
            <a:pPr marL="0" indent="0">
              <a:lnSpc>
                <a:spcPct val="106000"/>
              </a:lnSpc>
              <a:buNone/>
              <a:defRPr sz="2500" b="0">
                <a:solidFill>
                  <a:srgbClr val="4D626D"/>
                </a:solidFill>
                <a:latin typeface="Meiryo"/>
                <a:ea typeface="Meiryo"/>
                <a:cs typeface="Meiryo"/>
              </a:defRPr>
            </a:pPr>
            <a:r>
              <a:rPr sz="2500" b="0">
                <a:solidFill>
                  <a:srgbClr val="4D626D"/>
                </a:solidFill>
                <a:latin typeface="Meiryo"/>
                <a:ea typeface="Meiryo"/>
                <a:cs typeface="Meiryo"/>
              </a:rPr>
              <a:t>Rows with source_checked = yes: 42</a:t>
            </a:r>
            <a:endParaRPr sz="2500">
              <a:latin typeface="Meiryo"/>
              <a:ea typeface="Meiryo"/>
              <a:cs typeface="Meiryo"/>
            </a:endParaRPr>
          </a:p>
        </p:txBody>
      </p:sp>
      <p:sp>
        <p:nvSpPr>
          <p:cNvPr id="5" name="Shape 3"/>
          <p:cNvSpPr/>
          <p:nvPr/>
        </p:nvSpPr>
        <p:spPr>
          <a:xfrm>
            <a:off x="640080" y="2596896"/>
            <a:ext cx="10908792" cy="1417320"/>
          </a:xfrm>
          <a:prstGeom prst="rect">
            <a:avLst/>
          </a:prstGeom>
          <a:solidFill>
            <a:srgbClr val="EAF4F3"/>
          </a:solidFill>
          <a:ln w="12700">
            <a:solidFill>
              <a:srgbClr val="EAF4F3"/>
            </a:solidFill>
            <a:prstDash val="solid"/>
          </a:ln>
        </p:spPr>
      </p:sp>
      <p:sp>
        <p:nvSpPr>
          <p:cNvPr id="6" name="Text 4"/>
          <p:cNvSpPr txBox="1"/>
          <p:nvPr/>
        </p:nvSpPr>
        <p:spPr>
          <a:xfrm>
            <a:off x="914400" y="2953512"/>
            <a:ext cx="10332720" cy="777240"/>
          </a:xfrm>
          <a:prstGeom prst="rect">
            <a:avLst/>
          </a:prstGeom>
          <a:noFill/>
          <a:ln/>
        </p:spPr>
        <p:txBody>
          <a:bodyPr wrap="square" lIns="0" tIns="0" rIns="0" bIns="0" rtlCol="0" anchor="t"/>
          <a:lstStyle/>
          <a:p>
            <a:pPr algn="ctr" indent="0" marL="0">
              <a:lnSpc>
                <a:spcPct val="106000"/>
              </a:lnSpc>
              <a:buNone/>
            </a:pPr>
            <a:r>
              <a:rPr lang="ja-JP" altLang="en-US" sz="3600" b="1" dirty="0">
                <a:solidFill>
                  <a:srgbClr val="007F82"/>
                </a:solidFill>
                <a:latin typeface="Meiryo" pitchFamily="34" charset="0"/>
                <a:ea typeface="Meiryo" pitchFamily="34" charset="-122"/>
                <a:cs typeface="Meiryo" pitchFamily="34" charset="-120"/>
              </a:rPr>
              <a:t>42 ÷ 60 × 100 = 70％</a:t>
            </a:r>
            <a:endParaRPr lang="ja-JP" sz="3600" dirty="0">
              <a:latin typeface="Meiryo"/>
              <a:ea typeface="Meiryo"/>
              <a:cs typeface="Meiryo"/>
            </a:endParaRPr>
          </a:p>
        </p:txBody>
      </p:sp>
      <p:sp>
        <p:nvSpPr>
          <p:cNvPr id="7" name="Text 5:Count yes rows with a spreadsheet filter, for example.&#10;Record your method and whether the result matches AI's."/>
          <p:cNvSpPr txBox="1"/>
          <p:nvPr/>
        </p:nvSpPr>
        <p:spPr>
          <a:xfrm>
            <a:off x="822960" y="4590288"/>
            <a:ext cx="10607040" cy="1042416"/>
          </a:xfrm>
          <a:prstGeom prst="rect">
            <a:avLst/>
          </a:prstGeom>
          <a:noFill/>
          <a:ln/>
        </p:spPr>
        <p:txBody>
          <a:bodyPr wrap="square" lIns="0" tIns="0" rIns="0" bIns="0" rtlCol="0" anchor="t"/>
          <a:lstStyle/>
          <a:p>
            <a:pPr marL="0" indent="0">
              <a:lnSpc>
                <a:spcPct val="106000"/>
              </a:lnSpc>
              <a:buNone/>
              <a:defRPr sz="2500" b="0">
                <a:solidFill>
                  <a:srgbClr val="1B2D3B"/>
                </a:solidFill>
                <a:latin typeface="Meiryo"/>
                <a:ea typeface="Meiryo"/>
                <a:cs typeface="Meiryo"/>
              </a:defRPr>
            </a:pPr>
            <a:r>
              <a:rPr sz="2500" b="0">
                <a:solidFill>
                  <a:srgbClr val="1B2D3B"/>
                </a:solidFill>
                <a:latin typeface="Meiryo"/>
                <a:ea typeface="Meiryo"/>
                <a:cs typeface="Meiryo"/>
              </a:rPr>
              <a:t>Count yes rows with a spreadsheet filter, for example.</a:t>
            </a:r>
            <a:endParaRPr sz="2500">
              <a:latin typeface="Meiryo"/>
              <a:ea typeface="Meiryo"/>
              <a:cs typeface="Meiryo"/>
            </a:endParaRPr>
          </a:p>
          <a:p>
            <a:pPr marL="0" indent="0">
              <a:lnSpc>
                <a:spcPct val="106000"/>
              </a:lnSpc>
              <a:buNone/>
              <a:defRPr sz="2500" b="0">
                <a:solidFill>
                  <a:srgbClr val="1B2D3B"/>
                </a:solidFill>
                <a:latin typeface="Meiryo"/>
                <a:ea typeface="Meiryo"/>
                <a:cs typeface="Meiryo"/>
              </a:defRPr>
            </a:pPr>
            <a:r>
              <a:rPr sz="2500" b="0">
                <a:solidFill>
                  <a:srgbClr val="1B2D3B"/>
                </a:solidFill>
                <a:latin typeface="Meiryo"/>
                <a:ea typeface="Meiryo"/>
                <a:cs typeface="Meiryo"/>
              </a:rPr>
              <a:t>Record your method and whether the result matches AI's.</a:t>
            </a:r>
            <a:endParaRPr sz="2500">
              <a:latin typeface="Meiryo"/>
              <a:ea typeface="Meiryo"/>
              <a:cs typeface="Meiryo"/>
            </a:endParaRPr>
          </a:p>
        </p:txBody>
      </p:sp>
      <p:sp>
        <p:nvSpPr>
          <p:cNvPr id="8" name="Text 6:AI and Data Literacy    Workshop"/>
          <p:cNvSpPr txBox="1"/>
          <p:nvPr/>
        </p:nvSpPr>
        <p:spPr>
          <a:xfrm>
            <a:off x="667512" y="6428232"/>
            <a:ext cx="3840480" cy="310896"/>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AI and Data Literacy    Workshop</a:t>
            </a:r>
            <a:endParaRPr sz="1800">
              <a:latin typeface="Meiryo"/>
              <a:ea typeface="Meiryo"/>
              <a:cs typeface="Meiryo"/>
            </a:endParaRPr>
          </a:p>
        </p:txBody>
      </p:sp>
      <p:sp>
        <p:nvSpPr>
          <p:cNvPr id="9" name="Text 7:Week 11  10 / 17"/>
          <p:cNvSpPr txBox="1"/>
          <p:nvPr/>
        </p:nvSpPr>
        <p:spPr>
          <a:xfrm>
            <a:off x="8412480" y="6428232"/>
            <a:ext cx="3108960" cy="310896"/>
          </a:xfrm>
          <a:prstGeom prst="rect">
            <a:avLst/>
          </a:prstGeom>
          <a:noFill/>
          <a:ln/>
        </p:spPr>
        <p:txBody>
          <a:bodyPr wrap="square" lIns="0" tIns="0" rIns="0" bIns="0" rtlCol="0" anchor="t"/>
          <a:lstStyle/>
          <a:p>
            <a:pPr marL="0" indent="0" algn="r">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Week 11  10 / 17</a:t>
            </a:r>
            <a:endParaRPr sz="1800">
              <a:latin typeface="Meiryo"/>
              <a:ea typeface="Meiryo"/>
              <a:cs typeface="Meiryo"/>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Slide 11">
    <p:bg>
      <p:bgPr>
        <a:solidFill>
          <a:srgbClr val="FFFFFF"/>
        </a:solidFill>
      </p:bgPr>
    </p:bg>
    <p:spTree>
      <p:nvGrpSpPr>
        <p:cNvPr id="1" name=""/>
        <p:cNvGrpSpPr/>
        <p:nvPr/>
      </p:nvGrpSpPr>
      <p:grpSpPr>
        <a:xfrm>
          <a:off x="0" y="0"/>
          <a:ext cx="0" cy="0"/>
          <a:chOff x="0" y="0"/>
          <a:chExt cx="0" cy="0"/>
        </a:xfrm>
      </p:grpSpPr>
      <p:sp>
        <p:nvSpPr>
          <p:cNvPr id="2" name="Text 0:4. A bar chart"/>
          <p:cNvSpPr txBox="1"/>
          <p:nvPr/>
        </p:nvSpPr>
        <p:spPr>
          <a:xfrm>
            <a:off x="621792" y="493776"/>
            <a:ext cx="10936224" cy="685800"/>
          </a:xfrm>
          <a:prstGeom prst="rect">
            <a:avLst/>
          </a:prstGeom>
          <a:noFill/>
          <a:ln/>
        </p:spPr>
        <p:txBody>
          <a:bodyPr wrap="square" lIns="0" tIns="0" rIns="0" bIns="0" rtlCol="0" anchor="t"/>
          <a:lstStyle/>
          <a:p>
            <a:pPr marL="0" indent="0">
              <a:lnSpc>
                <a:spcPct val="106000"/>
              </a:lnSpc>
              <a:buNone/>
              <a:defRPr sz="3400" b="1">
                <a:solidFill>
                  <a:srgbClr val="1B2D3B"/>
                </a:solidFill>
                <a:latin typeface="Meiryo"/>
                <a:ea typeface="Meiryo"/>
                <a:cs typeface="Meiryo"/>
              </a:defRPr>
            </a:pPr>
            <a:r>
              <a:rPr sz="3400" b="1">
                <a:solidFill>
                  <a:srgbClr val="1B2D3B"/>
                </a:solidFill>
                <a:latin typeface="Meiryo"/>
                <a:ea typeface="Meiryo"/>
                <a:cs typeface="Meiryo"/>
              </a:rPr>
              <a:t>4. A bar chart</a:t>
            </a:r>
            <a:endParaRPr sz="340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pic>
        <p:nvPicPr>
          <p:cNvPr id="4" name="Image 0" descr="Lucide keyboard">    </p:cNvPr>
          <p:cNvPicPr>
            <a:picLocks noChangeAspect="1"/>
          </p:cNvPicPr>
          <p:nvPr/>
        </p:nvPicPr>
        <p:blipFill>
          <a:blip r:embed="rId1"/>
          <a:stretch>
            <a:fillRect/>
          </a:stretch>
        </p:blipFill>
        <p:spPr>
          <a:xfrm>
            <a:off x="713232" y="1499616"/>
            <a:ext cx="384048" cy="384048"/>
          </a:xfrm>
          <a:prstGeom prst="rect">
            <a:avLst/>
          </a:prstGeom>
        </p:spPr>
      </p:pic>
      <p:sp>
        <p:nvSpPr>
          <p:cNvPr id="5" name="Text 2:Try this prompt"/>
          <p:cNvSpPr txBox="1"/>
          <p:nvPr/>
        </p:nvSpPr>
        <p:spPr>
          <a:xfrm>
            <a:off x="1280160" y="1490472"/>
            <a:ext cx="7315200" cy="475488"/>
          </a:xfrm>
          <a:prstGeom prst="rect">
            <a:avLst/>
          </a:prstGeom>
          <a:noFill/>
          <a:ln/>
        </p:spPr>
        <p:txBody>
          <a:bodyPr wrap="square" lIns="0" tIns="0" rIns="0" bIns="0" rtlCol="0" anchor="t"/>
          <a:lstStyle/>
          <a:p>
            <a:pPr marL="0" indent="0">
              <a:lnSpc>
                <a:spcPct val="106000"/>
              </a:lnSpc>
              <a:buNone/>
              <a:defRPr sz="2200" b="1">
                <a:solidFill>
                  <a:srgbClr val="007F82"/>
                </a:solidFill>
                <a:latin typeface="Meiryo"/>
                <a:ea typeface="Meiryo"/>
                <a:cs typeface="Meiryo"/>
              </a:defRPr>
            </a:pPr>
            <a:r>
              <a:rPr sz="2200" b="1">
                <a:solidFill>
                  <a:srgbClr val="007F82"/>
                </a:solidFill>
                <a:latin typeface="Meiryo"/>
                <a:ea typeface="Meiryo"/>
                <a:cs typeface="Meiryo"/>
              </a:rPr>
              <a:t>Try this prompt</a:t>
            </a:r>
            <a:endParaRPr sz="2200">
              <a:latin typeface="Meiryo"/>
              <a:ea typeface="Meiryo"/>
              <a:cs typeface="Meiryo"/>
            </a:endParaRPr>
          </a:p>
        </p:txBody>
      </p:sp>
      <p:sp>
        <p:nvSpPr>
          <p:cNvPr id="6" name="Shape 3"/>
          <p:cNvSpPr/>
          <p:nvPr/>
        </p:nvSpPr>
        <p:spPr>
          <a:xfrm>
            <a:off x="640080" y="2084832"/>
            <a:ext cx="10908792" cy="2871216"/>
          </a:xfrm>
          <a:prstGeom prst="rect">
            <a:avLst/>
          </a:prstGeom>
          <a:solidFill>
            <a:srgbClr val="EAF4F3"/>
          </a:solidFill>
          <a:ln w="12700">
            <a:solidFill>
              <a:srgbClr val="EAF4F3"/>
            </a:solidFill>
            <a:prstDash val="solid"/>
          </a:ln>
        </p:spPr>
      </p:sp>
      <p:sp>
        <p:nvSpPr>
          <p:cNvPr id="7" name="Text 4:Make a bar chart of mean confidence_after by group.&#10;Use a vertical axis from 0 to 5.&#10;Include the means and group counts.&#10;Label the data as fictional teaching data."/>
          <p:cNvSpPr txBox="1"/>
          <p:nvPr/>
        </p:nvSpPr>
        <p:spPr>
          <a:xfrm>
            <a:off x="950976" y="2350008"/>
            <a:ext cx="10287000" cy="2423160"/>
          </a:xfrm>
          <a:prstGeom prst="rect">
            <a:avLst/>
          </a:prstGeom>
          <a:noFill/>
          <a:ln/>
        </p:spPr>
        <p:txBody>
          <a:bodyPr wrap="square" lIns="0" tIns="0" rIns="0" bIns="0" rtlCol="0" anchor="t"/>
          <a:lstStyle/>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Make a bar chart of mean confidence_after by group.</a:t>
            </a:r>
            <a:endParaRPr sz="2700">
              <a:latin typeface="Meiryo"/>
              <a:ea typeface="Meiryo"/>
              <a:cs typeface="Meiryo"/>
            </a:endParaRPr>
          </a:p>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Use a vertical axis from 0 to 5.</a:t>
            </a:r>
            <a:endParaRPr sz="2700">
              <a:latin typeface="Meiryo"/>
              <a:ea typeface="Meiryo"/>
              <a:cs typeface="Meiryo"/>
            </a:endParaRPr>
          </a:p>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Include the means and group counts.</a:t>
            </a:r>
            <a:endParaRPr sz="2700">
              <a:latin typeface="Meiryo"/>
              <a:ea typeface="Meiryo"/>
              <a:cs typeface="Meiryo"/>
            </a:endParaRPr>
          </a:p>
          <a:p>
            <a:pPr marL="0" indent="0">
              <a:lnSpc>
                <a:spcPct val="106000"/>
              </a:lnSpc>
              <a:buNone/>
              <a:defRPr sz="2700" b="0">
                <a:solidFill>
                  <a:srgbClr val="1B2D3B"/>
                </a:solidFill>
                <a:latin typeface="Meiryo"/>
                <a:ea typeface="Meiryo"/>
                <a:cs typeface="Meiryo"/>
              </a:defRPr>
            </a:pPr>
            <a:r>
              <a:rPr sz="2700" b="0">
                <a:solidFill>
                  <a:srgbClr val="1B2D3B"/>
                </a:solidFill>
                <a:latin typeface="Meiryo"/>
                <a:ea typeface="Meiryo"/>
                <a:cs typeface="Meiryo"/>
              </a:rPr>
              <a:t>Label the data as fictional teaching data.</a:t>
            </a:r>
            <a:endParaRPr sz="2700">
              <a:latin typeface="Meiryo"/>
              <a:ea typeface="Meiryo"/>
              <a:cs typeface="Meiryo"/>
            </a:endParaRPr>
          </a:p>
        </p:txBody>
      </p:sp>
      <p:pic>
        <p:nvPicPr>
          <p:cNvPr id="8" name="Image 1" descr="Lucide circle-check">    </p:cNvPr>
          <p:cNvPicPr>
            <a:picLocks noChangeAspect="1"/>
          </p:cNvPicPr>
          <p:nvPr/>
        </p:nvPicPr>
        <p:blipFill>
          <a:blip r:embed="rId2"/>
          <a:stretch>
            <a:fillRect/>
          </a:stretch>
        </p:blipFill>
        <p:spPr>
          <a:xfrm>
            <a:off x="731520" y="5230368"/>
            <a:ext cx="338328" cy="338328"/>
          </a:xfrm>
          <a:prstGeom prst="rect">
            <a:avLst/>
          </a:prstGeom>
        </p:spPr>
      </p:pic>
      <p:sp>
        <p:nvSpPr>
          <p:cNvPr id="9" name="Text 5:If chart creation is unavailable, submit the summary table instead."/>
          <p:cNvSpPr txBox="1"/>
          <p:nvPr/>
        </p:nvSpPr>
        <p:spPr>
          <a:xfrm>
            <a:off x="1225296" y="5166360"/>
            <a:ext cx="10241280" cy="777240"/>
          </a:xfrm>
          <a:prstGeom prst="rect">
            <a:avLst/>
          </a:prstGeom>
          <a:noFill/>
          <a:ln/>
        </p:spPr>
        <p:txBody>
          <a:bodyPr wrap="square" lIns="0" tIns="0" rIns="0" bIns="0" rtlCol="0" anchor="t"/>
          <a:lstStyle/>
          <a:p>
            <a:pPr marL="0" indent="0">
              <a:lnSpc>
                <a:spcPct val="106000"/>
              </a:lnSpc>
              <a:buNone/>
              <a:defRPr sz="2200" b="0">
                <a:solidFill>
                  <a:srgbClr val="4D626D"/>
                </a:solidFill>
                <a:latin typeface="Meiryo"/>
                <a:ea typeface="Meiryo"/>
                <a:cs typeface="Meiryo"/>
              </a:defRPr>
            </a:pPr>
            <a:r>
              <a:rPr sz="2200" b="0">
                <a:solidFill>
                  <a:srgbClr val="4D626D"/>
                </a:solidFill>
                <a:latin typeface="Meiryo"/>
                <a:ea typeface="Meiryo"/>
                <a:cs typeface="Meiryo"/>
              </a:rPr>
              <a:t>If chart creation is unavailable, submit the summary table instead.</a:t>
            </a:r>
            <a:endParaRPr sz="2200">
              <a:latin typeface="Meiryo"/>
              <a:ea typeface="Meiryo"/>
              <a:cs typeface="Meiryo"/>
            </a:endParaRPr>
          </a:p>
        </p:txBody>
      </p:sp>
      <p:sp>
        <p:nvSpPr>
          <p:cNvPr id="10" name="Text 6:AI and Data Literacy    Workshop"/>
          <p:cNvSpPr txBox="1"/>
          <p:nvPr/>
        </p:nvSpPr>
        <p:spPr>
          <a:xfrm>
            <a:off x="667512" y="6428232"/>
            <a:ext cx="3840480" cy="310896"/>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AI and Data Literacy    Workshop</a:t>
            </a:r>
            <a:endParaRPr sz="1800">
              <a:latin typeface="Meiryo"/>
              <a:ea typeface="Meiryo"/>
              <a:cs typeface="Meiryo"/>
            </a:endParaRPr>
          </a:p>
        </p:txBody>
      </p:sp>
      <p:sp>
        <p:nvSpPr>
          <p:cNvPr id="11" name="Text 7:Week 11  11 / 17"/>
          <p:cNvSpPr txBox="1"/>
          <p:nvPr/>
        </p:nvSpPr>
        <p:spPr>
          <a:xfrm>
            <a:off x="8412480" y="6428232"/>
            <a:ext cx="3108960" cy="310896"/>
          </a:xfrm>
          <a:prstGeom prst="rect">
            <a:avLst/>
          </a:prstGeom>
          <a:noFill/>
          <a:ln/>
        </p:spPr>
        <p:txBody>
          <a:bodyPr wrap="square" lIns="0" tIns="0" rIns="0" bIns="0" rtlCol="0" anchor="t"/>
          <a:lstStyle/>
          <a:p>
            <a:pPr marL="0" indent="0" algn="r">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Week 11  11 / 17</a:t>
            </a:r>
            <a:endParaRPr sz="1800">
              <a:latin typeface="Meiryo"/>
              <a:ea typeface="Meiryo"/>
              <a:cs typeface="Meiryo"/>
            </a:endParaRPr>
          </a:p>
        </p:txBody>
      </p:sp>
    </p:spTree>
  </p:cSld>
  <p:clrMapOvr>
    <a:masterClrMapping/>
  </p:clrMapOvr>
</p:sld>
</file>

<file path=ppt/slides/slide12.xml><?xml version="1.0" encoding="utf-8"?>
<p:sld xmlns:a="http://schemas.openxmlformats.org/drawingml/2006/main"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Read counts as well as means"/>
          <p:cNvSpPr txBox="1"/>
          <p:nvPr/>
        </p:nvSpPr>
        <p:spPr>
          <a:xfrm>
            <a:off x="621792" y="493776"/>
            <a:ext cx="10936224" cy="685800"/>
          </a:xfrm>
          <a:prstGeom prst="rect">
            <a:avLst/>
          </a:prstGeom>
          <a:noFill/>
          <a:ln/>
        </p:spPr>
        <p:txBody>
          <a:bodyPr wrap="square" lIns="0" tIns="0" rIns="0" bIns="0" rtlCol="0" anchor="t"/>
          <a:lstStyle/>
          <a:p>
            <a:pPr marL="0" indent="0">
              <a:lnSpc>
                <a:spcPct val="106000"/>
              </a:lnSpc>
              <a:buNone/>
              <a:defRPr sz="3400" b="1">
                <a:solidFill>
                  <a:srgbClr val="1B2D3B"/>
                </a:solidFill>
                <a:latin typeface="Meiryo"/>
                <a:ea typeface="Meiryo"/>
                <a:cs typeface="Meiryo"/>
              </a:defRPr>
            </a:pPr>
            <a:r>
              <a:rPr sz="3400" b="1">
                <a:solidFill>
                  <a:srgbClr val="1B2D3B"/>
                </a:solidFill>
                <a:latin typeface="Meiryo"/>
                <a:ea typeface="Meiryo"/>
                <a:cs typeface="Meiryo"/>
              </a:rPr>
              <a:t>Read counts as well as means</a:t>
            </a:r>
            <a:endParaRPr sz="340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1664208" y="5065776"/>
            <a:ext cx="9125712" cy="0"/>
          </a:xfrm>
          <a:prstGeom prst="line">
            <a:avLst/>
          </a:prstGeom>
          <a:noFill/>
          <a:ln w="12700">
            <a:solidFill>
              <a:srgbClr val="CBD7DC"/>
            </a:solidFill>
            <a:prstDash val="solid"/>
          </a:ln>
        </p:spPr>
      </p:sp>
      <p:sp>
        <p:nvSpPr>
          <p:cNvPr id="5" name="Text 3"/>
          <p:cNvSpPr txBox="1"/>
          <p:nvPr/>
        </p:nvSpPr>
        <p:spPr>
          <a:xfrm>
            <a:off x="1097280" y="4946904"/>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0</a:t>
            </a:r>
            <a:endParaRPr lang="ja-JP" sz="1800" dirty="0">
              <a:latin typeface="Meiryo"/>
              <a:ea typeface="Meiryo"/>
              <a:cs typeface="Meiryo"/>
            </a:endParaRPr>
          </a:p>
        </p:txBody>
      </p:sp>
      <p:sp>
        <p:nvSpPr>
          <p:cNvPr id="6" name="Shape 4"/>
          <p:cNvSpPr/>
          <p:nvPr/>
        </p:nvSpPr>
        <p:spPr>
          <a:xfrm>
            <a:off x="1664208" y="4429354"/>
            <a:ext cx="9125712" cy="0"/>
          </a:xfrm>
          <a:prstGeom prst="line">
            <a:avLst/>
          </a:prstGeom>
          <a:noFill/>
          <a:ln w="12700">
            <a:solidFill>
              <a:srgbClr val="CBD7DC"/>
            </a:solidFill>
            <a:prstDash val="solid"/>
          </a:ln>
        </p:spPr>
      </p:sp>
      <p:sp>
        <p:nvSpPr>
          <p:cNvPr id="7" name="Text 5"/>
          <p:cNvSpPr txBox="1"/>
          <p:nvPr/>
        </p:nvSpPr>
        <p:spPr>
          <a:xfrm>
            <a:off x="1097280" y="4310482"/>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1</a:t>
            </a:r>
            <a:endParaRPr lang="ja-JP" sz="1800" dirty="0">
              <a:latin typeface="Meiryo"/>
              <a:ea typeface="Meiryo"/>
              <a:cs typeface="Meiryo"/>
            </a:endParaRPr>
          </a:p>
        </p:txBody>
      </p:sp>
      <p:sp>
        <p:nvSpPr>
          <p:cNvPr id="8" name="Shape 6"/>
          <p:cNvSpPr/>
          <p:nvPr/>
        </p:nvSpPr>
        <p:spPr>
          <a:xfrm>
            <a:off x="1664208" y="3792931"/>
            <a:ext cx="9125712" cy="0"/>
          </a:xfrm>
          <a:prstGeom prst="line">
            <a:avLst/>
          </a:prstGeom>
          <a:noFill/>
          <a:ln w="12700">
            <a:solidFill>
              <a:srgbClr val="CBD7DC"/>
            </a:solidFill>
            <a:prstDash val="solid"/>
          </a:ln>
        </p:spPr>
      </p:sp>
      <p:sp>
        <p:nvSpPr>
          <p:cNvPr id="9" name="Text 7"/>
          <p:cNvSpPr txBox="1"/>
          <p:nvPr/>
        </p:nvSpPr>
        <p:spPr>
          <a:xfrm>
            <a:off x="1097280" y="3674059"/>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2</a:t>
            </a:r>
            <a:endParaRPr lang="ja-JP" sz="1800" dirty="0">
              <a:latin typeface="Meiryo"/>
              <a:ea typeface="Meiryo"/>
              <a:cs typeface="Meiryo"/>
            </a:endParaRPr>
          </a:p>
        </p:txBody>
      </p:sp>
      <p:sp>
        <p:nvSpPr>
          <p:cNvPr id="10" name="Shape 8"/>
          <p:cNvSpPr/>
          <p:nvPr/>
        </p:nvSpPr>
        <p:spPr>
          <a:xfrm>
            <a:off x="1664208" y="3156509"/>
            <a:ext cx="9125712" cy="0"/>
          </a:xfrm>
          <a:prstGeom prst="line">
            <a:avLst/>
          </a:prstGeom>
          <a:noFill/>
          <a:ln w="12700">
            <a:solidFill>
              <a:srgbClr val="CBD7DC"/>
            </a:solidFill>
            <a:prstDash val="solid"/>
          </a:ln>
        </p:spPr>
      </p:sp>
      <p:sp>
        <p:nvSpPr>
          <p:cNvPr id="11" name="Text 9"/>
          <p:cNvSpPr txBox="1"/>
          <p:nvPr/>
        </p:nvSpPr>
        <p:spPr>
          <a:xfrm>
            <a:off x="1097280" y="3037637"/>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3</a:t>
            </a:r>
            <a:endParaRPr lang="ja-JP" sz="1800" dirty="0">
              <a:latin typeface="Meiryo"/>
              <a:ea typeface="Meiryo"/>
              <a:cs typeface="Meiryo"/>
            </a:endParaRPr>
          </a:p>
        </p:txBody>
      </p:sp>
      <p:sp>
        <p:nvSpPr>
          <p:cNvPr id="12" name="Shape 10"/>
          <p:cNvSpPr/>
          <p:nvPr/>
        </p:nvSpPr>
        <p:spPr>
          <a:xfrm>
            <a:off x="1664208" y="2520086"/>
            <a:ext cx="9125712" cy="0"/>
          </a:xfrm>
          <a:prstGeom prst="line">
            <a:avLst/>
          </a:prstGeom>
          <a:noFill/>
          <a:ln w="12700">
            <a:solidFill>
              <a:srgbClr val="CBD7DC"/>
            </a:solidFill>
            <a:prstDash val="solid"/>
          </a:ln>
        </p:spPr>
      </p:sp>
      <p:sp>
        <p:nvSpPr>
          <p:cNvPr id="13" name="Text 11"/>
          <p:cNvSpPr txBox="1"/>
          <p:nvPr/>
        </p:nvSpPr>
        <p:spPr>
          <a:xfrm>
            <a:off x="1097280" y="2401214"/>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4</a:t>
            </a:r>
            <a:endParaRPr lang="ja-JP" sz="1800" dirty="0">
              <a:latin typeface="Meiryo"/>
              <a:ea typeface="Meiryo"/>
              <a:cs typeface="Meiryo"/>
            </a:endParaRPr>
          </a:p>
        </p:txBody>
      </p:sp>
      <p:sp>
        <p:nvSpPr>
          <p:cNvPr id="14" name="Shape 12"/>
          <p:cNvSpPr/>
          <p:nvPr/>
        </p:nvSpPr>
        <p:spPr>
          <a:xfrm>
            <a:off x="1664208" y="1883664"/>
            <a:ext cx="9125712" cy="0"/>
          </a:xfrm>
          <a:prstGeom prst="line">
            <a:avLst/>
          </a:prstGeom>
          <a:noFill/>
          <a:ln w="12700">
            <a:solidFill>
              <a:srgbClr val="CBD7DC"/>
            </a:solidFill>
            <a:prstDash val="solid"/>
          </a:ln>
        </p:spPr>
      </p:sp>
      <p:sp>
        <p:nvSpPr>
          <p:cNvPr id="15" name="Text 13"/>
          <p:cNvSpPr txBox="1"/>
          <p:nvPr/>
        </p:nvSpPr>
        <p:spPr>
          <a:xfrm>
            <a:off x="1097280" y="1764792"/>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5</a:t>
            </a:r>
            <a:endParaRPr lang="ja-JP" sz="1800" dirty="0">
              <a:latin typeface="Meiryo"/>
              <a:ea typeface="Meiryo"/>
              <a:cs typeface="Meiryo"/>
            </a:endParaRPr>
          </a:p>
        </p:txBody>
      </p:sp>
      <p:sp>
        <p:nvSpPr>
          <p:cNvPr id="16" name="Shape 14"/>
          <p:cNvSpPr/>
          <p:nvPr/>
        </p:nvSpPr>
        <p:spPr>
          <a:xfrm>
            <a:off x="2424684" y="2520086"/>
            <a:ext cx="1520952" cy="2545690"/>
          </a:xfrm>
          <a:prstGeom prst="rect">
            <a:avLst/>
          </a:prstGeom>
          <a:solidFill>
            <a:srgbClr val="007F82"/>
          </a:solidFill>
          <a:ln w="12700">
            <a:solidFill>
              <a:srgbClr val="007F82"/>
            </a:solidFill>
            <a:prstDash val="solid"/>
          </a:ln>
        </p:spPr>
      </p:sp>
      <p:sp>
        <p:nvSpPr>
          <p:cNvPr id="17" name="Text 15"/>
          <p:cNvSpPr txBox="1"/>
          <p:nvPr/>
        </p:nvSpPr>
        <p:spPr>
          <a:xfrm>
            <a:off x="2682240" y="2172614"/>
            <a:ext cx="1005840" cy="301752"/>
          </a:xfrm>
          <a:prstGeom prst="rect">
            <a:avLst/>
          </a:prstGeom>
          <a:noFill/>
          <a:ln/>
        </p:spPr>
        <p:txBody>
          <a:bodyPr wrap="square" lIns="0" tIns="0" rIns="0" bIns="0" rtlCol="0" anchor="t"/>
          <a:lstStyle/>
          <a:p>
            <a:pPr algn="ctr" indent="0" marL="0">
              <a:lnSpc>
                <a:spcPct val="106000"/>
              </a:lnSpc>
              <a:buNone/>
            </a:pPr>
            <a:r>
              <a:rPr lang="ja-JP" altLang="en-US" sz="2000" b="1" dirty="0">
                <a:solidFill>
                  <a:srgbClr val="1B2D3B"/>
                </a:solidFill>
                <a:latin typeface="Meiryo" pitchFamily="34" charset="0"/>
                <a:ea typeface="Meiryo" pitchFamily="34" charset="-122"/>
                <a:cs typeface="Meiryo" pitchFamily="34" charset="-120"/>
              </a:rPr>
              <a:t>4.00</a:t>
            </a:r>
            <a:endParaRPr lang="ja-JP" sz="2000" dirty="0">
              <a:latin typeface="Meiryo"/>
              <a:ea typeface="Meiryo"/>
              <a:cs typeface="Meiryo"/>
            </a:endParaRPr>
          </a:p>
        </p:txBody>
      </p:sp>
      <p:sp>
        <p:nvSpPr>
          <p:cNvPr id="18" name="Text 16:A: 27 people"/>
          <p:cNvSpPr txBox="1"/>
          <p:nvPr/>
        </p:nvSpPr>
        <p:spPr>
          <a:xfrm>
            <a:off x="2270760" y="5193792"/>
            <a:ext cx="1828800" cy="347472"/>
          </a:xfrm>
          <a:prstGeom prst="rect">
            <a:avLst/>
          </a:prstGeom>
          <a:noFill/>
          <a:ln/>
        </p:spPr>
        <p:txBody>
          <a:bodyPr wrap="square" lIns="0" tIns="0" rIns="0" bIns="0" rtlCol="0" anchor="t"/>
          <a:lstStyle/>
          <a:p>
            <a:pPr marL="0" indent="0" algn="ctr">
              <a:lnSpc>
                <a:spcPct val="106000"/>
              </a:lnSpc>
              <a:buNone/>
              <a:defRPr sz="2050" b="0">
                <a:solidFill>
                  <a:srgbClr val="4D626D"/>
                </a:solidFill>
                <a:latin typeface="Meiryo"/>
                <a:ea typeface="Meiryo"/>
                <a:cs typeface="Meiryo"/>
              </a:defRPr>
            </a:pPr>
            <a:r>
              <a:rPr sz="2050" b="0">
                <a:solidFill>
                  <a:srgbClr val="4D626D"/>
                </a:solidFill>
                <a:latin typeface="Meiryo"/>
                <a:ea typeface="Meiryo"/>
                <a:cs typeface="Meiryo"/>
              </a:rPr>
              <a:t>A: 27 people</a:t>
            </a:r>
            <a:endParaRPr sz="2200">
              <a:latin typeface="Meiryo"/>
              <a:ea typeface="Meiryo"/>
              <a:cs typeface="Meiryo"/>
            </a:endParaRPr>
          </a:p>
        </p:txBody>
      </p:sp>
      <p:sp>
        <p:nvSpPr>
          <p:cNvPr id="19" name="Shape 17"/>
          <p:cNvSpPr/>
          <p:nvPr/>
        </p:nvSpPr>
        <p:spPr>
          <a:xfrm>
            <a:off x="5466588" y="2997403"/>
            <a:ext cx="1520952" cy="2068373"/>
          </a:xfrm>
          <a:prstGeom prst="rect">
            <a:avLst/>
          </a:prstGeom>
          <a:solidFill>
            <a:srgbClr val="007F82"/>
          </a:solidFill>
          <a:ln w="12700">
            <a:solidFill>
              <a:srgbClr val="007F82"/>
            </a:solidFill>
            <a:prstDash val="solid"/>
          </a:ln>
        </p:spPr>
      </p:sp>
      <p:sp>
        <p:nvSpPr>
          <p:cNvPr id="20" name="Text 18"/>
          <p:cNvSpPr txBox="1"/>
          <p:nvPr/>
        </p:nvSpPr>
        <p:spPr>
          <a:xfrm>
            <a:off x="5724144" y="2649931"/>
            <a:ext cx="1005840" cy="301752"/>
          </a:xfrm>
          <a:prstGeom prst="rect">
            <a:avLst/>
          </a:prstGeom>
          <a:noFill/>
          <a:ln/>
        </p:spPr>
        <p:txBody>
          <a:bodyPr wrap="square" lIns="0" tIns="0" rIns="0" bIns="0" rtlCol="0" anchor="t"/>
          <a:lstStyle/>
          <a:p>
            <a:pPr algn="ctr" indent="0" marL="0">
              <a:lnSpc>
                <a:spcPct val="106000"/>
              </a:lnSpc>
              <a:buNone/>
            </a:pPr>
            <a:r>
              <a:rPr lang="ja-JP" altLang="en-US" sz="2000" b="1" dirty="0">
                <a:solidFill>
                  <a:srgbClr val="1B2D3B"/>
                </a:solidFill>
                <a:latin typeface="Meiryo" pitchFamily="34" charset="0"/>
                <a:ea typeface="Meiryo" pitchFamily="34" charset="-122"/>
                <a:cs typeface="Meiryo" pitchFamily="34" charset="-120"/>
              </a:rPr>
              <a:t>3.25</a:t>
            </a:r>
            <a:endParaRPr lang="ja-JP" sz="2000" dirty="0">
              <a:latin typeface="Meiryo"/>
              <a:ea typeface="Meiryo"/>
              <a:cs typeface="Meiryo"/>
            </a:endParaRPr>
          </a:p>
        </p:txBody>
      </p:sp>
      <p:sp>
        <p:nvSpPr>
          <p:cNvPr id="21" name="Text 19:B: 12 people"/>
          <p:cNvSpPr txBox="1"/>
          <p:nvPr/>
        </p:nvSpPr>
        <p:spPr>
          <a:xfrm>
            <a:off x="5312664" y="5193792"/>
            <a:ext cx="1828800" cy="347472"/>
          </a:xfrm>
          <a:prstGeom prst="rect">
            <a:avLst/>
          </a:prstGeom>
          <a:noFill/>
          <a:ln/>
        </p:spPr>
        <p:txBody>
          <a:bodyPr wrap="square" lIns="0" tIns="0" rIns="0" bIns="0" rtlCol="0" anchor="t"/>
          <a:lstStyle/>
          <a:p>
            <a:pPr marL="0" indent="0" algn="ctr">
              <a:lnSpc>
                <a:spcPct val="106000"/>
              </a:lnSpc>
              <a:buNone/>
              <a:defRPr sz="2050" b="0">
                <a:solidFill>
                  <a:srgbClr val="4D626D"/>
                </a:solidFill>
                <a:latin typeface="Meiryo"/>
                <a:ea typeface="Meiryo"/>
                <a:cs typeface="Meiryo"/>
              </a:defRPr>
            </a:pPr>
            <a:r>
              <a:rPr sz="2050" b="0">
                <a:solidFill>
                  <a:srgbClr val="4D626D"/>
                </a:solidFill>
                <a:latin typeface="Meiryo"/>
                <a:ea typeface="Meiryo"/>
                <a:cs typeface="Meiryo"/>
              </a:rPr>
              <a:t>B: 12 people</a:t>
            </a:r>
            <a:endParaRPr sz="2200">
              <a:latin typeface="Meiryo"/>
              <a:ea typeface="Meiryo"/>
              <a:cs typeface="Meiryo"/>
            </a:endParaRPr>
          </a:p>
        </p:txBody>
      </p:sp>
      <p:sp>
        <p:nvSpPr>
          <p:cNvPr id="22" name="Shape 20"/>
          <p:cNvSpPr/>
          <p:nvPr/>
        </p:nvSpPr>
        <p:spPr>
          <a:xfrm>
            <a:off x="8508492" y="2611004"/>
            <a:ext cx="1520952" cy="2454772"/>
          </a:xfrm>
          <a:prstGeom prst="rect">
            <a:avLst/>
          </a:prstGeom>
          <a:solidFill>
            <a:srgbClr val="007F82"/>
          </a:solidFill>
          <a:ln w="12700">
            <a:solidFill>
              <a:srgbClr val="007F82"/>
            </a:solidFill>
            <a:prstDash val="solid"/>
          </a:ln>
        </p:spPr>
      </p:sp>
      <p:sp>
        <p:nvSpPr>
          <p:cNvPr id="23" name="Text 21"/>
          <p:cNvSpPr txBox="1"/>
          <p:nvPr/>
        </p:nvSpPr>
        <p:spPr>
          <a:xfrm>
            <a:off x="8766048" y="2263532"/>
            <a:ext cx="1005840" cy="301752"/>
          </a:xfrm>
          <a:prstGeom prst="rect">
            <a:avLst/>
          </a:prstGeom>
          <a:noFill/>
          <a:ln/>
        </p:spPr>
        <p:txBody>
          <a:bodyPr wrap="square" lIns="0" tIns="0" rIns="0" bIns="0" rtlCol="0" anchor="t"/>
          <a:lstStyle/>
          <a:p>
            <a:pPr algn="ctr" indent="0" marL="0">
              <a:lnSpc>
                <a:spcPct val="106000"/>
              </a:lnSpc>
              <a:buNone/>
            </a:pPr>
            <a:r>
              <a:rPr lang="ja-JP" altLang="en-US" sz="2000" b="1" dirty="0">
                <a:solidFill>
                  <a:srgbClr val="1B2D3B"/>
                </a:solidFill>
                <a:latin typeface="Meiryo" pitchFamily="34" charset="0"/>
                <a:ea typeface="Meiryo" pitchFamily="34" charset="-122"/>
                <a:cs typeface="Meiryo" pitchFamily="34" charset="-120"/>
              </a:rPr>
              <a:t>3.86</a:t>
            </a:r>
            <a:endParaRPr lang="ja-JP" sz="2000" dirty="0">
              <a:latin typeface="Meiryo"/>
              <a:ea typeface="Meiryo"/>
              <a:cs typeface="Meiryo"/>
            </a:endParaRPr>
          </a:p>
        </p:txBody>
      </p:sp>
      <p:sp>
        <p:nvSpPr>
          <p:cNvPr id="24" name="Text 22:C: 21 people"/>
          <p:cNvSpPr txBox="1"/>
          <p:nvPr/>
        </p:nvSpPr>
        <p:spPr>
          <a:xfrm>
            <a:off x="8354568" y="5193792"/>
            <a:ext cx="1828800" cy="347472"/>
          </a:xfrm>
          <a:prstGeom prst="rect">
            <a:avLst/>
          </a:prstGeom>
          <a:noFill/>
          <a:ln/>
        </p:spPr>
        <p:txBody>
          <a:bodyPr wrap="square" lIns="0" tIns="0" rIns="0" bIns="0" rtlCol="0" anchor="t"/>
          <a:lstStyle/>
          <a:p>
            <a:pPr marL="0" indent="0" algn="ctr">
              <a:lnSpc>
                <a:spcPct val="106000"/>
              </a:lnSpc>
              <a:buNone/>
              <a:defRPr sz="2050" b="0">
                <a:solidFill>
                  <a:srgbClr val="4D626D"/>
                </a:solidFill>
                <a:latin typeface="Meiryo"/>
                <a:ea typeface="Meiryo"/>
                <a:cs typeface="Meiryo"/>
              </a:defRPr>
            </a:pPr>
            <a:r>
              <a:rPr sz="2050" b="0">
                <a:solidFill>
                  <a:srgbClr val="4D626D"/>
                </a:solidFill>
                <a:latin typeface="Meiryo"/>
                <a:ea typeface="Meiryo"/>
                <a:cs typeface="Meiryo"/>
              </a:rPr>
              <a:t>C: 21 people</a:t>
            </a:r>
            <a:endParaRPr sz="2200">
              <a:latin typeface="Meiryo"/>
              <a:ea typeface="Meiryo"/>
              <a:cs typeface="Meiryo"/>
            </a:endParaRPr>
          </a:p>
        </p:txBody>
      </p:sp>
      <p:sp>
        <p:nvSpPr>
          <p:cNvPr id="25" name="Text 23:Fictional teaching data. Mean self-ratings after use, by group."/>
          <p:cNvSpPr txBox="1"/>
          <p:nvPr/>
        </p:nvSpPr>
        <p:spPr>
          <a:xfrm>
            <a:off x="667512" y="5779008"/>
            <a:ext cx="10844784" cy="548640"/>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Fictional teaching data. Mean self-ratings after use, by group.</a:t>
            </a:r>
            <a:endParaRPr sz="1800">
              <a:latin typeface="Meiryo"/>
              <a:ea typeface="Meiryo"/>
              <a:cs typeface="Meiryo"/>
            </a:endParaRPr>
          </a:p>
        </p:txBody>
      </p:sp>
      <p:sp>
        <p:nvSpPr>
          <p:cNvPr id="26" name="Text 24:AI and Data Literacy    Workshop"/>
          <p:cNvSpPr txBox="1"/>
          <p:nvPr/>
        </p:nvSpPr>
        <p:spPr>
          <a:xfrm>
            <a:off x="667512" y="6428232"/>
            <a:ext cx="3840480" cy="310896"/>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AI and Data Literacy    Workshop</a:t>
            </a:r>
            <a:endParaRPr sz="1800">
              <a:latin typeface="Meiryo"/>
              <a:ea typeface="Meiryo"/>
              <a:cs typeface="Meiryo"/>
            </a:endParaRPr>
          </a:p>
        </p:txBody>
      </p:sp>
      <p:sp>
        <p:nvSpPr>
          <p:cNvPr id="27" name="Text 25:Week 11  12 / 17"/>
          <p:cNvSpPr txBox="1"/>
          <p:nvPr/>
        </p:nvSpPr>
        <p:spPr>
          <a:xfrm>
            <a:off x="8412480" y="6428232"/>
            <a:ext cx="3108960" cy="310896"/>
          </a:xfrm>
          <a:prstGeom prst="rect">
            <a:avLst/>
          </a:prstGeom>
          <a:noFill/>
          <a:ln/>
        </p:spPr>
        <p:txBody>
          <a:bodyPr wrap="square" lIns="0" tIns="0" rIns="0" bIns="0" rtlCol="0" anchor="t"/>
          <a:lstStyle/>
          <a:p>
            <a:pPr marL="0" indent="0" algn="r">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Week 11  12 / 17</a:t>
            </a:r>
            <a:endParaRPr sz="1800">
              <a:latin typeface="Meiryo"/>
              <a:ea typeface="Meiryo"/>
              <a:cs typeface="Meiryo"/>
            </a:endParaRPr>
          </a:p>
        </p:txBody>
      </p:sp>
    </p:spTree>
  </p:cSld>
  <p:clrMapOvr>
    <a:masterClrMapping/>
  </p:clrMapOvr>
</p:sld>
</file>

<file path=ppt/slides/slide13.xml><?xml version="1.0" encoding="utf-8"?>
<p:sld xmlns:a="http://schemas.openxmlformats.org/drawingml/2006/main"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Observed differences and their causes"/>
          <p:cNvSpPr txBox="1"/>
          <p:nvPr/>
        </p:nvSpPr>
        <p:spPr>
          <a:xfrm>
            <a:off x="621792" y="493776"/>
            <a:ext cx="10936224" cy="685800"/>
          </a:xfrm>
          <a:prstGeom prst="rect">
            <a:avLst/>
          </a:prstGeom>
          <a:noFill/>
          <a:ln/>
        </p:spPr>
        <p:txBody>
          <a:bodyPr wrap="square" lIns="0" tIns="0" rIns="0" bIns="0" rtlCol="0" anchor="t"/>
          <a:lstStyle/>
          <a:p>
            <a:pPr marL="0" indent="0">
              <a:lnSpc>
                <a:spcPct val="106000"/>
              </a:lnSpc>
              <a:buNone/>
              <a:defRPr sz="3400" b="1">
                <a:solidFill>
                  <a:srgbClr val="1B2D3B"/>
                </a:solidFill>
                <a:latin typeface="Meiryo"/>
                <a:ea typeface="Meiryo"/>
                <a:cs typeface="Meiryo"/>
              </a:defRPr>
            </a:pPr>
            <a:r>
              <a:rPr sz="3400" b="1">
                <a:solidFill>
                  <a:srgbClr val="1B2D3B"/>
                </a:solidFill>
                <a:latin typeface="Meiryo"/>
                <a:ea typeface="Meiryo"/>
                <a:cs typeface="Meiryo"/>
              </a:rPr>
              <a:t>Observed differences and their causes</a:t>
            </a:r>
            <a:endParaRPr sz="340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54480"/>
            <a:ext cx="5358384" cy="3986784"/>
          </a:xfrm>
          <a:prstGeom prst="rect">
            <a:avLst/>
          </a:prstGeom>
          <a:solidFill>
            <a:srgbClr val="EAF4F3"/>
          </a:solidFill>
          <a:ln w="12700">
            <a:solidFill>
              <a:srgbClr val="EAF4F3"/>
            </a:solidFill>
            <a:prstDash val="solid"/>
          </a:ln>
        </p:spPr>
      </p:sp>
      <p:sp>
        <p:nvSpPr>
          <p:cNvPr id="5" name="Text 3:What the table shows"/>
          <p:cNvSpPr txBox="1"/>
          <p:nvPr/>
        </p:nvSpPr>
        <p:spPr>
          <a:xfrm>
            <a:off x="905256" y="1847088"/>
            <a:ext cx="4828032" cy="731520"/>
          </a:xfrm>
          <a:prstGeom prst="rect">
            <a:avLst/>
          </a:prstGeom>
          <a:noFill/>
          <a:ln/>
        </p:spPr>
        <p:txBody>
          <a:bodyPr wrap="square" lIns="0" tIns="0" rIns="0" bIns="0" rtlCol="0" anchor="t"/>
          <a:lstStyle/>
          <a:p>
            <a:pPr marL="0" indent="0">
              <a:lnSpc>
                <a:spcPct val="106000"/>
              </a:lnSpc>
              <a:buNone/>
              <a:defRPr sz="2600" b="1">
                <a:solidFill>
                  <a:srgbClr val="007F82"/>
                </a:solidFill>
                <a:latin typeface="Meiryo"/>
                <a:ea typeface="Meiryo"/>
                <a:cs typeface="Meiryo"/>
              </a:defRPr>
            </a:pPr>
            <a:r>
              <a:rPr sz="2600" b="1">
                <a:solidFill>
                  <a:srgbClr val="007F82"/>
                </a:solidFill>
                <a:latin typeface="Meiryo"/>
                <a:ea typeface="Meiryo"/>
                <a:cs typeface="Meiryo"/>
              </a:rPr>
              <a:t>What the table shows</a:t>
            </a:r>
            <a:endParaRPr sz="2600">
              <a:latin typeface="Meiryo"/>
              <a:ea typeface="Meiryo"/>
              <a:cs typeface="Meiryo"/>
            </a:endParaRPr>
          </a:p>
        </p:txBody>
      </p:sp>
      <p:sp>
        <p:nvSpPr>
          <p:cNvPr id="6" name="Text 4:In the supplied data,&#10;A's mean of 4.00 is higher&#10;than B's mean of 3.25."/>
          <p:cNvSpPr txBox="1"/>
          <p:nvPr/>
        </p:nvSpPr>
        <p:spPr>
          <a:xfrm>
            <a:off x="905256" y="2944368"/>
            <a:ext cx="4828032" cy="2468880"/>
          </a:xfrm>
          <a:prstGeom prst="rect">
            <a:avLst/>
          </a:prstGeom>
          <a:noFill/>
          <a:ln/>
        </p:spPr>
        <p:txBody>
          <a:bodyPr wrap="square" lIns="0" tIns="0" rIns="0" bIns="0" rtlCol="0" anchor="t"/>
          <a:lstStyle/>
          <a:p>
            <a:pPr marL="0" indent="0">
              <a:lnSpc>
                <a:spcPct val="106000"/>
              </a:lnSpc>
              <a:buNone/>
              <a:defRPr sz="2400" b="0">
                <a:solidFill>
                  <a:srgbClr val="1B2D3B"/>
                </a:solidFill>
                <a:latin typeface="Meiryo"/>
                <a:ea typeface="Meiryo"/>
                <a:cs typeface="Meiryo"/>
              </a:defRPr>
            </a:pPr>
            <a:r>
              <a:rPr sz="2400" b="0">
                <a:solidFill>
                  <a:srgbClr val="1B2D3B"/>
                </a:solidFill>
                <a:latin typeface="Meiryo"/>
                <a:ea typeface="Meiryo"/>
                <a:cs typeface="Meiryo"/>
              </a:rPr>
              <a:t>In the supplied data,</a:t>
            </a:r>
            <a:endParaRPr sz="2400">
              <a:latin typeface="Meiryo"/>
              <a:ea typeface="Meiryo"/>
              <a:cs typeface="Meiryo"/>
            </a:endParaRPr>
          </a:p>
          <a:p>
            <a:pPr marL="0" indent="0">
              <a:lnSpc>
                <a:spcPct val="106000"/>
              </a:lnSpc>
              <a:buNone/>
              <a:defRPr sz="2400" b="0">
                <a:solidFill>
                  <a:srgbClr val="1B2D3B"/>
                </a:solidFill>
                <a:latin typeface="Meiryo"/>
                <a:ea typeface="Meiryo"/>
                <a:cs typeface="Meiryo"/>
              </a:defRPr>
            </a:pPr>
            <a:r>
              <a:rPr sz="2400" b="0">
                <a:solidFill>
                  <a:srgbClr val="1B2D3B"/>
                </a:solidFill>
                <a:latin typeface="Meiryo"/>
                <a:ea typeface="Meiryo"/>
                <a:cs typeface="Meiryo"/>
              </a:rPr>
              <a:t>A's mean of 4.00 is higher</a:t>
            </a:r>
            <a:endParaRPr sz="2400">
              <a:latin typeface="Meiryo"/>
              <a:ea typeface="Meiryo"/>
              <a:cs typeface="Meiryo"/>
            </a:endParaRPr>
          </a:p>
          <a:p>
            <a:pPr marL="0" indent="0">
              <a:lnSpc>
                <a:spcPct val="106000"/>
              </a:lnSpc>
              <a:buNone/>
              <a:defRPr sz="2400" b="0">
                <a:solidFill>
                  <a:srgbClr val="1B2D3B"/>
                </a:solidFill>
                <a:latin typeface="Meiryo"/>
                <a:ea typeface="Meiryo"/>
                <a:cs typeface="Meiryo"/>
              </a:defRPr>
            </a:pPr>
            <a:r>
              <a:rPr sz="2400" b="0">
                <a:solidFill>
                  <a:srgbClr val="1B2D3B"/>
                </a:solidFill>
                <a:latin typeface="Meiryo"/>
                <a:ea typeface="Meiryo"/>
                <a:cs typeface="Meiryo"/>
              </a:rPr>
              <a:t>than B's mean of 3.25.</a:t>
            </a:r>
            <a:endParaRPr sz="2400">
              <a:latin typeface="Meiryo"/>
              <a:ea typeface="Meiryo"/>
              <a:cs typeface="Meiryo"/>
            </a:endParaRPr>
          </a:p>
        </p:txBody>
      </p:sp>
      <p:sp>
        <p:nvSpPr>
          <p:cNvPr id="7" name="Shape 5"/>
          <p:cNvSpPr/>
          <p:nvPr/>
        </p:nvSpPr>
        <p:spPr>
          <a:xfrm>
            <a:off x="6190488" y="1554480"/>
            <a:ext cx="5358384" cy="3986784"/>
          </a:xfrm>
          <a:prstGeom prst="rect">
            <a:avLst/>
          </a:prstGeom>
          <a:solidFill>
            <a:srgbClr val="FFF4E5"/>
          </a:solidFill>
          <a:ln w="12700">
            <a:solidFill>
              <a:srgbClr val="FFF4E5"/>
            </a:solidFill>
            <a:prstDash val="solid"/>
          </a:ln>
        </p:spPr>
      </p:sp>
      <p:sp>
        <p:nvSpPr>
          <p:cNvPr id="8" name="Text 6:What this table cannot establish"/>
          <p:cNvSpPr txBox="1"/>
          <p:nvPr/>
        </p:nvSpPr>
        <p:spPr>
          <a:xfrm>
            <a:off x="6455664" y="1847088"/>
            <a:ext cx="4828032" cy="731520"/>
          </a:xfrm>
          <a:prstGeom prst="rect">
            <a:avLst/>
          </a:prstGeom>
          <a:noFill/>
          <a:ln/>
        </p:spPr>
        <p:txBody>
          <a:bodyPr wrap="square" lIns="0" tIns="0" rIns="0" bIns="0" rtlCol="0" anchor="t"/>
          <a:lstStyle/>
          <a:p>
            <a:pPr marL="0" indent="0">
              <a:lnSpc>
                <a:spcPct val="106000"/>
              </a:lnSpc>
              <a:buNone/>
              <a:defRPr sz="2338" b="1">
                <a:solidFill>
                  <a:srgbClr val="B05D12"/>
                </a:solidFill>
                <a:latin typeface="Meiryo"/>
                <a:ea typeface="Meiryo"/>
                <a:cs typeface="Meiryo"/>
              </a:defRPr>
            </a:pPr>
            <a:r>
              <a:rPr sz="2338" b="1">
                <a:solidFill>
                  <a:srgbClr val="B05D12"/>
                </a:solidFill>
                <a:latin typeface="Meiryo"/>
                <a:ea typeface="Meiryo"/>
                <a:cs typeface="Meiryo"/>
              </a:rPr>
              <a:t>What this table cannot establish</a:t>
            </a:r>
            <a:endParaRPr sz="2600">
              <a:latin typeface="Meiryo"/>
              <a:ea typeface="Meiryo"/>
              <a:cs typeface="Meiryo"/>
            </a:endParaRPr>
          </a:p>
        </p:txBody>
      </p:sp>
      <p:sp>
        <p:nvSpPr>
          <p:cNvPr id="9" name="Text 7:AI improved A's&#10;academic ability.&#10;It works for every student."/>
          <p:cNvSpPr txBox="1"/>
          <p:nvPr/>
        </p:nvSpPr>
        <p:spPr>
          <a:xfrm>
            <a:off x="6455664" y="2944368"/>
            <a:ext cx="4828032" cy="2468880"/>
          </a:xfrm>
          <a:prstGeom prst="rect">
            <a:avLst/>
          </a:prstGeom>
          <a:noFill/>
          <a:ln/>
        </p:spPr>
        <p:txBody>
          <a:bodyPr wrap="square" lIns="0" tIns="0" rIns="0" bIns="0" rtlCol="0" anchor="t"/>
          <a:lstStyle/>
          <a:p>
            <a:pPr marL="0" indent="0">
              <a:lnSpc>
                <a:spcPct val="106000"/>
              </a:lnSpc>
              <a:buNone/>
              <a:defRPr sz="2400" b="0">
                <a:solidFill>
                  <a:srgbClr val="1B2D3B"/>
                </a:solidFill>
                <a:latin typeface="Meiryo"/>
                <a:ea typeface="Meiryo"/>
                <a:cs typeface="Meiryo"/>
              </a:defRPr>
            </a:pPr>
            <a:r>
              <a:rPr sz="2400" b="0">
                <a:solidFill>
                  <a:srgbClr val="1B2D3B"/>
                </a:solidFill>
                <a:latin typeface="Meiryo"/>
                <a:ea typeface="Meiryo"/>
                <a:cs typeface="Meiryo"/>
              </a:rPr>
              <a:t>AI improved A's</a:t>
            </a:r>
            <a:endParaRPr sz="2400">
              <a:latin typeface="Meiryo"/>
              <a:ea typeface="Meiryo"/>
              <a:cs typeface="Meiryo"/>
            </a:endParaRPr>
          </a:p>
          <a:p>
            <a:pPr marL="0" indent="0">
              <a:lnSpc>
                <a:spcPct val="106000"/>
              </a:lnSpc>
              <a:buNone/>
              <a:defRPr sz="2400" b="0">
                <a:solidFill>
                  <a:srgbClr val="1B2D3B"/>
                </a:solidFill>
                <a:latin typeface="Meiryo"/>
                <a:ea typeface="Meiryo"/>
                <a:cs typeface="Meiryo"/>
              </a:defRPr>
            </a:pPr>
            <a:r>
              <a:rPr sz="2400" b="0">
                <a:solidFill>
                  <a:srgbClr val="1B2D3B"/>
                </a:solidFill>
                <a:latin typeface="Meiryo"/>
                <a:ea typeface="Meiryo"/>
                <a:cs typeface="Meiryo"/>
              </a:rPr>
              <a:t>academic ability.</a:t>
            </a:r>
            <a:endParaRPr sz="2400">
              <a:latin typeface="Meiryo"/>
              <a:ea typeface="Meiryo"/>
              <a:cs typeface="Meiryo"/>
            </a:endParaRPr>
          </a:p>
          <a:p>
            <a:pPr marL="0" indent="0">
              <a:lnSpc>
                <a:spcPct val="106000"/>
              </a:lnSpc>
              <a:buNone/>
              <a:defRPr sz="2400" b="0">
                <a:solidFill>
                  <a:srgbClr val="1B2D3B"/>
                </a:solidFill>
                <a:latin typeface="Meiryo"/>
                <a:ea typeface="Meiryo"/>
                <a:cs typeface="Meiryo"/>
              </a:defRPr>
            </a:pPr>
            <a:r>
              <a:rPr sz="2400" b="0">
                <a:solidFill>
                  <a:srgbClr val="1B2D3B"/>
                </a:solidFill>
                <a:latin typeface="Meiryo"/>
                <a:ea typeface="Meiryo"/>
                <a:cs typeface="Meiryo"/>
              </a:rPr>
              <a:t>It works for every student.</a:t>
            </a:r>
            <a:endParaRPr sz="2400">
              <a:latin typeface="Meiryo"/>
              <a:ea typeface="Meiryo"/>
              <a:cs typeface="Meiryo"/>
            </a:endParaRPr>
          </a:p>
        </p:txBody>
      </p:sp>
      <p:sp>
        <p:nvSpPr>
          <p:cNvPr id="10" name="Text 8:AI and Data Literacy    Workshop"/>
          <p:cNvSpPr txBox="1"/>
          <p:nvPr/>
        </p:nvSpPr>
        <p:spPr>
          <a:xfrm>
            <a:off x="667512" y="6428232"/>
            <a:ext cx="3840480" cy="310896"/>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AI and Data Literacy    Workshop</a:t>
            </a:r>
            <a:endParaRPr sz="1800">
              <a:latin typeface="Meiryo"/>
              <a:ea typeface="Meiryo"/>
              <a:cs typeface="Meiryo"/>
            </a:endParaRPr>
          </a:p>
        </p:txBody>
      </p:sp>
      <p:sp>
        <p:nvSpPr>
          <p:cNvPr id="11" name="Text 9:Week 11  13 / 17"/>
          <p:cNvSpPr txBox="1"/>
          <p:nvPr/>
        </p:nvSpPr>
        <p:spPr>
          <a:xfrm>
            <a:off x="8412480" y="6428232"/>
            <a:ext cx="3108960" cy="310896"/>
          </a:xfrm>
          <a:prstGeom prst="rect">
            <a:avLst/>
          </a:prstGeom>
          <a:noFill/>
          <a:ln/>
        </p:spPr>
        <p:txBody>
          <a:bodyPr wrap="square" lIns="0" tIns="0" rIns="0" bIns="0" rtlCol="0" anchor="t"/>
          <a:lstStyle/>
          <a:p>
            <a:pPr marL="0" indent="0" algn="r">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Week 11  13 / 17</a:t>
            </a:r>
            <a:endParaRPr sz="1800">
              <a:latin typeface="Meiryo"/>
              <a:ea typeface="Meiryo"/>
              <a:cs typeface="Meiryo"/>
            </a:endParaRPr>
          </a:p>
        </p:txBody>
      </p:sp>
    </p:spTree>
  </p:cSld>
  <p:clrMapOvr>
    <a:masterClrMapping/>
  </p:clrMapOvr>
</p:sld>
</file>

<file path=ppt/slides/slide14.xml><?xml version="1.0" encoding="utf-8"?>
<p:sld xmlns:a="http://schemas.openxmlformats.org/drawingml/2006/main"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5. A short explanation of the result"/>
          <p:cNvSpPr txBox="1"/>
          <p:nvPr/>
        </p:nvSpPr>
        <p:spPr>
          <a:xfrm>
            <a:off x="621792" y="493776"/>
            <a:ext cx="10936224" cy="685800"/>
          </a:xfrm>
          <a:prstGeom prst="rect">
            <a:avLst/>
          </a:prstGeom>
          <a:noFill/>
          <a:ln/>
        </p:spPr>
        <p:txBody>
          <a:bodyPr wrap="square" lIns="0" tIns="0" rIns="0" bIns="0" rtlCol="0" anchor="t"/>
          <a:lstStyle/>
          <a:p>
            <a:pPr marL="0" indent="0">
              <a:lnSpc>
                <a:spcPct val="106000"/>
              </a:lnSpc>
              <a:buNone/>
              <a:defRPr sz="3400" b="1">
                <a:solidFill>
                  <a:srgbClr val="1B2D3B"/>
                </a:solidFill>
                <a:latin typeface="Meiryo"/>
                <a:ea typeface="Meiryo"/>
                <a:cs typeface="Meiryo"/>
              </a:defRPr>
            </a:pPr>
            <a:r>
              <a:rPr sz="3400" b="1">
                <a:solidFill>
                  <a:srgbClr val="1B2D3B"/>
                </a:solidFill>
                <a:latin typeface="Meiryo"/>
                <a:ea typeface="Meiryo"/>
                <a:cs typeface="Meiryo"/>
              </a:rPr>
              <a:t>5. A short explanation of the result</a:t>
            </a:r>
            <a:endParaRPr sz="340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Text 2"/>
          <p:cNvSpPr txBox="1"/>
          <p:nvPr/>
        </p:nvSpPr>
        <p:spPr>
          <a:xfrm>
            <a:off x="704088" y="1572768"/>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01</a:t>
            </a:r>
            <a:endParaRPr lang="ja-JP" sz="3200" dirty="0">
              <a:latin typeface="Meiryo"/>
              <a:ea typeface="Meiryo"/>
              <a:cs typeface="Meiryo"/>
            </a:endParaRPr>
          </a:p>
        </p:txBody>
      </p:sp>
      <p:sp>
        <p:nvSpPr>
          <p:cNvPr id="5" name="Text 3:Describe the kind of data."/>
          <p:cNvSpPr txBox="1"/>
          <p:nvPr/>
        </p:nvSpPr>
        <p:spPr>
          <a:xfrm>
            <a:off x="1737360" y="1508760"/>
            <a:ext cx="9235440" cy="621792"/>
          </a:xfrm>
          <a:prstGeom prst="rect">
            <a:avLst/>
          </a:prstGeom>
          <a:noFill/>
          <a:ln/>
        </p:spPr>
        <p:txBody>
          <a:bodyPr wrap="square" lIns="0" tIns="0" rIns="0" bIns="0" rtlCol="0" anchor="t"/>
          <a:lstStyle/>
          <a:p>
            <a:pPr marL="0" indent="0">
              <a:lnSpc>
                <a:spcPct val="106000"/>
              </a:lnSpc>
              <a:buNone/>
              <a:defRPr sz="2800" b="1">
                <a:solidFill>
                  <a:srgbClr val="1B2D3B"/>
                </a:solidFill>
                <a:latin typeface="Meiryo"/>
                <a:ea typeface="Meiryo"/>
                <a:cs typeface="Meiryo"/>
              </a:defRPr>
            </a:pPr>
            <a:r>
              <a:rPr sz="2800" b="1">
                <a:solidFill>
                  <a:srgbClr val="1B2D3B"/>
                </a:solidFill>
                <a:latin typeface="Meiryo"/>
                <a:ea typeface="Meiryo"/>
                <a:cs typeface="Meiryo"/>
              </a:rPr>
              <a:t>Describe the kind of data.</a:t>
            </a:r>
            <a:endParaRPr sz="2800">
              <a:latin typeface="Meiryo"/>
              <a:ea typeface="Meiryo"/>
              <a:cs typeface="Meiryo"/>
            </a:endParaRPr>
          </a:p>
        </p:txBody>
      </p:sp>
      <p:sp>
        <p:nvSpPr>
          <p:cNvPr id="6" name="Text 4:State clearly that this is fictional teaching data."/>
          <p:cNvSpPr txBox="1"/>
          <p:nvPr/>
        </p:nvSpPr>
        <p:spPr>
          <a:xfrm>
            <a:off x="1737360" y="2212848"/>
            <a:ext cx="9235440" cy="530352"/>
          </a:xfrm>
          <a:prstGeom prst="rect">
            <a:avLst/>
          </a:prstGeom>
          <a:noFill/>
          <a:ln/>
        </p:spPr>
        <p:txBody>
          <a:bodyPr wrap="square" lIns="0" tIns="0" rIns="0" bIns="0" rtlCol="0" anchor="t"/>
          <a:lstStyle/>
          <a:p>
            <a:pPr marL="0" indent="0">
              <a:lnSpc>
                <a:spcPct val="106000"/>
              </a:lnSpc>
              <a:buNone/>
              <a:defRPr sz="2300" b="0">
                <a:solidFill>
                  <a:srgbClr val="4D626D"/>
                </a:solidFill>
                <a:latin typeface="Meiryo"/>
                <a:ea typeface="Meiryo"/>
                <a:cs typeface="Meiryo"/>
              </a:defRPr>
            </a:pPr>
            <a:r>
              <a:rPr sz="2300" b="0">
                <a:solidFill>
                  <a:srgbClr val="4D626D"/>
                </a:solidFill>
                <a:latin typeface="Meiryo"/>
                <a:ea typeface="Meiryo"/>
                <a:cs typeface="Meiryo"/>
              </a:rPr>
              <a:t>State clearly that this is fictional teaching data.</a:t>
            </a:r>
            <a:endParaRPr sz="2300">
              <a:latin typeface="Meiryo"/>
              <a:ea typeface="Meiryo"/>
              <a:cs typeface="Meiryo"/>
            </a:endParaRPr>
          </a:p>
        </p:txBody>
      </p:sp>
      <p:sp>
        <p:nvSpPr>
          <p:cNvPr id="7" name="Shape 5"/>
          <p:cNvSpPr/>
          <p:nvPr/>
        </p:nvSpPr>
        <p:spPr>
          <a:xfrm>
            <a:off x="1737360" y="2752344"/>
            <a:ext cx="9738360" cy="0"/>
          </a:xfrm>
          <a:prstGeom prst="line">
            <a:avLst/>
          </a:prstGeom>
          <a:noFill/>
          <a:ln w="12700">
            <a:solidFill>
              <a:srgbClr val="CBD7DC"/>
            </a:solidFill>
            <a:prstDash val="solid"/>
          </a:ln>
        </p:spPr>
      </p:sp>
      <p:sp>
        <p:nvSpPr>
          <p:cNvPr id="8" name="Text 6"/>
          <p:cNvSpPr txBox="1"/>
          <p:nvPr/>
        </p:nvSpPr>
        <p:spPr>
          <a:xfrm>
            <a:off x="704088" y="2926080"/>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02</a:t>
            </a:r>
            <a:endParaRPr lang="ja-JP" sz="3200" dirty="0">
              <a:latin typeface="Meiryo"/>
              <a:ea typeface="Meiryo"/>
              <a:cs typeface="Meiryo"/>
            </a:endParaRPr>
          </a:p>
        </p:txBody>
      </p:sp>
      <p:sp>
        <p:nvSpPr>
          <p:cNvPr id="9" name="Text 7:Describe the results you checked."/>
          <p:cNvSpPr txBox="1"/>
          <p:nvPr/>
        </p:nvSpPr>
        <p:spPr>
          <a:xfrm>
            <a:off x="1737360" y="2862072"/>
            <a:ext cx="9235440" cy="621792"/>
          </a:xfrm>
          <a:prstGeom prst="rect">
            <a:avLst/>
          </a:prstGeom>
          <a:noFill/>
          <a:ln/>
        </p:spPr>
        <p:txBody>
          <a:bodyPr wrap="square" lIns="0" tIns="0" rIns="0" bIns="0" rtlCol="0" anchor="t"/>
          <a:lstStyle/>
          <a:p>
            <a:pPr marL="0" indent="0">
              <a:lnSpc>
                <a:spcPct val="106000"/>
              </a:lnSpc>
              <a:buNone/>
              <a:defRPr sz="2800" b="1">
                <a:solidFill>
                  <a:srgbClr val="1B2D3B"/>
                </a:solidFill>
                <a:latin typeface="Meiryo"/>
                <a:ea typeface="Meiryo"/>
                <a:cs typeface="Meiryo"/>
              </a:defRPr>
            </a:pPr>
            <a:r>
              <a:rPr sz="2800" b="1">
                <a:solidFill>
                  <a:srgbClr val="1B2D3B"/>
                </a:solidFill>
                <a:latin typeface="Meiryo"/>
                <a:ea typeface="Meiryo"/>
                <a:cs typeface="Meiryo"/>
              </a:rPr>
              <a:t>Describe the results you checked.</a:t>
            </a:r>
            <a:endParaRPr sz="2800">
              <a:latin typeface="Meiryo"/>
              <a:ea typeface="Meiryo"/>
              <a:cs typeface="Meiryo"/>
            </a:endParaRPr>
          </a:p>
        </p:txBody>
      </p:sp>
      <p:sp>
        <p:nvSpPr>
          <p:cNvPr id="10" name="Text 8:Give the means, counts and calculation you verified."/>
          <p:cNvSpPr txBox="1"/>
          <p:nvPr/>
        </p:nvSpPr>
        <p:spPr>
          <a:xfrm>
            <a:off x="1737360" y="3566160"/>
            <a:ext cx="9235440" cy="530352"/>
          </a:xfrm>
          <a:prstGeom prst="rect">
            <a:avLst/>
          </a:prstGeom>
          <a:noFill/>
          <a:ln/>
        </p:spPr>
        <p:txBody>
          <a:bodyPr wrap="square" lIns="0" tIns="0" rIns="0" bIns="0" rtlCol="0" anchor="t"/>
          <a:lstStyle/>
          <a:p>
            <a:pPr marL="0" indent="0">
              <a:lnSpc>
                <a:spcPct val="106000"/>
              </a:lnSpc>
              <a:buNone/>
              <a:defRPr sz="2300" b="0">
                <a:solidFill>
                  <a:srgbClr val="4D626D"/>
                </a:solidFill>
                <a:latin typeface="Meiryo"/>
                <a:ea typeface="Meiryo"/>
                <a:cs typeface="Meiryo"/>
              </a:defRPr>
            </a:pPr>
            <a:r>
              <a:rPr sz="2300" b="0">
                <a:solidFill>
                  <a:srgbClr val="4D626D"/>
                </a:solidFill>
                <a:latin typeface="Meiryo"/>
                <a:ea typeface="Meiryo"/>
                <a:cs typeface="Meiryo"/>
              </a:rPr>
              <a:t>Give the means, counts and calculation you verified.</a:t>
            </a:r>
            <a:endParaRPr sz="2300">
              <a:latin typeface="Meiryo"/>
              <a:ea typeface="Meiryo"/>
              <a:cs typeface="Meiryo"/>
            </a:endParaRPr>
          </a:p>
        </p:txBody>
      </p:sp>
      <p:sp>
        <p:nvSpPr>
          <p:cNvPr id="11" name="Shape 9"/>
          <p:cNvSpPr/>
          <p:nvPr/>
        </p:nvSpPr>
        <p:spPr>
          <a:xfrm>
            <a:off x="1737360" y="4105656"/>
            <a:ext cx="9738360" cy="0"/>
          </a:xfrm>
          <a:prstGeom prst="line">
            <a:avLst/>
          </a:prstGeom>
          <a:noFill/>
          <a:ln w="12700">
            <a:solidFill>
              <a:srgbClr val="CBD7DC"/>
            </a:solidFill>
            <a:prstDash val="solid"/>
          </a:ln>
        </p:spPr>
      </p:sp>
      <p:sp>
        <p:nvSpPr>
          <p:cNvPr id="12" name="Text 10"/>
          <p:cNvSpPr txBox="1"/>
          <p:nvPr/>
        </p:nvSpPr>
        <p:spPr>
          <a:xfrm>
            <a:off x="704088" y="4279392"/>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03</a:t>
            </a:r>
            <a:endParaRPr lang="ja-JP" sz="3200" dirty="0">
              <a:latin typeface="Meiryo"/>
              <a:ea typeface="Meiryo"/>
              <a:cs typeface="Meiryo"/>
            </a:endParaRPr>
          </a:p>
        </p:txBody>
      </p:sp>
      <p:sp>
        <p:nvSpPr>
          <p:cNvPr id="13" name="Text 11:Describe what remains unknown."/>
          <p:cNvSpPr txBox="1"/>
          <p:nvPr/>
        </p:nvSpPr>
        <p:spPr>
          <a:xfrm>
            <a:off x="1737360" y="4215384"/>
            <a:ext cx="9235440" cy="621792"/>
          </a:xfrm>
          <a:prstGeom prst="rect">
            <a:avLst/>
          </a:prstGeom>
          <a:noFill/>
          <a:ln/>
        </p:spPr>
        <p:txBody>
          <a:bodyPr wrap="square" lIns="0" tIns="0" rIns="0" bIns="0" rtlCol="0" anchor="t"/>
          <a:lstStyle/>
          <a:p>
            <a:pPr marL="0" indent="0">
              <a:lnSpc>
                <a:spcPct val="106000"/>
              </a:lnSpc>
              <a:buNone/>
              <a:defRPr sz="2800" b="1">
                <a:solidFill>
                  <a:srgbClr val="1B2D3B"/>
                </a:solidFill>
                <a:latin typeface="Meiryo"/>
                <a:ea typeface="Meiryo"/>
                <a:cs typeface="Meiryo"/>
              </a:defRPr>
            </a:pPr>
            <a:r>
              <a:rPr sz="2800" b="1">
                <a:solidFill>
                  <a:srgbClr val="1B2D3B"/>
                </a:solidFill>
                <a:latin typeface="Meiryo"/>
                <a:ea typeface="Meiryo"/>
                <a:cs typeface="Meiryo"/>
              </a:rPr>
              <a:t>Describe what remains unknown.</a:t>
            </a:r>
            <a:endParaRPr sz="2800">
              <a:latin typeface="Meiryo"/>
              <a:ea typeface="Meiryo"/>
              <a:cs typeface="Meiryo"/>
            </a:endParaRPr>
          </a:p>
        </p:txBody>
      </p:sp>
      <p:sp>
        <p:nvSpPr>
          <p:cNvPr id="14" name="Text 12:This fictional data cannot test an effect on real students."/>
          <p:cNvSpPr txBox="1"/>
          <p:nvPr/>
        </p:nvSpPr>
        <p:spPr>
          <a:xfrm>
            <a:off x="1737360" y="4919472"/>
            <a:ext cx="9235440" cy="530352"/>
          </a:xfrm>
          <a:prstGeom prst="rect">
            <a:avLst/>
          </a:prstGeom>
          <a:noFill/>
          <a:ln/>
        </p:spPr>
        <p:txBody>
          <a:bodyPr wrap="square" lIns="0" tIns="0" rIns="0" bIns="0" rtlCol="0" anchor="t"/>
          <a:lstStyle/>
          <a:p>
            <a:pPr marL="0" indent="0">
              <a:lnSpc>
                <a:spcPct val="106000"/>
              </a:lnSpc>
              <a:buNone/>
              <a:defRPr sz="2300" b="0">
                <a:solidFill>
                  <a:srgbClr val="4D626D"/>
                </a:solidFill>
                <a:latin typeface="Meiryo"/>
                <a:ea typeface="Meiryo"/>
                <a:cs typeface="Meiryo"/>
              </a:defRPr>
            </a:pPr>
            <a:r>
              <a:rPr sz="2300" b="0">
                <a:solidFill>
                  <a:srgbClr val="4D626D"/>
                </a:solidFill>
                <a:latin typeface="Meiryo"/>
                <a:ea typeface="Meiryo"/>
                <a:cs typeface="Meiryo"/>
              </a:rPr>
              <a:t>This fictional data cannot test an effect on real students.</a:t>
            </a:r>
            <a:endParaRPr sz="2300">
              <a:latin typeface="Meiryo"/>
              <a:ea typeface="Meiryo"/>
              <a:cs typeface="Meiryo"/>
            </a:endParaRPr>
          </a:p>
        </p:txBody>
      </p:sp>
      <p:sp>
        <p:nvSpPr>
          <p:cNvPr id="15" name="Text 13:AI and Data Literacy    Workshop"/>
          <p:cNvSpPr txBox="1"/>
          <p:nvPr/>
        </p:nvSpPr>
        <p:spPr>
          <a:xfrm>
            <a:off x="667512" y="6428232"/>
            <a:ext cx="3840480" cy="310896"/>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AI and Data Literacy    Workshop</a:t>
            </a:r>
            <a:endParaRPr sz="1800">
              <a:latin typeface="Meiryo"/>
              <a:ea typeface="Meiryo"/>
              <a:cs typeface="Meiryo"/>
            </a:endParaRPr>
          </a:p>
        </p:txBody>
      </p:sp>
      <p:sp>
        <p:nvSpPr>
          <p:cNvPr id="16" name="Text 14:Week 11  14 / 17"/>
          <p:cNvSpPr txBox="1"/>
          <p:nvPr/>
        </p:nvSpPr>
        <p:spPr>
          <a:xfrm>
            <a:off x="8412480" y="6428232"/>
            <a:ext cx="3108960" cy="310896"/>
          </a:xfrm>
          <a:prstGeom prst="rect">
            <a:avLst/>
          </a:prstGeom>
          <a:noFill/>
          <a:ln/>
        </p:spPr>
        <p:txBody>
          <a:bodyPr wrap="square" lIns="0" tIns="0" rIns="0" bIns="0" rtlCol="0" anchor="t"/>
          <a:lstStyle/>
          <a:p>
            <a:pPr marL="0" indent="0" algn="r">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Week 11  14 / 17</a:t>
            </a:r>
            <a:endParaRPr sz="1800">
              <a:latin typeface="Meiryo"/>
              <a:ea typeface="Meiryo"/>
              <a:cs typeface="Meiryo"/>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Slide 15">
    <p:bg>
      <p:bgPr>
        <a:solidFill>
          <a:srgbClr val="FFFFFF"/>
        </a:solidFill>
      </p:bgPr>
    </p:bg>
    <p:spTree>
      <p:nvGrpSpPr>
        <p:cNvPr id="1" name=""/>
        <p:cNvGrpSpPr/>
        <p:nvPr/>
      </p:nvGrpSpPr>
      <p:grpSpPr>
        <a:xfrm>
          <a:off x="0" y="0"/>
          <a:ext cx="0" cy="0"/>
          <a:chOff x="0" y="0"/>
          <a:chExt cx="0" cy="0"/>
        </a:xfrm>
      </p:grpSpPr>
      <p:sp>
        <p:nvSpPr>
          <p:cNvPr id="2" name="Text 0:Your work and your checks"/>
          <p:cNvSpPr txBox="1"/>
          <p:nvPr/>
        </p:nvSpPr>
        <p:spPr>
          <a:xfrm>
            <a:off x="621792" y="493776"/>
            <a:ext cx="10936224" cy="685800"/>
          </a:xfrm>
          <a:prstGeom prst="rect">
            <a:avLst/>
          </a:prstGeom>
          <a:noFill/>
          <a:ln/>
        </p:spPr>
        <p:txBody>
          <a:bodyPr wrap="square" lIns="0" tIns="0" rIns="0" bIns="0" rtlCol="0" anchor="t"/>
          <a:lstStyle/>
          <a:p>
            <a:pPr marL="0" indent="0">
              <a:lnSpc>
                <a:spcPct val="106000"/>
              </a:lnSpc>
              <a:buNone/>
              <a:defRPr sz="3400" b="1">
                <a:solidFill>
                  <a:srgbClr val="1B2D3B"/>
                </a:solidFill>
                <a:latin typeface="Meiryo"/>
                <a:ea typeface="Meiryo"/>
                <a:cs typeface="Meiryo"/>
              </a:defRPr>
            </a:pPr>
            <a:r>
              <a:rPr sz="3400" b="1">
                <a:solidFill>
                  <a:srgbClr val="1B2D3B"/>
                </a:solidFill>
                <a:latin typeface="Meiryo"/>
                <a:ea typeface="Meiryo"/>
                <a:cs typeface="Meiryo"/>
              </a:rPr>
              <a:t>Your work and your checks</a:t>
            </a:r>
            <a:endParaRPr sz="340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54480"/>
            <a:ext cx="5257800" cy="4041648"/>
          </a:xfrm>
          <a:prstGeom prst="rect">
            <a:avLst/>
          </a:prstGeom>
          <a:solidFill>
            <a:srgbClr val="F7F8FA"/>
          </a:solidFill>
          <a:ln w="12700">
            <a:solidFill>
              <a:srgbClr val="F7F8FA"/>
            </a:solidFill>
            <a:prstDash val="solid"/>
          </a:ln>
        </p:spPr>
      </p:sp>
      <p:pic>
        <p:nvPicPr>
          <p:cNvPr id="5" name="Image 0" descr="Lucide folder">    </p:cNvPr>
          <p:cNvPicPr>
            <a:picLocks noChangeAspect="1"/>
          </p:cNvPicPr>
          <p:nvPr/>
        </p:nvPicPr>
        <p:blipFill>
          <a:blip r:embed="rId1"/>
          <a:stretch>
            <a:fillRect/>
          </a:stretch>
        </p:blipFill>
        <p:spPr>
          <a:xfrm>
            <a:off x="923544" y="1828800"/>
            <a:ext cx="448056" cy="448056"/>
          </a:xfrm>
          <a:prstGeom prst="rect">
            <a:avLst/>
          </a:prstGeom>
        </p:spPr>
      </p:pic>
      <p:sp>
        <p:nvSpPr>
          <p:cNvPr id="6" name="Text 3"/>
          <p:cNvSpPr txBox="1"/>
          <p:nvPr/>
        </p:nvSpPr>
        <p:spPr>
          <a:xfrm>
            <a:off x="1572768" y="1819656"/>
            <a:ext cx="4023360" cy="548640"/>
          </a:xfrm>
          <a:prstGeom prst="rect">
            <a:avLst/>
          </a:prstGeom>
          <a:noFill/>
          <a:ln/>
        </p:spPr>
        <p:txBody>
          <a:bodyPr wrap="square" lIns="0" tIns="0" rIns="0" bIns="0" rtlCol="0" anchor="t"/>
          <a:lstStyle/>
          <a:p>
            <a:pPr indent="0" marL="0">
              <a:lnSpc>
                <a:spcPct val="106000"/>
              </a:lnSpc>
              <a:buNone/>
            </a:pPr>
            <a:r>
              <a:rPr lang="ja-JP" altLang="en-US" sz="2700" b="1" dirty="0">
                <a:solidFill>
                  <a:srgbClr val="007F82"/>
                </a:solidFill>
                <a:latin typeface="Meiryo" pitchFamily="34" charset="0"/>
                <a:ea typeface="Meiryo" pitchFamily="34" charset="-122"/>
                <a:cs typeface="Meiryo" pitchFamily="34" charset="-120"/>
              </a:rPr>
              <a:t>week11/</a:t>
            </a:r>
            <a:endParaRPr lang="ja-JP" sz="2700" dirty="0">
              <a:latin typeface="Meiryo"/>
              <a:ea typeface="Meiryo"/>
              <a:cs typeface="Meiryo"/>
            </a:endParaRPr>
          </a:p>
        </p:txBody>
      </p:sp>
      <p:sp>
        <p:nvSpPr>
          <p:cNvPr id="7" name="Text 4:README.md:&#10;Results and verification method"/>
          <p:cNvSpPr txBox="1"/>
          <p:nvPr/>
        </p:nvSpPr>
        <p:spPr>
          <a:xfrm>
            <a:off x="950976" y="2660904"/>
            <a:ext cx="4590288" cy="822960"/>
          </a:xfrm>
          <a:prstGeom prst="rect">
            <a:avLst/>
          </a:prstGeom>
          <a:noFill/>
          <a:ln/>
        </p:spPr>
        <p:txBody>
          <a:bodyPr wrap="square" lIns="0" tIns="0" rIns="0" bIns="0" rtlCol="0" anchor="t"/>
          <a:lstStyle/>
          <a:p>
            <a:pPr marL="0" indent="0">
              <a:lnSpc>
                <a:spcPct val="106000"/>
              </a:lnSpc>
              <a:buNone/>
              <a:defRPr sz="2200" b="0">
                <a:solidFill>
                  <a:srgbClr val="1B2D3B"/>
                </a:solidFill>
                <a:latin typeface="Meiryo"/>
                <a:ea typeface="Meiryo"/>
                <a:cs typeface="Meiryo"/>
              </a:defRPr>
            </a:pPr>
            <a:r>
              <a:rPr sz="2200" b="0">
                <a:solidFill>
                  <a:srgbClr val="1B2D3B"/>
                </a:solidFill>
                <a:latin typeface="Meiryo"/>
                <a:ea typeface="Meiryo"/>
                <a:cs typeface="Meiryo"/>
              </a:rPr>
              <a:t>README.md:</a:t>
            </a:r>
            <a:endParaRPr sz="2200">
              <a:latin typeface="Meiryo"/>
              <a:ea typeface="Meiryo"/>
              <a:cs typeface="Meiryo"/>
            </a:endParaRPr>
          </a:p>
          <a:p>
            <a:pPr marL="0" indent="0">
              <a:lnSpc>
                <a:spcPct val="106000"/>
              </a:lnSpc>
              <a:buNone/>
              <a:defRPr sz="2200" b="0">
                <a:solidFill>
                  <a:srgbClr val="1B2D3B"/>
                </a:solidFill>
                <a:latin typeface="Meiryo"/>
                <a:ea typeface="Meiryo"/>
                <a:cs typeface="Meiryo"/>
              </a:defRPr>
            </a:pPr>
            <a:r>
              <a:rPr sz="2200" b="0">
                <a:solidFill>
                  <a:srgbClr val="1B2D3B"/>
                </a:solidFill>
                <a:latin typeface="Meiryo"/>
                <a:ea typeface="Meiryo"/>
                <a:cs typeface="Meiryo"/>
              </a:rPr>
              <a:t>Results and verification method</a:t>
            </a:r>
            <a:endParaRPr sz="2200">
              <a:latin typeface="Meiryo"/>
              <a:ea typeface="Meiryo"/>
              <a:cs typeface="Meiryo"/>
            </a:endParaRPr>
          </a:p>
        </p:txBody>
      </p:sp>
      <p:sp>
        <p:nvSpPr>
          <p:cNvPr id="8" name="Text 5:Summary table and chart, if available"/>
          <p:cNvSpPr txBox="1"/>
          <p:nvPr/>
        </p:nvSpPr>
        <p:spPr>
          <a:xfrm>
            <a:off x="950976" y="3483864"/>
            <a:ext cx="4590288" cy="822960"/>
          </a:xfrm>
          <a:prstGeom prst="rect">
            <a:avLst/>
          </a:prstGeom>
          <a:noFill/>
          <a:ln/>
        </p:spPr>
        <p:txBody>
          <a:bodyPr wrap="square" lIns="0" tIns="0" rIns="0" bIns="0" rtlCol="0" anchor="t"/>
          <a:lstStyle/>
          <a:p>
            <a:pPr marL="0" indent="0">
              <a:lnSpc>
                <a:spcPct val="106000"/>
              </a:lnSpc>
              <a:buNone/>
              <a:defRPr sz="2200" b="0">
                <a:solidFill>
                  <a:srgbClr val="1B2D3B"/>
                </a:solidFill>
                <a:latin typeface="Meiryo"/>
                <a:ea typeface="Meiryo"/>
                <a:cs typeface="Meiryo"/>
              </a:defRPr>
            </a:pPr>
            <a:r>
              <a:rPr sz="2200" b="0">
                <a:solidFill>
                  <a:srgbClr val="1B2D3B"/>
                </a:solidFill>
                <a:latin typeface="Meiryo"/>
                <a:ea typeface="Meiryo"/>
                <a:cs typeface="Meiryo"/>
              </a:rPr>
              <a:t>Summary table and chart, if available</a:t>
            </a:r>
            <a:endParaRPr sz="2200">
              <a:latin typeface="Meiryo"/>
              <a:ea typeface="Meiryo"/>
              <a:cs typeface="Meiryo"/>
            </a:endParaRPr>
          </a:p>
        </p:txBody>
      </p:sp>
      <p:sp>
        <p:nvSpPr>
          <p:cNvPr id="9" name="Text 6:Your README record"/>
          <p:cNvSpPr txBox="1"/>
          <p:nvPr/>
        </p:nvSpPr>
        <p:spPr>
          <a:xfrm>
            <a:off x="6391656" y="1801368"/>
            <a:ext cx="4663440" cy="777240"/>
          </a:xfrm>
          <a:prstGeom prst="rect">
            <a:avLst/>
          </a:prstGeom>
          <a:noFill/>
          <a:ln/>
        </p:spPr>
        <p:txBody>
          <a:bodyPr wrap="square" lIns="0" tIns="0" rIns="0" bIns="0" rtlCol="0" anchor="t"/>
          <a:lstStyle/>
          <a:p>
            <a:pPr marL="0" indent="0">
              <a:lnSpc>
                <a:spcPct val="106000"/>
              </a:lnSpc>
              <a:buNone/>
              <a:defRPr sz="2600" b="1">
                <a:solidFill>
                  <a:srgbClr val="1B2D3B"/>
                </a:solidFill>
                <a:latin typeface="Meiryo"/>
                <a:ea typeface="Meiryo"/>
                <a:cs typeface="Meiryo"/>
              </a:defRPr>
            </a:pPr>
            <a:r>
              <a:rPr sz="2600" b="1">
                <a:solidFill>
                  <a:srgbClr val="1B2D3B"/>
                </a:solidFill>
                <a:latin typeface="Meiryo"/>
                <a:ea typeface="Meiryo"/>
                <a:cs typeface="Meiryo"/>
              </a:rPr>
              <a:t>Your README record</a:t>
            </a:r>
            <a:endParaRPr sz="2600">
              <a:latin typeface="Meiryo"/>
              <a:ea typeface="Meiryo"/>
              <a:cs typeface="Meiryo"/>
            </a:endParaRPr>
          </a:p>
        </p:txBody>
      </p:sp>
      <p:sp>
        <p:nvSpPr>
          <p:cNvPr id="10" name="Text 7:What I delegated to AI&#10;What I checked myself&#10;What I could not verify"/>
          <p:cNvSpPr txBox="1"/>
          <p:nvPr/>
        </p:nvSpPr>
        <p:spPr>
          <a:xfrm>
            <a:off x="6400800" y="2779776"/>
            <a:ext cx="4809744" cy="2432304"/>
          </a:xfrm>
          <a:prstGeom prst="rect">
            <a:avLst/>
          </a:prstGeom>
          <a:noFill/>
          <a:ln/>
        </p:spPr>
        <p:txBody>
          <a:bodyPr wrap="square" lIns="0" tIns="0" rIns="0" bIns="0" rtlCol="0" anchor="t"/>
          <a:lstStyle/>
          <a:p>
            <a:pPr marL="0" indent="0">
              <a:lnSpc>
                <a:spcPct val="106000"/>
              </a:lnSpc>
              <a:buNone/>
              <a:defRPr sz="2400" b="0">
                <a:solidFill>
                  <a:srgbClr val="1B2D3B"/>
                </a:solidFill>
                <a:latin typeface="Meiryo"/>
                <a:ea typeface="Meiryo"/>
                <a:cs typeface="Meiryo"/>
              </a:defRPr>
            </a:pPr>
            <a:r>
              <a:rPr sz="2400" b="0">
                <a:solidFill>
                  <a:srgbClr val="1B2D3B"/>
                </a:solidFill>
                <a:latin typeface="Meiryo"/>
                <a:ea typeface="Meiryo"/>
                <a:cs typeface="Meiryo"/>
              </a:rPr>
              <a:t>What I delegated to AI</a:t>
            </a:r>
            <a:endParaRPr sz="2400">
              <a:latin typeface="Meiryo"/>
              <a:ea typeface="Meiryo"/>
              <a:cs typeface="Meiryo"/>
            </a:endParaRPr>
          </a:p>
          <a:p>
            <a:pPr marL="0" indent="0">
              <a:lnSpc>
                <a:spcPct val="106000"/>
              </a:lnSpc>
              <a:buNone/>
              <a:defRPr sz="2400" b="0">
                <a:solidFill>
                  <a:srgbClr val="1B2D3B"/>
                </a:solidFill>
                <a:latin typeface="Meiryo"/>
                <a:ea typeface="Meiryo"/>
                <a:cs typeface="Meiryo"/>
              </a:defRPr>
            </a:pPr>
            <a:r>
              <a:rPr sz="2400" b="0">
                <a:solidFill>
                  <a:srgbClr val="1B2D3B"/>
                </a:solidFill>
                <a:latin typeface="Meiryo"/>
                <a:ea typeface="Meiryo"/>
                <a:cs typeface="Meiryo"/>
              </a:rPr>
              <a:t>What I checked myself</a:t>
            </a:r>
            <a:endParaRPr sz="2400">
              <a:latin typeface="Meiryo"/>
              <a:ea typeface="Meiryo"/>
              <a:cs typeface="Meiryo"/>
            </a:endParaRPr>
          </a:p>
          <a:p>
            <a:pPr marL="0" indent="0">
              <a:lnSpc>
                <a:spcPct val="106000"/>
              </a:lnSpc>
              <a:buNone/>
              <a:defRPr sz="2400" b="0">
                <a:solidFill>
                  <a:srgbClr val="1B2D3B"/>
                </a:solidFill>
                <a:latin typeface="Meiryo"/>
                <a:ea typeface="Meiryo"/>
                <a:cs typeface="Meiryo"/>
              </a:defRPr>
            </a:pPr>
            <a:r>
              <a:rPr sz="2400" b="0">
                <a:solidFill>
                  <a:srgbClr val="1B2D3B"/>
                </a:solidFill>
                <a:latin typeface="Meiryo"/>
                <a:ea typeface="Meiryo"/>
                <a:cs typeface="Meiryo"/>
              </a:rPr>
              <a:t>What I could not verify</a:t>
            </a:r>
            <a:endParaRPr sz="2400">
              <a:latin typeface="Meiryo"/>
              <a:ea typeface="Meiryo"/>
              <a:cs typeface="Meiryo"/>
            </a:endParaRPr>
          </a:p>
        </p:txBody>
      </p:sp>
      <p:sp>
        <p:nvSpPr>
          <p:cNvPr id="11" name="Text 8:AI and Data Literacy    Workshop"/>
          <p:cNvSpPr txBox="1"/>
          <p:nvPr/>
        </p:nvSpPr>
        <p:spPr>
          <a:xfrm>
            <a:off x="667512" y="6428232"/>
            <a:ext cx="3840480" cy="310896"/>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AI and Data Literacy    Workshop</a:t>
            </a:r>
            <a:endParaRPr sz="1800">
              <a:latin typeface="Meiryo"/>
              <a:ea typeface="Meiryo"/>
              <a:cs typeface="Meiryo"/>
            </a:endParaRPr>
          </a:p>
        </p:txBody>
      </p:sp>
      <p:sp>
        <p:nvSpPr>
          <p:cNvPr id="12" name="Text 9:Week 11  15 / 17"/>
          <p:cNvSpPr txBox="1"/>
          <p:nvPr/>
        </p:nvSpPr>
        <p:spPr>
          <a:xfrm>
            <a:off x="8412480" y="6428232"/>
            <a:ext cx="3108960" cy="310896"/>
          </a:xfrm>
          <a:prstGeom prst="rect">
            <a:avLst/>
          </a:prstGeom>
          <a:noFill/>
          <a:ln/>
        </p:spPr>
        <p:txBody>
          <a:bodyPr wrap="square" lIns="0" tIns="0" rIns="0" bIns="0" rtlCol="0" anchor="t"/>
          <a:lstStyle/>
          <a:p>
            <a:pPr marL="0" indent="0" algn="r">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Week 11  15 / 17</a:t>
            </a:r>
            <a:endParaRPr sz="1800">
              <a:latin typeface="Meiryo"/>
              <a:ea typeface="Meiryo"/>
              <a:cs typeface="Meiryo"/>
            </a:endParaRPr>
          </a:p>
        </p:txBody>
      </p:sp>
    </p:spTree>
  </p:cSld>
  <p:clrMapOvr>
    <a:masterClrMapping/>
  </p:clrMapOvr>
</p:sld>
</file>

<file path=ppt/slides/slide16.xml><?xml version="1.0" encoding="utf-8"?>
<p:sld xmlns:a="http://schemas.openxmlformats.org/drawingml/2006/main"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Submitting the saved version"/>
          <p:cNvSpPr txBox="1"/>
          <p:nvPr/>
        </p:nvSpPr>
        <p:spPr>
          <a:xfrm>
            <a:off x="621792" y="493776"/>
            <a:ext cx="10936224" cy="685800"/>
          </a:xfrm>
          <a:prstGeom prst="rect">
            <a:avLst/>
          </a:prstGeom>
          <a:noFill/>
          <a:ln/>
        </p:spPr>
        <p:txBody>
          <a:bodyPr wrap="square" lIns="0" tIns="0" rIns="0" bIns="0" rtlCol="0" anchor="t"/>
          <a:lstStyle/>
          <a:p>
            <a:pPr marL="0" indent="0">
              <a:lnSpc>
                <a:spcPct val="106000"/>
              </a:lnSpc>
              <a:buNone/>
              <a:defRPr sz="3400" b="1">
                <a:solidFill>
                  <a:srgbClr val="1B2D3B"/>
                </a:solidFill>
                <a:latin typeface="Meiryo"/>
                <a:ea typeface="Meiryo"/>
                <a:cs typeface="Meiryo"/>
              </a:defRPr>
            </a:pPr>
            <a:r>
              <a:rPr sz="3400" b="1">
                <a:solidFill>
                  <a:srgbClr val="1B2D3B"/>
                </a:solidFill>
                <a:latin typeface="Meiryo"/>
                <a:ea typeface="Meiryo"/>
                <a:cs typeface="Meiryo"/>
              </a:rPr>
              <a:t>Submitting the saved version</a:t>
            </a:r>
            <a:endParaRPr sz="340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Text 2"/>
          <p:cNvSpPr txBox="1"/>
          <p:nvPr/>
        </p:nvSpPr>
        <p:spPr>
          <a:xfrm>
            <a:off x="704088" y="1572768"/>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01</a:t>
            </a:r>
            <a:endParaRPr lang="ja-JP" sz="3200" dirty="0">
              <a:latin typeface="Meiryo"/>
              <a:ea typeface="Meiryo"/>
              <a:cs typeface="Meiryo"/>
            </a:endParaRPr>
          </a:p>
        </p:txBody>
      </p:sp>
      <p:sp>
        <p:nvSpPr>
          <p:cNvPr id="5" name="Text 3:Commit your changes on GitHub."/>
          <p:cNvSpPr txBox="1"/>
          <p:nvPr/>
        </p:nvSpPr>
        <p:spPr>
          <a:xfrm>
            <a:off x="1737360" y="1508760"/>
            <a:ext cx="9235440" cy="621792"/>
          </a:xfrm>
          <a:prstGeom prst="rect">
            <a:avLst/>
          </a:prstGeom>
          <a:noFill/>
          <a:ln/>
        </p:spPr>
        <p:txBody>
          <a:bodyPr wrap="square" lIns="0" tIns="0" rIns="0" bIns="0" rtlCol="0" anchor="t"/>
          <a:lstStyle/>
          <a:p>
            <a:pPr marL="0" indent="0">
              <a:lnSpc>
                <a:spcPct val="106000"/>
              </a:lnSpc>
              <a:buNone/>
              <a:defRPr sz="2800" b="1">
                <a:solidFill>
                  <a:srgbClr val="1B2D3B"/>
                </a:solidFill>
                <a:latin typeface="Meiryo"/>
                <a:ea typeface="Meiryo"/>
                <a:cs typeface="Meiryo"/>
              </a:defRPr>
            </a:pPr>
            <a:r>
              <a:rPr sz="2800" b="1">
                <a:solidFill>
                  <a:srgbClr val="1B2D3B"/>
                </a:solidFill>
                <a:latin typeface="Meiryo"/>
                <a:ea typeface="Meiryo"/>
                <a:cs typeface="Meiryo"/>
              </a:rPr>
              <a:t>Commit your changes on GitHub.</a:t>
            </a:r>
            <a:endParaRPr sz="2800">
              <a:latin typeface="Meiryo"/>
              <a:ea typeface="Meiryo"/>
              <a:cs typeface="Meiryo"/>
            </a:endParaRPr>
          </a:p>
        </p:txBody>
      </p:sp>
      <p:sp>
        <p:nvSpPr>
          <p:cNvPr id="6" name="Text 4:Check the updated files and commit them."/>
          <p:cNvSpPr txBox="1"/>
          <p:nvPr/>
        </p:nvSpPr>
        <p:spPr>
          <a:xfrm>
            <a:off x="1737360" y="2212848"/>
            <a:ext cx="9235440" cy="530352"/>
          </a:xfrm>
          <a:prstGeom prst="rect">
            <a:avLst/>
          </a:prstGeom>
          <a:noFill/>
          <a:ln/>
        </p:spPr>
        <p:txBody>
          <a:bodyPr wrap="square" lIns="0" tIns="0" rIns="0" bIns="0" rtlCol="0" anchor="t"/>
          <a:lstStyle/>
          <a:p>
            <a:pPr marL="0" indent="0">
              <a:lnSpc>
                <a:spcPct val="106000"/>
              </a:lnSpc>
              <a:buNone/>
              <a:defRPr sz="2300" b="0">
                <a:solidFill>
                  <a:srgbClr val="4D626D"/>
                </a:solidFill>
                <a:latin typeface="Meiryo"/>
                <a:ea typeface="Meiryo"/>
                <a:cs typeface="Meiryo"/>
              </a:defRPr>
            </a:pPr>
            <a:r>
              <a:rPr sz="2300" b="0">
                <a:solidFill>
                  <a:srgbClr val="4D626D"/>
                </a:solidFill>
                <a:latin typeface="Meiryo"/>
                <a:ea typeface="Meiryo"/>
                <a:cs typeface="Meiryo"/>
              </a:rPr>
              <a:t>Check the updated files and commit them.</a:t>
            </a:r>
            <a:endParaRPr sz="2300">
              <a:latin typeface="Meiryo"/>
              <a:ea typeface="Meiryo"/>
              <a:cs typeface="Meiryo"/>
            </a:endParaRPr>
          </a:p>
        </p:txBody>
      </p:sp>
      <p:sp>
        <p:nvSpPr>
          <p:cNvPr id="7" name="Shape 5"/>
          <p:cNvSpPr/>
          <p:nvPr/>
        </p:nvSpPr>
        <p:spPr>
          <a:xfrm>
            <a:off x="1737360" y="2752344"/>
            <a:ext cx="9738360" cy="0"/>
          </a:xfrm>
          <a:prstGeom prst="line">
            <a:avLst/>
          </a:prstGeom>
          <a:noFill/>
          <a:ln w="12700">
            <a:solidFill>
              <a:srgbClr val="CBD7DC"/>
            </a:solidFill>
            <a:prstDash val="solid"/>
          </a:ln>
        </p:spPr>
      </p:sp>
      <p:sp>
        <p:nvSpPr>
          <p:cNvPr id="8" name="Text 6"/>
          <p:cNvSpPr txBox="1"/>
          <p:nvPr/>
        </p:nvSpPr>
        <p:spPr>
          <a:xfrm>
            <a:off x="704088" y="2926080"/>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02</a:t>
            </a:r>
            <a:endParaRPr lang="ja-JP" sz="3200" dirty="0">
              <a:latin typeface="Meiryo"/>
              <a:ea typeface="Meiryo"/>
              <a:cs typeface="Meiryo"/>
            </a:endParaRPr>
          </a:p>
        </p:txBody>
      </p:sp>
      <p:sp>
        <p:nvSpPr>
          <p:cNvPr id="9" name="Text 7:Open that commit's page."/>
          <p:cNvSpPr txBox="1"/>
          <p:nvPr/>
        </p:nvSpPr>
        <p:spPr>
          <a:xfrm>
            <a:off x="1737360" y="2862072"/>
            <a:ext cx="9235440" cy="621792"/>
          </a:xfrm>
          <a:prstGeom prst="rect">
            <a:avLst/>
          </a:prstGeom>
          <a:noFill/>
          <a:ln/>
        </p:spPr>
        <p:txBody>
          <a:bodyPr wrap="square" lIns="0" tIns="0" rIns="0" bIns="0" rtlCol="0" anchor="t"/>
          <a:lstStyle/>
          <a:p>
            <a:pPr marL="0" indent="0">
              <a:lnSpc>
                <a:spcPct val="106000"/>
              </a:lnSpc>
              <a:buNone/>
              <a:defRPr sz="2800" b="1">
                <a:solidFill>
                  <a:srgbClr val="1B2D3B"/>
                </a:solidFill>
                <a:latin typeface="Meiryo"/>
                <a:ea typeface="Meiryo"/>
                <a:cs typeface="Meiryo"/>
              </a:defRPr>
            </a:pPr>
            <a:r>
              <a:rPr sz="2800" b="1">
                <a:solidFill>
                  <a:srgbClr val="1B2D3B"/>
                </a:solidFill>
                <a:latin typeface="Meiryo"/>
                <a:ea typeface="Meiryo"/>
                <a:cs typeface="Meiryo"/>
              </a:rPr>
              <a:t>Open that commit's page.</a:t>
            </a:r>
            <a:endParaRPr sz="2800">
              <a:latin typeface="Meiryo"/>
              <a:ea typeface="Meiryo"/>
              <a:cs typeface="Meiryo"/>
            </a:endParaRPr>
          </a:p>
        </p:txBody>
      </p:sp>
      <p:sp>
        <p:nvSpPr>
          <p:cNvPr id="10" name="Text 8:Check that the URL contains /commit/."/>
          <p:cNvSpPr txBox="1"/>
          <p:nvPr/>
        </p:nvSpPr>
        <p:spPr>
          <a:xfrm>
            <a:off x="1737360" y="3566160"/>
            <a:ext cx="9235440" cy="530352"/>
          </a:xfrm>
          <a:prstGeom prst="rect">
            <a:avLst/>
          </a:prstGeom>
          <a:noFill/>
          <a:ln/>
        </p:spPr>
        <p:txBody>
          <a:bodyPr wrap="square" lIns="0" tIns="0" rIns="0" bIns="0" rtlCol="0" anchor="t"/>
          <a:lstStyle/>
          <a:p>
            <a:pPr marL="0" indent="0">
              <a:lnSpc>
                <a:spcPct val="106000"/>
              </a:lnSpc>
              <a:buNone/>
              <a:defRPr sz="2300" b="0">
                <a:solidFill>
                  <a:srgbClr val="4D626D"/>
                </a:solidFill>
                <a:latin typeface="Meiryo"/>
                <a:ea typeface="Meiryo"/>
                <a:cs typeface="Meiryo"/>
              </a:defRPr>
            </a:pPr>
            <a:r>
              <a:rPr sz="2300" b="0">
                <a:solidFill>
                  <a:srgbClr val="4D626D"/>
                </a:solidFill>
                <a:latin typeface="Meiryo"/>
                <a:ea typeface="Meiryo"/>
                <a:cs typeface="Meiryo"/>
              </a:rPr>
              <a:t>Check that the URL contains /commit/.</a:t>
            </a:r>
            <a:endParaRPr sz="2300">
              <a:latin typeface="Meiryo"/>
              <a:ea typeface="Meiryo"/>
              <a:cs typeface="Meiryo"/>
            </a:endParaRPr>
          </a:p>
        </p:txBody>
      </p:sp>
      <p:sp>
        <p:nvSpPr>
          <p:cNvPr id="11" name="Shape 9"/>
          <p:cNvSpPr/>
          <p:nvPr/>
        </p:nvSpPr>
        <p:spPr>
          <a:xfrm>
            <a:off x="1737360" y="4105656"/>
            <a:ext cx="9738360" cy="0"/>
          </a:xfrm>
          <a:prstGeom prst="line">
            <a:avLst/>
          </a:prstGeom>
          <a:noFill/>
          <a:ln w="12700">
            <a:solidFill>
              <a:srgbClr val="CBD7DC"/>
            </a:solidFill>
            <a:prstDash val="solid"/>
          </a:ln>
        </p:spPr>
      </p:sp>
      <p:sp>
        <p:nvSpPr>
          <p:cNvPr id="12" name="Text 10"/>
          <p:cNvSpPr txBox="1"/>
          <p:nvPr/>
        </p:nvSpPr>
        <p:spPr>
          <a:xfrm>
            <a:off x="704088" y="4279392"/>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03</a:t>
            </a:r>
            <a:endParaRPr lang="ja-JP" sz="3200" dirty="0">
              <a:latin typeface="Meiryo"/>
              <a:ea typeface="Meiryo"/>
              <a:cs typeface="Meiryo"/>
            </a:endParaRPr>
          </a:p>
        </p:txBody>
      </p:sp>
      <p:sp>
        <p:nvSpPr>
          <p:cNvPr id="13" name="Text 11:Submit the course form."/>
          <p:cNvSpPr txBox="1"/>
          <p:nvPr/>
        </p:nvSpPr>
        <p:spPr>
          <a:xfrm>
            <a:off x="1737360" y="4215384"/>
            <a:ext cx="9235440" cy="621792"/>
          </a:xfrm>
          <a:prstGeom prst="rect">
            <a:avLst/>
          </a:prstGeom>
          <a:noFill/>
          <a:ln/>
        </p:spPr>
        <p:txBody>
          <a:bodyPr wrap="square" lIns="0" tIns="0" rIns="0" bIns="0" rtlCol="0" anchor="t"/>
          <a:lstStyle/>
          <a:p>
            <a:pPr marL="0" indent="0">
              <a:lnSpc>
                <a:spcPct val="106000"/>
              </a:lnSpc>
              <a:buNone/>
              <a:defRPr sz="2800" b="1">
                <a:solidFill>
                  <a:srgbClr val="1B2D3B"/>
                </a:solidFill>
                <a:latin typeface="Meiryo"/>
                <a:ea typeface="Meiryo"/>
                <a:cs typeface="Meiryo"/>
              </a:defRPr>
            </a:pPr>
            <a:r>
              <a:rPr sz="2800" b="1">
                <a:solidFill>
                  <a:srgbClr val="1B2D3B"/>
                </a:solidFill>
                <a:latin typeface="Meiryo"/>
                <a:ea typeface="Meiryo"/>
                <a:cs typeface="Meiryo"/>
              </a:rPr>
              <a:t>Submit the course form.</a:t>
            </a:r>
            <a:endParaRPr sz="2800">
              <a:latin typeface="Meiryo"/>
              <a:ea typeface="Meiryo"/>
              <a:cs typeface="Meiryo"/>
            </a:endParaRPr>
          </a:p>
        </p:txBody>
      </p:sp>
      <p:sp>
        <p:nvSpPr>
          <p:cNvPr id="14" name="Text 12:Use the specified course account and choose Week 11."/>
          <p:cNvSpPr txBox="1"/>
          <p:nvPr/>
        </p:nvSpPr>
        <p:spPr>
          <a:xfrm>
            <a:off x="1737360" y="4919472"/>
            <a:ext cx="9235440" cy="530352"/>
          </a:xfrm>
          <a:prstGeom prst="rect">
            <a:avLst/>
          </a:prstGeom>
          <a:noFill/>
          <a:ln/>
        </p:spPr>
        <p:txBody>
          <a:bodyPr wrap="square" lIns="0" tIns="0" rIns="0" bIns="0" rtlCol="0" anchor="t"/>
          <a:lstStyle/>
          <a:p>
            <a:pPr marL="0" indent="0">
              <a:lnSpc>
                <a:spcPct val="106000"/>
              </a:lnSpc>
              <a:buNone/>
              <a:defRPr sz="2300" b="0">
                <a:solidFill>
                  <a:srgbClr val="4D626D"/>
                </a:solidFill>
                <a:latin typeface="Meiryo"/>
                <a:ea typeface="Meiryo"/>
                <a:cs typeface="Meiryo"/>
              </a:defRPr>
            </a:pPr>
            <a:r>
              <a:rPr sz="2300" b="0">
                <a:solidFill>
                  <a:srgbClr val="4D626D"/>
                </a:solidFill>
                <a:latin typeface="Meiryo"/>
                <a:ea typeface="Meiryo"/>
                <a:cs typeface="Meiryo"/>
              </a:rPr>
              <a:t>Use the specified course account and choose Week 11.</a:t>
            </a:r>
            <a:endParaRPr sz="2300">
              <a:latin typeface="Meiryo"/>
              <a:ea typeface="Meiryo"/>
              <a:cs typeface="Meiryo"/>
            </a:endParaRPr>
          </a:p>
        </p:txBody>
      </p:sp>
      <p:sp>
        <p:nvSpPr>
          <p:cNvPr id="15" name="Text 13:A browser commit saves to GitHub. A separate push is unnecessary."/>
          <p:cNvSpPr txBox="1"/>
          <p:nvPr/>
        </p:nvSpPr>
        <p:spPr>
          <a:xfrm>
            <a:off x="667512" y="5779008"/>
            <a:ext cx="10844784" cy="548640"/>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 browser commit saves to GitHub. A separate push is unnecessary.</a:t>
            </a:r>
            <a:endParaRPr sz="1800">
              <a:latin typeface="Meiryo"/>
              <a:ea typeface="Meiryo"/>
              <a:cs typeface="Meiryo"/>
            </a:endParaRPr>
          </a:p>
        </p:txBody>
      </p:sp>
      <p:sp>
        <p:nvSpPr>
          <p:cNvPr id="16" name="Text 14:AI and Data Literacy    Workshop"/>
          <p:cNvSpPr txBox="1"/>
          <p:nvPr/>
        </p:nvSpPr>
        <p:spPr>
          <a:xfrm>
            <a:off x="667512" y="6428232"/>
            <a:ext cx="3840480" cy="310896"/>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AI and Data Literacy    Workshop</a:t>
            </a:r>
            <a:endParaRPr sz="1800">
              <a:latin typeface="Meiryo"/>
              <a:ea typeface="Meiryo"/>
              <a:cs typeface="Meiryo"/>
            </a:endParaRPr>
          </a:p>
        </p:txBody>
      </p:sp>
      <p:sp>
        <p:nvSpPr>
          <p:cNvPr id="17" name="Text 15:Week 11  16 / 17"/>
          <p:cNvSpPr txBox="1"/>
          <p:nvPr/>
        </p:nvSpPr>
        <p:spPr>
          <a:xfrm>
            <a:off x="8412480" y="6428232"/>
            <a:ext cx="3108960" cy="310896"/>
          </a:xfrm>
          <a:prstGeom prst="rect">
            <a:avLst/>
          </a:prstGeom>
          <a:noFill/>
          <a:ln/>
        </p:spPr>
        <p:txBody>
          <a:bodyPr wrap="square" lIns="0" tIns="0" rIns="0" bIns="0" rtlCol="0" anchor="t"/>
          <a:lstStyle/>
          <a:p>
            <a:pPr marL="0" indent="0" algn="r">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Week 11  16 / 17</a:t>
            </a:r>
            <a:endParaRPr sz="1800">
              <a:latin typeface="Meiryo"/>
              <a:ea typeface="Meiryo"/>
              <a:cs typeface="Meiryo"/>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Slide 17">
    <p:bg>
      <p:bgPr>
        <a:solidFill>
          <a:srgbClr val="FFFFFF"/>
        </a:solidFill>
      </p:bgPr>
    </p:bg>
    <p:spTree>
      <p:nvGrpSpPr>
        <p:cNvPr id="1" name=""/>
        <p:cNvGrpSpPr/>
        <p:nvPr/>
      </p:nvGrpSpPr>
      <p:grpSpPr>
        <a:xfrm>
          <a:off x="0" y="0"/>
          <a:ext cx="0" cy="0"/>
          <a:chOff x="0" y="0"/>
          <a:chExt cx="0" cy="0"/>
        </a:xfrm>
      </p:grpSpPr>
      <p:sp>
        <p:nvSpPr>
          <p:cNvPr id="2" name="Text 0:Before you submit"/>
          <p:cNvSpPr txBox="1"/>
          <p:nvPr/>
        </p:nvSpPr>
        <p:spPr>
          <a:xfrm>
            <a:off x="621792" y="493776"/>
            <a:ext cx="10936224" cy="685800"/>
          </a:xfrm>
          <a:prstGeom prst="rect">
            <a:avLst/>
          </a:prstGeom>
          <a:noFill/>
          <a:ln/>
        </p:spPr>
        <p:txBody>
          <a:bodyPr wrap="square" lIns="0" tIns="0" rIns="0" bIns="0" rtlCol="0" anchor="t"/>
          <a:lstStyle/>
          <a:p>
            <a:pPr marL="0" indent="0">
              <a:lnSpc>
                <a:spcPct val="106000"/>
              </a:lnSpc>
              <a:buNone/>
              <a:defRPr sz="3400" b="1">
                <a:solidFill>
                  <a:srgbClr val="1B2D3B"/>
                </a:solidFill>
                <a:latin typeface="Meiryo"/>
                <a:ea typeface="Meiryo"/>
                <a:cs typeface="Meiryo"/>
              </a:defRPr>
            </a:pPr>
            <a:r>
              <a:rPr sz="3400" b="1">
                <a:solidFill>
                  <a:srgbClr val="1B2D3B"/>
                </a:solidFill>
                <a:latin typeface="Meiryo"/>
                <a:ea typeface="Meiryo"/>
                <a:cs typeface="Meiryo"/>
              </a:rPr>
              <a:t>Before you submit</a:t>
            </a:r>
            <a:endParaRPr sz="340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pic>
        <p:nvPicPr>
          <p:cNvPr id="4" name="Image 0" descr="Lucide circle-check">    </p:cNvPr>
          <p:cNvPicPr>
            <a:picLocks noChangeAspect="1"/>
          </p:cNvPicPr>
          <p:nvPr/>
        </p:nvPicPr>
        <p:blipFill>
          <a:blip r:embed="rId1"/>
          <a:stretch>
            <a:fillRect/>
          </a:stretch>
        </p:blipFill>
        <p:spPr>
          <a:xfrm>
            <a:off x="731520" y="1682496"/>
            <a:ext cx="402336" cy="402336"/>
          </a:xfrm>
          <a:prstGeom prst="rect">
            <a:avLst/>
          </a:prstGeom>
        </p:spPr>
      </p:pic>
      <p:sp>
        <p:nvSpPr>
          <p:cNvPr id="5" name="Text 2:I checked the row count, columns and missing values."/>
          <p:cNvSpPr txBox="1"/>
          <p:nvPr/>
        </p:nvSpPr>
        <p:spPr>
          <a:xfrm>
            <a:off x="1435608" y="1645920"/>
            <a:ext cx="9884664" cy="850392"/>
          </a:xfrm>
          <a:prstGeom prst="rect">
            <a:avLst/>
          </a:prstGeom>
          <a:noFill/>
          <a:ln/>
        </p:spPr>
        <p:txBody>
          <a:bodyPr wrap="square" lIns="0" tIns="0" rIns="0" bIns="0" rtlCol="0" anchor="t"/>
          <a:lstStyle/>
          <a:p>
            <a:pPr marL="0" indent="0">
              <a:lnSpc>
                <a:spcPct val="106000"/>
              </a:lnSpc>
              <a:buNone/>
              <a:defRPr sz="2600" b="0">
                <a:solidFill>
                  <a:srgbClr val="1B2D3B"/>
                </a:solidFill>
                <a:latin typeface="Meiryo"/>
                <a:ea typeface="Meiryo"/>
                <a:cs typeface="Meiryo"/>
              </a:defRPr>
            </a:pPr>
            <a:r>
              <a:rPr sz="2600" b="0">
                <a:solidFill>
                  <a:srgbClr val="1B2D3B"/>
                </a:solidFill>
                <a:latin typeface="Meiryo"/>
                <a:ea typeface="Meiryo"/>
                <a:cs typeface="Meiryo"/>
              </a:rPr>
              <a:t>I checked the row count, columns and missing values.</a:t>
            </a:r>
            <a:endParaRPr sz="2600">
              <a:latin typeface="Meiryo"/>
              <a:ea typeface="Meiryo"/>
              <a:cs typeface="Meiryo"/>
            </a:endParaRPr>
          </a:p>
        </p:txBody>
      </p:sp>
      <p:pic>
        <p:nvPicPr>
          <p:cNvPr id="6" name="Image 1" descr="Lucide circle-check">    </p:cNvPr>
          <p:cNvPicPr>
            <a:picLocks noChangeAspect="1"/>
          </p:cNvPicPr>
          <p:nvPr/>
        </p:nvPicPr>
        <p:blipFill>
          <a:blip r:embed="rId2"/>
          <a:stretch>
            <a:fillRect/>
          </a:stretch>
        </p:blipFill>
        <p:spPr>
          <a:xfrm>
            <a:off x="731520" y="2633472"/>
            <a:ext cx="402336" cy="402336"/>
          </a:xfrm>
          <a:prstGeom prst="rect">
            <a:avLst/>
          </a:prstGeom>
        </p:spPr>
      </p:pic>
      <p:sp>
        <p:nvSpPr>
          <p:cNvPr id="7" name="Text 3:I verified at least one result using another method."/>
          <p:cNvSpPr txBox="1"/>
          <p:nvPr/>
        </p:nvSpPr>
        <p:spPr>
          <a:xfrm>
            <a:off x="1435608" y="2596896"/>
            <a:ext cx="9884664" cy="850392"/>
          </a:xfrm>
          <a:prstGeom prst="rect">
            <a:avLst/>
          </a:prstGeom>
          <a:noFill/>
          <a:ln/>
        </p:spPr>
        <p:txBody>
          <a:bodyPr wrap="square" lIns="0" tIns="0" rIns="0" bIns="0" rtlCol="0" anchor="t"/>
          <a:lstStyle/>
          <a:p>
            <a:pPr marL="0" indent="0">
              <a:lnSpc>
                <a:spcPct val="106000"/>
              </a:lnSpc>
              <a:buNone/>
              <a:defRPr sz="2600" b="0">
                <a:solidFill>
                  <a:srgbClr val="1B2D3B"/>
                </a:solidFill>
                <a:latin typeface="Meiryo"/>
                <a:ea typeface="Meiryo"/>
                <a:cs typeface="Meiryo"/>
              </a:defRPr>
            </a:pPr>
            <a:r>
              <a:rPr sz="2600" b="0">
                <a:solidFill>
                  <a:srgbClr val="1B2D3B"/>
                </a:solidFill>
                <a:latin typeface="Meiryo"/>
                <a:ea typeface="Meiryo"/>
                <a:cs typeface="Meiryo"/>
              </a:rPr>
              <a:t>I verified at least one result using another method.</a:t>
            </a:r>
            <a:endParaRPr sz="2600">
              <a:latin typeface="Meiryo"/>
              <a:ea typeface="Meiryo"/>
              <a:cs typeface="Meiryo"/>
            </a:endParaRPr>
          </a:p>
        </p:txBody>
      </p:sp>
      <p:pic>
        <p:nvPicPr>
          <p:cNvPr id="8" name="Image 2" descr="Lucide circle-check">    </p:cNvPr>
          <p:cNvPicPr>
            <a:picLocks noChangeAspect="1"/>
          </p:cNvPicPr>
          <p:nvPr/>
        </p:nvPicPr>
        <p:blipFill>
          <a:blip r:embed="rId3"/>
          <a:stretch>
            <a:fillRect/>
          </a:stretch>
        </p:blipFill>
        <p:spPr>
          <a:xfrm>
            <a:off x="731520" y="3584448"/>
            <a:ext cx="402336" cy="402336"/>
          </a:xfrm>
          <a:prstGeom prst="rect">
            <a:avLst/>
          </a:prstGeom>
        </p:spPr>
      </p:pic>
      <p:sp>
        <p:nvSpPr>
          <p:cNvPr id="9" name="Text 4:I identified the data as fictional."/>
          <p:cNvSpPr txBox="1"/>
          <p:nvPr/>
        </p:nvSpPr>
        <p:spPr>
          <a:xfrm>
            <a:off x="1435608" y="3547872"/>
            <a:ext cx="9884664" cy="850392"/>
          </a:xfrm>
          <a:prstGeom prst="rect">
            <a:avLst/>
          </a:prstGeom>
          <a:noFill/>
          <a:ln/>
        </p:spPr>
        <p:txBody>
          <a:bodyPr wrap="square" lIns="0" tIns="0" rIns="0" bIns="0" rtlCol="0" anchor="t"/>
          <a:lstStyle/>
          <a:p>
            <a:pPr marL="0" indent="0">
              <a:lnSpc>
                <a:spcPct val="106000"/>
              </a:lnSpc>
              <a:buNone/>
              <a:defRPr sz="2600" b="0">
                <a:solidFill>
                  <a:srgbClr val="1B2D3B"/>
                </a:solidFill>
                <a:latin typeface="Meiryo"/>
                <a:ea typeface="Meiryo"/>
                <a:cs typeface="Meiryo"/>
              </a:defRPr>
            </a:pPr>
            <a:r>
              <a:rPr sz="2600" b="0">
                <a:solidFill>
                  <a:srgbClr val="1B2D3B"/>
                </a:solidFill>
                <a:latin typeface="Meiryo"/>
                <a:ea typeface="Meiryo"/>
                <a:cs typeface="Meiryo"/>
              </a:rPr>
              <a:t>I identified the data as fictional.</a:t>
            </a:r>
            <a:endParaRPr sz="2600">
              <a:latin typeface="Meiryo"/>
              <a:ea typeface="Meiryo"/>
              <a:cs typeface="Meiryo"/>
            </a:endParaRPr>
          </a:p>
        </p:txBody>
      </p:sp>
      <p:pic>
        <p:nvPicPr>
          <p:cNvPr id="10" name="Image 3" descr="Lucide circle-check">    </p:cNvPr>
          <p:cNvPicPr>
            <a:picLocks noChangeAspect="1"/>
          </p:cNvPicPr>
          <p:nvPr/>
        </p:nvPicPr>
        <p:blipFill>
          <a:blip r:embed="rId4"/>
          <a:stretch>
            <a:fillRect/>
          </a:stretch>
        </p:blipFill>
        <p:spPr>
          <a:xfrm>
            <a:off x="731520" y="4535424"/>
            <a:ext cx="402336" cy="402336"/>
          </a:xfrm>
          <a:prstGeom prst="rect">
            <a:avLst/>
          </a:prstGeom>
        </p:spPr>
      </p:pic>
      <p:sp>
        <p:nvSpPr>
          <p:cNvPr id="11" name="Text 5:I submitted the commit URL containing my work."/>
          <p:cNvSpPr txBox="1"/>
          <p:nvPr/>
        </p:nvSpPr>
        <p:spPr>
          <a:xfrm>
            <a:off x="1435608" y="4498848"/>
            <a:ext cx="9884664" cy="850392"/>
          </a:xfrm>
          <a:prstGeom prst="rect">
            <a:avLst/>
          </a:prstGeom>
          <a:noFill/>
          <a:ln/>
        </p:spPr>
        <p:txBody>
          <a:bodyPr wrap="square" lIns="0" tIns="0" rIns="0" bIns="0" rtlCol="0" anchor="t"/>
          <a:lstStyle/>
          <a:p>
            <a:pPr marL="0" indent="0">
              <a:lnSpc>
                <a:spcPct val="106000"/>
              </a:lnSpc>
              <a:buNone/>
              <a:defRPr sz="2600" b="0">
                <a:solidFill>
                  <a:srgbClr val="1B2D3B"/>
                </a:solidFill>
                <a:latin typeface="Meiryo"/>
                <a:ea typeface="Meiryo"/>
                <a:cs typeface="Meiryo"/>
              </a:defRPr>
            </a:pPr>
            <a:r>
              <a:rPr sz="2600" b="0">
                <a:solidFill>
                  <a:srgbClr val="1B2D3B"/>
                </a:solidFill>
                <a:latin typeface="Meiryo"/>
                <a:ea typeface="Meiryo"/>
                <a:cs typeface="Meiryo"/>
              </a:rPr>
              <a:t>I submitted the commit URL containing my work.</a:t>
            </a:r>
            <a:endParaRPr sz="2600">
              <a:latin typeface="Meiryo"/>
              <a:ea typeface="Meiryo"/>
              <a:cs typeface="Meiryo"/>
            </a:endParaRPr>
          </a:p>
        </p:txBody>
      </p:sp>
      <p:sp>
        <p:nvSpPr>
          <p:cNvPr id="12" name="Text 6:AI and Data Literacy    Workshop"/>
          <p:cNvSpPr txBox="1"/>
          <p:nvPr/>
        </p:nvSpPr>
        <p:spPr>
          <a:xfrm>
            <a:off x="667512" y="6428232"/>
            <a:ext cx="3840480" cy="310896"/>
          </a:xfrm>
          <a:prstGeom prst="rect">
            <a:avLst/>
          </a:prstGeom>
          <a:noFill/>
          <a:ln/>
        </p:spPr>
        <p:txBody>
          <a:bodyPr wrap="square" lIns="0" tIns="0" rIns="0" bIns="0" rtlCol="0" anchor="t"/>
          <a:lstStyle/>
          <a:p>
            <a:pPr marL="0" indent="0">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AI and Data Literacy    Workshop</a:t>
            </a:r>
            <a:endParaRPr sz="1800">
              <a:latin typeface="Meiryo"/>
              <a:ea typeface="Meiryo"/>
              <a:cs typeface="Meiryo"/>
            </a:endParaRPr>
          </a:p>
        </p:txBody>
      </p:sp>
      <p:sp>
        <p:nvSpPr>
          <p:cNvPr id="13" name="Text 7:Week 11  17 / 17"/>
          <p:cNvSpPr txBox="1"/>
          <p:nvPr/>
        </p:nvSpPr>
        <p:spPr>
          <a:xfrm>
            <a:off x="8412480" y="6428232"/>
            <a:ext cx="3108960" cy="310896"/>
          </a:xfrm>
          <a:prstGeom prst="rect">
            <a:avLst/>
          </a:prstGeom>
          <a:noFill/>
          <a:ln/>
        </p:spPr>
        <p:txBody>
          <a:bodyPr wrap="square" lIns="0" tIns="0" rIns="0" bIns="0" rtlCol="0" anchor="t"/>
          <a:lstStyle/>
          <a:p>
            <a:pPr marL="0" indent="0" algn="r">
              <a:lnSpc>
                <a:spcPct val="106000"/>
              </a:lnSpc>
              <a:buNone/>
              <a:defRPr sz="1800" b="0">
                <a:solidFill>
                  <a:srgbClr val="4D626D"/>
                </a:solidFill>
                <a:latin typeface="Meiryo"/>
                <a:ea typeface="Meiryo"/>
                <a:cs typeface="Meiryo"/>
              </a:defRPr>
            </a:pPr>
            <a:r>
              <a:rPr sz="1800" b="0">
                <a:solidFill>
                  <a:srgbClr val="4D626D"/>
                </a:solidFill>
                <a:latin typeface="Meiryo"/>
                <a:ea typeface="Meiryo"/>
                <a:cs typeface="Meiryo"/>
              </a:rPr>
              <a:t>Week 11  17 / 17</a:t>
            </a:r>
            <a:endParaRPr sz="1800">
              <a:latin typeface="Meiryo"/>
              <a:ea typeface="Meiryo"/>
              <a:cs typeface="Meiryo"/>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font script="Armn" typeface="Meiryo"/>
        <a:font script="Bugi" typeface="Meiryo"/>
        <a:font script="Bopo" typeface="Meiryo"/>
        <a:font script="Java" typeface="Meiryo"/>
        <a:font script="Lisu" typeface="Meiryo"/>
        <a:font script="Mymr" typeface="Meiryo"/>
        <a:font script="Nkoo" typeface="Meiryo"/>
        <a:font script="Olck" typeface="Meiryo"/>
        <a:font script="Osma" typeface="Meiryo"/>
        <a:font script="Phag" typeface="Meiryo"/>
        <a:font script="Syrn" typeface="Meiryo"/>
        <a:font script="Syrj" typeface="Meiryo"/>
        <a:font script="Syre" typeface="Meiryo"/>
        <a:font script="Sora" typeface="Meiryo"/>
        <a:font script="Tale" typeface="Meiryo"/>
        <a:font script="Talu" typeface="Meiryo"/>
        <a:font script="Tfng" typeface="Meiryo"/>
      </a:majorFont>
      <a:min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font script="Armn" typeface="Meiryo"/>
        <a:font script="Bugi" typeface="Meiryo"/>
        <a:font script="Bopo" typeface="Meiryo"/>
        <a:font script="Java" typeface="Meiryo"/>
        <a:font script="Lisu" typeface="Meiryo"/>
        <a:font script="Mymr" typeface="Meiryo"/>
        <a:font script="Nkoo" typeface="Meiryo"/>
        <a:font script="Olck" typeface="Meiryo"/>
        <a:font script="Osma" typeface="Meiryo"/>
        <a:font script="Phag" typeface="Meiryo"/>
        <a:font script="Syrn" typeface="Meiryo"/>
        <a:font script="Syrj" typeface="Meiryo"/>
        <a:font script="Syre" typeface="Meiryo"/>
        <a:font script="Sora" typeface="Meiryo"/>
        <a:font script="Tale" typeface="Meiryo"/>
        <a:font script="Talu" typeface="Meiryo"/>
        <a:font script="Tfng" typeface="Meiryo"/>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Tsuchiya Lab</Company>
  <LinksUpToDate>false</LinksUpToDate>
  <SharedDoc>false</SharedDoc>
  <HyperlinksChanged>false</HyperlinksChanged>
  <AppVersion>16.0000</AppVersion>
</Properties>
</file>

<file path=docProps/core.xml><?xml version="1.0" encoding="utf-8"?>
<ns0:coreProperties xmlns:dc="http://purl.org/dc/elements/1.1/" xmlns:ns0="http://schemas.openxmlformats.org/package/2006/metadata/core-properties" xmlns:ns2="http://purl.org/dc/terms/" xmlns:xsi="http://www.w3.org/2001/XMLSchema-instance">
  <dc:title>What do you check when you receive data?</dc:title>
  <dc:subject>AI and Data Literacy — English teaching edition</dc:subject>
  <dc:creator>Takahiro Tsuchiya</dc:creator>
  <ns0:lastModifiedBy>Takahiro Tsuchiya</ns0:lastModifiedBy>
  <ns0:revision>1</ns0:revision>
  <ns2:created xsi:type="dcterms:W3CDTF">2026-09-17T11:31:39Z</ns2:created>
  <ns2:modified xsi:type="dcterms:W3CDTF">2026-09-17T11:31:39Z</ns2:modified>
  <dc:description>English slides and teaching notes with hands-on activities.</dc:description>
  <ns0:keywords>AI, GitHub, data literacy, English, university teaching</ns0:keywords>
</ns0:coreProperties>
</file>