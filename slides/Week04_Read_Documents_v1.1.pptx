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5282F153-3F37-0F45-9E97-73ACFA13230C}" type="datetimeFigureOut">
              <a:rPr lang="ja-JP">
                <a:latin typeface="Meiryo"/>
                <a:ea typeface="Meiryo"/>
                <a:cs typeface="Meiryo"/>
              </a:rPr>
              <a:t>7/23/19</a:t>
            </a:fld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>
                <a:latin typeface="Meiryo"/>
                <a:ea typeface="Meiryo"/>
                <a:cs typeface="Meiryo"/>
              </a:rPr>
              <a:t>Click to edit Master text styles</a:t>
            </a:r>
          </a:p>
          <a:p>
            <a:pPr lvl="1"/>
            <a:r>
              <a:rPr lang="ja-JP">
                <a:latin typeface="Meiryo"/>
                <a:ea typeface="Meiryo"/>
                <a:cs typeface="Meiryo"/>
              </a:rPr>
              <a:t>Second level</a:t>
            </a:r>
          </a:p>
          <a:p>
            <a:pPr lvl="2"/>
            <a:r>
              <a:rPr lang="ja-JP">
                <a:latin typeface="Meiryo"/>
                <a:ea typeface="Meiryo"/>
                <a:cs typeface="Meiryo"/>
              </a:rPr>
              <a:t>Third level</a:t>
            </a:r>
          </a:p>
          <a:p>
            <a:pPr lvl="3"/>
            <a:r>
              <a:rPr lang="ja-JP">
                <a:latin typeface="Meiryo"/>
                <a:ea typeface="Meiryo"/>
                <a:cs typeface="Meiryo"/>
              </a:rPr>
              <a:t>Fourth level</a:t>
            </a:r>
          </a:p>
          <a:p>
            <a:pPr lvl="4"/>
            <a:r>
              <a:rPr lang="ja-JP">
                <a:latin typeface="Meiryo"/>
                <a:ea typeface="Meiryo"/>
                <a:cs typeface="Meiryo"/>
              </a:rP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CE5E9CC1-C706-0F49-92D6-E571CC5EEA8F}" type="slidenum">
              <a:rPr lang="ja-JP">
                <a:latin typeface="Meiryo"/>
                <a:ea typeface="Meiryo"/>
                <a:cs typeface="Meiryo"/>
              </a:rPr>
              <a:t>‹#›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【進行】資料に書いてあることを確かめる / 1ページ
到達点：資料から言えることと、資料だけでは判断できないことを分ける。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【進行】資料に書いてあることを確かめる / 2ページ
到達点：資料から言えることと、資料だけでは判断できないことを分ける。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【進行】資料に書いてあることを確かめる / 3ページ
到達点：資料から言えることと、資料だけでは判断できないことを分ける。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【進行】資料に書いてあることを確かめる / 4ページ
到達点：資料から言えることと、資料だけでは判断できないことを分ける。
スライドの指示に沿って操作を待つ。学生の画面で結果を確認してから次へ進む。
操作に詰まった学生には、表示中の画面と止まった箇所を確認する。パスワードや認証コードは見せさせない。
【参考資料】
OpenAI「ChatGPT capabilities overview」
https://help.openai.com/en/articles/9260256-chatgpt-capabilities-overview
確認日：2026-09-17
Google「Upload &amp; analyze files in Gemini Apps」
https://support.google.com/gemini/answer/14903178?co=GENIE.Platform%3DDesktop&amp;hl=en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【進行】資料に書いてあることを確かめる / 5ページ
到達点：資料から言えることと、資料だけでは判断できないことを分ける。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5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【進行】資料に書いてあることを確かめる / 6ページ
到達点：資料から言えることと、資料だけでは判断できないことを分ける。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6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【進行】資料に書いてあることを確かめる / 7ページ
到達点：資料から言えることと、資料だけでは判断できないことを分ける。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7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【進行】資料に書いてあることを確かめる / 8ページ
到達点：資料から言えることと、資料だけでは判断できないことを分ける。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8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【進行】資料に書いてあることを確かめる / 9ページ
到達点：資料から言えることと、資料だけでは判断できないことを分ける。
スライドの指示に沿って操作を待つ。学生の画面で結果を確認してから次へ進む。
【参考資料】
OpenAI「ChatGPT capabilities overview」
https://help.openai.com/en/articles/9260256-chatgpt-capabilities-overview
確認日：2026-09-17
Google「Upload &amp; analyze files in Gemini Apps」
https://support.google.com/gemini/answer/14903178?co=GENIE.Platform%3DDesktop&amp;hl=en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9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【進行】資料に書いてあることを確かめる / 10ページ
到達点：資料から言えることと、資料だけでは判断できないことを分ける。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10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【進行】資料に書いてあることを確かめる / 11ページ
到達点：資料から言えることと、資料だけでは判断できないことを分ける。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【進行】資料に書いてあることを確かめる / 12ページ
到達点：資料から言えることと、資料だけでは判断できないことを分ける。
AIとの会話全文、共有リンク、無意味な再試行回数は求めない。変更が不要だった場合も確認した対象と結果を書けばよい。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【進行】資料に書いてあることを確かめる / 13ページ
到達点：資料から言えることと、資料だけでは判断できないことを分ける。
Desktopを使った学生はPush origin後にGitHubで確認する。フォーム送信完了画面まで確認。教員の閲覧権限は別途必要。
操作に詰まった学生には、表示中の画面と止まった箇所を確認する。パスワードや認証コードは見せさせない。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【進行】資料に書いてあることを確かめる / 14ページ
到達点：資料から言えることと、資料だけでは判断できないことを分ける。
このチェックは暗記テストではない。ファイルと画面を見ながら自己確認させる。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lang="ja-JP">
          <a:solidFill>
            <a:schemeClr val="tx1"/>
          </a:solidFill>
          <a:latin typeface="Meiryo"/>
          <a:ea typeface="Meiryo"/>
          <a:cs typeface="Meiryo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Meiryo" pitchFamily="34" charset="0"/>
        <a:buChar char="•"/>
        <a:defRPr sz="32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742950" indent="-285750" algn="l" defTabSz="914400" rtl="0" eaLnBrk="1" latinLnBrk="0" hangingPunct="1">
        <a:spcBef>
          <a:spcPct val="20000"/>
        </a:spcBef>
        <a:buFont typeface="Meiryo" pitchFamily="34" charset="0"/>
        <a:buChar char="–"/>
        <a:defRPr sz="2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1143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4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600200" indent="-228600" algn="l" defTabSz="914400" rtl="0" eaLnBrk="1" latinLnBrk="0" hangingPunct="1">
        <a:spcBef>
          <a:spcPct val="20000"/>
        </a:spcBef>
        <a:buFont typeface="Meiryo" pitchFamily="34" charset="0"/>
        <a:buChar char="–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2057400" indent="-228600" algn="l" defTabSz="914400" rtl="0" eaLnBrk="1" latinLnBrk="0" hangingPunct="1">
        <a:spcBef>
          <a:spcPct val="20000"/>
        </a:spcBef>
        <a:buFont typeface="Meiryo" pitchFamily="34" charset="0"/>
        <a:buChar char="»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5146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9718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429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8862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9pPr>
    </p:bodyStyle>
    <p:otherStyle>
      <a:defPPr>
        <a:defRPr lang="ja-JP">
          <a:latin typeface="Meiryo"/>
          <a:ea typeface="Meiryo"/>
          <a:cs typeface="Meiryo"/>
        </a:defRPr>
      </a:defPPr>
      <a:lvl1pPr marL="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457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914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371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18288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2860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743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200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657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1.png"/><Relationship Id="rId3" Type="http://schemas.openxmlformats.org/officeDocument/2006/relationships/image" Target="../media/image-11-1.png"/><Relationship Id="rId4" Type="http://schemas.openxmlformats.org/officeDocument/2006/relationships/image" Target="../media/image-11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1.png"/><Relationship Id="rId3" Type="http://schemas.openxmlformats.org/officeDocument/2006/relationships/image" Target="../media/image-14-1.png"/><Relationship Id="rId4" Type="http://schemas.openxmlformats.org/officeDocument/2006/relationships/image" Target="../media/image-14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55778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B1D6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第04回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13232" y="1554480"/>
            <a:ext cx="9418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AIの答えは、</a:t>
            </a:r>
            <a:endParaRPr lang="ja-JP" sz="4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資料のどこにある？</a:t>
            </a:r>
            <a:endParaRPr lang="ja-JP" sz="4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49808" y="4169664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第4回｜案内資料を読ませ、</a:t>
            </a:r>
            <a:endParaRPr lang="ja-JP" sz="26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書いてあることと推測を分けます。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7" name="Image 0" descr="Lucide file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2" y="566928"/>
            <a:ext cx="841248" cy="841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6281928"/>
            <a:ext cx="9144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大学生のためのAI・データリテラシー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今日は、1枚の資料から答えを作る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配布資料をAIへ渡す。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PDF・画像・本文のいずれかを使う。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参加に必要な情報を整理する。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日時・会場・持ち物を尋ねる。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元資料に戻って照合する。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書かれていない情報は「不明」と分ける。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第4回  02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今回読むのは、架空の講習会案内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ile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 and Data Literacy Workshop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2026年10月15日　13:30〜15:00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4号館402教室／定員40人／参加無料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申込締切：2026年10月10日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持ち物：ノートパソコン・大学アカウント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資料内の日付は演習用。実在の行事案内ではない。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第4回  03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ファイルを渡してみる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配布ファイルをパソコンに保存する。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sample_event_notice.pdfを使う。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AIの添付ボタンから選ぶ。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アップロードの完了を待つ。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資料名が表示されたか確認する。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添付が使えなければ、同名のmd本文を貼る。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短い資料なので、本文を貼る方法でも同じ課題に取り組める。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第4回  04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参加に必要な情報を聞く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この資料だけを使って、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日時・会場・持ち物を表にしてください。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資料にない情報は「記載なし」としてください。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日付・時間・教室番号を、元資料と1つずつ照合する。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第4回  05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AIの答えを、元資料に戻して確認する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47472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09928"/>
            <a:ext cx="31821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項目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114800" y="1554480"/>
            <a:ext cx="379476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61104" y="1709928"/>
            <a:ext cx="3502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資料にある内容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909560" y="1554480"/>
            <a:ext cx="3639312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55864" y="1709928"/>
            <a:ext cx="33467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自分の確認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40080" y="2258568"/>
            <a:ext cx="347472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2386584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114800" y="2258568"/>
            <a:ext cx="3794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61104" y="2386584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13:30〜15:00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909560" y="2258568"/>
            <a:ext cx="36393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55864" y="2386584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一致／不一致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40080" y="3017520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017520"/>
            <a:ext cx="347472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" y="3145536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114800" y="3017520"/>
            <a:ext cx="379476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261104" y="3145536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4号館402教室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909560" y="3017520"/>
            <a:ext cx="363931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55864" y="3145536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一致／不一致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40080" y="3776472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3776472"/>
            <a:ext cx="347472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86384" y="3904488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持ち物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114800" y="3776472"/>
            <a:ext cx="3794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261104" y="3904488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PC・大学アカウント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909560" y="3776472"/>
            <a:ext cx="36393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55864" y="3904488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一致／不一致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0080" y="453542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この表は確認用。AIの出力を見ずに「一致」と書かない。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3" name="Text 31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第4回  06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資料にないことも聞いてみる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この会場にはコンセントがありますか。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資料から分かる範囲だけで答えてください。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「記載がない」と「コンセントがない」は違う。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第4回  07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分からないことを、断定しない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資料が支える答え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案内資料には、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コンセントの有無が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書かれていない。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B05D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資料では支えられない答え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コンセントはありません。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または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全席にコンセントがあります。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第4回  08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画像を読んだ答えも、見比べる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5" name="Image 0" descr="Lucide im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文字の読み違いはないか。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表の見出しと値が対応しているか。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AIが読めない箇所は、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人が原画像を拡大して確認する。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第4回  09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答えを直すときは、根拠を付ける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会場は「402教室」です。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元資料の会場欄を確認して、表を修正してください。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ほかの項目も資料と一致しているか確認してください。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この依頼は誤りがあった場合の例。正しければ直さなくてよい。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第4回  10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今回の課題を仕上げる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日時・会場・持ち物を表にした。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各項目を元資料で確認した。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資料にない情報を1つ挙げた。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AIの推測を、資料の事実と区別した。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第4回  11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成果物と確認したことを残す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257800" cy="4041648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28800"/>
            <a:ext cx="448056" cy="448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week04/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50976" y="266090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README.md：</a:t>
            </a:r>
            <a:endParaRPr lang="ja-JP" sz="2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確認表・資料にない情報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391656" y="180136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READMEの利用記録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6400800" y="2779776"/>
            <a:ext cx="480974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自分で確かめたこと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確認できなかったこと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第4回  12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保存した版のURLを提出する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GitHubで変更を確定する。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更新したファイルを確認し、commitする。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そのcommitのページを開く。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URLに /commit/ があることを確認する。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授業の提出フォームを送る。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大学アカウントで開き、Week 04を選ぶ。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ブラウザでcommitした場合、別のpush操作は不要。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第4回  13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提出する前に、ここを確認する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元資料で確認した場所を書いた。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日時と教室番号を照合した。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資料にないことを勝手に断定していない。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成果物のあるcommit URLを送った。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第4回  14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ajorFont>
      <a:min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Tsuchiya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資料に書いてあることを確かめる</dc:title>
  <dc:subject>AI・データリテラシー／学生向け演習</dc:subject>
  <dc:creator>Takahiro Tsuchiya</dc:creator>
  <cp:lastModifiedBy>Takahiro Tsuchiya</cp:lastModifiedBy>
  <cp:revision>1</cp:revision>
  <dcterms:created xsi:type="dcterms:W3CDTF">2026-09-17T11:31:39Z</dcterms:created>
  <dcterms:modified xsi:type="dcterms:W3CDTF">2026-09-17T11:31:39Z</dcterms:modified>
</cp:coreProperties>
</file>