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1pPr>
    <a:lvl2pPr marL="4572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2pPr>
    <a:lvl3pPr marL="9144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3pPr>
    <a:lvl4pPr marL="13716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4pPr>
    <a:lvl5pPr marL="18288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5pPr>
    <a:lvl6pPr marL="22860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6pPr>
    <a:lvl7pPr marL="27432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7pPr>
    <a:lvl8pPr marL="32004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8pPr>
    <a:lvl9pPr marL="36576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 lang="ja-JP">
                <a:latin typeface="Meiryo"/>
                <a:ea typeface="Meiryo"/>
                <a:cs typeface="Meiryo"/>
              </a:defRPr>
            </a:lvl1pPr>
          </a:lstStyle>
          <a:p>
            <a:endParaRPr lang="ja-JP">
              <a:latin typeface="Meiryo"/>
              <a:ea typeface="Meiryo"/>
              <a:cs typeface="Meiryo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lang="ja-JP">
                <a:latin typeface="Meiryo"/>
                <a:ea typeface="Meiryo"/>
                <a:cs typeface="Meiryo"/>
              </a:defRPr>
            </a:lvl1pPr>
          </a:lstStyle>
          <a:p>
            <a:fld id="{5282F153-3F37-0F45-9E97-73ACFA13230C}" type="datetimeFigureOut">
              <a:rPr lang="ja-JP">
                <a:latin typeface="Meiryo"/>
                <a:ea typeface="Meiryo"/>
                <a:cs typeface="Meiryo"/>
              </a:rPr>
              <a:t>7/23/19</a:t>
            </a:fld>
            <a:endParaRPr lang="ja-JP">
              <a:latin typeface="Meiryo"/>
              <a:ea typeface="Meiryo"/>
              <a:cs typeface="Meiryo"/>
            </a:endParaRP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>
              <a:latin typeface="Meiryo"/>
              <a:ea typeface="Meiryo"/>
              <a:cs typeface="Meiryo"/>
            </a:endParaRPr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ja-JP">
                <a:latin typeface="Meiryo"/>
                <a:ea typeface="Meiryo"/>
                <a:cs typeface="Meiryo"/>
              </a:rPr>
              <a:t>Click to edit Master text styles</a:t>
            </a:r>
          </a:p>
          <a:p>
            <a:pPr lvl="1"/>
            <a:r>
              <a:rPr lang="ja-JP">
                <a:latin typeface="Meiryo"/>
                <a:ea typeface="Meiryo"/>
                <a:cs typeface="Meiryo"/>
              </a:rPr>
              <a:t>Second level</a:t>
            </a:r>
          </a:p>
          <a:p>
            <a:pPr lvl="2"/>
            <a:r>
              <a:rPr lang="ja-JP">
                <a:latin typeface="Meiryo"/>
                <a:ea typeface="Meiryo"/>
                <a:cs typeface="Meiryo"/>
              </a:rPr>
              <a:t>Third level</a:t>
            </a:r>
          </a:p>
          <a:p>
            <a:pPr lvl="3"/>
            <a:r>
              <a:rPr lang="ja-JP">
                <a:latin typeface="Meiryo"/>
                <a:ea typeface="Meiryo"/>
                <a:cs typeface="Meiryo"/>
              </a:rPr>
              <a:t>Fourth level</a:t>
            </a:r>
          </a:p>
          <a:p>
            <a:pPr lvl="4"/>
            <a:r>
              <a:rPr lang="ja-JP">
                <a:latin typeface="Meiryo"/>
                <a:ea typeface="Meiryo"/>
                <a:cs typeface="Meiryo"/>
              </a:rPr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 lang="ja-JP">
                <a:latin typeface="Meiryo"/>
                <a:ea typeface="Meiryo"/>
                <a:cs typeface="Meiryo"/>
              </a:defRPr>
            </a:lvl1pPr>
          </a:lstStyle>
          <a:p>
            <a:endParaRPr lang="ja-JP">
              <a:latin typeface="Meiryo"/>
              <a:ea typeface="Meiryo"/>
              <a:cs typeface="Meiryo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lang="ja-JP">
                <a:latin typeface="Meiryo"/>
                <a:ea typeface="Meiryo"/>
                <a:cs typeface="Meiryo"/>
              </a:defRPr>
            </a:lvl1pPr>
          </a:lstStyle>
          <a:p>
            <a:fld id="{CE5E9CC1-C706-0F49-92D6-E571CC5EEA8F}" type="slidenum">
              <a:rPr lang="ja-JP">
                <a:latin typeface="Meiryo"/>
                <a:ea typeface="Meiryo"/>
                <a:cs typeface="Meiryo"/>
              </a:rPr>
              <a:t>‹#›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1pPr>
    <a:lvl2pPr marL="4572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2pPr>
    <a:lvl3pPr marL="9144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3pPr>
    <a:lvl4pPr marL="13716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4pPr>
    <a:lvl5pPr marL="18288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5pPr>
    <a:lvl6pPr marL="22860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6pPr>
    <a:lvl7pPr marL="27432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7pPr>
    <a:lvl8pPr marL="32004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8pPr>
    <a:lvl9pPr marL="36576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【進行】資料に書いてあることを確かめる / 1ページ
到達点：資料から言えることと、資料だけでは判断できないことを分ける。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【進行】資料に書いてあることを確かめる / 2ページ
到達点：資料から言えることと、資料だけでは判断できないことを分ける。
スライドの指示に沿って操作を待つ。学生の画面で結果を確認してから次へ進む。
操作に詰まった学生には、表示中の画面と止まった箇所を確認する。パスワードや認証コードは見せさせない。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2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【進行】資料に書いてあることを確かめる / 3ページ
到達点：資料から言えることと、資料だけでは判断できないことを分ける。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3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【進行】資料に書いてあることを確かめる / 4ページ
到達点：資料から言えることと、資料だけでは判断できないことを分ける。
スライドの指示に沿って操作を待つ。学生の画面で結果を確認してから次へ進む。
操作に詰まった学生には、表示中の画面と止まった箇所を確認する。パスワードや認証コードは見せさせない。
【参考資料】
OpenAI「ChatGPT capabilities overview」
https://help.openai.com/en/articles/9260256-chatgpt-capabilities-overview
確認日：2026-09-17
Google「Upload &amp; analyze files in Gemini Apps」
https://support.google.com/gemini/answer/14903178?co=GENIE.Platform%3DDesktop&amp;hl=en
確認日：2026-09-17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4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【進行】資料に書いてあることを確かめる / 5ページ
到達点：資料から言えることと、資料だけでは判断できないことを分ける。
スライドの指示に沿って操作を待つ。学生の画面で結果を確認してから次へ進む。
操作に詰まった学生には、表示中の画面と止まった箇所を確認する。パスワードや認証コードは見せさせない。
コピー用の依頼文はhandouts/にある。指示文は例であり、長さや特定の語句を暗記させない。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5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【進行】資料に書いてあることを確かめる / 6ページ
到達点：資料から言えることと、資料だけでは判断できないことを分ける。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6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【進行】資料に書いてあることを確かめる / 7ページ
到達点：資料から言えることと、資料だけでは判断できないことを分ける。
スライドの指示に沿って操作を待つ。学生の画面で結果を確認してから次へ進む。
操作に詰まった学生には、表示中の画面と止まった箇所を確認する。パスワードや認証コードは見せさせない。
コピー用の依頼文はhandouts/にある。指示文は例であり、長さや特定の語句を暗記させない。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7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【進行】資料に書いてあることを確かめる / 8ページ
到達点：資料から言えることと、資料だけでは判断できないことを分ける。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8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【進行】資料に書いてあることを確かめる / 9ページ
到達点：資料から言えることと、資料だけでは判断できないことを分ける。
スライドの指示に沿って操作を待つ。学生の画面で結果を確認してから次へ進む。
【参考資料】
OpenAI「ChatGPT capabilities overview」
https://help.openai.com/en/articles/9260256-chatgpt-capabilities-overview
確認日：2026-09-17
Google「Upload &amp; analyze files in Gemini Apps」
https://support.google.com/gemini/answer/14903178?co=GENIE.Platform%3DDesktop&amp;hl=en
確認日：2026-09-17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9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【進行】資料に書いてあることを確かめる / 10ページ
到達点：資料から言えることと、資料だけでは判断できないことを分ける。
スライドの指示に沿って操作を待つ。学生の画面で結果を確認してから次へ進む。
操作に詰まった学生には、表示中の画面と止まった箇所を確認する。パスワードや認証コードは見せさせない。
コピー用の依頼文はhandouts/にある。指示文は例であり、長さや特定の語句を暗記させない。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10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【進行】資料に書いてあることを確かめる / 11ページ
到達点：資料から言えることと、資料だけでは判断できないことを分ける。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11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【進行】資料に書いてあることを確かめる / 12ページ
到達点：資料から言えることと、資料だけでは判断できないことを分ける。
AIとの会話全文、共有リンク、無意味な再試行回数は求めない。変更が不要だった場合も確認した対象と結果を書けばよい。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12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【進行】資料に書いてあることを確かめる / 13ページ
到達点：資料から言えることと、資料だけでは判断できないことを分ける。
Desktopを使った学生はPush origin後にGitHubで確認する。フォーム送信完了画面まで確認。教員の閲覧権限は別途必要。
操作に詰まった学生には、表示中の画面と止まった箇所を確認する。パスワードや認証コードは見せさせない。
【参考資料】
GitHub Docs「Editing files」
https://docs.github.com/en/repositories/working-with-files/managing-files/editing-files
確認日：2026-09-17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13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【進行】資料に書いてあることを確かめる / 14ページ
到達点：資料から言えることと、資料だけでは判断できないことを分ける。
このチェックは暗記テストではない。ファイルと画面を見ながら自己確認させる。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14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1.xml" /><ns0:Relationship Id="rId2" Type="http://schemas.openxmlformats.org/officeDocument/2006/relationships/theme" Target="../theme/theme1.xml" /><ns0:Relationship Id="rIdPersonalAuthorLogo" Type="http://schemas.openxmlformats.org/officeDocument/2006/relationships/image" Target="../media/personal-author-logo.png" /></ns0:Relationships>
</file>

<file path=ppt/slideMasters/slideMaster1.xml><?xml version="1.0" encoding="utf-8"?>
<p:sldMaster xmlns:a="http://schemas.openxmlformats.org/drawingml/2006/main" xmlns:ns3="http://schemas.microsoft.com/office/drawing/2014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/>
          <p:cNvPicPr>
            <a:picLocks noChangeAspect="1"/>
          </p:cNvPicPr>
          <p:nvPr/>
        </p:nvPicPr>
        <p:blipFill>
          <a:blip r:embed="rIdPersonalAuthorLogo"/>
          <a:stretch/>
        </p:blipFill>
        <p:spPr>
          <a:xfrm>
            <a:off x="685800" y="85748"/>
            <a:ext cx="1714500" cy="210457"/>
          </a:xfrm>
          <a:prstGeom prst="rect">
            <a:avLst/>
          </a:prstGeom>
        </p:spPr>
      </p:pic>
      <p:sp>
        <p:nvSpPr>
          <p:cNvPr id="3" name="Personal author website">
            <a:extLst>
              <a:ext uri="{FF2B5EF4-FFF2-40B4-BE49-F238E27FC236}">
                <ns3:creationId id="{2B199CB2-0940-4D13-9CAC-E3F074FAA0ED}"/>
              </a:ext>
            </a:extLst>
          </p:cNvPr>
          <p:cNvSpPr>
            <a:spLocks noGrp="1"/>
          </p:cNvSpPr>
          <p:nvPr/>
        </p:nvSpPr>
        <p:spPr>
          <a:xfrm>
            <a:off x="6286500" y="6477000"/>
            <a:ext cx="400050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00">
                <a:solidFill>
                  <a:srgbClr val="607482"/>
                </a:solidFill>
                <a:latin typeface="Meiryo"/>
                <a:ea typeface="Meiryo"/>
                <a:cs typeface="Meiryo"/>
              </a:defRPr>
            </a:pPr>
            <a:r>
              <a:rPr sz="1800">
                <a:solidFill>
                  <a:srgbClr val="607482"/>
                </a:solidFill>
                <a:latin typeface="Meiryo"/>
                <a:ea typeface="Meiryo"/>
                <a:cs typeface="Meiryo"/>
              </a:rPr>
              <a:t>tsuchiyatakahiro.com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 lang="ja-JP">
          <a:solidFill>
            <a:schemeClr val="tx1"/>
          </a:solidFill>
          <a:latin typeface="Meiryo"/>
          <a:ea typeface="Meiryo"/>
          <a:cs typeface="Meiryo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Meiryo" pitchFamily="34" charset="0"/>
        <a:buChar char="•"/>
        <a:defRPr sz="3200" kern="1200" lang="ja-JP">
          <a:solidFill>
            <a:schemeClr val="tx1"/>
          </a:solidFill>
          <a:latin typeface="Meiryo"/>
          <a:ea typeface="Meiryo"/>
          <a:cs typeface="Meiryo"/>
        </a:defRPr>
      </a:lvl1pPr>
      <a:lvl2pPr marL="742950" indent="-285750" algn="l" defTabSz="914400" rtl="0" eaLnBrk="1" latinLnBrk="0" hangingPunct="1">
        <a:spcBef>
          <a:spcPct val="20000"/>
        </a:spcBef>
        <a:buFont typeface="Meiryo" pitchFamily="34" charset="0"/>
        <a:buChar char="–"/>
        <a:defRPr sz="2800" kern="1200" lang="ja-JP">
          <a:solidFill>
            <a:schemeClr val="tx1"/>
          </a:solidFill>
          <a:latin typeface="Meiryo"/>
          <a:ea typeface="Meiryo"/>
          <a:cs typeface="Meiryo"/>
        </a:defRPr>
      </a:lvl2pPr>
      <a:lvl3pPr marL="11430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400" kern="1200" lang="ja-JP">
          <a:solidFill>
            <a:schemeClr val="tx1"/>
          </a:solidFill>
          <a:latin typeface="Meiryo"/>
          <a:ea typeface="Meiryo"/>
          <a:cs typeface="Meiryo"/>
        </a:defRPr>
      </a:lvl3pPr>
      <a:lvl4pPr marL="1600200" indent="-228600" algn="l" defTabSz="914400" rtl="0" eaLnBrk="1" latinLnBrk="0" hangingPunct="1">
        <a:spcBef>
          <a:spcPct val="20000"/>
        </a:spcBef>
        <a:buFont typeface="Meiryo" pitchFamily="34" charset="0"/>
        <a:buChar char="–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4pPr>
      <a:lvl5pPr marL="2057400" indent="-228600" algn="l" defTabSz="914400" rtl="0" eaLnBrk="1" latinLnBrk="0" hangingPunct="1">
        <a:spcBef>
          <a:spcPct val="20000"/>
        </a:spcBef>
        <a:buFont typeface="Meiryo" pitchFamily="34" charset="0"/>
        <a:buChar char="»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5pPr>
      <a:lvl6pPr marL="25146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6pPr>
      <a:lvl7pPr marL="29718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7pPr>
      <a:lvl8pPr marL="34290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8pPr>
      <a:lvl9pPr marL="38862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9pPr>
    </p:bodyStyle>
    <p:otherStyle>
      <a:defPPr>
        <a:defRPr lang="ja-JP">
          <a:latin typeface="Meiryo"/>
          <a:ea typeface="Meiryo"/>
          <a:cs typeface="Meiryo"/>
        </a:defRPr>
      </a:defPPr>
      <a:lvl1pPr marL="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1pPr>
      <a:lvl2pPr marL="4572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2pPr>
      <a:lvl3pPr marL="9144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3pPr>
      <a:lvl4pPr marL="13716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4pPr>
      <a:lvl5pPr marL="18288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5pPr>
      <a:lvl6pPr marL="22860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6pPr>
      <a:lvl7pPr marL="27432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7pPr>
      <a:lvl8pPr marL="32004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8pPr>
      <a:lvl9pPr marL="36576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9pPr>
    </p:otherStyle>
  </p:txStyles>
</p:sldMaster>
</file>

<file path=ppt/slides/_rels/slide1.xml.rels><?xml version='1.0' encoding='utf-8'?>
<ns0:Relationships xmlns:ns0="http://schemas.openxmlformats.org/package/2006/relationships"><ns0:Relationship Id="rId1" Type="http://schemas.openxmlformats.org/officeDocument/2006/relationships/image" Target="../media/image-1-1.png" /><ns0:Relationship Id="rId2" Type="http://schemas.openxmlformats.org/officeDocument/2006/relationships/slideLayout" Target="../slideLayouts/slideLayout1.xml" /><ns0:Relationship Id="rId3" Type="http://schemas.openxmlformats.org/officeDocument/2006/relationships/notesSlide" Target="../notesSlides/notesSlide1.xml" /><ns0:Relationship Id="rIdPersonalAuthorLogo" Type="http://schemas.openxmlformats.org/officeDocument/2006/relationships/image" Target="../media/personal-author-logo-white.png" /></ns0: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1.png"/><Relationship Id="rId3" Type="http://schemas.openxmlformats.org/officeDocument/2006/relationships/image" Target="../media/image-11-1.png"/><Relationship Id="rId4" Type="http://schemas.openxmlformats.org/officeDocument/2006/relationships/image" Target="../media/image-11-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1.png"/><Relationship Id="rId3" Type="http://schemas.openxmlformats.org/officeDocument/2006/relationships/image" Target="../media/image-14-1.png"/><Relationship Id="rId4" Type="http://schemas.openxmlformats.org/officeDocument/2006/relationships/image" Target="../media/image-14-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ns3="http://schemas.microsoft.com/office/drawing/2014/main" xmlns:p="http://schemas.openxmlformats.org/presentationml/2006/main" xmlns:r="http://schemas.openxmlformats.org/officeDocument/2006/relationships" showMasterSp="0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2B39"/>
          </a:solidFill>
          <a:ln w="12700">
            <a:solidFill>
              <a:srgbClr val="132B3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007F82"/>
          </a:solidFill>
          <a:ln w="12700">
            <a:solidFill>
              <a:srgbClr val="007F8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13232" y="557784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B1D6D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第04回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713232" y="1554480"/>
            <a:ext cx="941832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4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AIの答えは、</a:t>
            </a:r>
            <a:endParaRPr lang="ja-JP" sz="42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4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資料のどこにある？</a:t>
            </a:r>
            <a:endParaRPr lang="ja-JP" sz="42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749808" y="4169664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D9E7E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第4回｜案内資料を読ませ、</a:t>
            </a:r>
            <a:endParaRPr lang="ja-JP" sz="26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D9E7E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書いてあることと推測を分けます。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7" name="Image 0" descr="Lucide file-tex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97312" y="566928"/>
            <a:ext cx="841248" cy="84124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49808" y="6281928"/>
            <a:ext cx="9144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D9E7E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大学生のためのAI・データリテラシー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pic>
        <p:nvPicPr>
          <p:cNvPr id="10" name="" descr="TSUCHIYA TAKAHIRO white logo supplied in Brandeis cover; original bytes reused"/>
          <p:cNvPicPr>
            <a:picLocks noChangeAspect="1"/>
          </p:cNvPicPr>
          <p:nvPr/>
        </p:nvPicPr>
        <p:blipFill>
          <a:blip r:embed="rIdPersonalAuthorLogo"/>
          <a:stretch/>
        </p:blipFill>
        <p:spPr>
          <a:xfrm>
            <a:off x="3810000" y="109728"/>
            <a:ext cx="4572000" cy="561219"/>
          </a:xfrm>
          <a:prstGeom prst="rect">
            <a:avLst/>
          </a:prstGeom>
        </p:spPr>
      </p:pic>
      <p:sp>
        <p:nvSpPr>
          <p:cNvPr id="11" name="Personal author website">
            <a:extLst>
              <a:ext uri="{FF2B5EF4-FFF2-40B4-BE49-F238E27FC236}">
                <ns3:creationId id="{2B199CB2-0940-4D13-9CAC-E3F074FAA0ED}"/>
              </a:ext>
            </a:extLst>
          </p:cNvPr>
          <p:cNvSpPr>
            <a:spLocks noGrp="1"/>
          </p:cNvSpPr>
          <p:nvPr/>
        </p:nvSpPr>
        <p:spPr>
          <a:xfrm>
            <a:off x="6286500" y="6477000"/>
            <a:ext cx="400050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00">
                <a:solidFill>
                  <a:srgbClr val="AECFD2"/>
                </a:solidFill>
                <a:latin typeface="Meiryo"/>
                <a:ea typeface="Meiryo"/>
                <a:cs typeface="Meiryo"/>
              </a:defRPr>
            </a:pPr>
            <a:r>
              <a:rPr sz="1800">
                <a:solidFill>
                  <a:srgbClr val="AECFD2"/>
                </a:solidFill>
                <a:latin typeface="Meiryo"/>
                <a:ea typeface="Meiryo"/>
                <a:cs typeface="Meiryo"/>
              </a:rPr>
              <a:t>tsuchiyatakahiro.com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今日は、1枚の資料から答えを作る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04088" y="1572768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1737360" y="1508760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配布資料をAIへ渡す。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1737360" y="2212848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PDF・画像・本文のいずれかを使う。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Shape 5"/>
          <p:cNvSpPr/>
          <p:nvPr/>
        </p:nvSpPr>
        <p:spPr>
          <a:xfrm>
            <a:off x="1737360" y="2752344"/>
            <a:ext cx="9738360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04088" y="2926080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1737360" y="2862072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参加に必要な情報を整理する。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1737360" y="3566160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日時・会場・持ち物を尋ねる。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1737360" y="4105656"/>
            <a:ext cx="9738360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04088" y="4279392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1737360" y="4215384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元資料に戻って照合する。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1737360" y="4919472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書かれていない情報は「不明」と分ける。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15" name="Text 13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6" name="Text 14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第4回  02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今回読むのは、架空の講習会案内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17904"/>
            <a:ext cx="10908792" cy="405079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pic>
        <p:nvPicPr>
          <p:cNvPr id="5" name="Image 0" descr="Lucide file-tex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832" y="1801368"/>
            <a:ext cx="438912" cy="43891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27632" y="1810512"/>
            <a:ext cx="9546336" cy="3639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 and Data Literacy Workshop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2026年10月15日　13:30〜15:00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4号館402教室／定員40人／参加無料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申込締切：2026年10月10日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持ち物：ノートパソコン・大学アカウント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Text 4"/>
          <p:cNvSpPr txBox="1"/>
          <p:nvPr/>
        </p:nvSpPr>
        <p:spPr>
          <a:xfrm>
            <a:off x="667512" y="5779008"/>
            <a:ext cx="10844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資料内の日付は演習用。実在の行事案内ではない。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8" name="Text 5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6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第4回  03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ファイルを渡してみる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04088" y="1572768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1737360" y="1508760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配布ファイルをパソコンに保存する。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1737360" y="2212848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sample_event_notice.pdfを使う。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Shape 5"/>
          <p:cNvSpPr/>
          <p:nvPr/>
        </p:nvSpPr>
        <p:spPr>
          <a:xfrm>
            <a:off x="1737360" y="2752344"/>
            <a:ext cx="9738360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04088" y="2926080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1737360" y="2862072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AIの添付ボタンから選ぶ。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1737360" y="3566160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アップロードの完了を待つ。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1737360" y="4105656"/>
            <a:ext cx="9738360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04088" y="4279392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1737360" y="4215384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資料名が表示されたか確認する。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1737360" y="4919472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添付が使えなければ、同名のmd本文を貼る。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15" name="Text 13"/>
          <p:cNvSpPr txBox="1"/>
          <p:nvPr/>
        </p:nvSpPr>
        <p:spPr>
          <a:xfrm>
            <a:off x="667512" y="5779008"/>
            <a:ext cx="10844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短い資料なので、本文を貼る方法でも同じ課題に取り組める。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6" name="Text 14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7" name="Text 15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第4回  04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参加に必要な情報を聞く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pic>
        <p:nvPicPr>
          <p:cNvPr id="4" name="Image 0" descr="Lucide keybo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499616"/>
            <a:ext cx="384048" cy="38404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280160" y="1490472"/>
            <a:ext cx="7315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AIに送ってみよう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Shape 3"/>
          <p:cNvSpPr/>
          <p:nvPr/>
        </p:nvSpPr>
        <p:spPr>
          <a:xfrm>
            <a:off x="640080" y="2084832"/>
            <a:ext cx="10908792" cy="2871216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0976" y="2350008"/>
            <a:ext cx="1028700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この資料だけを使って、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日時・会場・持ち物を表にしてください。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資料にない情報は「記載なし」としてください。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pic>
        <p:nvPicPr>
          <p:cNvPr id="8" name="Image 1" descr="Lucide circle-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5230368"/>
            <a:ext cx="338328" cy="33832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25296" y="516636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日付・時間・教室番号を、元資料と1つずつ照合する。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6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7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第4回  05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AIの答えを、元資料に戻して確認する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54480"/>
            <a:ext cx="3474720" cy="704088"/>
          </a:xfrm>
          <a:prstGeom prst="rect">
            <a:avLst/>
          </a:prstGeom>
          <a:solidFill>
            <a:srgbClr val="132B39"/>
          </a:solidFill>
          <a:ln w="12700">
            <a:solidFill>
              <a:srgbClr val="132B3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86384" y="1709928"/>
            <a:ext cx="31821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項目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114800" y="1554480"/>
            <a:ext cx="3794760" cy="704088"/>
          </a:xfrm>
          <a:prstGeom prst="rect">
            <a:avLst/>
          </a:prstGeom>
          <a:solidFill>
            <a:srgbClr val="132B39"/>
          </a:solidFill>
          <a:ln w="12700">
            <a:solidFill>
              <a:srgbClr val="132B3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261104" y="1709928"/>
            <a:ext cx="35021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資料にある内容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8" name="Shape 6"/>
          <p:cNvSpPr/>
          <p:nvPr/>
        </p:nvSpPr>
        <p:spPr>
          <a:xfrm>
            <a:off x="7909560" y="1554480"/>
            <a:ext cx="3639312" cy="704088"/>
          </a:xfrm>
          <a:prstGeom prst="rect">
            <a:avLst/>
          </a:prstGeom>
          <a:solidFill>
            <a:srgbClr val="132B39"/>
          </a:solidFill>
          <a:ln w="12700">
            <a:solidFill>
              <a:srgbClr val="132B3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055864" y="1709928"/>
            <a:ext cx="33467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自分の確認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40080" y="2258568"/>
            <a:ext cx="3474720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86384" y="2386584"/>
            <a:ext cx="31821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時間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4114800" y="2258568"/>
            <a:ext cx="3794760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261104" y="2386584"/>
            <a:ext cx="35021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13:30〜15:00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7909560" y="2258568"/>
            <a:ext cx="3639312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055864" y="2386584"/>
            <a:ext cx="33467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一致／不一致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640080" y="3017520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" y="3017520"/>
            <a:ext cx="3474720" cy="7589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86384" y="3145536"/>
            <a:ext cx="31821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会場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4114800" y="3017520"/>
            <a:ext cx="3794760" cy="7589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261104" y="3145536"/>
            <a:ext cx="35021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4号館402教室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7909560" y="3017520"/>
            <a:ext cx="3639312" cy="7589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055864" y="3145536"/>
            <a:ext cx="33467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一致／不一致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640080" y="3776472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0080" y="3776472"/>
            <a:ext cx="3474720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86384" y="3904488"/>
            <a:ext cx="31821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持ち物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4114800" y="3776472"/>
            <a:ext cx="3794760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261104" y="3904488"/>
            <a:ext cx="35021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PC・大学アカウント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7909560" y="3776472"/>
            <a:ext cx="3639312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055864" y="3904488"/>
            <a:ext cx="33467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一致／不一致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640080" y="453542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67512" y="5779008"/>
            <a:ext cx="10844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この表は確認用。AIの出力を見ずに「一致」と書かない。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32" name="Text 30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33" name="Text 31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第4回  06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資料にないことも聞いてみる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pic>
        <p:nvPicPr>
          <p:cNvPr id="4" name="Image 0" descr="Lucide keybo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499616"/>
            <a:ext cx="384048" cy="38404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280160" y="1490472"/>
            <a:ext cx="7315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AIに送ってみよう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Shape 3"/>
          <p:cNvSpPr/>
          <p:nvPr/>
        </p:nvSpPr>
        <p:spPr>
          <a:xfrm>
            <a:off x="640080" y="2084832"/>
            <a:ext cx="10908792" cy="2871216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0976" y="2350008"/>
            <a:ext cx="1028700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この会場にはコンセントがありますか。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資料から分かる範囲だけで答えてください。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pic>
        <p:nvPicPr>
          <p:cNvPr id="8" name="Image 1" descr="Lucide circle-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5230368"/>
            <a:ext cx="338328" cy="33832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25296" y="516636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「記載がない」と「コンセントがない」は違う。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6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7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第4回  07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分からないことを、断定しない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54480"/>
            <a:ext cx="5358384" cy="3986784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05256" y="1847088"/>
            <a:ext cx="4828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資料が支える答え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905256" y="2944368"/>
            <a:ext cx="482803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案内資料には、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コンセントの有無が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書かれていない。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Shape 5"/>
          <p:cNvSpPr/>
          <p:nvPr/>
        </p:nvSpPr>
        <p:spPr>
          <a:xfrm>
            <a:off x="6190488" y="1554480"/>
            <a:ext cx="5358384" cy="3986784"/>
          </a:xfrm>
          <a:prstGeom prst="rect">
            <a:avLst/>
          </a:prstGeom>
          <a:solidFill>
            <a:srgbClr val="FFF4E5"/>
          </a:solidFill>
          <a:ln w="12700">
            <a:solidFill>
              <a:srgbClr val="FFF4E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55664" y="1847088"/>
            <a:ext cx="4828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b="1" dirty="0">
                <a:solidFill>
                  <a:srgbClr val="B05D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資料では支えられない答え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6455664" y="2944368"/>
            <a:ext cx="482803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コンセントはありません。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または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全席にコンセントがあります。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9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第4回  08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画像を読んだ答えも、見比べる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17904"/>
            <a:ext cx="10908792" cy="4050792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pic>
        <p:nvPicPr>
          <p:cNvPr id="5" name="Image 0" descr="Lucide imag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832" y="1801368"/>
            <a:ext cx="438912" cy="43891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27632" y="1810512"/>
            <a:ext cx="9546336" cy="3639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文字の読み違いはないか。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表の見出しと値が対応しているか。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AIが読めない箇所は、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人が原画像を拡大して確認する。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Text 4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8" name="Text 5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第4回  09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答えを直すときは、根拠を付ける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pic>
        <p:nvPicPr>
          <p:cNvPr id="4" name="Image 0" descr="Lucide keybo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499616"/>
            <a:ext cx="384048" cy="38404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280160" y="1490472"/>
            <a:ext cx="7315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AIに送ってみよう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Shape 3"/>
          <p:cNvSpPr/>
          <p:nvPr/>
        </p:nvSpPr>
        <p:spPr>
          <a:xfrm>
            <a:off x="640080" y="2084832"/>
            <a:ext cx="10908792" cy="2871216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0976" y="2350008"/>
            <a:ext cx="1028700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会場は「402教室」です。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元資料の会場欄を確認して、表を修正してください。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ほかの項目も資料と一致しているか確認してください。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pic>
        <p:nvPicPr>
          <p:cNvPr id="8" name="Image 1" descr="Lucide circle-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5230368"/>
            <a:ext cx="338328" cy="33832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25296" y="516636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この依頼は誤りがあった場合の例。正しければ直さなくてよい。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6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7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第4回  10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今回の課題を仕上げる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pic>
        <p:nvPicPr>
          <p:cNvPr id="4" name="Image 0" descr="Lucide circle-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682496"/>
            <a:ext cx="402336" cy="40233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435608" y="1645920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日時・会場・持ち物を表にした。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6" name="Image 1" descr="Lucide circle-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633472"/>
            <a:ext cx="402336" cy="40233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435608" y="2596896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各項目を元資料で確認した。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8" name="Image 2" descr="Lucide circle-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584448"/>
            <a:ext cx="402336" cy="402336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435608" y="3547872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資料にない情報を1つ挙げた。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10" name="Image 3" descr="Lucide circle-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4535424"/>
            <a:ext cx="402336" cy="402336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1435608" y="4498848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AIの推測を、資料の事実と区別した。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12" name="Text 6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3" name="Text 7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第4回  11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成果物と確認したことを残す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54480"/>
            <a:ext cx="5257800" cy="4041648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pic>
        <p:nvPicPr>
          <p:cNvPr id="5" name="Image 0" descr="Lucide fold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3544" y="1828800"/>
            <a:ext cx="448056" cy="44805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72768" y="181965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week04/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Text 4"/>
          <p:cNvSpPr txBox="1"/>
          <p:nvPr/>
        </p:nvSpPr>
        <p:spPr>
          <a:xfrm>
            <a:off x="950976" y="2660904"/>
            <a:ext cx="45902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README.md：</a:t>
            </a:r>
            <a:endParaRPr lang="ja-JP" sz="22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確認表・資料にない情報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8" name="Text 5"/>
          <p:cNvSpPr txBox="1"/>
          <p:nvPr/>
        </p:nvSpPr>
        <p:spPr>
          <a:xfrm>
            <a:off x="6391656" y="1801368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READMEの利用記録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6"/>
          <p:cNvSpPr txBox="1"/>
          <p:nvPr/>
        </p:nvSpPr>
        <p:spPr>
          <a:xfrm>
            <a:off x="6400800" y="2779776"/>
            <a:ext cx="4809744" cy="2432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AIに任せたこと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自分で確かめたこと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確認できなかったこと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7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8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第4回  12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保存した版のURLを提出する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04088" y="1572768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1737360" y="1508760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GitHubで変更を確定する。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1737360" y="2212848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更新したファイルを確認し、commitする。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Shape 5"/>
          <p:cNvSpPr/>
          <p:nvPr/>
        </p:nvSpPr>
        <p:spPr>
          <a:xfrm>
            <a:off x="1737360" y="2752344"/>
            <a:ext cx="9738360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04088" y="2926080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1737360" y="2862072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そのcommitのページを開く。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1737360" y="3566160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URLに /commit/ があることを確認する。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1737360" y="4105656"/>
            <a:ext cx="9738360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04088" y="4279392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1737360" y="4215384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授業の提出フォームを送る。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1737360" y="4919472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大学アカウントで開き、Week 04を選ぶ。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15" name="Text 13"/>
          <p:cNvSpPr txBox="1"/>
          <p:nvPr/>
        </p:nvSpPr>
        <p:spPr>
          <a:xfrm>
            <a:off x="667512" y="5779008"/>
            <a:ext cx="10844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ブラウザでcommitした場合、別のpush操作は不要。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6" name="Text 14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7" name="Text 15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第4回  13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提出する前に、ここを確認する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pic>
        <p:nvPicPr>
          <p:cNvPr id="4" name="Image 0" descr="Lucide circle-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682496"/>
            <a:ext cx="402336" cy="40233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435608" y="1645920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元資料で確認した場所を書いた。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6" name="Image 1" descr="Lucide circle-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633472"/>
            <a:ext cx="402336" cy="40233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435608" y="2596896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日時と教室番号を照合した。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8" name="Image 2" descr="Lucide circle-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584448"/>
            <a:ext cx="402336" cy="402336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435608" y="3547872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資料にないことを勝手に断定していない。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10" name="Image 3" descr="Lucide circle-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4535424"/>
            <a:ext cx="402336" cy="402336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1435608" y="4498848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成果物のあるcommit URLを送った。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12" name="Text 6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3" name="Text 7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第4回  14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eiryo"/>
        <a:ea typeface="Meiryo"/>
        <a:cs typeface="Meiryo"/>
        <a:font script="Jpan" typeface="Meiryo"/>
        <a:font script="Hang" typeface="Meiryo"/>
        <a:font script="Hans" typeface="Meiryo"/>
        <a:font script="Hant" typeface="Meiryo"/>
        <a:font script="Arab" typeface="Meiryo"/>
        <a:font script="Hebr" typeface="Meiryo"/>
        <a:font script="Thai" typeface="Meiryo"/>
        <a:font script="Ethi" typeface="Meiryo"/>
        <a:font script="Beng" typeface="Meiryo"/>
        <a:font script="Gujr" typeface="Meiryo"/>
        <a:font script="Khmr" typeface="Meiryo"/>
        <a:font script="Knda" typeface="Meiryo"/>
        <a:font script="Guru" typeface="Meiryo"/>
        <a:font script="Cans" typeface="Meiryo"/>
        <a:font script="Cher" typeface="Meiryo"/>
        <a:font script="Yiii" typeface="Meiryo"/>
        <a:font script="Tibt" typeface="Meiryo"/>
        <a:font script="Thaa" typeface="Meiryo"/>
        <a:font script="Deva" typeface="Meiryo"/>
        <a:font script="Telu" typeface="Meiryo"/>
        <a:font script="Taml" typeface="Meiryo"/>
        <a:font script="Syrc" typeface="Meiryo"/>
        <a:font script="Orya" typeface="Meiryo"/>
        <a:font script="Mlym" typeface="Meiryo"/>
        <a:font script="Laoo" typeface="Meiryo"/>
        <a:font script="Sinh" typeface="Meiryo"/>
        <a:font script="Mong" typeface="Meiryo"/>
        <a:font script="Viet" typeface="Meiryo"/>
        <a:font script="Uigh" typeface="Meiryo"/>
        <a:font script="Geor" typeface="Meiryo"/>
        <a:font script="Armn" typeface="Meiryo"/>
        <a:font script="Bugi" typeface="Meiryo"/>
        <a:font script="Bopo" typeface="Meiryo"/>
        <a:font script="Java" typeface="Meiryo"/>
        <a:font script="Lisu" typeface="Meiryo"/>
        <a:font script="Mymr" typeface="Meiryo"/>
        <a:font script="Nkoo" typeface="Meiryo"/>
        <a:font script="Olck" typeface="Meiryo"/>
        <a:font script="Osma" typeface="Meiryo"/>
        <a:font script="Phag" typeface="Meiryo"/>
        <a:font script="Syrn" typeface="Meiryo"/>
        <a:font script="Syrj" typeface="Meiryo"/>
        <a:font script="Syre" typeface="Meiryo"/>
        <a:font script="Sora" typeface="Meiryo"/>
        <a:font script="Tale" typeface="Meiryo"/>
        <a:font script="Talu" typeface="Meiryo"/>
        <a:font script="Tfng" typeface="Meiryo"/>
      </a:majorFont>
      <a:minorFont>
        <a:latin typeface="Meiryo"/>
        <a:ea typeface="Meiryo"/>
        <a:cs typeface="Meiryo"/>
        <a:font script="Jpan" typeface="Meiryo"/>
        <a:font script="Hang" typeface="Meiryo"/>
        <a:font script="Hans" typeface="Meiryo"/>
        <a:font script="Hant" typeface="Meiryo"/>
        <a:font script="Arab" typeface="Meiryo"/>
        <a:font script="Hebr" typeface="Meiryo"/>
        <a:font script="Thai" typeface="Meiryo"/>
        <a:font script="Ethi" typeface="Meiryo"/>
        <a:font script="Beng" typeface="Meiryo"/>
        <a:font script="Gujr" typeface="Meiryo"/>
        <a:font script="Khmr" typeface="Meiryo"/>
        <a:font script="Knda" typeface="Meiryo"/>
        <a:font script="Guru" typeface="Meiryo"/>
        <a:font script="Cans" typeface="Meiryo"/>
        <a:font script="Cher" typeface="Meiryo"/>
        <a:font script="Yiii" typeface="Meiryo"/>
        <a:font script="Tibt" typeface="Meiryo"/>
        <a:font script="Thaa" typeface="Meiryo"/>
        <a:font script="Deva" typeface="Meiryo"/>
        <a:font script="Telu" typeface="Meiryo"/>
        <a:font script="Taml" typeface="Meiryo"/>
        <a:font script="Syrc" typeface="Meiryo"/>
        <a:font script="Orya" typeface="Meiryo"/>
        <a:font script="Mlym" typeface="Meiryo"/>
        <a:font script="Laoo" typeface="Meiryo"/>
        <a:font script="Sinh" typeface="Meiryo"/>
        <a:font script="Mong" typeface="Meiryo"/>
        <a:font script="Viet" typeface="Meiryo"/>
        <a:font script="Uigh" typeface="Meiryo"/>
        <a:font script="Geor" typeface="Meiryo"/>
        <a:font script="Armn" typeface="Meiryo"/>
        <a:font script="Bugi" typeface="Meiryo"/>
        <a:font script="Bopo" typeface="Meiryo"/>
        <a:font script="Java" typeface="Meiryo"/>
        <a:font script="Lisu" typeface="Meiryo"/>
        <a:font script="Mymr" typeface="Meiryo"/>
        <a:font script="Nkoo" typeface="Meiryo"/>
        <a:font script="Olck" typeface="Meiryo"/>
        <a:font script="Osma" typeface="Meiryo"/>
        <a:font script="Phag" typeface="Meiryo"/>
        <a:font script="Syrn" typeface="Meiryo"/>
        <a:font script="Syrj" typeface="Meiryo"/>
        <a:font script="Syre" typeface="Meiryo"/>
        <a:font script="Sora" typeface="Meiryo"/>
        <a:font script="Tale" typeface="Meiryo"/>
        <a:font script="Talu" typeface="Meiryo"/>
        <a:font script="Tfng" typeface="Meiryo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Tsuchiya Lab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資料に書いてあることを確かめる</dc:title>
  <dc:subject>AI・データリテラシー／学生向け演習</dc:subject>
  <dc:creator>Takahiro Tsuchiya</dc:creator>
  <cp:lastModifiedBy>Takahiro Tsuchiya</cp:lastModifiedBy>
  <cp:revision>1</cp:revision>
  <dcterms:created xsi:type="dcterms:W3CDTF">2026-09-17T11:31:39Z</dcterms:created>
  <dcterms:modified xsi:type="dcterms:W3CDTF">2026-09-17T11:31:39Z</dcterms:modified>
</cp:coreProperties>
</file>