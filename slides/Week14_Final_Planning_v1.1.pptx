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5282F153-3F37-0F45-9E97-73ACFA13230C}" type="datetimeFigureOut">
              <a:rPr lang="ja-JP">
                <a:latin typeface="Meiryo"/>
                <a:ea typeface="Meiryo"/>
                <a:cs typeface="Meiryo"/>
              </a:rPr>
              <a:t>7/23/19</a:t>
            </a:fld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>
                <a:latin typeface="Meiryo"/>
                <a:ea typeface="Meiryo"/>
                <a:cs typeface="Meiryo"/>
              </a:rPr>
              <a:t>Click to edit Master text styles</a:t>
            </a:r>
          </a:p>
          <a:p>
            <a:pPr lvl="1"/>
            <a:r>
              <a:rPr lang="ja-JP">
                <a:latin typeface="Meiryo"/>
                <a:ea typeface="Meiryo"/>
                <a:cs typeface="Meiryo"/>
              </a:rPr>
              <a:t>Second level</a:t>
            </a:r>
          </a:p>
          <a:p>
            <a:pPr lvl="2"/>
            <a:r>
              <a:rPr lang="ja-JP">
                <a:latin typeface="Meiryo"/>
                <a:ea typeface="Meiryo"/>
                <a:cs typeface="Meiryo"/>
              </a:rPr>
              <a:t>Third level</a:t>
            </a:r>
          </a:p>
          <a:p>
            <a:pPr lvl="3"/>
            <a:r>
              <a:rPr lang="ja-JP">
                <a:latin typeface="Meiryo"/>
                <a:ea typeface="Meiryo"/>
                <a:cs typeface="Meiryo"/>
              </a:rPr>
              <a:t>Fourth level</a:t>
            </a:r>
          </a:p>
          <a:p>
            <a:pPr lvl="4"/>
            <a:r>
              <a:rPr lang="ja-JP">
                <a:latin typeface="Meiryo"/>
                <a:ea typeface="Meiryo"/>
                <a:cs typeface="Meiryo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CE5E9CC1-C706-0F49-92D6-E571CC5EEA8F}" type="slidenum">
              <a:rPr lang="ja-JP">
                <a:latin typeface="Meiryo"/>
                <a:ea typeface="Meiryo"/>
                <a:cs typeface="Meiryo"/>
              </a:rPr>
              <a:t>‹#›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【進行】最終課題の問いを絞る / 1ページ
到達点：資料で答えられる問いを定め、確認方法と構成案を作る。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【進行】最終課題の問いを絞る / 2ページ
到達点：資料で答えられる問いを定め、確認方法と構成案を作る。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【進行】最終課題の問いを絞る / 3ページ
到達点：資料で答えられる問いを定め、確認方法と構成案を作る。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【進行】最終課題の問いを絞る / 4ページ
到達点：資料で答えられる問いを定め、確認方法と構成案を作る。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【進行】最終課題の問いを絞る / 5ページ
到達点：資料で答えられる問いを定め、確認方法と構成案を作る。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【進行】最終課題の問いを絞る / 6ページ
到達点：資料で答えられる問いを定め、確認方法と構成案を作る。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6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【進行】最終課題の問いを絞る / 7ページ
到達点：資料で答えられる問いを定め、確認方法と構成案を作る。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7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【進行】最終課題の問いを絞る / 8ページ
到達点：資料で答えられる問いを定め、確認方法と構成案を作る。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8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【進行】最終課題の問いを絞る / 9ページ
到達点：資料で答えられる問いを定め、確認方法と構成案を作る。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9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【進行】最終課題の問いを絞る / 10ページ
到達点：資料で答えられる問いを定め、確認方法と構成案を作る。
AIとの会話全文、共有リンク、無意味な再試行回数は求めない。変更が不要だった場合も確認した対象と結果を書けばよい。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10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【進行】最終課題の問いを絞る / 11ページ
到達点：資料で答えられる問いを定め、確認方法と構成案を作る。
Desktopを使った学生はPush origin後にGitHubで確認する。フォーム送信完了画面まで確認。教員の閲覧権限は別途必要。
操作に詰まった学生には、表示中の画面と止まった箇所を確認する。パスワードや認証コードは見せさせない。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【進行】最終課題の問いを絞る / 12ページ
到達点：資料で答えられる問いを定め、確認方法と構成案を作る。
このチェックは暗記テストではない。ファイルと画面を見ながら自己確認させる。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2" Type="http://schemas.openxmlformats.org/officeDocument/2006/relationships/theme" Target="../theme/theme1.xml" /><ns0:Relationship Id="rIdPersonalAuthorLogo" Type="http://schemas.openxmlformats.org/officeDocument/2006/relationships/image" Target="../media/personal-author-logo.png" /></ns0:Relationships>
</file>

<file path=ppt/slideMasters/slideMaster1.xml><?xml version="1.0" encoding="utf-8"?>
<p:sldMaster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3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60748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60748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image" Target="../media/image-1-1.png" /><ns0:Relationship Id="rId2" Type="http://schemas.openxmlformats.org/officeDocument/2006/relationships/slideLayout" Target="../slideLayouts/slideLayout1.xml" /><ns0:Relationship Id="rId3" Type="http://schemas.openxmlformats.org/officeDocument/2006/relationships/notesSlide" Target="../notesSlides/notesSlide1.xml" /><ns0:Relationship Id="rIdPersonalAuthorLogo" Type="http://schemas.openxmlformats.org/officeDocument/2006/relationships/image" Target="../media/personal-author-logo.png" /></ns0: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1.png"/><Relationship Id="rId3" Type="http://schemas.openxmlformats.org/officeDocument/2006/relationships/image" Target="../media/image-12-1.png"/><Relationship Id="rId4" Type="http://schemas.openxmlformats.org/officeDocument/2006/relationships/image" Target="../media/image-12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何を、何で確かめ、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どう伝える？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第14回｜最終課題の問いと資料を決め、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最初の下書きを作ります。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tar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Personal logo white backplate">
            <a:extLst>
              <a:ext uri="{FF2B5EF4-FFF2-40B4-BE49-F238E27FC236}">
                <ns3:creationId id="{1464D463-E5BC-4BFE-BD8A-CDCFE345671F}"/>
              </a:ext>
            </a:extLst>
          </p:cNvPr>
          <p:cNvSpPr>
            <a:spLocks noGrp="1"/>
          </p:cNvSpPr>
          <p:nvPr/>
        </p:nvSpPr>
        <p:spPr>
          <a:xfrm>
            <a:off x="685800" y="85725"/>
            <a:ext cx="1714500" cy="210503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10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11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AECFD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AECFD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今日は、提出できる計画まで進める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問いを1文で書く。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使える資料で答えられる範囲に絞る。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資料と確認方法を決める。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何を見れば答えられるか考える。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小さく試してから、計画を直す。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構成案と根拠の記録を作る。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  02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課題の進め方を選ぶ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ile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819656"/>
            <a:ext cx="530352" cy="5303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96112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A：資料を読む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896112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1つの資料から、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必要な内容を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説明する。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346448" y="1536192"/>
            <a:ext cx="3496056" cy="397764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9" name="Image 1" descr="Lucide sear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480" y="1819656"/>
            <a:ext cx="530352" cy="53035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02480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B：情報を調べる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02480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2つ以上の出典を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開いて照合する。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8052816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3" name="Image 2" descr="Lucide chart-colum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8848" y="1819656"/>
            <a:ext cx="530352" cy="5303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08848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C：データを扱う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8308848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配布CSVを集計し、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結果を説明する。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難しいテーマや有料機能を選ぶほど、高評価になるわけではない。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2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8" name="Text 13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  03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問いを、確かめられる大きさにする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広すぎる問い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AIは社会をどう変えるか。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資料も確認範囲も、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際限なく増えてしまう。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この課題で扱える問い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初めてAIを使う学生は、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講習会に何を準備すればよいか。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配布資料で確かめる。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  04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使う資料と、確認するものを組にする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47472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09928"/>
            <a:ext cx="31821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選ぶ課題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114800" y="1554480"/>
            <a:ext cx="379476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61104" y="1709928"/>
            <a:ext cx="3502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使う資料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909560" y="1554480"/>
            <a:ext cx="3639312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55864" y="1709928"/>
            <a:ext cx="33467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確認すること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0080" y="2258568"/>
            <a:ext cx="347472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2386584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A：案内資料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114800" y="2258568"/>
            <a:ext cx="3794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61104" y="2386584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配布PDF・本文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909560" y="2258568"/>
            <a:ext cx="36393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55864" y="2386584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日時・持ち物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40080" y="3017520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017520"/>
            <a:ext cx="347472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3145536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B：登録方法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114800" y="3017520"/>
            <a:ext cx="379476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261104" y="3145536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公式ページ2つ以上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909560" y="3017520"/>
            <a:ext cx="36393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55864" y="3145536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手順・適用条件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40080" y="3776472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776472"/>
            <a:ext cx="347472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6384" y="3904488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C：集計結果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114800" y="3776472"/>
            <a:ext cx="3794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261104" y="3904488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配布CSVと辞書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909560" y="3776472"/>
            <a:ext cx="36393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55864" y="3904488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列・人数・平均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0080" y="453542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  05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AIには、問いの範囲を点検させる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この問いに、手元の資料で答えられますか。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資料で確認できることと、追加資料が必要なことを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分けてください。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広すぎる場合は、問いを1つに絞ってください。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問いと資料を示す。AIの提案だけで、根拠が増えたことにはならない。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  06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最初の根拠ログを1行書く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47472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09928"/>
            <a:ext cx="31821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説明に使うこと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114800" y="1554480"/>
            <a:ext cx="379476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61104" y="1709928"/>
            <a:ext cx="3502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909560" y="1554480"/>
            <a:ext cx="3639312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55864" y="1709928"/>
            <a:ext cx="33467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自分の確認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0080" y="2258568"/>
            <a:ext cx="347472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2386584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必要な持ち物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114800" y="2258568"/>
            <a:ext cx="3794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61104" y="2386584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講習会案内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909560" y="2258568"/>
            <a:ext cx="36393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55864" y="2386584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持ち物欄と一致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40080" y="3017520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017520"/>
            <a:ext cx="347472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3145536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※この行は作成例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114800" y="3017520"/>
            <a:ext cx="379476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261104" y="3145536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自分の資料へ変更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909560" y="3017520"/>
            <a:ext cx="36393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55864" y="3145536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確認した箇所を書く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40080" y="3776472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長い引用ではなく、主張と根拠の対応を残す。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  07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計画を小さく試す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説明文の冒頭か、表を1つ作る。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完成版まで一気に作らなくてよい。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資料に戻って、1点確認する。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答えに必要な根拠があるかを見る。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計画を修正する。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資料が足りなければ、問いを狭くする。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  08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 14と最終課題は、別の提出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5" name="Image 0" descr="Lucide uplo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 14：問い・資料・確認方法・構成案。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最終課題：完成した成果物と根拠ログ。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最終課題フォームへ、別に提出します。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  09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成果物と確認したことを残す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257800" cy="4041648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28800"/>
            <a:ext cx="448056" cy="448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week14/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50976" y="266090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README.md：</a:t>
            </a:r>
            <a:endParaRPr lang="ja-JP" sz="2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計画・構成案・根拠1行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391656" y="180136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READMEの利用記録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6400800" y="2779776"/>
            <a:ext cx="480974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自分で確かめたこと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確認できなかったこと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  10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保存した版のURLを提出する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GitHubで変更を確定する。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更新したファイルを確認し、commitする。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そのcommitのページを開く。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URLに /commit/ があることを確認する。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授業の提出フォームを送る。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大学アカウントで開き、Week 14を選ぶ。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ブラウザでcommitした場合、別のpush操作は不要。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  11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提出する前に、ここを確認する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問いを1文で書いた。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使う資料と確認方法を示した。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最終課題の形式を決めた。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成果物のあるcommit URLを送った。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  12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ajorFont>
      <a:min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最終課題の問いを絞る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