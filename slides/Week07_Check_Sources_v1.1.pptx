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5282F153-3F37-0F45-9E97-73ACFA13230C}" type="datetimeFigureOut">
              <a:rPr lang="ja-JP">
                <a:latin typeface="Meiryo"/>
                <a:ea typeface="Meiryo"/>
                <a:cs typeface="Meiryo"/>
              </a:rPr>
              <a:t>7/23/19</a:t>
            </a:fld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ja-JP">
                <a:latin typeface="Meiryo"/>
                <a:ea typeface="Meiryo"/>
                <a:cs typeface="Meiryo"/>
              </a:rPr>
              <a:t>Click to edit Master text styles</a:t>
            </a:r>
          </a:p>
          <a:p>
            <a:pPr lvl="1"/>
            <a:r>
              <a:rPr lang="ja-JP">
                <a:latin typeface="Meiryo"/>
                <a:ea typeface="Meiryo"/>
                <a:cs typeface="Meiryo"/>
              </a:rPr>
              <a:t>Second level</a:t>
            </a:r>
          </a:p>
          <a:p>
            <a:pPr lvl="2"/>
            <a:r>
              <a:rPr lang="ja-JP">
                <a:latin typeface="Meiryo"/>
                <a:ea typeface="Meiryo"/>
                <a:cs typeface="Meiryo"/>
              </a:rPr>
              <a:t>Third level</a:t>
            </a:r>
          </a:p>
          <a:p>
            <a:pPr lvl="3"/>
            <a:r>
              <a:rPr lang="ja-JP">
                <a:latin typeface="Meiryo"/>
                <a:ea typeface="Meiryo"/>
                <a:cs typeface="Meiryo"/>
              </a:rPr>
              <a:t>Fourth level</a:t>
            </a:r>
          </a:p>
          <a:p>
            <a:pPr lvl="4"/>
            <a:r>
              <a:rPr lang="ja-JP">
                <a:latin typeface="Meiryo"/>
                <a:ea typeface="Meiryo"/>
                <a:cs typeface="Meiryo"/>
              </a:rP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CE5E9CC1-C706-0F49-92D6-E571CC5EEA8F}" type="slidenum">
              <a:rPr lang="ja-JP">
                <a:latin typeface="Meiryo"/>
                <a:ea typeface="Meiryo"/>
                <a:cs typeface="Meiryo"/>
              </a:rPr>
              <a:t>‹#›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【進行】出典を開いて答えを確かめる / 1ページ
到達点：AIの回答を出典に照らして確認し、その対応を残す。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【進行】出典を開いて答えを確かめる / 2ページ
到達点：AIの回答を出典に照らして確認し、その対応を残す。
スライドの指示に沿って操作を待つ。学生の画面で結果を確認してから次へ進む。
【参考資料】
OpenAI「ChatGPT capabilities overview」
https://help.openai.com/en/articles/9260256-chatgpt-capabilities-overview
確認日：2026-09-17
Google「Upload &amp; analyze files in Gemini Apps」
https://support.google.com/gemini/answer/14903178?co=GENIE.Platform%3DDesktop&amp;hl=en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【進行】出典を開いて答えを確かめる / 3ページ
到達点：AIの回答を出典に照らして確認し、その対応を残す。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【進行】出典を開いて答えを確かめる / 4ページ
到達点：AIの回答を出典に照らして確認し、その対応を残す。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【進行】出典を開いて答えを確かめる / 5ページ
到達点：AIの回答を出典に照らして確認し、その対応を残す。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【参考資料】
GitHub Docs「Creating an account on GitHub」
https://docs.github.com/en/account-and-profile/how-tos/account-management/creating-an-account-on-github
確認日：2026-09-17
GitHub Docs「Setting your commit email address」
https://docs.github.com/en/account-and-profile/how-tos/email-preferences/setting-your-commit-email-address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5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【進行】出典を開いて答えを確かめる / 6ページ
到達点：AIの回答を出典に照らして確認し、その対応を残す。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6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【進行】出典を開いて答えを確かめる / 7ページ
到達点：AIの回答を出典に照らして確認し、その対応を残す。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7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【進行】出典を開いて答えを確かめる / 8ページ
到達点：AIの回答を出典に照らして確認し、その対応を残す。
本文の大幅な転載は不要。必要な位置や短い要約で記録させる。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8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【進行】出典を開いて答えを確かめる / 9ページ
到達点：AIの回答を出典に照らして確認し、その対応を残す。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9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【進行】出典を開いて答えを確かめる / 10ページ
到達点：AIの回答を出典に照らして確認し、その対応を残す。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10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【進行】出典を開いて答えを確かめる / 11ページ
到達点：AIの回答を出典に照らして確認し、その対応を残す。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【進行】出典を開いて答えを確かめる / 12ページ
到達点：AIの回答を出典に照らして確認し、その対応を残す。
AIとの会話全文、共有リンク、無意味な再試行回数は求めない。変更が不要だった場合も確認した対象と結果を書けばよい。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【進行】出典を開いて答えを確かめる / 13ページ
到達点：AIの回答を出典に照らして確認し、その対応を残す。
Desktopを使った学生はPush origin後にGitHubで確認する。フォーム送信完了画面まで確認。教員の閲覧権限は別途必要。
操作に詰まった学生には、表示中の画面と止まった箇所を確認する。パスワードや認証コードは見せさせない。
【参考資料】
GitHub Docs「Editing files」
https://docs.github.com/en/repositories/working-with-files/managing-files/editing-files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【進行】出典を開いて答えを確かめる / 14ページ
到達点：AIの回答を出典に照らして確認し、その対応を残す。
このチェックは暗記テストではない。ファイルと画面を見ながら自己確認させる。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.xml" /><ns0:Relationship Id="rId2" Type="http://schemas.openxmlformats.org/officeDocument/2006/relationships/theme" Target="../theme/theme1.xml" /><ns0:Relationship Id="rIdPersonalAuthorLogo" Type="http://schemas.openxmlformats.org/officeDocument/2006/relationships/image" Target="../media/personal-author-logo.png" /></ns0:Relationships>
</file>

<file path=ppt/slideMasters/slideMaster1.xml><?xml version="1.0" encoding="utf-8"?>
<p:sldMaster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3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60748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60748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 lang="ja-JP">
          <a:solidFill>
            <a:schemeClr val="tx1"/>
          </a:solidFill>
          <a:latin typeface="Meiryo"/>
          <a:ea typeface="Meiryo"/>
          <a:cs typeface="Meiryo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Meiryo" pitchFamily="34" charset="0"/>
        <a:buChar char="•"/>
        <a:defRPr sz="32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742950" indent="-285750" algn="l" defTabSz="914400" rtl="0" eaLnBrk="1" latinLnBrk="0" hangingPunct="1">
        <a:spcBef>
          <a:spcPct val="20000"/>
        </a:spcBef>
        <a:buFont typeface="Meiryo" pitchFamily="34" charset="0"/>
        <a:buChar char="–"/>
        <a:defRPr sz="2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1143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4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600200" indent="-228600" algn="l" defTabSz="914400" rtl="0" eaLnBrk="1" latinLnBrk="0" hangingPunct="1">
        <a:spcBef>
          <a:spcPct val="20000"/>
        </a:spcBef>
        <a:buFont typeface="Meiryo" pitchFamily="34" charset="0"/>
        <a:buChar char="–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2057400" indent="-228600" algn="l" defTabSz="914400" rtl="0" eaLnBrk="1" latinLnBrk="0" hangingPunct="1">
        <a:spcBef>
          <a:spcPct val="20000"/>
        </a:spcBef>
        <a:buFont typeface="Meiryo" pitchFamily="34" charset="0"/>
        <a:buChar char="»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5146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9718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429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8862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9pPr>
    </p:bodyStyle>
    <p:otherStyle>
      <a:defPPr>
        <a:defRPr lang="ja-JP">
          <a:latin typeface="Meiryo"/>
          <a:ea typeface="Meiryo"/>
          <a:cs typeface="Meiryo"/>
        </a:defRPr>
      </a:defPPr>
      <a:lvl1pPr marL="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457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914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371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18288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2860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743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200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657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9pPr>
    </p:otherStyle>
  </p:txStyles>
</p:sldMaster>
</file>

<file path=ppt/slides/_rels/slide1.xml.rels><?xml version='1.0' encoding='utf-8'?>
<ns0:Relationships xmlns:ns0="http://schemas.openxmlformats.org/package/2006/relationships"><ns0:Relationship Id="rId1" Type="http://schemas.openxmlformats.org/officeDocument/2006/relationships/image" Target="../media/image-1-1.png" /><ns0:Relationship Id="rId2" Type="http://schemas.openxmlformats.org/officeDocument/2006/relationships/slideLayout" Target="../slideLayouts/slideLayout1.xml" /><ns0:Relationship Id="rId3" Type="http://schemas.openxmlformats.org/officeDocument/2006/relationships/notesSlide" Target="../notesSlides/notesSlide1.xml" /><ns0:Relationship Id="rIdPersonalAuthorLogo" Type="http://schemas.openxmlformats.org/officeDocument/2006/relationships/image" Target="../media/personal-author-logo-white.png" /></ns0: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1.png"/><Relationship Id="rId3" Type="http://schemas.openxmlformats.org/officeDocument/2006/relationships/image" Target="../media/image-11-1.png"/><Relationship Id="rId4" Type="http://schemas.openxmlformats.org/officeDocument/2006/relationships/image" Target="../media/image-11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1.png"/><Relationship Id="rId3" Type="http://schemas.openxmlformats.org/officeDocument/2006/relationships/image" Target="../media/image-14-1.png"/><Relationship Id="rId4" Type="http://schemas.openxmlformats.org/officeDocument/2006/relationships/image" Target="../media/image-14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 showMasterSp="0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55778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B1D6D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第07回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713232" y="1554480"/>
            <a:ext cx="9418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その答え、</a:t>
            </a:r>
            <a:endParaRPr lang="ja-JP" sz="4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出典にも書いてある？</a:t>
            </a:r>
            <a:endParaRPr lang="ja-JP" sz="4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749808" y="4169664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第7回｜AIが示した情報を、</a:t>
            </a:r>
            <a:endParaRPr lang="ja-JP" sz="26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元のページで確認します。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7" name="Image 0" descr="Lucide 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2" y="566928"/>
            <a:ext cx="841248" cy="8412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6281928"/>
            <a:ext cx="9144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大学生のためのAI・データリテラシー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" descr="TSUCHIYA TAKAHIRO white logo supplied in Brandeis cover; original bytes reused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3810000" y="109728"/>
            <a:ext cx="4572000" cy="561219"/>
          </a:xfrm>
          <a:prstGeom prst="rect">
            <a:avLst/>
          </a:prstGeom>
        </p:spPr>
      </p:pic>
      <p:sp>
        <p:nvSpPr>
          <p:cNvPr id="11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AECFD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AECFD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情報は、どこから来たのだろう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636776"/>
            <a:ext cx="5362956" cy="1819656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message-cir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892808"/>
            <a:ext cx="429768" cy="4297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542032"/>
            <a:ext cx="490575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モデルが学んだ内容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4"/>
          <p:cNvSpPr/>
          <p:nvPr/>
        </p:nvSpPr>
        <p:spPr>
          <a:xfrm>
            <a:off x="6185916" y="1636776"/>
            <a:ext cx="5362956" cy="1819656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8" name="Image 1" descr="Lucide file-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4516" y="1892808"/>
            <a:ext cx="429768" cy="42976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414516" y="2542032"/>
            <a:ext cx="490575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自分が渡した資料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640080" y="3657600"/>
            <a:ext cx="5362956" cy="1819656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11" name="Image 2" descr="Lucide sea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913632"/>
            <a:ext cx="429768" cy="42976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68680" y="4562856"/>
            <a:ext cx="490575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Webで検索した情報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Shape 8"/>
          <p:cNvSpPr/>
          <p:nvPr/>
        </p:nvSpPr>
        <p:spPr>
          <a:xfrm>
            <a:off x="6185916" y="3657600"/>
            <a:ext cx="5362956" cy="1819656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14" name="Image 3" descr="Lucide tab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4516" y="3913632"/>
            <a:ext cx="429768" cy="42976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414516" y="4562856"/>
            <a:ext cx="490575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接続先のデータ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0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会話の見た目が同じでも、使った情報源は異なる。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1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8" name="Text 12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第7回  02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今日は、2つの情報を確かめる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確かめる問いを決める。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更新される可能性のある、具体的な情報を選ぶ。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AIを入口にして出典を探す。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必要なら自分でWeb検索する。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元ページを開いて照合する。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発行元・更新日・該当箇所を記録する。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第7回  03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練習テーマ：GitHubの登録方法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5" name="Image 0" descr="Lucide git-bra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問い① 登録したメールは、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どのように確認するのか。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問い② 既存アカウントには、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別のメールを追加できるのか。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製品の仕様は変わる。調べた日と公式ページを残す。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第7回  04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AIに調べ方を頼む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GitHubの公式資料を使って、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メールの確認方法と、別のメールの追加方法を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調べてください。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根拠となるページを、項目ごとに示してください。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Web検索機能がなければ、自分で公式資料を探してAIに渡す。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第7回  05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出典リンクを開く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回答のリンクを実際に開く。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タイトルだけで確認済みにしない。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発行元を確認する。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公式GitHub Docsか、個人の解説かを区別する。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答えの根拠となる箇所を探す。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ページ内検索も使い、前後の説明を読む。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第7回  06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URLがあることと、根拠があることは違う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まだ確認していない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リンクが付いていた。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公式サイトの名前だった。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AIも正しいと言った。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確認したことが分かる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ページの該当段落を読んだ。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メール追加の手順が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AIの説明と一致していた。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第7回  07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確認記録は、この4項目で残す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338328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709928"/>
            <a:ext cx="3090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項目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23360" y="1554480"/>
            <a:ext cx="7525512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169664" y="1709928"/>
            <a:ext cx="7232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記録する内容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40080" y="2258568"/>
            <a:ext cx="338328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386584"/>
            <a:ext cx="3090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確認した情報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023360" y="2258568"/>
            <a:ext cx="75255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69664" y="2386584"/>
            <a:ext cx="72329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何について調べたか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40080" y="3017520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017520"/>
            <a:ext cx="338328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86384" y="3145536"/>
            <a:ext cx="3090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出典と発行元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023360" y="3017520"/>
            <a:ext cx="7525512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69664" y="3145536"/>
            <a:ext cx="72329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ページのURLと公開主体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40080" y="3776472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3776472"/>
            <a:ext cx="338328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6384" y="3904488"/>
            <a:ext cx="3090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日付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023360" y="3776472"/>
            <a:ext cx="75255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169664" y="3904488"/>
            <a:ext cx="72329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確認日と、分かれば更新日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40080" y="453542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4535424"/>
            <a:ext cx="338328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86384" y="4663440"/>
            <a:ext cx="3090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照合結果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4023360" y="4535424"/>
            <a:ext cx="7525512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169664" y="4663440"/>
            <a:ext cx="72329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一致・不一致・確認できず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40080" y="5294376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29" name="Text 2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第7回  08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出典が読めないときは、保留する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5" name="Image 0" descr="Lucide triangle-ale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リンク切れ、閲覧制限、内容の不一致。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別の公式資料を探すか、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「この出典では確認できなかった」と書く。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URLを作り足してはいけない。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第7回  09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食い違いがあれば、根拠を渡して直す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公式資料の次の箇所と、先ほどの説明が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一致していません。該当する説明だけを修正し、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確認できる内容と不明な内容を分けてください。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依頼の後に、確認した箇所の必要部分だけを貼る。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第7回  10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2つの情報について結論を出す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出典を2ページ以上、実際に開いた。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各情報と、その根拠の箇所を対応させた。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確認した日付を残した。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不一致や未確認の点を隠していない。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第7回  11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成果物と確認したことを残す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257800" cy="4041648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28800"/>
            <a:ext cx="448056" cy="448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72768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week07/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950976" y="2660904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README.md：</a:t>
            </a:r>
            <a:endParaRPr lang="ja-JP" sz="2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問い・答え・確認記録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391656" y="180136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READMEの利用記録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6400800" y="2779776"/>
            <a:ext cx="480974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自分で確かめたこと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確認できなかったこと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第7回  12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保存した版のURLを提出する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GitHubで変更を確定する。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更新したファイルを確認し、commitする。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そのcommitのページを開く。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URLに /commit/ があることを確認する。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授業の提出フォームを送る。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大学アカウントで開き、Week 07を選ぶ。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ブラウザでcommitした場合、別のpush操作は不要。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第7回  13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提出する前に、ここを確認する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2つの情報を元ページで照合した。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URLだけでなく確認結果も書いた。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検索できない場合は代替の手順を記録した。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成果物のあるcommit URLを送った。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第7回  14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ajorFont>
      <a:min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Tsuchiya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出典を開いて答えを確かめる</dc:title>
  <dc:subject>AI・データリテラシー／学生向け演習</dc:subject>
  <dc:creator>Takahiro Tsuchiya</dc:creator>
  <cp:lastModifiedBy>Takahiro Tsuchiya</cp:lastModifiedBy>
  <cp:revision>1</cp:revision>
  <dcterms:created xsi:type="dcterms:W3CDTF">2026-09-17T11:31:39Z</dcterms:created>
  <dcterms:modified xsi:type="dcterms:W3CDTF">2026-09-17T11:31:39Z</dcterms:modified>
</cp:coreProperties>
</file>