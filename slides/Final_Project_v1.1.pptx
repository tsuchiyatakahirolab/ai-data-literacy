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</p:sldIdLst>
  <p:notesMasterIdLst>
    <p:notesMasterId r:id="rId14"/>
  </p:notesMasterIdLst>
  <p:sldSz cx="12192000" cy="6858000"/>
  <p:notesSz cx="6858000" cy="12192000"/>
  <p:defaultTextStyle>
    <a:lvl1pPr marL="0" algn="l" defTabSz="914400" rtl="0" eaLnBrk="1" latinLnBrk="0" hangingPunct="1">
      <a:defRPr sz="1800" kern="1200" lang="ja-JP">
        <a:solidFill>
          <a:schemeClr val="tx1"/>
        </a:solidFill>
        <a:latin typeface="Meiryo"/>
        <a:ea typeface="Meiryo"/>
        <a:cs typeface="Meiryo"/>
      </a:defRPr>
    </a:lvl1pPr>
    <a:lvl2pPr marL="457200" algn="l" defTabSz="914400" rtl="0" eaLnBrk="1" latinLnBrk="0" hangingPunct="1">
      <a:defRPr sz="1800" kern="1200" lang="ja-JP">
        <a:solidFill>
          <a:schemeClr val="tx1"/>
        </a:solidFill>
        <a:latin typeface="Meiryo"/>
        <a:ea typeface="Meiryo"/>
        <a:cs typeface="Meiryo"/>
      </a:defRPr>
    </a:lvl2pPr>
    <a:lvl3pPr marL="914400" algn="l" defTabSz="914400" rtl="0" eaLnBrk="1" latinLnBrk="0" hangingPunct="1">
      <a:defRPr sz="1800" kern="1200" lang="ja-JP">
        <a:solidFill>
          <a:schemeClr val="tx1"/>
        </a:solidFill>
        <a:latin typeface="Meiryo"/>
        <a:ea typeface="Meiryo"/>
        <a:cs typeface="Meiryo"/>
      </a:defRPr>
    </a:lvl3pPr>
    <a:lvl4pPr marL="1371600" algn="l" defTabSz="914400" rtl="0" eaLnBrk="1" latinLnBrk="0" hangingPunct="1">
      <a:defRPr sz="1800" kern="1200" lang="ja-JP">
        <a:solidFill>
          <a:schemeClr val="tx1"/>
        </a:solidFill>
        <a:latin typeface="Meiryo"/>
        <a:ea typeface="Meiryo"/>
        <a:cs typeface="Meiryo"/>
      </a:defRPr>
    </a:lvl4pPr>
    <a:lvl5pPr marL="1828800" algn="l" defTabSz="914400" rtl="0" eaLnBrk="1" latinLnBrk="0" hangingPunct="1">
      <a:defRPr sz="1800" kern="1200" lang="ja-JP">
        <a:solidFill>
          <a:schemeClr val="tx1"/>
        </a:solidFill>
        <a:latin typeface="Meiryo"/>
        <a:ea typeface="Meiryo"/>
        <a:cs typeface="Meiryo"/>
      </a:defRPr>
    </a:lvl5pPr>
    <a:lvl6pPr marL="2286000" algn="l" defTabSz="914400" rtl="0" eaLnBrk="1" latinLnBrk="0" hangingPunct="1">
      <a:defRPr sz="1800" kern="1200" lang="ja-JP">
        <a:solidFill>
          <a:schemeClr val="tx1"/>
        </a:solidFill>
        <a:latin typeface="Meiryo"/>
        <a:ea typeface="Meiryo"/>
        <a:cs typeface="Meiryo"/>
      </a:defRPr>
    </a:lvl6pPr>
    <a:lvl7pPr marL="2743200" algn="l" defTabSz="914400" rtl="0" eaLnBrk="1" latinLnBrk="0" hangingPunct="1">
      <a:defRPr sz="1800" kern="1200" lang="ja-JP">
        <a:solidFill>
          <a:schemeClr val="tx1"/>
        </a:solidFill>
        <a:latin typeface="Meiryo"/>
        <a:ea typeface="Meiryo"/>
        <a:cs typeface="Meiryo"/>
      </a:defRPr>
    </a:lvl7pPr>
    <a:lvl8pPr marL="3200400" algn="l" defTabSz="914400" rtl="0" eaLnBrk="1" latinLnBrk="0" hangingPunct="1">
      <a:defRPr sz="1800" kern="1200" lang="ja-JP">
        <a:solidFill>
          <a:schemeClr val="tx1"/>
        </a:solidFill>
        <a:latin typeface="Meiryo"/>
        <a:ea typeface="Meiryo"/>
        <a:cs typeface="Meiryo"/>
      </a:defRPr>
    </a:lvl8pPr>
    <a:lvl9pPr marL="3657600" algn="l" defTabSz="914400" rtl="0" eaLnBrk="1" latinLnBrk="0" hangingPunct="1">
      <a:defRPr sz="1800" kern="1200" lang="ja-JP">
        <a:solidFill>
          <a:schemeClr val="tx1"/>
        </a:solidFill>
        <a:latin typeface="Meiryo"/>
        <a:ea typeface="Meiryo"/>
        <a:cs typeface="Meiryo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slide" Target="slides/slide11.xml"/><Relationship Id="rId13" Type="http://schemas.openxmlformats.org/officeDocument/2006/relationships/slide" Target="slides/slide12.xml"/><Relationship Id="rId14" Type="http://schemas.openxmlformats.org/officeDocument/2006/relationships/notesMaster" Target="notesMasters/notesMaster1.xml"/><Relationship Id="rId15" Type="http://schemas.openxmlformats.org/officeDocument/2006/relationships/presProps" Target="presProps.xml"/><Relationship Id="rId16" Type="http://schemas.openxmlformats.org/officeDocument/2006/relationships/viewProps" Target="viewProps.xml"/><Relationship Id="rId17" Type="http://schemas.openxmlformats.org/officeDocument/2006/relationships/theme" Target="theme/theme1.xml"/><Relationship Id="rId18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 lang="ja-JP">
                <a:latin typeface="Meiryo"/>
                <a:ea typeface="Meiryo"/>
                <a:cs typeface="Meiryo"/>
              </a:defRPr>
            </a:lvl1pPr>
          </a:lstStyle>
          <a:p>
            <a:endParaRPr lang="ja-JP">
              <a:latin typeface="Meiryo"/>
              <a:ea typeface="Meiryo"/>
              <a:cs typeface="Meiryo"/>
            </a:endParaRPr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 lang="ja-JP">
                <a:latin typeface="Meiryo"/>
                <a:ea typeface="Meiryo"/>
                <a:cs typeface="Meiryo"/>
              </a:defRPr>
            </a:lvl1pPr>
          </a:lstStyle>
          <a:p>
            <a:fld id="{5282F153-3F37-0F45-9E97-73ACFA13230C}" type="datetimeFigureOut">
              <a:rPr lang="ja-JP">
                <a:latin typeface="Meiryo"/>
                <a:ea typeface="Meiryo"/>
                <a:cs typeface="Meiryo"/>
              </a:rPr>
              <a:t>7/23/19</a:t>
            </a:fld>
            <a:endParaRPr lang="ja-JP">
              <a:latin typeface="Meiryo"/>
              <a:ea typeface="Meiryo"/>
              <a:cs typeface="Meiryo"/>
            </a:endParaRPr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ja-JP">
              <a:latin typeface="Meiryo"/>
              <a:ea typeface="Meiryo"/>
              <a:cs typeface="Meiryo"/>
            </a:endParaRPr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ja-JP">
                <a:latin typeface="Meiryo"/>
                <a:ea typeface="Meiryo"/>
                <a:cs typeface="Meiryo"/>
              </a:rPr>
              <a:t>Click to edit Master text styles</a:t>
            </a:r>
          </a:p>
          <a:p>
            <a:pPr lvl="1"/>
            <a:r>
              <a:rPr lang="ja-JP">
                <a:latin typeface="Meiryo"/>
                <a:ea typeface="Meiryo"/>
                <a:cs typeface="Meiryo"/>
              </a:rPr>
              <a:t>Second level</a:t>
            </a:r>
          </a:p>
          <a:p>
            <a:pPr lvl="2"/>
            <a:r>
              <a:rPr lang="ja-JP">
                <a:latin typeface="Meiryo"/>
                <a:ea typeface="Meiryo"/>
                <a:cs typeface="Meiryo"/>
              </a:rPr>
              <a:t>Third level</a:t>
            </a:r>
          </a:p>
          <a:p>
            <a:pPr lvl="3"/>
            <a:r>
              <a:rPr lang="ja-JP">
                <a:latin typeface="Meiryo"/>
                <a:ea typeface="Meiryo"/>
                <a:cs typeface="Meiryo"/>
              </a:rPr>
              <a:t>Fourth level</a:t>
            </a:r>
          </a:p>
          <a:p>
            <a:pPr lvl="4"/>
            <a:r>
              <a:rPr lang="ja-JP">
                <a:latin typeface="Meiryo"/>
                <a:ea typeface="Meiryo"/>
                <a:cs typeface="Meiryo"/>
              </a:rPr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 lang="ja-JP">
                <a:latin typeface="Meiryo"/>
                <a:ea typeface="Meiryo"/>
                <a:cs typeface="Meiryo"/>
              </a:defRPr>
            </a:lvl1pPr>
          </a:lstStyle>
          <a:p>
            <a:endParaRPr lang="ja-JP">
              <a:latin typeface="Meiryo"/>
              <a:ea typeface="Meiryo"/>
              <a:cs typeface="Meiryo"/>
            </a:endParaRPr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 lang="ja-JP">
                <a:latin typeface="Meiryo"/>
                <a:ea typeface="Meiryo"/>
                <a:cs typeface="Meiryo"/>
              </a:defRPr>
            </a:lvl1pPr>
          </a:lstStyle>
          <a:p>
            <a:fld id="{CE5E9CC1-C706-0F49-92D6-E571CC5EEA8F}" type="slidenum">
              <a:rPr lang="ja-JP">
                <a:latin typeface="Meiryo"/>
                <a:ea typeface="Meiryo"/>
                <a:cs typeface="Meiryo"/>
              </a:rPr>
              <a:t>‹#›</a:t>
            </a:fld>
            <a:endParaRPr lang="ja-JP">
              <a:latin typeface="Meiryo"/>
              <a:ea typeface="Meiryo"/>
              <a:cs typeface="Meiryo"/>
            </a:endParaRPr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 lang="ja-JP">
        <a:solidFill>
          <a:schemeClr val="tx1"/>
        </a:solidFill>
        <a:latin typeface="Meiryo"/>
        <a:ea typeface="Meiryo"/>
        <a:cs typeface="Meiryo"/>
      </a:defRPr>
    </a:lvl1pPr>
    <a:lvl2pPr marL="457200" algn="l" defTabSz="914400" rtl="0" eaLnBrk="1" latinLnBrk="0" hangingPunct="1">
      <a:defRPr sz="1200" kern="1200" lang="ja-JP">
        <a:solidFill>
          <a:schemeClr val="tx1"/>
        </a:solidFill>
        <a:latin typeface="Meiryo"/>
        <a:ea typeface="Meiryo"/>
        <a:cs typeface="Meiryo"/>
      </a:defRPr>
    </a:lvl2pPr>
    <a:lvl3pPr marL="914400" algn="l" defTabSz="914400" rtl="0" eaLnBrk="1" latinLnBrk="0" hangingPunct="1">
      <a:defRPr sz="1200" kern="1200" lang="ja-JP">
        <a:solidFill>
          <a:schemeClr val="tx1"/>
        </a:solidFill>
        <a:latin typeface="Meiryo"/>
        <a:ea typeface="Meiryo"/>
        <a:cs typeface="Meiryo"/>
      </a:defRPr>
    </a:lvl3pPr>
    <a:lvl4pPr marL="1371600" algn="l" defTabSz="914400" rtl="0" eaLnBrk="1" latinLnBrk="0" hangingPunct="1">
      <a:defRPr sz="1200" kern="1200" lang="ja-JP">
        <a:solidFill>
          <a:schemeClr val="tx1"/>
        </a:solidFill>
        <a:latin typeface="Meiryo"/>
        <a:ea typeface="Meiryo"/>
        <a:cs typeface="Meiryo"/>
      </a:defRPr>
    </a:lvl4pPr>
    <a:lvl5pPr marL="1828800" algn="l" defTabSz="914400" rtl="0" eaLnBrk="1" latinLnBrk="0" hangingPunct="1">
      <a:defRPr sz="1200" kern="1200" lang="ja-JP">
        <a:solidFill>
          <a:schemeClr val="tx1"/>
        </a:solidFill>
        <a:latin typeface="Meiryo"/>
        <a:ea typeface="Meiryo"/>
        <a:cs typeface="Meiryo"/>
      </a:defRPr>
    </a:lvl5pPr>
    <a:lvl6pPr marL="2286000" algn="l" defTabSz="914400" rtl="0" eaLnBrk="1" latinLnBrk="0" hangingPunct="1">
      <a:defRPr sz="1200" kern="1200" lang="ja-JP">
        <a:solidFill>
          <a:schemeClr val="tx1"/>
        </a:solidFill>
        <a:latin typeface="Meiryo"/>
        <a:ea typeface="Meiryo"/>
        <a:cs typeface="Meiryo"/>
      </a:defRPr>
    </a:lvl6pPr>
    <a:lvl7pPr marL="2743200" algn="l" defTabSz="914400" rtl="0" eaLnBrk="1" latinLnBrk="0" hangingPunct="1">
      <a:defRPr sz="1200" kern="1200" lang="ja-JP">
        <a:solidFill>
          <a:schemeClr val="tx1"/>
        </a:solidFill>
        <a:latin typeface="Meiryo"/>
        <a:ea typeface="Meiryo"/>
        <a:cs typeface="Meiryo"/>
      </a:defRPr>
    </a:lvl7pPr>
    <a:lvl8pPr marL="3200400" algn="l" defTabSz="914400" rtl="0" eaLnBrk="1" latinLnBrk="0" hangingPunct="1">
      <a:defRPr sz="1200" kern="1200" lang="ja-JP">
        <a:solidFill>
          <a:schemeClr val="tx1"/>
        </a:solidFill>
        <a:latin typeface="Meiryo"/>
        <a:ea typeface="Meiryo"/>
        <a:cs typeface="Meiryo"/>
      </a:defRPr>
    </a:lvl8pPr>
    <a:lvl9pPr marL="3657600" algn="l" defTabSz="914400" rtl="0" eaLnBrk="1" latinLnBrk="0" hangingPunct="1">
      <a:defRPr sz="1200" kern="1200" lang="ja-JP">
        <a:solidFill>
          <a:schemeClr val="tx1"/>
        </a:solidFill>
        <a:latin typeface="Meiryo"/>
        <a:ea typeface="Meiryo"/>
        <a:cs typeface="Meiryo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_rels/notesSlide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.xml"/>
		</Relationships>
</file>

<file path=ppt/notesSlides/_rels/notesSlide1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0.xml"/>
		</Relationships>
</file>

<file path=ppt/notesSlides/_rels/notesSlide1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1.xml"/>
		</Relationships>
</file>

<file path=ppt/notesSlides/_rels/notesSlide1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2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ja-JP" dirty="0">
                <a:latin typeface="Meiryo"/>
                <a:ea typeface="Meiryo"/>
                <a:cs typeface="Meiryo"/>
              </a:rPr>
              <a:t>【進行】最終課題 / 1ページ
到達点：問い・根拠・成果物を対応させ、最終提出を完了する。
スライドの指示に沿って操作を待つ。学生の画面で結果を確認してから次へ進む。
【作成】本文・図形・表・数値表示はメイリオ指定。Lucideアイコンのライセンスはassets/icons/lucide/LICENSE.txtを参照。</a:t>
            </a:r>
            <a:endParaRPr lang="ja-JP" dirty="0">
              <a:latin typeface="Meiryo"/>
              <a:ea typeface="Meiryo"/>
              <a:cs typeface="Meiryo"/>
            </a:endParaRP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ja-JP">
                <a:latin typeface="Meiryo"/>
                <a:ea typeface="Meiryo"/>
                <a:cs typeface="Meiryo"/>
              </a:rPr>
              <a:t>1</a:t>
            </a:fld>
            <a:endParaRPr lang="ja-JP">
              <a:latin typeface="Meiryo"/>
              <a:ea typeface="Meiryo"/>
              <a:cs typeface="Meiryo"/>
            </a:endParaRPr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ja-JP" dirty="0">
                <a:latin typeface="Meiryo"/>
                <a:ea typeface="Meiryo"/>
                <a:cs typeface="Meiryo"/>
              </a:rPr>
              <a:t>【進行】最終課題 / 2ページ
到達点：問い・根拠・成果物を対応させ、最終提出を完了する。
スライドの指示に沿って操作を待つ。学生の画面で結果を確認してから次へ進む。
【作成】本文・図形・表・数値表示はメイリオ指定。Lucideアイコンのライセンスはassets/icons/lucide/LICENSE.txtを参照。</a:t>
            </a:r>
            <a:endParaRPr lang="ja-JP" dirty="0">
              <a:latin typeface="Meiryo"/>
              <a:ea typeface="Meiryo"/>
              <a:cs typeface="Meiryo"/>
            </a:endParaRP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ja-JP">
                <a:latin typeface="Meiryo"/>
                <a:ea typeface="Meiryo"/>
                <a:cs typeface="Meiryo"/>
              </a:rPr>
              <a:t>2</a:t>
            </a:fld>
            <a:endParaRPr lang="ja-JP">
              <a:latin typeface="Meiryo"/>
              <a:ea typeface="Meiryo"/>
              <a:cs typeface="Meiryo"/>
            </a:endParaRPr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ja-JP" dirty="0">
                <a:latin typeface="Meiryo"/>
                <a:ea typeface="Meiryo"/>
                <a:cs typeface="Meiryo"/>
              </a:rPr>
              <a:t>【進行】最終課題 / 3ページ
到達点：問い・根拠・成果物を対応させ、最終提出を完了する。
スライドの指示に沿って操作を待つ。学生の画面で結果を確認してから次へ進む。
【作成】本文・図形・表・数値表示はメイリオ指定。Lucideアイコンのライセンスはassets/icons/lucide/LICENSE.txtを参照。</a:t>
            </a:r>
            <a:endParaRPr lang="ja-JP" dirty="0">
              <a:latin typeface="Meiryo"/>
              <a:ea typeface="Meiryo"/>
              <a:cs typeface="Meiryo"/>
            </a:endParaRP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ja-JP">
                <a:latin typeface="Meiryo"/>
                <a:ea typeface="Meiryo"/>
                <a:cs typeface="Meiryo"/>
              </a:rPr>
              <a:t>3</a:t>
            </a:fld>
            <a:endParaRPr lang="ja-JP">
              <a:latin typeface="Meiryo"/>
              <a:ea typeface="Meiryo"/>
              <a:cs typeface="Meiryo"/>
            </a:endParaRPr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ja-JP" dirty="0">
                <a:latin typeface="Meiryo"/>
                <a:ea typeface="Meiryo"/>
                <a:cs typeface="Meiryo"/>
              </a:rPr>
              <a:t>【進行】最終課題 / 4ページ
到達点：問い・根拠・成果物を対応させ、最終提出を完了する。
スライドの指示に沿って操作を待つ。学生の画面で結果を確認してから次へ進む。
【作成】本文・図形・表・数値表示はメイリオ指定。Lucideアイコンのライセンスはassets/icons/lucide/LICENSE.txtを参照。</a:t>
            </a:r>
            <a:endParaRPr lang="ja-JP" dirty="0">
              <a:latin typeface="Meiryo"/>
              <a:ea typeface="Meiryo"/>
              <a:cs typeface="Meiryo"/>
            </a:endParaRP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ja-JP">
                <a:latin typeface="Meiryo"/>
                <a:ea typeface="Meiryo"/>
                <a:cs typeface="Meiryo"/>
              </a:rPr>
              <a:t>4</a:t>
            </a:fld>
            <a:endParaRPr lang="ja-JP">
              <a:latin typeface="Meiryo"/>
              <a:ea typeface="Meiryo"/>
              <a:cs typeface="Meiryo"/>
            </a:endParaRPr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ja-JP" dirty="0">
                <a:latin typeface="Meiryo"/>
                <a:ea typeface="Meiryo"/>
                <a:cs typeface="Meiryo"/>
              </a:rPr>
              <a:t>【進行】最終課題 / 5ページ
到達点：問い・根拠・成果物を対応させ、最終提出を完了する。
スライドの指示に沿って操作を待つ。学生の画面で結果を確認してから次へ進む。
操作に詰まった学生には、表示中の画面と止まった箇所を確認する。パスワードや認証コードは見せさせない。
【作成】本文・図形・表・数値表示はメイリオ指定。Lucideアイコンのライセンスはassets/icons/lucide/LICENSE.txtを参照。</a:t>
            </a:r>
            <a:endParaRPr lang="ja-JP" dirty="0">
              <a:latin typeface="Meiryo"/>
              <a:ea typeface="Meiryo"/>
              <a:cs typeface="Meiryo"/>
            </a:endParaRP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ja-JP">
                <a:latin typeface="Meiryo"/>
                <a:ea typeface="Meiryo"/>
                <a:cs typeface="Meiryo"/>
              </a:rPr>
              <a:t>5</a:t>
            </a:fld>
            <a:endParaRPr lang="ja-JP">
              <a:latin typeface="Meiryo"/>
              <a:ea typeface="Meiryo"/>
              <a:cs typeface="Meiryo"/>
            </a:endParaRPr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ja-JP" dirty="0">
                <a:latin typeface="Meiryo"/>
                <a:ea typeface="Meiryo"/>
                <a:cs typeface="Meiryo"/>
              </a:rPr>
              <a:t>【進行】最終課題 / 6ページ
到達点：問い・根拠・成果物を対応させ、最終提出を完了する。
スライドの指示に沿って操作を待つ。学生の画面で結果を確認してから次へ進む。
【作成】本文・図形・表・数値表示はメイリオ指定。Lucideアイコンのライセンスはassets/icons/lucide/LICENSE.txtを参照。</a:t>
            </a:r>
            <a:endParaRPr lang="ja-JP" dirty="0">
              <a:latin typeface="Meiryo"/>
              <a:ea typeface="Meiryo"/>
              <a:cs typeface="Meiryo"/>
            </a:endParaRP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ja-JP">
                <a:latin typeface="Meiryo"/>
                <a:ea typeface="Meiryo"/>
                <a:cs typeface="Meiryo"/>
              </a:rPr>
              <a:t>6</a:t>
            </a:fld>
            <a:endParaRPr lang="ja-JP">
              <a:latin typeface="Meiryo"/>
              <a:ea typeface="Meiryo"/>
              <a:cs typeface="Meiryo"/>
            </a:endParaRPr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ja-JP" dirty="0">
                <a:latin typeface="Meiryo"/>
                <a:ea typeface="Meiryo"/>
                <a:cs typeface="Meiryo"/>
              </a:rPr>
              <a:t>【進行】最終課題 / 7ページ
到達点：問い・根拠・成果物を対応させ、最終提出を完了する。
スライドの指示に沿って操作を待つ。学生の画面で結果を確認してから次へ進む。
【作成】本文・図形・表・数値表示はメイリオ指定。Lucideアイコンのライセンスはassets/icons/lucide/LICENSE.txtを参照。</a:t>
            </a:r>
            <a:endParaRPr lang="ja-JP" dirty="0">
              <a:latin typeface="Meiryo"/>
              <a:ea typeface="Meiryo"/>
              <a:cs typeface="Meiryo"/>
            </a:endParaRP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ja-JP">
                <a:latin typeface="Meiryo"/>
                <a:ea typeface="Meiryo"/>
                <a:cs typeface="Meiryo"/>
              </a:rPr>
              <a:t>7</a:t>
            </a:fld>
            <a:endParaRPr lang="ja-JP">
              <a:latin typeface="Meiryo"/>
              <a:ea typeface="Meiryo"/>
              <a:cs typeface="Meiryo"/>
            </a:endParaRPr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ja-JP" dirty="0">
                <a:latin typeface="Meiryo"/>
                <a:ea typeface="Meiryo"/>
                <a:cs typeface="Meiryo"/>
              </a:rPr>
              <a:t>【進行】最終課題 / 8ページ
到達点：問い・根拠・成果物を対応させ、最終提出を完了する。
スライドの指示に沿って操作を待つ。学生の画面で結果を確認してから次へ進む。
【作成】本文・図形・表・数値表示はメイリオ指定。Lucideアイコンのライセンスはassets/icons/lucide/LICENSE.txtを参照。</a:t>
            </a:r>
            <a:endParaRPr lang="ja-JP" dirty="0">
              <a:latin typeface="Meiryo"/>
              <a:ea typeface="Meiryo"/>
              <a:cs typeface="Meiryo"/>
            </a:endParaRP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ja-JP">
                <a:latin typeface="Meiryo"/>
                <a:ea typeface="Meiryo"/>
                <a:cs typeface="Meiryo"/>
              </a:rPr>
              <a:t>8</a:t>
            </a:fld>
            <a:endParaRPr lang="ja-JP">
              <a:latin typeface="Meiryo"/>
              <a:ea typeface="Meiryo"/>
              <a:cs typeface="Meiryo"/>
            </a:endParaRPr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ja-JP" dirty="0">
                <a:latin typeface="Meiryo"/>
                <a:ea typeface="Meiryo"/>
                <a:cs typeface="Meiryo"/>
              </a:rPr>
              <a:t>【進行】最終課題 / 9ページ
到達点：問い・根拠・成果物を対応させ、最終提出を完了する。
スライドの指示に沿って操作を待つ。学生の画面で結果を確認してから次へ進む。
【作成】本文・図形・表・数値表示はメイリオ指定。Lucideアイコンのライセンスはassets/icons/lucide/LICENSE.txtを参照。</a:t>
            </a:r>
            <a:endParaRPr lang="ja-JP" dirty="0">
              <a:latin typeface="Meiryo"/>
              <a:ea typeface="Meiryo"/>
              <a:cs typeface="Meiryo"/>
            </a:endParaRP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ja-JP">
                <a:latin typeface="Meiryo"/>
                <a:ea typeface="Meiryo"/>
                <a:cs typeface="Meiryo"/>
              </a:rPr>
              <a:t>9</a:t>
            </a:fld>
            <a:endParaRPr lang="ja-JP">
              <a:latin typeface="Meiryo"/>
              <a:ea typeface="Meiryo"/>
              <a:cs typeface="Meiryo"/>
            </a:endParaRPr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ja-JP" dirty="0">
                <a:latin typeface="Meiryo"/>
                <a:ea typeface="Meiryo"/>
                <a:cs typeface="Meiryo"/>
              </a:rPr>
              <a:t>【進行】最終課題 / 10ページ
到達点：問い・根拠・成果物を対応させ、最終提出を完了する。
スライドの指示に沿って操作を待つ。学生の画面で結果を確認してから次へ進む。
操作に詰まった学生には、表示中の画面と止まった箇所を確認する。パスワードや認証コードは見せさせない。
【作成】本文・図形・表・数値表示はメイリオ指定。Lucideアイコンのライセンスはassets/icons/lucide/LICENSE.txtを参照。</a:t>
            </a:r>
            <a:endParaRPr lang="ja-JP" dirty="0">
              <a:latin typeface="Meiryo"/>
              <a:ea typeface="Meiryo"/>
              <a:cs typeface="Meiryo"/>
            </a:endParaRP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ja-JP">
                <a:latin typeface="Meiryo"/>
                <a:ea typeface="Meiryo"/>
                <a:cs typeface="Meiryo"/>
              </a:rPr>
              <a:t>10</a:t>
            </a:fld>
            <a:endParaRPr lang="ja-JP">
              <a:latin typeface="Meiryo"/>
              <a:ea typeface="Meiryo"/>
              <a:cs typeface="Meiryo"/>
            </a:endParaRPr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ja-JP" dirty="0">
                <a:latin typeface="Meiryo"/>
                <a:ea typeface="Meiryo"/>
                <a:cs typeface="Meiryo"/>
              </a:rPr>
              <a:t>【進行】最終課題 / 11ページ
到達点：問い・根拠・成果物を対応させ、最終提出を完了する。
スライドの指示に沿って操作を待つ。学生の画面で結果を確認してから次へ進む。
【作成】本文・図形・表・数値表示はメイリオ指定。Lucideアイコンのライセンスはassets/icons/lucide/LICENSE.txtを参照。</a:t>
            </a:r>
            <a:endParaRPr lang="ja-JP" dirty="0">
              <a:latin typeface="Meiryo"/>
              <a:ea typeface="Meiryo"/>
              <a:cs typeface="Meiryo"/>
            </a:endParaRP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ja-JP">
                <a:latin typeface="Meiryo"/>
                <a:ea typeface="Meiryo"/>
                <a:cs typeface="Meiryo"/>
              </a:rPr>
              <a:t>11</a:t>
            </a:fld>
            <a:endParaRPr lang="ja-JP">
              <a:latin typeface="Meiryo"/>
              <a:ea typeface="Meiryo"/>
              <a:cs typeface="Meiryo"/>
            </a:endParaRPr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ja-JP" dirty="0">
                <a:latin typeface="Meiryo"/>
                <a:ea typeface="Meiryo"/>
                <a:cs typeface="Meiryo"/>
              </a:rPr>
              <a:t>【進行】最終課題 / 12ページ
到達点：問い・根拠・成果物を対応させ、最終提出を完了する。
スライドの指示に沿って操作を待つ。学生の画面で結果を確認してから次へ進む。
【作成】本文・図形・表・数値表示はメイリオ指定。Lucideアイコンのライセンスはassets/icons/lucide/LICENSE.txtを参照。</a:t>
            </a:r>
            <a:endParaRPr lang="ja-JP" dirty="0">
              <a:latin typeface="Meiryo"/>
              <a:ea typeface="Meiryo"/>
              <a:cs typeface="Meiryo"/>
            </a:endParaRP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ja-JP">
                <a:latin typeface="Meiryo"/>
                <a:ea typeface="Meiryo"/>
                <a:cs typeface="Meiryo"/>
              </a:rPr>
              <a:t>12</a:t>
            </a:fld>
            <a:endParaRPr lang="ja-JP">
              <a:latin typeface="Meiryo"/>
              <a:ea typeface="Meiryo"/>
              <a:cs typeface="Meiryo"/>
            </a:endParaRPr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'1.0' encoding='utf-8'?>
<ns0:Relationships xmlns:ns0="http://schemas.openxmlformats.org/package/2006/relationships"><ns0:Relationship Id="rId1" Type="http://schemas.openxmlformats.org/officeDocument/2006/relationships/slideLayout" Target="../slideLayouts/slideLayout1.xml" /><ns0:Relationship Id="rId2" Type="http://schemas.openxmlformats.org/officeDocument/2006/relationships/theme" Target="../theme/theme1.xml" /><ns0:Relationship Id="rIdPersonalAuthorLogo" Type="http://schemas.openxmlformats.org/officeDocument/2006/relationships/image" Target="../media/personal-author-logo.png" /></ns0:Relationships>
</file>

<file path=ppt/slideMasters/slideMaster1.xml><?xml version="1.0" encoding="utf-8"?>
<p:sldMaster xmlns:a="http://schemas.openxmlformats.org/drawingml/2006/main" xmlns:ns3="http://schemas.microsoft.com/office/drawing/2014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"/>
          <p:cNvPicPr>
            <a:picLocks noChangeAspect="1"/>
          </p:cNvPicPr>
          <p:nvPr/>
        </p:nvPicPr>
        <p:blipFill>
          <a:blip r:embed="rIdPersonalAuthorLogo"/>
          <a:stretch/>
        </p:blipFill>
        <p:spPr>
          <a:xfrm>
            <a:off x="685800" y="85748"/>
            <a:ext cx="1714500" cy="210457"/>
          </a:xfrm>
          <a:prstGeom prst="rect">
            <a:avLst/>
          </a:prstGeom>
        </p:spPr>
      </p:pic>
      <p:sp>
        <p:nvSpPr>
          <p:cNvPr id="3" name="Personal author website">
            <a:extLst>
              <a:ext uri="{FF2B5EF4-FFF2-40B4-BE49-F238E27FC236}">
                <ns3:creationId id="{2B199CB2-0940-4D13-9CAC-E3F074FAA0ED}"/>
              </a:ext>
            </a:extLst>
          </p:cNvPr>
          <p:cNvSpPr>
            <a:spLocks noGrp="1"/>
          </p:cNvSpPr>
          <p:nvPr/>
        </p:nvSpPr>
        <p:spPr>
          <a:xfrm>
            <a:off x="6286500" y="6477000"/>
            <a:ext cx="4000500" cy="266700"/>
          </a:xfrm>
          <a:prstGeom prst="rect">
            <a:avLst/>
          </a:prstGeom>
          <a:noFill/>
          <a:ln w="0">
            <a:noFill/>
          </a:ln>
        </p:spPr>
        <p:txBody>
          <a:bodyPr>
            <a:noAutofit/>
          </a:bodyPr>
          <a:lstStyle/>
          <a:p>
            <a:pPr>
              <a:defRPr sz="1800">
                <a:solidFill>
                  <a:srgbClr val="607482"/>
                </a:solidFill>
                <a:latin typeface="Meiryo"/>
                <a:ea typeface="Meiryo"/>
                <a:cs typeface="Meiryo"/>
              </a:defRPr>
            </a:pPr>
            <a:r>
              <a:rPr sz="1800">
                <a:solidFill>
                  <a:srgbClr val="607482"/>
                </a:solidFill>
                <a:latin typeface="Meiryo"/>
                <a:ea typeface="Meiryo"/>
                <a:cs typeface="Meiryo"/>
              </a:rPr>
              <a:t>tsuchiyatakahiro.com</a:t>
            </a:r>
          </a:p>
        </p:txBody>
      </p:sp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 lang="ja-JP">
          <a:solidFill>
            <a:schemeClr val="tx1"/>
          </a:solidFill>
          <a:latin typeface="Meiryo"/>
          <a:ea typeface="Meiryo"/>
          <a:cs typeface="Meiryo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Meiryo" pitchFamily="34" charset="0"/>
        <a:buChar char="•"/>
        <a:defRPr sz="3200" kern="1200" lang="ja-JP">
          <a:solidFill>
            <a:schemeClr val="tx1"/>
          </a:solidFill>
          <a:latin typeface="Meiryo"/>
          <a:ea typeface="Meiryo"/>
          <a:cs typeface="Meiryo"/>
        </a:defRPr>
      </a:lvl1pPr>
      <a:lvl2pPr marL="742950" indent="-285750" algn="l" defTabSz="914400" rtl="0" eaLnBrk="1" latinLnBrk="0" hangingPunct="1">
        <a:spcBef>
          <a:spcPct val="20000"/>
        </a:spcBef>
        <a:buFont typeface="Meiryo" pitchFamily="34" charset="0"/>
        <a:buChar char="–"/>
        <a:defRPr sz="2800" kern="1200" lang="ja-JP">
          <a:solidFill>
            <a:schemeClr val="tx1"/>
          </a:solidFill>
          <a:latin typeface="Meiryo"/>
          <a:ea typeface="Meiryo"/>
          <a:cs typeface="Meiryo"/>
        </a:defRPr>
      </a:lvl2pPr>
      <a:lvl3pPr marL="1143000" indent="-228600" algn="l" defTabSz="914400" rtl="0" eaLnBrk="1" latinLnBrk="0" hangingPunct="1">
        <a:spcBef>
          <a:spcPct val="20000"/>
        </a:spcBef>
        <a:buFont typeface="Meiryo" pitchFamily="34" charset="0"/>
        <a:buChar char="•"/>
        <a:defRPr sz="2400" kern="1200" lang="ja-JP">
          <a:solidFill>
            <a:schemeClr val="tx1"/>
          </a:solidFill>
          <a:latin typeface="Meiryo"/>
          <a:ea typeface="Meiryo"/>
          <a:cs typeface="Meiryo"/>
        </a:defRPr>
      </a:lvl3pPr>
      <a:lvl4pPr marL="1600200" indent="-228600" algn="l" defTabSz="914400" rtl="0" eaLnBrk="1" latinLnBrk="0" hangingPunct="1">
        <a:spcBef>
          <a:spcPct val="20000"/>
        </a:spcBef>
        <a:buFont typeface="Meiryo" pitchFamily="34" charset="0"/>
        <a:buChar char="–"/>
        <a:defRPr sz="2000" kern="1200" lang="ja-JP">
          <a:solidFill>
            <a:schemeClr val="tx1"/>
          </a:solidFill>
          <a:latin typeface="Meiryo"/>
          <a:ea typeface="Meiryo"/>
          <a:cs typeface="Meiryo"/>
        </a:defRPr>
      </a:lvl4pPr>
      <a:lvl5pPr marL="2057400" indent="-228600" algn="l" defTabSz="914400" rtl="0" eaLnBrk="1" latinLnBrk="0" hangingPunct="1">
        <a:spcBef>
          <a:spcPct val="20000"/>
        </a:spcBef>
        <a:buFont typeface="Meiryo" pitchFamily="34" charset="0"/>
        <a:buChar char="»"/>
        <a:defRPr sz="2000" kern="1200" lang="ja-JP">
          <a:solidFill>
            <a:schemeClr val="tx1"/>
          </a:solidFill>
          <a:latin typeface="Meiryo"/>
          <a:ea typeface="Meiryo"/>
          <a:cs typeface="Meiryo"/>
        </a:defRPr>
      </a:lvl5pPr>
      <a:lvl6pPr marL="2514600" indent="-228600" algn="l" defTabSz="914400" rtl="0" eaLnBrk="1" latinLnBrk="0" hangingPunct="1">
        <a:spcBef>
          <a:spcPct val="20000"/>
        </a:spcBef>
        <a:buFont typeface="Meiryo" pitchFamily="34" charset="0"/>
        <a:buChar char="•"/>
        <a:defRPr sz="2000" kern="1200" lang="ja-JP">
          <a:solidFill>
            <a:schemeClr val="tx1"/>
          </a:solidFill>
          <a:latin typeface="Meiryo"/>
          <a:ea typeface="Meiryo"/>
          <a:cs typeface="Meiryo"/>
        </a:defRPr>
      </a:lvl6pPr>
      <a:lvl7pPr marL="2971800" indent="-228600" algn="l" defTabSz="914400" rtl="0" eaLnBrk="1" latinLnBrk="0" hangingPunct="1">
        <a:spcBef>
          <a:spcPct val="20000"/>
        </a:spcBef>
        <a:buFont typeface="Meiryo" pitchFamily="34" charset="0"/>
        <a:buChar char="•"/>
        <a:defRPr sz="2000" kern="1200" lang="ja-JP">
          <a:solidFill>
            <a:schemeClr val="tx1"/>
          </a:solidFill>
          <a:latin typeface="Meiryo"/>
          <a:ea typeface="Meiryo"/>
          <a:cs typeface="Meiryo"/>
        </a:defRPr>
      </a:lvl7pPr>
      <a:lvl8pPr marL="3429000" indent="-228600" algn="l" defTabSz="914400" rtl="0" eaLnBrk="1" latinLnBrk="0" hangingPunct="1">
        <a:spcBef>
          <a:spcPct val="20000"/>
        </a:spcBef>
        <a:buFont typeface="Meiryo" pitchFamily="34" charset="0"/>
        <a:buChar char="•"/>
        <a:defRPr sz="2000" kern="1200" lang="ja-JP">
          <a:solidFill>
            <a:schemeClr val="tx1"/>
          </a:solidFill>
          <a:latin typeface="Meiryo"/>
          <a:ea typeface="Meiryo"/>
          <a:cs typeface="Meiryo"/>
        </a:defRPr>
      </a:lvl8pPr>
      <a:lvl9pPr marL="3886200" indent="-228600" algn="l" defTabSz="914400" rtl="0" eaLnBrk="1" latinLnBrk="0" hangingPunct="1">
        <a:spcBef>
          <a:spcPct val="20000"/>
        </a:spcBef>
        <a:buFont typeface="Meiryo" pitchFamily="34" charset="0"/>
        <a:buChar char="•"/>
        <a:defRPr sz="2000" kern="1200" lang="ja-JP">
          <a:solidFill>
            <a:schemeClr val="tx1"/>
          </a:solidFill>
          <a:latin typeface="Meiryo"/>
          <a:ea typeface="Meiryo"/>
          <a:cs typeface="Meiryo"/>
        </a:defRPr>
      </a:lvl9pPr>
    </p:bodyStyle>
    <p:otherStyle>
      <a:defPPr>
        <a:defRPr lang="ja-JP">
          <a:latin typeface="Meiryo"/>
          <a:ea typeface="Meiryo"/>
          <a:cs typeface="Meiryo"/>
        </a:defRPr>
      </a:defPPr>
      <a:lvl1pPr marL="0" algn="l" defTabSz="914400" rtl="0" eaLnBrk="1" latinLnBrk="0" hangingPunct="1">
        <a:defRPr sz="1800" kern="1200" lang="ja-JP">
          <a:solidFill>
            <a:schemeClr val="tx1"/>
          </a:solidFill>
          <a:latin typeface="Meiryo"/>
          <a:ea typeface="Meiryo"/>
          <a:cs typeface="Meiryo"/>
        </a:defRPr>
      </a:lvl1pPr>
      <a:lvl2pPr marL="457200" algn="l" defTabSz="914400" rtl="0" eaLnBrk="1" latinLnBrk="0" hangingPunct="1">
        <a:defRPr sz="1800" kern="1200" lang="ja-JP">
          <a:solidFill>
            <a:schemeClr val="tx1"/>
          </a:solidFill>
          <a:latin typeface="Meiryo"/>
          <a:ea typeface="Meiryo"/>
          <a:cs typeface="Meiryo"/>
        </a:defRPr>
      </a:lvl2pPr>
      <a:lvl3pPr marL="914400" algn="l" defTabSz="914400" rtl="0" eaLnBrk="1" latinLnBrk="0" hangingPunct="1">
        <a:defRPr sz="1800" kern="1200" lang="ja-JP">
          <a:solidFill>
            <a:schemeClr val="tx1"/>
          </a:solidFill>
          <a:latin typeface="Meiryo"/>
          <a:ea typeface="Meiryo"/>
          <a:cs typeface="Meiryo"/>
        </a:defRPr>
      </a:lvl3pPr>
      <a:lvl4pPr marL="1371600" algn="l" defTabSz="914400" rtl="0" eaLnBrk="1" latinLnBrk="0" hangingPunct="1">
        <a:defRPr sz="1800" kern="1200" lang="ja-JP">
          <a:solidFill>
            <a:schemeClr val="tx1"/>
          </a:solidFill>
          <a:latin typeface="Meiryo"/>
          <a:ea typeface="Meiryo"/>
          <a:cs typeface="Meiryo"/>
        </a:defRPr>
      </a:lvl4pPr>
      <a:lvl5pPr marL="1828800" algn="l" defTabSz="914400" rtl="0" eaLnBrk="1" latinLnBrk="0" hangingPunct="1">
        <a:defRPr sz="1800" kern="1200" lang="ja-JP">
          <a:solidFill>
            <a:schemeClr val="tx1"/>
          </a:solidFill>
          <a:latin typeface="Meiryo"/>
          <a:ea typeface="Meiryo"/>
          <a:cs typeface="Meiryo"/>
        </a:defRPr>
      </a:lvl5pPr>
      <a:lvl6pPr marL="2286000" algn="l" defTabSz="914400" rtl="0" eaLnBrk="1" latinLnBrk="0" hangingPunct="1">
        <a:defRPr sz="1800" kern="1200" lang="ja-JP">
          <a:solidFill>
            <a:schemeClr val="tx1"/>
          </a:solidFill>
          <a:latin typeface="Meiryo"/>
          <a:ea typeface="Meiryo"/>
          <a:cs typeface="Meiryo"/>
        </a:defRPr>
      </a:lvl6pPr>
      <a:lvl7pPr marL="2743200" algn="l" defTabSz="914400" rtl="0" eaLnBrk="1" latinLnBrk="0" hangingPunct="1">
        <a:defRPr sz="1800" kern="1200" lang="ja-JP">
          <a:solidFill>
            <a:schemeClr val="tx1"/>
          </a:solidFill>
          <a:latin typeface="Meiryo"/>
          <a:ea typeface="Meiryo"/>
          <a:cs typeface="Meiryo"/>
        </a:defRPr>
      </a:lvl7pPr>
      <a:lvl8pPr marL="3200400" algn="l" defTabSz="914400" rtl="0" eaLnBrk="1" latinLnBrk="0" hangingPunct="1">
        <a:defRPr sz="1800" kern="1200" lang="ja-JP">
          <a:solidFill>
            <a:schemeClr val="tx1"/>
          </a:solidFill>
          <a:latin typeface="Meiryo"/>
          <a:ea typeface="Meiryo"/>
          <a:cs typeface="Meiryo"/>
        </a:defRPr>
      </a:lvl8pPr>
      <a:lvl9pPr marL="3657600" algn="l" defTabSz="914400" rtl="0" eaLnBrk="1" latinLnBrk="0" hangingPunct="1">
        <a:defRPr sz="1800" kern="1200" lang="ja-JP">
          <a:solidFill>
            <a:schemeClr val="tx1"/>
          </a:solidFill>
          <a:latin typeface="Meiryo"/>
          <a:ea typeface="Meiryo"/>
          <a:cs typeface="Meiryo"/>
        </a:defRPr>
      </a:lvl9pPr>
    </p:otherStyle>
  </p:txStyles>
</p:sldMaster>
</file>

<file path=ppt/slides/_rels/slide1.xml.rels><?xml version='1.0' encoding='utf-8'?>
<ns0:Relationships xmlns:ns0="http://schemas.openxmlformats.org/package/2006/relationships"><ns0:Relationship Id="rId1" Type="http://schemas.openxmlformats.org/officeDocument/2006/relationships/image" Target="../media/image-1-1.png" /><ns0:Relationship Id="rId2" Type="http://schemas.openxmlformats.org/officeDocument/2006/relationships/slideLayout" Target="../slideLayouts/slideLayout1.xml" /><ns0:Relationship Id="rId3" Type="http://schemas.openxmlformats.org/officeDocument/2006/relationships/notesSlide" Target="../notesSlides/notesSlide1.xml" /><ns0:Relationship Id="rIdPersonalAuthorLogo" Type="http://schemas.openxmlformats.org/officeDocument/2006/relationships/image" Target="../media/personal-author-logo.png" /></ns0: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image" Target="../media/image-2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image" Target="../media/image-3-1.png"/><Relationship Id="rId2" Type="http://schemas.openxmlformats.org/officeDocument/2006/relationships/image" Target="../media/image-3-2.png"/><Relationship Id="rId3" Type="http://schemas.openxmlformats.org/officeDocument/2006/relationships/image" Target="../media/image-3-3.png"/><Relationship Id="rId4" Type="http://schemas.openxmlformats.org/officeDocument/2006/relationships/slideLayout" Target="../slideLayouts/slideLayout1.xml"/><Relationship Id="rId5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image" Target="../media/image-4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8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image" Target="../media/image-9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9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0.xml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1-1.png"/><Relationship Id="rId2" Type="http://schemas.openxmlformats.org/officeDocument/2006/relationships/image" Target="../media/image-11-1.png"/><Relationship Id="rId3" Type="http://schemas.openxmlformats.org/officeDocument/2006/relationships/image" Target="../media/image-11-1.png"/><Relationship Id="rId4" Type="http://schemas.openxmlformats.org/officeDocument/2006/relationships/image" Target="../media/image-11-1.png"/><Relationship Id="rId5" Type="http://schemas.openxmlformats.org/officeDocument/2006/relationships/slideLayout" Target="../slideLayouts/slideLayout1.xml"/><Relationship Id="rId6" Type="http://schemas.openxmlformats.org/officeDocument/2006/relationships/notesSlide" Target="../notesSlides/notesSlide11.xml"/></Relationships>
</file>

<file path=ppt/slides/_rels/slide12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2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2.xml"/></Relationships>
</file>

<file path=ppt/slides/slide1.xml><?xml version="1.0" encoding="utf-8"?>
<p:sld xmlns:a="http://schemas.openxmlformats.org/drawingml/2006/main" xmlns:ns3="http://schemas.microsoft.com/office/drawing/2014/main" xmlns:p="http://schemas.openxmlformats.org/presentationml/2006/main" xmlns:r="http://schemas.openxmlformats.org/officeDocument/2006/relationships">
  <p:cSld name="Slide 1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132B39"/>
          </a:solidFill>
          <a:ln w="12700">
            <a:solidFill>
              <a:srgbClr val="132B39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0" y="0"/>
            <a:ext cx="182880" cy="6858000"/>
          </a:xfrm>
          <a:prstGeom prst="rect">
            <a:avLst/>
          </a:prstGeom>
          <a:solidFill>
            <a:srgbClr val="007F82"/>
          </a:solidFill>
          <a:ln w="12700">
            <a:solidFill>
              <a:srgbClr val="007F82"/>
            </a:solidFill>
            <a:prstDash val="solid"/>
          </a:ln>
        </p:spPr>
      </p:sp>
      <p:sp>
        <p:nvSpPr>
          <p:cNvPr id="4" name="Text 2"/>
          <p:cNvSpPr txBox="1"/>
          <p:nvPr/>
        </p:nvSpPr>
        <p:spPr>
          <a:xfrm>
            <a:off x="713232" y="557784"/>
            <a:ext cx="548640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6000"/>
              </a:lnSpc>
              <a:buNone/>
            </a:pPr>
            <a:r>
              <a:rPr lang="ja-JP" altLang="en-US" sz="2600" dirty="0">
                <a:solidFill>
                  <a:srgbClr val="B1D6D5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最終課題</a:t>
            </a:r>
            <a:endParaRPr lang="ja-JP" sz="2600" dirty="0">
              <a:latin typeface="Meiryo"/>
              <a:ea typeface="Meiryo"/>
              <a:cs typeface="Meiryo"/>
            </a:endParaRPr>
          </a:p>
        </p:txBody>
      </p:sp>
      <p:sp>
        <p:nvSpPr>
          <p:cNvPr id="5" name="Text 3"/>
          <p:cNvSpPr txBox="1"/>
          <p:nvPr/>
        </p:nvSpPr>
        <p:spPr>
          <a:xfrm>
            <a:off x="713232" y="1554480"/>
            <a:ext cx="9418320" cy="22402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6000"/>
              </a:lnSpc>
              <a:buNone/>
            </a:pPr>
            <a:r>
              <a:rPr lang="ja-JP" altLang="en-US" sz="4200" b="1" dirty="0">
                <a:solidFill>
                  <a:srgbClr val="FFFFFF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根拠を確かめて、</a:t>
            </a:r>
            <a:endParaRPr lang="ja-JP" sz="4200" dirty="0">
              <a:latin typeface="Meiryo"/>
              <a:ea typeface="Meiryo"/>
              <a:cs typeface="Meiryo"/>
            </a:endParaRPr>
          </a:p>
          <a:p>
            <a:pPr indent="0" marL="0">
              <a:lnSpc>
                <a:spcPct val="106000"/>
              </a:lnSpc>
              <a:buNone/>
            </a:pPr>
            <a:r>
              <a:rPr lang="ja-JP" altLang="en-US" sz="4200" b="1" dirty="0">
                <a:solidFill>
                  <a:srgbClr val="FFFFFF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自分の成果物にする。</a:t>
            </a:r>
            <a:endParaRPr lang="ja-JP" sz="4200" dirty="0">
              <a:latin typeface="Meiryo"/>
              <a:ea typeface="Meiryo"/>
              <a:cs typeface="Meiryo"/>
            </a:endParaRPr>
          </a:p>
        </p:txBody>
      </p:sp>
      <p:sp>
        <p:nvSpPr>
          <p:cNvPr id="6" name="Text 4"/>
          <p:cNvSpPr txBox="1"/>
          <p:nvPr/>
        </p:nvSpPr>
        <p:spPr>
          <a:xfrm>
            <a:off x="749808" y="4169664"/>
            <a:ext cx="9692640" cy="11887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6000"/>
              </a:lnSpc>
              <a:buNone/>
            </a:pPr>
            <a:r>
              <a:rPr lang="ja-JP" altLang="en-US" sz="2600" dirty="0">
                <a:solidFill>
                  <a:srgbClr val="D9E7EC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最終課題｜AIと作った内容を確認し、</a:t>
            </a:r>
            <a:endParaRPr lang="ja-JP" sz="2600" dirty="0">
              <a:latin typeface="Meiryo"/>
              <a:ea typeface="Meiryo"/>
              <a:cs typeface="Meiryo"/>
            </a:endParaRPr>
          </a:p>
          <a:p>
            <a:pPr indent="0" marL="0">
              <a:lnSpc>
                <a:spcPct val="106000"/>
              </a:lnSpc>
              <a:buNone/>
            </a:pPr>
            <a:r>
              <a:rPr lang="ja-JP" altLang="en-US" sz="2600" dirty="0">
                <a:solidFill>
                  <a:srgbClr val="D9E7EC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初めて読む人へ伝えます。</a:t>
            </a:r>
            <a:endParaRPr lang="ja-JP" sz="2600" dirty="0">
              <a:latin typeface="Meiryo"/>
              <a:ea typeface="Meiryo"/>
              <a:cs typeface="Meiryo"/>
            </a:endParaRPr>
          </a:p>
        </p:txBody>
      </p:sp>
      <p:pic>
        <p:nvPicPr>
          <p:cNvPr id="7" name="Image 0" descr="Lucide circle-check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10497312" y="566928"/>
            <a:ext cx="841248" cy="841248"/>
          </a:xfrm>
          <a:prstGeom prst="rect">
            <a:avLst/>
          </a:prstGeom>
        </p:spPr>
      </p:pic>
      <p:sp>
        <p:nvSpPr>
          <p:cNvPr id="8" name="Text 5"/>
          <p:cNvSpPr txBox="1"/>
          <p:nvPr/>
        </p:nvSpPr>
        <p:spPr>
          <a:xfrm>
            <a:off x="749808" y="6281928"/>
            <a:ext cx="9144000" cy="33832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6000"/>
              </a:lnSpc>
              <a:buNone/>
            </a:pPr>
            <a:r>
              <a:rPr lang="ja-JP" altLang="en-US" sz="1800" dirty="0">
                <a:solidFill>
                  <a:srgbClr val="D9E7EC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大学生のためのAI・データリテラシー</a:t>
            </a:r>
            <a:endParaRPr lang="ja-JP" sz="1800" dirty="0">
              <a:latin typeface="Meiryo"/>
              <a:ea typeface="Meiryo"/>
              <a:cs typeface="Meiryo"/>
            </a:endParaRPr>
          </a:p>
        </p:txBody>
      </p:sp>
      <p:sp>
        <p:nvSpPr>
          <p:cNvPr id="9" name="Personal logo white backplate">
            <a:extLst>
              <a:ext uri="{FF2B5EF4-FFF2-40B4-BE49-F238E27FC236}">
                <ns3:creationId id="{1464D463-E5BC-4BFE-BD8A-CDCFE345671F}"/>
              </a:ext>
            </a:extLst>
          </p:cNvPr>
          <p:cNvSpPr>
            <a:spLocks noGrp="1"/>
          </p:cNvSpPr>
          <p:nvPr/>
        </p:nvSpPr>
        <p:spPr>
          <a:xfrm>
            <a:off x="685800" y="85725"/>
            <a:ext cx="1714500" cy="210503"/>
          </a:xfrm>
          <a:prstGeom prst="rect">
            <a:avLst/>
          </a:prstGeom>
          <a:solidFill>
            <a:srgbClr val="FFFFFF"/>
          </a:solidFill>
          <a:ln w="0">
            <a:noFill/>
          </a:ln>
        </p:spPr>
      </p:sp>
      <p:pic>
        <p:nvPicPr>
          <p:cNvPr id="10" name=""/>
          <p:cNvPicPr>
            <a:picLocks noChangeAspect="1"/>
          </p:cNvPicPr>
          <p:nvPr/>
        </p:nvPicPr>
        <p:blipFill>
          <a:blip r:embed="rIdPersonalAuthorLogo"/>
          <a:stretch/>
        </p:blipFill>
        <p:spPr>
          <a:xfrm>
            <a:off x="685800" y="85748"/>
            <a:ext cx="1714500" cy="210457"/>
          </a:xfrm>
          <a:prstGeom prst="rect">
            <a:avLst/>
          </a:prstGeom>
        </p:spPr>
      </p:pic>
      <p:sp>
        <p:nvSpPr>
          <p:cNvPr id="11" name="Personal author website">
            <a:extLst>
              <a:ext uri="{FF2B5EF4-FFF2-40B4-BE49-F238E27FC236}">
                <ns3:creationId id="{2B199CB2-0940-4D13-9CAC-E3F074FAA0ED}"/>
              </a:ext>
            </a:extLst>
          </p:cNvPr>
          <p:cNvSpPr>
            <a:spLocks noGrp="1"/>
          </p:cNvSpPr>
          <p:nvPr/>
        </p:nvSpPr>
        <p:spPr>
          <a:xfrm>
            <a:off x="6286500" y="6477000"/>
            <a:ext cx="4000500" cy="266700"/>
          </a:xfrm>
          <a:prstGeom prst="rect">
            <a:avLst/>
          </a:prstGeom>
          <a:noFill/>
          <a:ln w="0">
            <a:noFill/>
          </a:ln>
        </p:spPr>
        <p:txBody>
          <a:bodyPr>
            <a:noAutofit/>
          </a:bodyPr>
          <a:lstStyle/>
          <a:p>
            <a:pPr>
              <a:defRPr sz="1800">
                <a:solidFill>
                  <a:srgbClr val="AECFD2"/>
                </a:solidFill>
                <a:latin typeface="Meiryo"/>
                <a:ea typeface="Meiryo"/>
                <a:cs typeface="Meiryo"/>
              </a:defRPr>
            </a:pPr>
            <a:r>
              <a:rPr sz="1800">
                <a:solidFill>
                  <a:srgbClr val="AECFD2"/>
                </a:solidFill>
                <a:latin typeface="Meiryo"/>
                <a:ea typeface="Meiryo"/>
                <a:cs typeface="Meiryo"/>
              </a:rPr>
              <a:t>tsuchiyatakahiro.com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621792" y="493776"/>
            <a:ext cx="10936224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6000"/>
              </a:lnSpc>
              <a:buNone/>
            </a:pPr>
            <a:r>
              <a:rPr lang="ja-JP" altLang="en-US" sz="3400" b="1" dirty="0">
                <a:solidFill>
                  <a:srgbClr val="1B2D3B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問いを1つ選び、完成させる</a:t>
            </a:r>
            <a:endParaRPr lang="ja-JP" sz="3400" dirty="0">
              <a:latin typeface="Meiryo"/>
              <a:ea typeface="Meiryo"/>
              <a:cs typeface="Meiryo"/>
            </a:endParaRPr>
          </a:p>
        </p:txBody>
      </p:sp>
      <p:sp>
        <p:nvSpPr>
          <p:cNvPr id="3" name="Shape 1"/>
          <p:cNvSpPr/>
          <p:nvPr/>
        </p:nvSpPr>
        <p:spPr>
          <a:xfrm>
            <a:off x="640080" y="1243584"/>
            <a:ext cx="10908792" cy="0"/>
          </a:xfrm>
          <a:prstGeom prst="line">
            <a:avLst/>
          </a:prstGeom>
          <a:noFill/>
          <a:ln w="12700">
            <a:solidFill>
              <a:srgbClr val="CBD7DC"/>
            </a:solidFill>
            <a:prstDash val="solid"/>
          </a:ln>
        </p:spPr>
      </p:sp>
      <p:sp>
        <p:nvSpPr>
          <p:cNvPr id="4" name="Shape 2"/>
          <p:cNvSpPr/>
          <p:nvPr/>
        </p:nvSpPr>
        <p:spPr>
          <a:xfrm>
            <a:off x="640080" y="1517904"/>
            <a:ext cx="10908792" cy="4050792"/>
          </a:xfrm>
          <a:prstGeom prst="rect">
            <a:avLst/>
          </a:prstGeom>
          <a:solidFill>
            <a:srgbClr val="EAF4F3"/>
          </a:solidFill>
          <a:ln w="12700">
            <a:solidFill>
              <a:srgbClr val="EAF4F3"/>
            </a:solidFill>
            <a:prstDash val="solid"/>
          </a:ln>
        </p:spPr>
      </p:sp>
      <p:pic>
        <p:nvPicPr>
          <p:cNvPr id="5" name="Image 0" descr="Lucide target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941832" y="1801368"/>
            <a:ext cx="438912" cy="438912"/>
          </a:xfrm>
          <a:prstGeom prst="rect">
            <a:avLst/>
          </a:prstGeom>
        </p:spPr>
      </p:pic>
      <p:sp>
        <p:nvSpPr>
          <p:cNvPr id="6" name="Text 3"/>
          <p:cNvSpPr txBox="1"/>
          <p:nvPr/>
        </p:nvSpPr>
        <p:spPr>
          <a:xfrm>
            <a:off x="1627632" y="1810512"/>
            <a:ext cx="9546336" cy="363931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6000"/>
              </a:lnSpc>
              <a:buNone/>
            </a:pPr>
            <a:r>
              <a:rPr lang="ja-JP" altLang="en-US" sz="2700" dirty="0">
                <a:solidFill>
                  <a:srgbClr val="1B2D3B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第14回で決めた問いに、資料を使って答える。</a:t>
            </a:r>
            <a:endParaRPr lang="ja-JP" sz="2700" dirty="0">
              <a:latin typeface="Meiryo"/>
              <a:ea typeface="Meiryo"/>
              <a:cs typeface="Meiryo"/>
            </a:endParaRPr>
          </a:p>
          <a:p>
            <a:pPr indent="0" marL="0">
              <a:lnSpc>
                <a:spcPct val="106000"/>
              </a:lnSpc>
              <a:buNone/>
            </a:pPr>
            <a:r>
              <a:rPr lang="ja-JP" altLang="en-US" sz="2700" dirty="0">
                <a:solidFill>
                  <a:srgbClr val="1B2D3B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AIに任せたことと、確認したことを残す。</a:t>
            </a:r>
            <a:endParaRPr lang="ja-JP" sz="2700" dirty="0">
              <a:latin typeface="Meiryo"/>
              <a:ea typeface="Meiryo"/>
              <a:cs typeface="Meiryo"/>
            </a:endParaRPr>
          </a:p>
          <a:p>
            <a:pPr indent="0" marL="0">
              <a:lnSpc>
                <a:spcPct val="106000"/>
              </a:lnSpc>
              <a:buNone/>
            </a:pPr>
            <a:endParaRPr lang="ja-JP" sz="2700" dirty="0">
              <a:latin typeface="Meiryo"/>
              <a:ea typeface="Meiryo"/>
              <a:cs typeface="Meiryo"/>
            </a:endParaRPr>
          </a:p>
          <a:p>
            <a:pPr indent="0" marL="0">
              <a:lnSpc>
                <a:spcPct val="106000"/>
              </a:lnSpc>
              <a:buNone/>
            </a:pPr>
            <a:r>
              <a:rPr lang="ja-JP" altLang="en-US" sz="2700" dirty="0">
                <a:solidFill>
                  <a:srgbClr val="1B2D3B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評価するのは、道具の豪華さではなく、</a:t>
            </a:r>
            <a:endParaRPr lang="ja-JP" sz="2700" dirty="0">
              <a:latin typeface="Meiryo"/>
              <a:ea typeface="Meiryo"/>
              <a:cs typeface="Meiryo"/>
            </a:endParaRPr>
          </a:p>
          <a:p>
            <a:pPr indent="0" marL="0">
              <a:lnSpc>
                <a:spcPct val="106000"/>
              </a:lnSpc>
              <a:buNone/>
            </a:pPr>
            <a:r>
              <a:rPr lang="ja-JP" altLang="en-US" sz="2700" dirty="0">
                <a:solidFill>
                  <a:srgbClr val="1B2D3B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問い・根拠・成果物が対応しているかです。</a:t>
            </a:r>
            <a:endParaRPr lang="ja-JP" sz="2700" dirty="0">
              <a:latin typeface="Meiryo"/>
              <a:ea typeface="Meiryo"/>
              <a:cs typeface="Meiryo"/>
            </a:endParaRPr>
          </a:p>
        </p:txBody>
      </p:sp>
      <p:sp>
        <p:nvSpPr>
          <p:cNvPr id="7" name="Text 4"/>
          <p:cNvSpPr txBox="1"/>
          <p:nvPr/>
        </p:nvSpPr>
        <p:spPr>
          <a:xfrm>
            <a:off x="667512" y="6428232"/>
            <a:ext cx="384048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6000"/>
              </a:lnSpc>
              <a:buNone/>
            </a:pPr>
            <a:r>
              <a:rPr lang="ja-JP" altLang="en-US" sz="1800" dirty="0">
                <a:solidFill>
                  <a:srgbClr val="4D626D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データ科学入門｜演習</a:t>
            </a:r>
            <a:endParaRPr lang="ja-JP" sz="1800" dirty="0">
              <a:latin typeface="Meiryo"/>
              <a:ea typeface="Meiryo"/>
              <a:cs typeface="Meiryo"/>
            </a:endParaRPr>
          </a:p>
        </p:txBody>
      </p:sp>
      <p:sp>
        <p:nvSpPr>
          <p:cNvPr id="8" name="Text 5"/>
          <p:cNvSpPr txBox="1"/>
          <p:nvPr/>
        </p:nvSpPr>
        <p:spPr>
          <a:xfrm>
            <a:off x="8412480" y="6428232"/>
            <a:ext cx="310896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lnSpc>
                <a:spcPct val="106000"/>
              </a:lnSpc>
              <a:buNone/>
            </a:pPr>
            <a:r>
              <a:rPr lang="ja-JP" altLang="en-US" sz="1800" dirty="0">
                <a:solidFill>
                  <a:srgbClr val="4D626D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最終課題  02 / 12</a:t>
            </a:r>
            <a:endParaRPr lang="ja-JP" sz="1800" dirty="0">
              <a:latin typeface="Meiryo"/>
              <a:ea typeface="Meiryo"/>
              <a:cs typeface="Meiryo"/>
            </a:endParaRP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621792" y="493776"/>
            <a:ext cx="10936224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6000"/>
              </a:lnSpc>
              <a:buNone/>
            </a:pPr>
            <a:r>
              <a:rPr lang="ja-JP" altLang="en-US" sz="3400" b="1" dirty="0">
                <a:solidFill>
                  <a:srgbClr val="1B2D3B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3つの進め方から選べる</a:t>
            </a:r>
            <a:endParaRPr lang="ja-JP" sz="3400" dirty="0">
              <a:latin typeface="Meiryo"/>
              <a:ea typeface="Meiryo"/>
              <a:cs typeface="Meiryo"/>
            </a:endParaRPr>
          </a:p>
        </p:txBody>
      </p:sp>
      <p:sp>
        <p:nvSpPr>
          <p:cNvPr id="3" name="Shape 1"/>
          <p:cNvSpPr/>
          <p:nvPr/>
        </p:nvSpPr>
        <p:spPr>
          <a:xfrm>
            <a:off x="640080" y="1243584"/>
            <a:ext cx="10908792" cy="0"/>
          </a:xfrm>
          <a:prstGeom prst="line">
            <a:avLst/>
          </a:prstGeom>
          <a:noFill/>
          <a:ln w="12700">
            <a:solidFill>
              <a:srgbClr val="CBD7DC"/>
            </a:solidFill>
            <a:prstDash val="solid"/>
          </a:ln>
        </p:spPr>
      </p:sp>
      <p:sp>
        <p:nvSpPr>
          <p:cNvPr id="4" name="Shape 2"/>
          <p:cNvSpPr/>
          <p:nvPr/>
        </p:nvSpPr>
        <p:spPr>
          <a:xfrm>
            <a:off x="640080" y="1536192"/>
            <a:ext cx="3496056" cy="3977640"/>
          </a:xfrm>
          <a:prstGeom prst="rect">
            <a:avLst/>
          </a:prstGeom>
          <a:solidFill>
            <a:srgbClr val="F7F8FA"/>
          </a:solidFill>
          <a:ln w="12700">
            <a:solidFill>
              <a:srgbClr val="F7F8FA"/>
            </a:solidFill>
            <a:prstDash val="solid"/>
          </a:ln>
        </p:spPr>
      </p:sp>
      <p:pic>
        <p:nvPicPr>
          <p:cNvPr id="5" name="Image 0" descr="Lucide file-text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896112" y="1819656"/>
            <a:ext cx="530352" cy="530352"/>
          </a:xfrm>
          <a:prstGeom prst="rect">
            <a:avLst/>
          </a:prstGeom>
        </p:spPr>
      </p:pic>
      <p:sp>
        <p:nvSpPr>
          <p:cNvPr id="6" name="Text 3"/>
          <p:cNvSpPr txBox="1"/>
          <p:nvPr/>
        </p:nvSpPr>
        <p:spPr>
          <a:xfrm>
            <a:off x="896112" y="2660904"/>
            <a:ext cx="2983992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6000"/>
              </a:lnSpc>
              <a:buNone/>
            </a:pPr>
            <a:r>
              <a:rPr lang="ja-JP" altLang="en-US" sz="2700" b="1" dirty="0">
                <a:solidFill>
                  <a:srgbClr val="1B2D3B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A：資料読解</a:t>
            </a:r>
            <a:endParaRPr lang="ja-JP" sz="2700" dirty="0">
              <a:latin typeface="Meiryo"/>
              <a:ea typeface="Meiryo"/>
              <a:cs typeface="Meiryo"/>
            </a:endParaRPr>
          </a:p>
        </p:txBody>
      </p:sp>
      <p:sp>
        <p:nvSpPr>
          <p:cNvPr id="7" name="Text 4"/>
          <p:cNvSpPr txBox="1"/>
          <p:nvPr/>
        </p:nvSpPr>
        <p:spPr>
          <a:xfrm>
            <a:off x="896112" y="3639312"/>
            <a:ext cx="2983992" cy="1600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6000"/>
              </a:lnSpc>
              <a:buNone/>
            </a:pPr>
            <a:r>
              <a:rPr lang="ja-JP" altLang="en-US" sz="2400" dirty="0">
                <a:solidFill>
                  <a:srgbClr val="1B2D3B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読み手に合わせて、</a:t>
            </a:r>
            <a:endParaRPr lang="ja-JP" sz="2400" dirty="0">
              <a:latin typeface="Meiryo"/>
              <a:ea typeface="Meiryo"/>
              <a:cs typeface="Meiryo"/>
            </a:endParaRPr>
          </a:p>
          <a:p>
            <a:pPr indent="0" marL="0">
              <a:lnSpc>
                <a:spcPct val="106000"/>
              </a:lnSpc>
              <a:buNone/>
            </a:pPr>
            <a:r>
              <a:rPr lang="ja-JP" altLang="en-US" sz="2400" dirty="0">
                <a:solidFill>
                  <a:srgbClr val="1B2D3B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資料の内容を</a:t>
            </a:r>
            <a:endParaRPr lang="ja-JP" sz="2400" dirty="0">
              <a:latin typeface="Meiryo"/>
              <a:ea typeface="Meiryo"/>
              <a:cs typeface="Meiryo"/>
            </a:endParaRPr>
          </a:p>
          <a:p>
            <a:pPr indent="0" marL="0">
              <a:lnSpc>
                <a:spcPct val="106000"/>
              </a:lnSpc>
              <a:buNone/>
            </a:pPr>
            <a:r>
              <a:rPr lang="ja-JP" altLang="en-US" sz="2400" dirty="0">
                <a:solidFill>
                  <a:srgbClr val="1B2D3B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伝える。</a:t>
            </a:r>
            <a:endParaRPr lang="ja-JP" sz="2400" dirty="0">
              <a:latin typeface="Meiryo"/>
              <a:ea typeface="Meiryo"/>
              <a:cs typeface="Meiryo"/>
            </a:endParaRPr>
          </a:p>
        </p:txBody>
      </p:sp>
      <p:sp>
        <p:nvSpPr>
          <p:cNvPr id="8" name="Shape 5"/>
          <p:cNvSpPr/>
          <p:nvPr/>
        </p:nvSpPr>
        <p:spPr>
          <a:xfrm>
            <a:off x="4346448" y="1536192"/>
            <a:ext cx="3496056" cy="3977640"/>
          </a:xfrm>
          <a:prstGeom prst="rect">
            <a:avLst/>
          </a:prstGeom>
          <a:solidFill>
            <a:srgbClr val="EAF4F3"/>
          </a:solidFill>
          <a:ln w="12700">
            <a:solidFill>
              <a:srgbClr val="EAF4F3"/>
            </a:solidFill>
            <a:prstDash val="solid"/>
          </a:ln>
        </p:spPr>
      </p:sp>
      <p:pic>
        <p:nvPicPr>
          <p:cNvPr id="9" name="Image 1" descr="Lucide search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602480" y="1819656"/>
            <a:ext cx="530352" cy="530352"/>
          </a:xfrm>
          <a:prstGeom prst="rect">
            <a:avLst/>
          </a:prstGeom>
        </p:spPr>
      </p:pic>
      <p:sp>
        <p:nvSpPr>
          <p:cNvPr id="10" name="Text 6"/>
          <p:cNvSpPr txBox="1"/>
          <p:nvPr/>
        </p:nvSpPr>
        <p:spPr>
          <a:xfrm>
            <a:off x="4602480" y="2660904"/>
            <a:ext cx="2983992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6000"/>
              </a:lnSpc>
              <a:buNone/>
            </a:pPr>
            <a:r>
              <a:rPr lang="ja-JP" altLang="en-US" sz="2700" b="1" dirty="0">
                <a:solidFill>
                  <a:srgbClr val="1B2D3B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B：出典確認</a:t>
            </a:r>
            <a:endParaRPr lang="ja-JP" sz="2700" dirty="0">
              <a:latin typeface="Meiryo"/>
              <a:ea typeface="Meiryo"/>
              <a:cs typeface="Meiryo"/>
            </a:endParaRPr>
          </a:p>
        </p:txBody>
      </p:sp>
      <p:sp>
        <p:nvSpPr>
          <p:cNvPr id="11" name="Text 7"/>
          <p:cNvSpPr txBox="1"/>
          <p:nvPr/>
        </p:nvSpPr>
        <p:spPr>
          <a:xfrm>
            <a:off x="4602480" y="3639312"/>
            <a:ext cx="2983992" cy="1600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6000"/>
              </a:lnSpc>
              <a:buNone/>
            </a:pPr>
            <a:r>
              <a:rPr lang="ja-JP" altLang="en-US" sz="2400" dirty="0">
                <a:solidFill>
                  <a:srgbClr val="1B2D3B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出典を照合して、</a:t>
            </a:r>
            <a:endParaRPr lang="ja-JP" sz="2400" dirty="0">
              <a:latin typeface="Meiryo"/>
              <a:ea typeface="Meiryo"/>
              <a:cs typeface="Meiryo"/>
            </a:endParaRPr>
          </a:p>
          <a:p>
            <a:pPr indent="0" marL="0">
              <a:lnSpc>
                <a:spcPct val="106000"/>
              </a:lnSpc>
              <a:buNone/>
            </a:pPr>
            <a:r>
              <a:rPr lang="ja-JP" altLang="en-US" sz="2400" dirty="0">
                <a:solidFill>
                  <a:srgbClr val="1B2D3B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確認結果を伝える。</a:t>
            </a:r>
            <a:endParaRPr lang="ja-JP" sz="2400" dirty="0">
              <a:latin typeface="Meiryo"/>
              <a:ea typeface="Meiryo"/>
              <a:cs typeface="Meiryo"/>
            </a:endParaRPr>
          </a:p>
        </p:txBody>
      </p:sp>
      <p:sp>
        <p:nvSpPr>
          <p:cNvPr id="12" name="Shape 8"/>
          <p:cNvSpPr/>
          <p:nvPr/>
        </p:nvSpPr>
        <p:spPr>
          <a:xfrm>
            <a:off x="8052816" y="1536192"/>
            <a:ext cx="3496056" cy="3977640"/>
          </a:xfrm>
          <a:prstGeom prst="rect">
            <a:avLst/>
          </a:prstGeom>
          <a:solidFill>
            <a:srgbClr val="F7F8FA"/>
          </a:solidFill>
          <a:ln w="12700">
            <a:solidFill>
              <a:srgbClr val="F7F8FA"/>
            </a:solidFill>
            <a:prstDash val="solid"/>
          </a:ln>
        </p:spPr>
      </p:sp>
      <p:pic>
        <p:nvPicPr>
          <p:cNvPr id="13" name="Image 2" descr="Lucide chart-column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8308848" y="1819656"/>
            <a:ext cx="530352" cy="530352"/>
          </a:xfrm>
          <a:prstGeom prst="rect">
            <a:avLst/>
          </a:prstGeom>
        </p:spPr>
      </p:pic>
      <p:sp>
        <p:nvSpPr>
          <p:cNvPr id="14" name="Text 9"/>
          <p:cNvSpPr txBox="1"/>
          <p:nvPr/>
        </p:nvSpPr>
        <p:spPr>
          <a:xfrm>
            <a:off x="8308848" y="2660904"/>
            <a:ext cx="2983992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6000"/>
              </a:lnSpc>
              <a:buNone/>
            </a:pPr>
            <a:r>
              <a:rPr lang="ja-JP" altLang="en-US" sz="2700" b="1" dirty="0">
                <a:solidFill>
                  <a:srgbClr val="1B2D3B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C：データ分析</a:t>
            </a:r>
            <a:endParaRPr lang="ja-JP" sz="2700" dirty="0">
              <a:latin typeface="Meiryo"/>
              <a:ea typeface="Meiryo"/>
              <a:cs typeface="Meiryo"/>
            </a:endParaRPr>
          </a:p>
        </p:txBody>
      </p:sp>
      <p:sp>
        <p:nvSpPr>
          <p:cNvPr id="15" name="Text 10"/>
          <p:cNvSpPr txBox="1"/>
          <p:nvPr/>
        </p:nvSpPr>
        <p:spPr>
          <a:xfrm>
            <a:off x="8308848" y="3639312"/>
            <a:ext cx="2983992" cy="1600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6000"/>
              </a:lnSpc>
              <a:buNone/>
            </a:pPr>
            <a:r>
              <a:rPr lang="ja-JP" altLang="en-US" sz="2400" dirty="0">
                <a:solidFill>
                  <a:srgbClr val="1B2D3B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集計を確かめて、</a:t>
            </a:r>
            <a:endParaRPr lang="ja-JP" sz="2400" dirty="0">
              <a:latin typeface="Meiryo"/>
              <a:ea typeface="Meiryo"/>
              <a:cs typeface="Meiryo"/>
            </a:endParaRPr>
          </a:p>
          <a:p>
            <a:pPr indent="0" marL="0">
              <a:lnSpc>
                <a:spcPct val="106000"/>
              </a:lnSpc>
              <a:buNone/>
            </a:pPr>
            <a:r>
              <a:rPr lang="ja-JP" altLang="en-US" sz="2400" dirty="0">
                <a:solidFill>
                  <a:srgbClr val="1B2D3B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結果と限界を書く。</a:t>
            </a:r>
            <a:endParaRPr lang="ja-JP" sz="2400" dirty="0">
              <a:latin typeface="Meiryo"/>
              <a:ea typeface="Meiryo"/>
              <a:cs typeface="Meiryo"/>
            </a:endParaRPr>
          </a:p>
        </p:txBody>
      </p:sp>
      <p:sp>
        <p:nvSpPr>
          <p:cNvPr id="16" name="Text 11"/>
          <p:cNvSpPr txBox="1"/>
          <p:nvPr/>
        </p:nvSpPr>
        <p:spPr>
          <a:xfrm>
            <a:off x="667512" y="6428232"/>
            <a:ext cx="384048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6000"/>
              </a:lnSpc>
              <a:buNone/>
            </a:pPr>
            <a:r>
              <a:rPr lang="ja-JP" altLang="en-US" sz="1800" dirty="0">
                <a:solidFill>
                  <a:srgbClr val="4D626D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データ科学入門｜演習</a:t>
            </a:r>
            <a:endParaRPr lang="ja-JP" sz="1800" dirty="0">
              <a:latin typeface="Meiryo"/>
              <a:ea typeface="Meiryo"/>
              <a:cs typeface="Meiryo"/>
            </a:endParaRPr>
          </a:p>
        </p:txBody>
      </p:sp>
      <p:sp>
        <p:nvSpPr>
          <p:cNvPr id="17" name="Text 12"/>
          <p:cNvSpPr txBox="1"/>
          <p:nvPr/>
        </p:nvSpPr>
        <p:spPr>
          <a:xfrm>
            <a:off x="8412480" y="6428232"/>
            <a:ext cx="310896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lnSpc>
                <a:spcPct val="106000"/>
              </a:lnSpc>
              <a:buNone/>
            </a:pPr>
            <a:r>
              <a:rPr lang="ja-JP" altLang="en-US" sz="1800" dirty="0">
                <a:solidFill>
                  <a:srgbClr val="4D626D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最終課題  03 / 12</a:t>
            </a:r>
            <a:endParaRPr lang="ja-JP" sz="1800" dirty="0">
              <a:latin typeface="Meiryo"/>
              <a:ea typeface="Meiryo"/>
              <a:cs typeface="Meiryo"/>
            </a:endParaRP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621792" y="493776"/>
            <a:ext cx="10936224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6000"/>
              </a:lnSpc>
              <a:buNone/>
            </a:pPr>
            <a:r>
              <a:rPr lang="ja-JP" altLang="en-US" sz="3400" b="1" dirty="0">
                <a:solidFill>
                  <a:srgbClr val="1B2D3B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形式は、伝えたい内容に合わせる</a:t>
            </a:r>
            <a:endParaRPr lang="ja-JP" sz="3400" dirty="0">
              <a:latin typeface="Meiryo"/>
              <a:ea typeface="Meiryo"/>
              <a:cs typeface="Meiryo"/>
            </a:endParaRPr>
          </a:p>
        </p:txBody>
      </p:sp>
      <p:sp>
        <p:nvSpPr>
          <p:cNvPr id="3" name="Shape 1"/>
          <p:cNvSpPr/>
          <p:nvPr/>
        </p:nvSpPr>
        <p:spPr>
          <a:xfrm>
            <a:off x="640080" y="1243584"/>
            <a:ext cx="10908792" cy="0"/>
          </a:xfrm>
          <a:prstGeom prst="line">
            <a:avLst/>
          </a:prstGeom>
          <a:noFill/>
          <a:ln w="12700">
            <a:solidFill>
              <a:srgbClr val="CBD7DC"/>
            </a:solidFill>
            <a:prstDash val="solid"/>
          </a:ln>
        </p:spPr>
      </p:sp>
      <p:sp>
        <p:nvSpPr>
          <p:cNvPr id="4" name="Shape 2"/>
          <p:cNvSpPr/>
          <p:nvPr/>
        </p:nvSpPr>
        <p:spPr>
          <a:xfrm>
            <a:off x="640080" y="1517904"/>
            <a:ext cx="10908792" cy="4050792"/>
          </a:xfrm>
          <a:prstGeom prst="rect">
            <a:avLst/>
          </a:prstGeom>
          <a:solidFill>
            <a:srgbClr val="EAF4F3"/>
          </a:solidFill>
          <a:ln w="12700">
            <a:solidFill>
              <a:srgbClr val="EAF4F3"/>
            </a:solidFill>
            <a:prstDash val="solid"/>
          </a:ln>
        </p:spPr>
      </p:sp>
      <p:pic>
        <p:nvPicPr>
          <p:cNvPr id="5" name="Image 0" descr="Lucide file-text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941832" y="1801368"/>
            <a:ext cx="438912" cy="438912"/>
          </a:xfrm>
          <a:prstGeom prst="rect">
            <a:avLst/>
          </a:prstGeom>
        </p:spPr>
      </p:pic>
      <p:sp>
        <p:nvSpPr>
          <p:cNvPr id="6" name="Text 3"/>
          <p:cNvSpPr txBox="1"/>
          <p:nvPr/>
        </p:nvSpPr>
        <p:spPr>
          <a:xfrm>
            <a:off x="1627632" y="1810512"/>
            <a:ext cx="9546336" cy="363931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6000"/>
              </a:lnSpc>
              <a:buNone/>
            </a:pPr>
            <a:r>
              <a:rPr lang="ja-JP" altLang="en-US" sz="2700" dirty="0">
                <a:solidFill>
                  <a:srgbClr val="1B2D3B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800〜1,200字の説明文、または</a:t>
            </a:r>
            <a:endParaRPr lang="ja-JP" sz="2700" dirty="0">
              <a:latin typeface="Meiryo"/>
              <a:ea typeface="Meiryo"/>
              <a:cs typeface="Meiryo"/>
            </a:endParaRPr>
          </a:p>
          <a:p>
            <a:pPr indent="0" marL="0">
              <a:lnSpc>
                <a:spcPct val="106000"/>
              </a:lnSpc>
              <a:buNone/>
            </a:pPr>
            <a:r>
              <a:rPr lang="ja-JP" altLang="en-US" sz="2700" dirty="0">
                <a:solidFill>
                  <a:srgbClr val="1B2D3B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同程度の内容を含む1枚資料・表・グラフ等。</a:t>
            </a:r>
            <a:endParaRPr lang="ja-JP" sz="2700" dirty="0">
              <a:latin typeface="Meiryo"/>
              <a:ea typeface="Meiryo"/>
              <a:cs typeface="Meiryo"/>
            </a:endParaRPr>
          </a:p>
          <a:p>
            <a:pPr indent="0" marL="0">
              <a:lnSpc>
                <a:spcPct val="106000"/>
              </a:lnSpc>
              <a:buNone/>
            </a:pPr>
            <a:endParaRPr lang="ja-JP" sz="2700" dirty="0">
              <a:latin typeface="Meiryo"/>
              <a:ea typeface="Meiryo"/>
              <a:cs typeface="Meiryo"/>
            </a:endParaRPr>
          </a:p>
          <a:p>
            <a:pPr indent="0" marL="0">
              <a:lnSpc>
                <a:spcPct val="106000"/>
              </a:lnSpc>
              <a:buNone/>
            </a:pPr>
            <a:r>
              <a:rPr lang="ja-JP" altLang="en-US" sz="2700" dirty="0">
                <a:solidFill>
                  <a:srgbClr val="1B2D3B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図表だけにせず、何を示すのか、</a:t>
            </a:r>
            <a:endParaRPr lang="ja-JP" sz="2700" dirty="0">
              <a:latin typeface="Meiryo"/>
              <a:ea typeface="Meiryo"/>
              <a:cs typeface="Meiryo"/>
            </a:endParaRPr>
          </a:p>
          <a:p>
            <a:pPr indent="0" marL="0">
              <a:lnSpc>
                <a:spcPct val="106000"/>
              </a:lnSpc>
              <a:buNone/>
            </a:pPr>
            <a:r>
              <a:rPr lang="ja-JP" altLang="en-US" sz="2700" dirty="0">
                <a:solidFill>
                  <a:srgbClr val="1B2D3B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何が言えないのかを説明します。</a:t>
            </a:r>
            <a:endParaRPr lang="ja-JP" sz="2700" dirty="0">
              <a:latin typeface="Meiryo"/>
              <a:ea typeface="Meiryo"/>
              <a:cs typeface="Meiryo"/>
            </a:endParaRPr>
          </a:p>
        </p:txBody>
      </p:sp>
      <p:sp>
        <p:nvSpPr>
          <p:cNvPr id="7" name="Text 4"/>
          <p:cNvSpPr txBox="1"/>
          <p:nvPr/>
        </p:nvSpPr>
        <p:spPr>
          <a:xfrm>
            <a:off x="667512" y="5779008"/>
            <a:ext cx="10844784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6000"/>
              </a:lnSpc>
              <a:buNone/>
            </a:pPr>
            <a:r>
              <a:rPr lang="ja-JP" altLang="en-US" sz="1800" dirty="0">
                <a:solidFill>
                  <a:srgbClr val="4D626D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締切と提出フォームは、授業ページで確認する。</a:t>
            </a:r>
            <a:endParaRPr lang="ja-JP" sz="1800" dirty="0">
              <a:latin typeface="Meiryo"/>
              <a:ea typeface="Meiryo"/>
              <a:cs typeface="Meiryo"/>
            </a:endParaRPr>
          </a:p>
        </p:txBody>
      </p:sp>
      <p:sp>
        <p:nvSpPr>
          <p:cNvPr id="8" name="Text 5"/>
          <p:cNvSpPr txBox="1"/>
          <p:nvPr/>
        </p:nvSpPr>
        <p:spPr>
          <a:xfrm>
            <a:off x="667512" y="6428232"/>
            <a:ext cx="384048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6000"/>
              </a:lnSpc>
              <a:buNone/>
            </a:pPr>
            <a:r>
              <a:rPr lang="ja-JP" altLang="en-US" sz="1800" dirty="0">
                <a:solidFill>
                  <a:srgbClr val="4D626D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データ科学入門｜演習</a:t>
            </a:r>
            <a:endParaRPr lang="ja-JP" sz="1800" dirty="0">
              <a:latin typeface="Meiryo"/>
              <a:ea typeface="Meiryo"/>
              <a:cs typeface="Meiryo"/>
            </a:endParaRPr>
          </a:p>
        </p:txBody>
      </p:sp>
      <p:sp>
        <p:nvSpPr>
          <p:cNvPr id="9" name="Text 6"/>
          <p:cNvSpPr txBox="1"/>
          <p:nvPr/>
        </p:nvSpPr>
        <p:spPr>
          <a:xfrm>
            <a:off x="8412480" y="6428232"/>
            <a:ext cx="310896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lnSpc>
                <a:spcPct val="106000"/>
              </a:lnSpc>
              <a:buNone/>
            </a:pPr>
            <a:r>
              <a:rPr lang="ja-JP" altLang="en-US" sz="1800" dirty="0">
                <a:solidFill>
                  <a:srgbClr val="4D626D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最終課題  04 / 12</a:t>
            </a:r>
            <a:endParaRPr lang="ja-JP" sz="1800" dirty="0">
              <a:latin typeface="Meiryo"/>
              <a:ea typeface="Meiryo"/>
              <a:cs typeface="Meiryo"/>
            </a:endParaRP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621792" y="493776"/>
            <a:ext cx="10936224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6000"/>
              </a:lnSpc>
              <a:buNone/>
            </a:pPr>
            <a:r>
              <a:rPr lang="ja-JP" altLang="en-US" sz="3400" b="1" dirty="0">
                <a:solidFill>
                  <a:srgbClr val="1B2D3B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完成まで、3つを確かめる</a:t>
            </a:r>
            <a:endParaRPr lang="ja-JP" sz="3400" dirty="0">
              <a:latin typeface="Meiryo"/>
              <a:ea typeface="Meiryo"/>
              <a:cs typeface="Meiryo"/>
            </a:endParaRPr>
          </a:p>
        </p:txBody>
      </p:sp>
      <p:sp>
        <p:nvSpPr>
          <p:cNvPr id="3" name="Shape 1"/>
          <p:cNvSpPr/>
          <p:nvPr/>
        </p:nvSpPr>
        <p:spPr>
          <a:xfrm>
            <a:off x="640080" y="1243584"/>
            <a:ext cx="10908792" cy="0"/>
          </a:xfrm>
          <a:prstGeom prst="line">
            <a:avLst/>
          </a:prstGeom>
          <a:noFill/>
          <a:ln w="12700">
            <a:solidFill>
              <a:srgbClr val="CBD7DC"/>
            </a:solidFill>
            <a:prstDash val="solid"/>
          </a:ln>
        </p:spPr>
      </p:sp>
      <p:sp>
        <p:nvSpPr>
          <p:cNvPr id="4" name="Text 2"/>
          <p:cNvSpPr txBox="1"/>
          <p:nvPr/>
        </p:nvSpPr>
        <p:spPr>
          <a:xfrm>
            <a:off x="704088" y="1572768"/>
            <a:ext cx="749808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6000"/>
              </a:lnSpc>
              <a:buNone/>
            </a:pPr>
            <a:r>
              <a:rPr lang="ja-JP" altLang="en-US" sz="3200" b="1" dirty="0">
                <a:solidFill>
                  <a:srgbClr val="007F82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01</a:t>
            </a:r>
            <a:endParaRPr lang="ja-JP" sz="3200" dirty="0">
              <a:latin typeface="Meiryo"/>
              <a:ea typeface="Meiryo"/>
              <a:cs typeface="Meiryo"/>
            </a:endParaRPr>
          </a:p>
        </p:txBody>
      </p:sp>
      <p:sp>
        <p:nvSpPr>
          <p:cNvPr id="5" name="Text 3"/>
          <p:cNvSpPr txBox="1"/>
          <p:nvPr/>
        </p:nvSpPr>
        <p:spPr>
          <a:xfrm>
            <a:off x="1737360" y="1508760"/>
            <a:ext cx="9235440" cy="62179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6000"/>
              </a:lnSpc>
              <a:buNone/>
            </a:pPr>
            <a:r>
              <a:rPr lang="ja-JP" altLang="en-US" sz="2800" b="1" dirty="0">
                <a:solidFill>
                  <a:srgbClr val="1B2D3B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問いに答えているか。</a:t>
            </a:r>
            <a:endParaRPr lang="ja-JP" sz="2800" dirty="0">
              <a:latin typeface="Meiryo"/>
              <a:ea typeface="Meiryo"/>
              <a:cs typeface="Meiryo"/>
            </a:endParaRPr>
          </a:p>
        </p:txBody>
      </p:sp>
      <p:sp>
        <p:nvSpPr>
          <p:cNvPr id="6" name="Text 4"/>
          <p:cNvSpPr txBox="1"/>
          <p:nvPr/>
        </p:nvSpPr>
        <p:spPr>
          <a:xfrm>
            <a:off x="1737360" y="2212848"/>
            <a:ext cx="9235440" cy="53035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6000"/>
              </a:lnSpc>
              <a:buNone/>
            </a:pPr>
            <a:r>
              <a:rPr lang="ja-JP" altLang="en-US" sz="2300" dirty="0">
                <a:solidFill>
                  <a:srgbClr val="4D626D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別の話題に広がっていないか。</a:t>
            </a:r>
            <a:endParaRPr lang="ja-JP" sz="2300" dirty="0">
              <a:latin typeface="Meiryo"/>
              <a:ea typeface="Meiryo"/>
              <a:cs typeface="Meiryo"/>
            </a:endParaRPr>
          </a:p>
        </p:txBody>
      </p:sp>
      <p:sp>
        <p:nvSpPr>
          <p:cNvPr id="7" name="Shape 5"/>
          <p:cNvSpPr/>
          <p:nvPr/>
        </p:nvSpPr>
        <p:spPr>
          <a:xfrm>
            <a:off x="1737360" y="2752344"/>
            <a:ext cx="9738360" cy="0"/>
          </a:xfrm>
          <a:prstGeom prst="line">
            <a:avLst/>
          </a:prstGeom>
          <a:noFill/>
          <a:ln w="12700">
            <a:solidFill>
              <a:srgbClr val="CBD7DC"/>
            </a:solidFill>
            <a:prstDash val="solid"/>
          </a:ln>
        </p:spPr>
      </p:sp>
      <p:sp>
        <p:nvSpPr>
          <p:cNvPr id="8" name="Text 6"/>
          <p:cNvSpPr txBox="1"/>
          <p:nvPr/>
        </p:nvSpPr>
        <p:spPr>
          <a:xfrm>
            <a:off x="704088" y="2926080"/>
            <a:ext cx="749808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6000"/>
              </a:lnSpc>
              <a:buNone/>
            </a:pPr>
            <a:r>
              <a:rPr lang="ja-JP" altLang="en-US" sz="3200" b="1" dirty="0">
                <a:solidFill>
                  <a:srgbClr val="007F82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02</a:t>
            </a:r>
            <a:endParaRPr lang="ja-JP" sz="3200" dirty="0">
              <a:latin typeface="Meiryo"/>
              <a:ea typeface="Meiryo"/>
              <a:cs typeface="Meiryo"/>
            </a:endParaRPr>
          </a:p>
        </p:txBody>
      </p:sp>
      <p:sp>
        <p:nvSpPr>
          <p:cNvPr id="9" name="Text 7"/>
          <p:cNvSpPr txBox="1"/>
          <p:nvPr/>
        </p:nvSpPr>
        <p:spPr>
          <a:xfrm>
            <a:off x="1737360" y="2862072"/>
            <a:ext cx="9235440" cy="62179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6000"/>
              </a:lnSpc>
              <a:buNone/>
            </a:pPr>
            <a:r>
              <a:rPr lang="ja-JP" altLang="en-US" sz="2800" b="1" dirty="0">
                <a:solidFill>
                  <a:srgbClr val="1B2D3B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主張や数字に根拠があるか。</a:t>
            </a:r>
            <a:endParaRPr lang="ja-JP" sz="2800" dirty="0">
              <a:latin typeface="Meiryo"/>
              <a:ea typeface="Meiryo"/>
              <a:cs typeface="Meiryo"/>
            </a:endParaRPr>
          </a:p>
        </p:txBody>
      </p:sp>
      <p:sp>
        <p:nvSpPr>
          <p:cNvPr id="10" name="Text 8"/>
          <p:cNvSpPr txBox="1"/>
          <p:nvPr/>
        </p:nvSpPr>
        <p:spPr>
          <a:xfrm>
            <a:off x="1737360" y="3566160"/>
            <a:ext cx="9235440" cy="53035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6000"/>
              </a:lnSpc>
              <a:buNone/>
            </a:pPr>
            <a:r>
              <a:rPr lang="ja-JP" altLang="en-US" sz="2300" dirty="0">
                <a:solidFill>
                  <a:srgbClr val="4D626D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自分で確認した箇所を示せるか。</a:t>
            </a:r>
            <a:endParaRPr lang="ja-JP" sz="2300" dirty="0">
              <a:latin typeface="Meiryo"/>
              <a:ea typeface="Meiryo"/>
              <a:cs typeface="Meiryo"/>
            </a:endParaRPr>
          </a:p>
        </p:txBody>
      </p:sp>
      <p:sp>
        <p:nvSpPr>
          <p:cNvPr id="11" name="Shape 9"/>
          <p:cNvSpPr/>
          <p:nvPr/>
        </p:nvSpPr>
        <p:spPr>
          <a:xfrm>
            <a:off x="1737360" y="4105656"/>
            <a:ext cx="9738360" cy="0"/>
          </a:xfrm>
          <a:prstGeom prst="line">
            <a:avLst/>
          </a:prstGeom>
          <a:noFill/>
          <a:ln w="12700">
            <a:solidFill>
              <a:srgbClr val="CBD7DC"/>
            </a:solidFill>
            <a:prstDash val="solid"/>
          </a:ln>
        </p:spPr>
      </p:sp>
      <p:sp>
        <p:nvSpPr>
          <p:cNvPr id="12" name="Text 10"/>
          <p:cNvSpPr txBox="1"/>
          <p:nvPr/>
        </p:nvSpPr>
        <p:spPr>
          <a:xfrm>
            <a:off x="704088" y="4279392"/>
            <a:ext cx="749808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6000"/>
              </a:lnSpc>
              <a:buNone/>
            </a:pPr>
            <a:r>
              <a:rPr lang="ja-JP" altLang="en-US" sz="3200" b="1" dirty="0">
                <a:solidFill>
                  <a:srgbClr val="007F82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03</a:t>
            </a:r>
            <a:endParaRPr lang="ja-JP" sz="3200" dirty="0">
              <a:latin typeface="Meiryo"/>
              <a:ea typeface="Meiryo"/>
              <a:cs typeface="Meiryo"/>
            </a:endParaRPr>
          </a:p>
        </p:txBody>
      </p:sp>
      <p:sp>
        <p:nvSpPr>
          <p:cNvPr id="13" name="Text 11"/>
          <p:cNvSpPr txBox="1"/>
          <p:nvPr/>
        </p:nvSpPr>
        <p:spPr>
          <a:xfrm>
            <a:off x="1737360" y="4215384"/>
            <a:ext cx="9235440" cy="62179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6000"/>
              </a:lnSpc>
              <a:buNone/>
            </a:pPr>
            <a:r>
              <a:rPr lang="ja-JP" altLang="en-US" sz="2800" b="1" dirty="0">
                <a:solidFill>
                  <a:srgbClr val="1B2D3B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初めて読む人に伝わるか。</a:t>
            </a:r>
            <a:endParaRPr lang="ja-JP" sz="2800" dirty="0">
              <a:latin typeface="Meiryo"/>
              <a:ea typeface="Meiryo"/>
              <a:cs typeface="Meiryo"/>
            </a:endParaRPr>
          </a:p>
        </p:txBody>
      </p:sp>
      <p:sp>
        <p:nvSpPr>
          <p:cNvPr id="14" name="Text 12"/>
          <p:cNvSpPr txBox="1"/>
          <p:nvPr/>
        </p:nvSpPr>
        <p:spPr>
          <a:xfrm>
            <a:off x="1737360" y="4919472"/>
            <a:ext cx="9235440" cy="53035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6000"/>
              </a:lnSpc>
              <a:buNone/>
            </a:pPr>
            <a:r>
              <a:rPr lang="ja-JP" altLang="en-US" sz="2300" dirty="0">
                <a:solidFill>
                  <a:srgbClr val="4D626D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用語・図表・出典の対応が分かるか。</a:t>
            </a:r>
            <a:endParaRPr lang="ja-JP" sz="2300" dirty="0">
              <a:latin typeface="Meiryo"/>
              <a:ea typeface="Meiryo"/>
              <a:cs typeface="Meiryo"/>
            </a:endParaRPr>
          </a:p>
        </p:txBody>
      </p:sp>
      <p:sp>
        <p:nvSpPr>
          <p:cNvPr id="15" name="Text 13"/>
          <p:cNvSpPr txBox="1"/>
          <p:nvPr/>
        </p:nvSpPr>
        <p:spPr>
          <a:xfrm>
            <a:off x="667512" y="6428232"/>
            <a:ext cx="384048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6000"/>
              </a:lnSpc>
              <a:buNone/>
            </a:pPr>
            <a:r>
              <a:rPr lang="ja-JP" altLang="en-US" sz="1800" dirty="0">
                <a:solidFill>
                  <a:srgbClr val="4D626D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データ科学入門｜演習</a:t>
            </a:r>
            <a:endParaRPr lang="ja-JP" sz="1800" dirty="0">
              <a:latin typeface="Meiryo"/>
              <a:ea typeface="Meiryo"/>
              <a:cs typeface="Meiryo"/>
            </a:endParaRPr>
          </a:p>
        </p:txBody>
      </p:sp>
      <p:sp>
        <p:nvSpPr>
          <p:cNvPr id="16" name="Text 14"/>
          <p:cNvSpPr txBox="1"/>
          <p:nvPr/>
        </p:nvSpPr>
        <p:spPr>
          <a:xfrm>
            <a:off x="8412480" y="6428232"/>
            <a:ext cx="310896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lnSpc>
                <a:spcPct val="106000"/>
              </a:lnSpc>
              <a:buNone/>
            </a:pPr>
            <a:r>
              <a:rPr lang="ja-JP" altLang="en-US" sz="1800" dirty="0">
                <a:solidFill>
                  <a:srgbClr val="4D626D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最終課題  05 / 12</a:t>
            </a:r>
            <a:endParaRPr lang="ja-JP" sz="1800" dirty="0">
              <a:latin typeface="Meiryo"/>
              <a:ea typeface="Meiryo"/>
              <a:cs typeface="Meiryo"/>
            </a:endParaRP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621792" y="493776"/>
            <a:ext cx="10936224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6000"/>
              </a:lnSpc>
              <a:buNone/>
            </a:pPr>
            <a:r>
              <a:rPr lang="ja-JP" altLang="en-US" sz="3400" b="1" dirty="0">
                <a:solidFill>
                  <a:srgbClr val="1B2D3B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根拠ログを成果物と対応させる</a:t>
            </a:r>
            <a:endParaRPr lang="ja-JP" sz="3400" dirty="0">
              <a:latin typeface="Meiryo"/>
              <a:ea typeface="Meiryo"/>
              <a:cs typeface="Meiryo"/>
            </a:endParaRPr>
          </a:p>
        </p:txBody>
      </p:sp>
      <p:sp>
        <p:nvSpPr>
          <p:cNvPr id="3" name="Shape 1"/>
          <p:cNvSpPr/>
          <p:nvPr/>
        </p:nvSpPr>
        <p:spPr>
          <a:xfrm>
            <a:off x="640080" y="1243584"/>
            <a:ext cx="10908792" cy="0"/>
          </a:xfrm>
          <a:prstGeom prst="line">
            <a:avLst/>
          </a:prstGeom>
          <a:noFill/>
          <a:ln w="12700">
            <a:solidFill>
              <a:srgbClr val="CBD7DC"/>
            </a:solidFill>
            <a:prstDash val="solid"/>
          </a:ln>
        </p:spPr>
      </p:sp>
      <p:sp>
        <p:nvSpPr>
          <p:cNvPr id="4" name="Shape 2"/>
          <p:cNvSpPr/>
          <p:nvPr/>
        </p:nvSpPr>
        <p:spPr>
          <a:xfrm>
            <a:off x="640080" y="1554480"/>
            <a:ext cx="3154680" cy="704088"/>
          </a:xfrm>
          <a:prstGeom prst="rect">
            <a:avLst/>
          </a:prstGeom>
          <a:solidFill>
            <a:srgbClr val="132B39"/>
          </a:solidFill>
          <a:ln w="12700">
            <a:solidFill>
              <a:srgbClr val="132B39"/>
            </a:solidFill>
            <a:prstDash val="solid"/>
          </a:ln>
        </p:spPr>
      </p:sp>
      <p:sp>
        <p:nvSpPr>
          <p:cNvPr id="5" name="Text 3"/>
          <p:cNvSpPr txBox="1"/>
          <p:nvPr/>
        </p:nvSpPr>
        <p:spPr>
          <a:xfrm>
            <a:off x="786384" y="1709928"/>
            <a:ext cx="2862072" cy="51206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6000"/>
              </a:lnSpc>
              <a:buNone/>
            </a:pPr>
            <a:r>
              <a:rPr lang="ja-JP" altLang="en-US" sz="2200" b="1" dirty="0">
                <a:solidFill>
                  <a:srgbClr val="FFFFFF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主張・数字</a:t>
            </a:r>
            <a:endParaRPr lang="ja-JP" sz="2200" dirty="0">
              <a:latin typeface="Meiryo"/>
              <a:ea typeface="Meiryo"/>
              <a:cs typeface="Meiryo"/>
            </a:endParaRPr>
          </a:p>
        </p:txBody>
      </p:sp>
      <p:sp>
        <p:nvSpPr>
          <p:cNvPr id="6" name="Shape 4"/>
          <p:cNvSpPr/>
          <p:nvPr/>
        </p:nvSpPr>
        <p:spPr>
          <a:xfrm>
            <a:off x="3794760" y="1554480"/>
            <a:ext cx="3657600" cy="704088"/>
          </a:xfrm>
          <a:prstGeom prst="rect">
            <a:avLst/>
          </a:prstGeom>
          <a:solidFill>
            <a:srgbClr val="132B39"/>
          </a:solidFill>
          <a:ln w="12700">
            <a:solidFill>
              <a:srgbClr val="132B39"/>
            </a:solidFill>
            <a:prstDash val="solid"/>
          </a:ln>
        </p:spPr>
      </p:sp>
      <p:sp>
        <p:nvSpPr>
          <p:cNvPr id="7" name="Text 5"/>
          <p:cNvSpPr txBox="1"/>
          <p:nvPr/>
        </p:nvSpPr>
        <p:spPr>
          <a:xfrm>
            <a:off x="3941064" y="1709928"/>
            <a:ext cx="3364992" cy="51206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6000"/>
              </a:lnSpc>
              <a:buNone/>
            </a:pPr>
            <a:r>
              <a:rPr lang="ja-JP" altLang="en-US" sz="2200" b="1" dirty="0">
                <a:solidFill>
                  <a:srgbClr val="FFFFFF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根拠となる資料</a:t>
            </a:r>
            <a:endParaRPr lang="ja-JP" sz="2200" dirty="0">
              <a:latin typeface="Meiryo"/>
              <a:ea typeface="Meiryo"/>
              <a:cs typeface="Meiryo"/>
            </a:endParaRPr>
          </a:p>
        </p:txBody>
      </p:sp>
      <p:sp>
        <p:nvSpPr>
          <p:cNvPr id="8" name="Shape 6"/>
          <p:cNvSpPr/>
          <p:nvPr/>
        </p:nvSpPr>
        <p:spPr>
          <a:xfrm>
            <a:off x="7452360" y="1554480"/>
            <a:ext cx="4096512" cy="704088"/>
          </a:xfrm>
          <a:prstGeom prst="rect">
            <a:avLst/>
          </a:prstGeom>
          <a:solidFill>
            <a:srgbClr val="132B39"/>
          </a:solidFill>
          <a:ln w="12700">
            <a:solidFill>
              <a:srgbClr val="132B39"/>
            </a:solidFill>
            <a:prstDash val="solid"/>
          </a:ln>
        </p:spPr>
      </p:sp>
      <p:sp>
        <p:nvSpPr>
          <p:cNvPr id="9" name="Text 7"/>
          <p:cNvSpPr txBox="1"/>
          <p:nvPr/>
        </p:nvSpPr>
        <p:spPr>
          <a:xfrm>
            <a:off x="7598664" y="1709928"/>
            <a:ext cx="3803904" cy="51206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6000"/>
              </a:lnSpc>
              <a:buNone/>
            </a:pPr>
            <a:r>
              <a:rPr lang="ja-JP" altLang="en-US" sz="2200" b="1" dirty="0">
                <a:solidFill>
                  <a:srgbClr val="FFFFFF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自分が確認した点</a:t>
            </a:r>
            <a:endParaRPr lang="ja-JP" sz="2200" dirty="0">
              <a:latin typeface="Meiryo"/>
              <a:ea typeface="Meiryo"/>
              <a:cs typeface="Meiryo"/>
            </a:endParaRPr>
          </a:p>
        </p:txBody>
      </p:sp>
      <p:sp>
        <p:nvSpPr>
          <p:cNvPr id="10" name="Shape 8"/>
          <p:cNvSpPr/>
          <p:nvPr/>
        </p:nvSpPr>
        <p:spPr>
          <a:xfrm>
            <a:off x="640080" y="2258568"/>
            <a:ext cx="3154680" cy="758952"/>
          </a:xfrm>
          <a:prstGeom prst="rect">
            <a:avLst/>
          </a:prstGeom>
          <a:solidFill>
            <a:srgbClr val="F7F8FA"/>
          </a:solidFill>
          <a:ln w="12700">
            <a:solidFill>
              <a:srgbClr val="F7F8FA"/>
            </a:solidFill>
            <a:prstDash val="solid"/>
          </a:ln>
        </p:spPr>
      </p:sp>
      <p:sp>
        <p:nvSpPr>
          <p:cNvPr id="11" name="Text 9"/>
          <p:cNvSpPr txBox="1"/>
          <p:nvPr/>
        </p:nvSpPr>
        <p:spPr>
          <a:xfrm>
            <a:off x="786384" y="2386584"/>
            <a:ext cx="2862072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6000"/>
              </a:lnSpc>
              <a:buNone/>
            </a:pPr>
            <a:r>
              <a:rPr lang="ja-JP" altLang="en-US" sz="2200" dirty="0">
                <a:solidFill>
                  <a:srgbClr val="1B2D3B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成果物で使った内容</a:t>
            </a:r>
            <a:endParaRPr lang="ja-JP" sz="2200" dirty="0">
              <a:latin typeface="Meiryo"/>
              <a:ea typeface="Meiryo"/>
              <a:cs typeface="Meiryo"/>
            </a:endParaRPr>
          </a:p>
        </p:txBody>
      </p:sp>
      <p:sp>
        <p:nvSpPr>
          <p:cNvPr id="12" name="Shape 10"/>
          <p:cNvSpPr/>
          <p:nvPr/>
        </p:nvSpPr>
        <p:spPr>
          <a:xfrm>
            <a:off x="3794760" y="2258568"/>
            <a:ext cx="3657600" cy="758952"/>
          </a:xfrm>
          <a:prstGeom prst="rect">
            <a:avLst/>
          </a:prstGeom>
          <a:solidFill>
            <a:srgbClr val="F7F8FA"/>
          </a:solidFill>
          <a:ln w="12700">
            <a:solidFill>
              <a:srgbClr val="F7F8FA"/>
            </a:solidFill>
            <a:prstDash val="solid"/>
          </a:ln>
        </p:spPr>
      </p:sp>
      <p:sp>
        <p:nvSpPr>
          <p:cNvPr id="13" name="Text 11"/>
          <p:cNvSpPr txBox="1"/>
          <p:nvPr/>
        </p:nvSpPr>
        <p:spPr>
          <a:xfrm>
            <a:off x="3941064" y="2386584"/>
            <a:ext cx="3364992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6000"/>
              </a:lnSpc>
              <a:buNone/>
            </a:pPr>
            <a:r>
              <a:rPr lang="ja-JP" altLang="en-US" sz="2200" dirty="0">
                <a:solidFill>
                  <a:srgbClr val="1B2D3B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URL・ファイル名</a:t>
            </a:r>
            <a:endParaRPr lang="ja-JP" sz="2200" dirty="0">
              <a:latin typeface="Meiryo"/>
              <a:ea typeface="Meiryo"/>
              <a:cs typeface="Meiryo"/>
            </a:endParaRPr>
          </a:p>
        </p:txBody>
      </p:sp>
      <p:sp>
        <p:nvSpPr>
          <p:cNvPr id="14" name="Shape 12"/>
          <p:cNvSpPr/>
          <p:nvPr/>
        </p:nvSpPr>
        <p:spPr>
          <a:xfrm>
            <a:off x="7452360" y="2258568"/>
            <a:ext cx="4096512" cy="758952"/>
          </a:xfrm>
          <a:prstGeom prst="rect">
            <a:avLst/>
          </a:prstGeom>
          <a:solidFill>
            <a:srgbClr val="F7F8FA"/>
          </a:solidFill>
          <a:ln w="12700">
            <a:solidFill>
              <a:srgbClr val="F7F8FA"/>
            </a:solidFill>
            <a:prstDash val="solid"/>
          </a:ln>
        </p:spPr>
      </p:sp>
      <p:sp>
        <p:nvSpPr>
          <p:cNvPr id="15" name="Text 13"/>
          <p:cNvSpPr txBox="1"/>
          <p:nvPr/>
        </p:nvSpPr>
        <p:spPr>
          <a:xfrm>
            <a:off x="7598664" y="2386584"/>
            <a:ext cx="3803904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6000"/>
              </a:lnSpc>
              <a:buNone/>
            </a:pPr>
            <a:r>
              <a:rPr lang="ja-JP" altLang="en-US" sz="2200" dirty="0">
                <a:solidFill>
                  <a:srgbClr val="1B2D3B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箇所・値・日付</a:t>
            </a:r>
            <a:endParaRPr lang="ja-JP" sz="2200" dirty="0">
              <a:latin typeface="Meiryo"/>
              <a:ea typeface="Meiryo"/>
              <a:cs typeface="Meiryo"/>
            </a:endParaRPr>
          </a:p>
        </p:txBody>
      </p:sp>
      <p:sp>
        <p:nvSpPr>
          <p:cNvPr id="16" name="Shape 14"/>
          <p:cNvSpPr/>
          <p:nvPr/>
        </p:nvSpPr>
        <p:spPr>
          <a:xfrm>
            <a:off x="640080" y="3017520"/>
            <a:ext cx="10908792" cy="0"/>
          </a:xfrm>
          <a:prstGeom prst="line">
            <a:avLst/>
          </a:prstGeom>
          <a:noFill/>
          <a:ln w="12700">
            <a:solidFill>
              <a:srgbClr val="CBD7DC"/>
            </a:solidFill>
            <a:prstDash val="solid"/>
          </a:ln>
        </p:spPr>
      </p:sp>
      <p:sp>
        <p:nvSpPr>
          <p:cNvPr id="17" name="Shape 15"/>
          <p:cNvSpPr/>
          <p:nvPr/>
        </p:nvSpPr>
        <p:spPr>
          <a:xfrm>
            <a:off x="640080" y="3017520"/>
            <a:ext cx="3154680" cy="758952"/>
          </a:xfrm>
          <a:prstGeom prst="rect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8" name="Text 16"/>
          <p:cNvSpPr txBox="1"/>
          <p:nvPr/>
        </p:nvSpPr>
        <p:spPr>
          <a:xfrm>
            <a:off x="786384" y="3145536"/>
            <a:ext cx="2862072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6000"/>
              </a:lnSpc>
              <a:buNone/>
            </a:pPr>
            <a:r>
              <a:rPr lang="ja-JP" altLang="en-US" sz="2200" dirty="0">
                <a:solidFill>
                  <a:srgbClr val="1B2D3B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一致しなかった点</a:t>
            </a:r>
            <a:endParaRPr lang="ja-JP" sz="2200" dirty="0">
              <a:latin typeface="Meiryo"/>
              <a:ea typeface="Meiryo"/>
              <a:cs typeface="Meiryo"/>
            </a:endParaRPr>
          </a:p>
        </p:txBody>
      </p:sp>
      <p:sp>
        <p:nvSpPr>
          <p:cNvPr id="19" name="Shape 17"/>
          <p:cNvSpPr/>
          <p:nvPr/>
        </p:nvSpPr>
        <p:spPr>
          <a:xfrm>
            <a:off x="3794760" y="3017520"/>
            <a:ext cx="3657600" cy="758952"/>
          </a:xfrm>
          <a:prstGeom prst="rect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20" name="Text 18"/>
          <p:cNvSpPr txBox="1"/>
          <p:nvPr/>
        </p:nvSpPr>
        <p:spPr>
          <a:xfrm>
            <a:off x="3941064" y="3145536"/>
            <a:ext cx="3364992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6000"/>
              </a:lnSpc>
              <a:buNone/>
            </a:pPr>
            <a:r>
              <a:rPr lang="ja-JP" altLang="en-US" sz="2200" dirty="0">
                <a:solidFill>
                  <a:srgbClr val="1B2D3B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照合した資料</a:t>
            </a:r>
            <a:endParaRPr lang="ja-JP" sz="2200" dirty="0">
              <a:latin typeface="Meiryo"/>
              <a:ea typeface="Meiryo"/>
              <a:cs typeface="Meiryo"/>
            </a:endParaRPr>
          </a:p>
        </p:txBody>
      </p:sp>
      <p:sp>
        <p:nvSpPr>
          <p:cNvPr id="21" name="Shape 19"/>
          <p:cNvSpPr/>
          <p:nvPr/>
        </p:nvSpPr>
        <p:spPr>
          <a:xfrm>
            <a:off x="7452360" y="3017520"/>
            <a:ext cx="4096512" cy="758952"/>
          </a:xfrm>
          <a:prstGeom prst="rect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22" name="Text 20"/>
          <p:cNvSpPr txBox="1"/>
          <p:nvPr/>
        </p:nvSpPr>
        <p:spPr>
          <a:xfrm>
            <a:off x="7598664" y="3145536"/>
            <a:ext cx="3803904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6000"/>
              </a:lnSpc>
              <a:buNone/>
            </a:pPr>
            <a:r>
              <a:rPr lang="ja-JP" altLang="en-US" sz="2200" dirty="0">
                <a:solidFill>
                  <a:srgbClr val="1B2D3B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修正した点</a:t>
            </a:r>
            <a:endParaRPr lang="ja-JP" sz="2200" dirty="0">
              <a:latin typeface="Meiryo"/>
              <a:ea typeface="Meiryo"/>
              <a:cs typeface="Meiryo"/>
            </a:endParaRPr>
          </a:p>
        </p:txBody>
      </p:sp>
      <p:sp>
        <p:nvSpPr>
          <p:cNvPr id="23" name="Shape 21"/>
          <p:cNvSpPr/>
          <p:nvPr/>
        </p:nvSpPr>
        <p:spPr>
          <a:xfrm>
            <a:off x="640080" y="3776472"/>
            <a:ext cx="10908792" cy="0"/>
          </a:xfrm>
          <a:prstGeom prst="line">
            <a:avLst/>
          </a:prstGeom>
          <a:noFill/>
          <a:ln w="12700">
            <a:solidFill>
              <a:srgbClr val="CBD7DC"/>
            </a:solidFill>
            <a:prstDash val="solid"/>
          </a:ln>
        </p:spPr>
      </p:sp>
      <p:sp>
        <p:nvSpPr>
          <p:cNvPr id="24" name="Shape 22"/>
          <p:cNvSpPr/>
          <p:nvPr/>
        </p:nvSpPr>
        <p:spPr>
          <a:xfrm>
            <a:off x="640080" y="3776472"/>
            <a:ext cx="3154680" cy="758952"/>
          </a:xfrm>
          <a:prstGeom prst="rect">
            <a:avLst/>
          </a:prstGeom>
          <a:solidFill>
            <a:srgbClr val="F7F8FA"/>
          </a:solidFill>
          <a:ln w="12700">
            <a:solidFill>
              <a:srgbClr val="F7F8FA"/>
            </a:solidFill>
            <a:prstDash val="solid"/>
          </a:ln>
        </p:spPr>
      </p:sp>
      <p:sp>
        <p:nvSpPr>
          <p:cNvPr id="25" name="Text 23"/>
          <p:cNvSpPr txBox="1"/>
          <p:nvPr/>
        </p:nvSpPr>
        <p:spPr>
          <a:xfrm>
            <a:off x="786384" y="3904488"/>
            <a:ext cx="2862072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6000"/>
              </a:lnSpc>
              <a:buNone/>
            </a:pPr>
            <a:r>
              <a:rPr lang="ja-JP" altLang="en-US" sz="2200" dirty="0">
                <a:solidFill>
                  <a:srgbClr val="1B2D3B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確認できない内容</a:t>
            </a:r>
            <a:endParaRPr lang="ja-JP" sz="2200" dirty="0">
              <a:latin typeface="Meiryo"/>
              <a:ea typeface="Meiryo"/>
              <a:cs typeface="Meiryo"/>
            </a:endParaRPr>
          </a:p>
        </p:txBody>
      </p:sp>
      <p:sp>
        <p:nvSpPr>
          <p:cNvPr id="26" name="Shape 24"/>
          <p:cNvSpPr/>
          <p:nvPr/>
        </p:nvSpPr>
        <p:spPr>
          <a:xfrm>
            <a:off x="3794760" y="3776472"/>
            <a:ext cx="3657600" cy="758952"/>
          </a:xfrm>
          <a:prstGeom prst="rect">
            <a:avLst/>
          </a:prstGeom>
          <a:solidFill>
            <a:srgbClr val="F7F8FA"/>
          </a:solidFill>
          <a:ln w="12700">
            <a:solidFill>
              <a:srgbClr val="F7F8FA"/>
            </a:solidFill>
            <a:prstDash val="solid"/>
          </a:ln>
        </p:spPr>
      </p:sp>
      <p:sp>
        <p:nvSpPr>
          <p:cNvPr id="27" name="Text 25"/>
          <p:cNvSpPr txBox="1"/>
          <p:nvPr/>
        </p:nvSpPr>
        <p:spPr>
          <a:xfrm>
            <a:off x="3941064" y="3904488"/>
            <a:ext cx="3364992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6000"/>
              </a:lnSpc>
              <a:buNone/>
            </a:pPr>
            <a:r>
              <a:rPr lang="ja-JP" altLang="en-US" sz="2200" dirty="0">
                <a:solidFill>
                  <a:srgbClr val="1B2D3B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不足する資料</a:t>
            </a:r>
            <a:endParaRPr lang="ja-JP" sz="2200" dirty="0">
              <a:latin typeface="Meiryo"/>
              <a:ea typeface="Meiryo"/>
              <a:cs typeface="Meiryo"/>
            </a:endParaRPr>
          </a:p>
        </p:txBody>
      </p:sp>
      <p:sp>
        <p:nvSpPr>
          <p:cNvPr id="28" name="Shape 26"/>
          <p:cNvSpPr/>
          <p:nvPr/>
        </p:nvSpPr>
        <p:spPr>
          <a:xfrm>
            <a:off x="7452360" y="3776472"/>
            <a:ext cx="4096512" cy="758952"/>
          </a:xfrm>
          <a:prstGeom prst="rect">
            <a:avLst/>
          </a:prstGeom>
          <a:solidFill>
            <a:srgbClr val="F7F8FA"/>
          </a:solidFill>
          <a:ln w="12700">
            <a:solidFill>
              <a:srgbClr val="F7F8FA"/>
            </a:solidFill>
            <a:prstDash val="solid"/>
          </a:ln>
        </p:spPr>
      </p:sp>
      <p:sp>
        <p:nvSpPr>
          <p:cNvPr id="29" name="Text 27"/>
          <p:cNvSpPr txBox="1"/>
          <p:nvPr/>
        </p:nvSpPr>
        <p:spPr>
          <a:xfrm>
            <a:off x="7598664" y="3904488"/>
            <a:ext cx="3803904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6000"/>
              </a:lnSpc>
              <a:buNone/>
            </a:pPr>
            <a:r>
              <a:rPr lang="ja-JP" altLang="en-US" sz="2200" dirty="0">
                <a:solidFill>
                  <a:srgbClr val="1B2D3B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断定しないと判断</a:t>
            </a:r>
            <a:endParaRPr lang="ja-JP" sz="2200" dirty="0">
              <a:latin typeface="Meiryo"/>
              <a:ea typeface="Meiryo"/>
              <a:cs typeface="Meiryo"/>
            </a:endParaRPr>
          </a:p>
        </p:txBody>
      </p:sp>
      <p:sp>
        <p:nvSpPr>
          <p:cNvPr id="30" name="Shape 28"/>
          <p:cNvSpPr/>
          <p:nvPr/>
        </p:nvSpPr>
        <p:spPr>
          <a:xfrm>
            <a:off x="640080" y="4535424"/>
            <a:ext cx="10908792" cy="0"/>
          </a:xfrm>
          <a:prstGeom prst="line">
            <a:avLst/>
          </a:prstGeom>
          <a:noFill/>
          <a:ln w="12700">
            <a:solidFill>
              <a:srgbClr val="CBD7DC"/>
            </a:solidFill>
            <a:prstDash val="solid"/>
          </a:ln>
        </p:spPr>
      </p:sp>
      <p:sp>
        <p:nvSpPr>
          <p:cNvPr id="31" name="Text 29"/>
          <p:cNvSpPr txBox="1"/>
          <p:nvPr/>
        </p:nvSpPr>
        <p:spPr>
          <a:xfrm>
            <a:off x="667512" y="6428232"/>
            <a:ext cx="384048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6000"/>
              </a:lnSpc>
              <a:buNone/>
            </a:pPr>
            <a:r>
              <a:rPr lang="ja-JP" altLang="en-US" sz="1800" dirty="0">
                <a:solidFill>
                  <a:srgbClr val="4D626D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データ科学入門｜演習</a:t>
            </a:r>
            <a:endParaRPr lang="ja-JP" sz="1800" dirty="0">
              <a:latin typeface="Meiryo"/>
              <a:ea typeface="Meiryo"/>
              <a:cs typeface="Meiryo"/>
            </a:endParaRPr>
          </a:p>
        </p:txBody>
      </p:sp>
      <p:sp>
        <p:nvSpPr>
          <p:cNvPr id="32" name="Text 30"/>
          <p:cNvSpPr txBox="1"/>
          <p:nvPr/>
        </p:nvSpPr>
        <p:spPr>
          <a:xfrm>
            <a:off x="8412480" y="6428232"/>
            <a:ext cx="310896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lnSpc>
                <a:spcPct val="106000"/>
              </a:lnSpc>
              <a:buNone/>
            </a:pPr>
            <a:r>
              <a:rPr lang="ja-JP" altLang="en-US" sz="1800" dirty="0">
                <a:solidFill>
                  <a:srgbClr val="4D626D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最終課題  06 / 12</a:t>
            </a:r>
            <a:endParaRPr lang="ja-JP" sz="1800" dirty="0">
              <a:latin typeface="Meiryo"/>
              <a:ea typeface="Meiryo"/>
              <a:cs typeface="Meiryo"/>
            </a:endParaRP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621792" y="493776"/>
            <a:ext cx="10936224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6000"/>
              </a:lnSpc>
              <a:buNone/>
            </a:pPr>
            <a:r>
              <a:rPr lang="ja-JP" altLang="en-US" sz="3400" b="1" dirty="0">
                <a:solidFill>
                  <a:srgbClr val="1B2D3B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AI利用記録は、会話全文ではない</a:t>
            </a:r>
            <a:endParaRPr lang="ja-JP" sz="3400" dirty="0">
              <a:latin typeface="Meiryo"/>
              <a:ea typeface="Meiryo"/>
              <a:cs typeface="Meiryo"/>
            </a:endParaRPr>
          </a:p>
        </p:txBody>
      </p:sp>
      <p:sp>
        <p:nvSpPr>
          <p:cNvPr id="3" name="Shape 1"/>
          <p:cNvSpPr/>
          <p:nvPr/>
        </p:nvSpPr>
        <p:spPr>
          <a:xfrm>
            <a:off x="640080" y="1243584"/>
            <a:ext cx="10908792" cy="0"/>
          </a:xfrm>
          <a:prstGeom prst="line">
            <a:avLst/>
          </a:prstGeom>
          <a:noFill/>
          <a:ln w="12700">
            <a:solidFill>
              <a:srgbClr val="CBD7DC"/>
            </a:solidFill>
            <a:prstDash val="solid"/>
          </a:ln>
        </p:spPr>
      </p:sp>
      <p:sp>
        <p:nvSpPr>
          <p:cNvPr id="4" name="Shape 2"/>
          <p:cNvSpPr/>
          <p:nvPr/>
        </p:nvSpPr>
        <p:spPr>
          <a:xfrm>
            <a:off x="640080" y="1554480"/>
            <a:ext cx="5358384" cy="3986784"/>
          </a:xfrm>
          <a:prstGeom prst="rect">
            <a:avLst/>
          </a:prstGeom>
          <a:solidFill>
            <a:srgbClr val="F7F8FA"/>
          </a:solidFill>
          <a:ln w="12700">
            <a:solidFill>
              <a:srgbClr val="F7F8FA"/>
            </a:solidFill>
            <a:prstDash val="solid"/>
          </a:ln>
        </p:spPr>
      </p:sp>
      <p:sp>
        <p:nvSpPr>
          <p:cNvPr id="5" name="Text 3"/>
          <p:cNvSpPr txBox="1"/>
          <p:nvPr/>
        </p:nvSpPr>
        <p:spPr>
          <a:xfrm>
            <a:off x="905256" y="1847088"/>
            <a:ext cx="4828032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6000"/>
              </a:lnSpc>
              <a:buNone/>
            </a:pPr>
            <a:r>
              <a:rPr lang="ja-JP" altLang="en-US" sz="2600" b="1" dirty="0">
                <a:solidFill>
                  <a:srgbClr val="1B2D3B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提出しなくてよいもの</a:t>
            </a:r>
            <a:endParaRPr lang="ja-JP" sz="2600" dirty="0">
              <a:latin typeface="Meiryo"/>
              <a:ea typeface="Meiryo"/>
              <a:cs typeface="Meiryo"/>
            </a:endParaRPr>
          </a:p>
        </p:txBody>
      </p:sp>
      <p:sp>
        <p:nvSpPr>
          <p:cNvPr id="6" name="Text 4"/>
          <p:cNvSpPr txBox="1"/>
          <p:nvPr/>
        </p:nvSpPr>
        <p:spPr>
          <a:xfrm>
            <a:off x="905256" y="2944368"/>
            <a:ext cx="4828032" cy="2468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6000"/>
              </a:lnSpc>
              <a:buNone/>
            </a:pPr>
            <a:r>
              <a:rPr lang="ja-JP" altLang="en-US" sz="2400" dirty="0">
                <a:solidFill>
                  <a:srgbClr val="1B2D3B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チャットの共有URL。</a:t>
            </a:r>
            <a:endParaRPr lang="ja-JP" sz="2400" dirty="0">
              <a:latin typeface="Meiryo"/>
              <a:ea typeface="Meiryo"/>
              <a:cs typeface="Meiryo"/>
            </a:endParaRPr>
          </a:p>
          <a:p>
            <a:pPr indent="0" marL="0">
              <a:lnSpc>
                <a:spcPct val="106000"/>
              </a:lnSpc>
              <a:buNone/>
            </a:pPr>
            <a:r>
              <a:rPr lang="ja-JP" altLang="en-US" sz="2400" dirty="0">
                <a:solidFill>
                  <a:srgbClr val="1B2D3B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会話の全文。</a:t>
            </a:r>
            <a:endParaRPr lang="ja-JP" sz="2400" dirty="0">
              <a:latin typeface="Meiryo"/>
              <a:ea typeface="Meiryo"/>
              <a:cs typeface="Meiryo"/>
            </a:endParaRPr>
          </a:p>
          <a:p>
            <a:pPr indent="0" marL="0">
              <a:lnSpc>
                <a:spcPct val="106000"/>
              </a:lnSpc>
              <a:buNone/>
            </a:pPr>
            <a:r>
              <a:rPr lang="ja-JP" altLang="en-US" sz="2400" dirty="0">
                <a:solidFill>
                  <a:srgbClr val="1B2D3B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有料プランの証明。</a:t>
            </a:r>
            <a:endParaRPr lang="ja-JP" sz="2400" dirty="0">
              <a:latin typeface="Meiryo"/>
              <a:ea typeface="Meiryo"/>
              <a:cs typeface="Meiryo"/>
            </a:endParaRPr>
          </a:p>
        </p:txBody>
      </p:sp>
      <p:sp>
        <p:nvSpPr>
          <p:cNvPr id="7" name="Shape 5"/>
          <p:cNvSpPr/>
          <p:nvPr/>
        </p:nvSpPr>
        <p:spPr>
          <a:xfrm>
            <a:off x="6190488" y="1554480"/>
            <a:ext cx="5358384" cy="3986784"/>
          </a:xfrm>
          <a:prstGeom prst="rect">
            <a:avLst/>
          </a:prstGeom>
          <a:solidFill>
            <a:srgbClr val="EAF4F3"/>
          </a:solidFill>
          <a:ln w="12700">
            <a:solidFill>
              <a:srgbClr val="EAF4F3"/>
            </a:solidFill>
            <a:prstDash val="solid"/>
          </a:ln>
        </p:spPr>
      </p:sp>
      <p:sp>
        <p:nvSpPr>
          <p:cNvPr id="8" name="Text 6"/>
          <p:cNvSpPr txBox="1"/>
          <p:nvPr/>
        </p:nvSpPr>
        <p:spPr>
          <a:xfrm>
            <a:off x="6455664" y="1847088"/>
            <a:ext cx="4828032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6000"/>
              </a:lnSpc>
              <a:buNone/>
            </a:pPr>
            <a:r>
              <a:rPr lang="ja-JP" altLang="en-US" sz="2600" b="1" dirty="0">
                <a:solidFill>
                  <a:srgbClr val="007F82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記録するもの</a:t>
            </a:r>
            <a:endParaRPr lang="ja-JP" sz="2600" dirty="0">
              <a:latin typeface="Meiryo"/>
              <a:ea typeface="Meiryo"/>
              <a:cs typeface="Meiryo"/>
            </a:endParaRPr>
          </a:p>
        </p:txBody>
      </p:sp>
      <p:sp>
        <p:nvSpPr>
          <p:cNvPr id="9" name="Text 7"/>
          <p:cNvSpPr txBox="1"/>
          <p:nvPr/>
        </p:nvSpPr>
        <p:spPr>
          <a:xfrm>
            <a:off x="6455664" y="2944368"/>
            <a:ext cx="4828032" cy="2468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6000"/>
              </a:lnSpc>
              <a:buNone/>
            </a:pPr>
            <a:r>
              <a:rPr lang="ja-JP" altLang="en-US" sz="2400" dirty="0">
                <a:solidFill>
                  <a:srgbClr val="1B2D3B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使ったAIと用途。</a:t>
            </a:r>
            <a:endParaRPr lang="ja-JP" sz="2400" dirty="0">
              <a:latin typeface="Meiryo"/>
              <a:ea typeface="Meiryo"/>
              <a:cs typeface="Meiryo"/>
            </a:endParaRPr>
          </a:p>
          <a:p>
            <a:pPr indent="0" marL="0">
              <a:lnSpc>
                <a:spcPct val="106000"/>
              </a:lnSpc>
              <a:buNone/>
            </a:pPr>
            <a:r>
              <a:rPr lang="ja-JP" altLang="en-US" sz="2400" dirty="0">
                <a:solidFill>
                  <a:srgbClr val="1B2D3B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AIに任せた作業。</a:t>
            </a:r>
            <a:endParaRPr lang="ja-JP" sz="2400" dirty="0">
              <a:latin typeface="Meiryo"/>
              <a:ea typeface="Meiryo"/>
              <a:cs typeface="Meiryo"/>
            </a:endParaRPr>
          </a:p>
          <a:p>
            <a:pPr indent="0" marL="0">
              <a:lnSpc>
                <a:spcPct val="106000"/>
              </a:lnSpc>
              <a:buNone/>
            </a:pPr>
            <a:r>
              <a:rPr lang="ja-JP" altLang="en-US" sz="2400" dirty="0">
                <a:solidFill>
                  <a:srgbClr val="1B2D3B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自分で確認・修正した点。</a:t>
            </a:r>
            <a:endParaRPr lang="ja-JP" sz="2400" dirty="0">
              <a:latin typeface="Meiryo"/>
              <a:ea typeface="Meiryo"/>
              <a:cs typeface="Meiryo"/>
            </a:endParaRPr>
          </a:p>
        </p:txBody>
      </p:sp>
      <p:sp>
        <p:nvSpPr>
          <p:cNvPr id="10" name="Text 8"/>
          <p:cNvSpPr txBox="1"/>
          <p:nvPr/>
        </p:nvSpPr>
        <p:spPr>
          <a:xfrm>
            <a:off x="667512" y="6428232"/>
            <a:ext cx="384048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6000"/>
              </a:lnSpc>
              <a:buNone/>
            </a:pPr>
            <a:r>
              <a:rPr lang="ja-JP" altLang="en-US" sz="1800" dirty="0">
                <a:solidFill>
                  <a:srgbClr val="4D626D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データ科学入門｜演習</a:t>
            </a:r>
            <a:endParaRPr lang="ja-JP" sz="1800" dirty="0">
              <a:latin typeface="Meiryo"/>
              <a:ea typeface="Meiryo"/>
              <a:cs typeface="Meiryo"/>
            </a:endParaRPr>
          </a:p>
        </p:txBody>
      </p:sp>
      <p:sp>
        <p:nvSpPr>
          <p:cNvPr id="11" name="Text 9"/>
          <p:cNvSpPr txBox="1"/>
          <p:nvPr/>
        </p:nvSpPr>
        <p:spPr>
          <a:xfrm>
            <a:off x="8412480" y="6428232"/>
            <a:ext cx="310896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lnSpc>
                <a:spcPct val="106000"/>
              </a:lnSpc>
              <a:buNone/>
            </a:pPr>
            <a:r>
              <a:rPr lang="ja-JP" altLang="en-US" sz="1800" dirty="0">
                <a:solidFill>
                  <a:srgbClr val="4D626D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最終課題  07 / 12</a:t>
            </a:r>
            <a:endParaRPr lang="ja-JP" sz="1800" dirty="0">
              <a:latin typeface="Meiryo"/>
              <a:ea typeface="Meiryo"/>
              <a:cs typeface="Meiryo"/>
            </a:endParaRP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621792" y="493776"/>
            <a:ext cx="10936224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6000"/>
              </a:lnSpc>
              <a:buNone/>
            </a:pPr>
            <a:r>
              <a:rPr lang="ja-JP" altLang="en-US" sz="3400" b="1" dirty="0">
                <a:solidFill>
                  <a:srgbClr val="1B2D3B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評価は、4つの観点で見る</a:t>
            </a:r>
            <a:endParaRPr lang="ja-JP" sz="3400" dirty="0">
              <a:latin typeface="Meiryo"/>
              <a:ea typeface="Meiryo"/>
              <a:cs typeface="Meiryo"/>
            </a:endParaRPr>
          </a:p>
        </p:txBody>
      </p:sp>
      <p:sp>
        <p:nvSpPr>
          <p:cNvPr id="3" name="Shape 1"/>
          <p:cNvSpPr/>
          <p:nvPr/>
        </p:nvSpPr>
        <p:spPr>
          <a:xfrm>
            <a:off x="640080" y="1243584"/>
            <a:ext cx="10908792" cy="0"/>
          </a:xfrm>
          <a:prstGeom prst="line">
            <a:avLst/>
          </a:prstGeom>
          <a:noFill/>
          <a:ln w="12700">
            <a:solidFill>
              <a:srgbClr val="CBD7DC"/>
            </a:solidFill>
            <a:prstDash val="solid"/>
          </a:ln>
        </p:spPr>
      </p:sp>
      <p:sp>
        <p:nvSpPr>
          <p:cNvPr id="4" name="Text 2"/>
          <p:cNvSpPr txBox="1"/>
          <p:nvPr/>
        </p:nvSpPr>
        <p:spPr>
          <a:xfrm>
            <a:off x="822960" y="1527048"/>
            <a:ext cx="1554480" cy="64922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6000"/>
              </a:lnSpc>
              <a:buNone/>
            </a:pPr>
            <a:r>
              <a:rPr lang="ja-JP" altLang="en-US" sz="3000" b="1" dirty="0">
                <a:solidFill>
                  <a:srgbClr val="007F82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50％</a:t>
            </a:r>
            <a:endParaRPr lang="ja-JP" sz="3000" dirty="0">
              <a:latin typeface="Meiryo"/>
              <a:ea typeface="Meiryo"/>
              <a:cs typeface="Meiryo"/>
            </a:endParaRPr>
          </a:p>
        </p:txBody>
      </p:sp>
      <p:sp>
        <p:nvSpPr>
          <p:cNvPr id="5" name="Text 3"/>
          <p:cNvSpPr txBox="1"/>
          <p:nvPr/>
        </p:nvSpPr>
        <p:spPr>
          <a:xfrm>
            <a:off x="2761488" y="1527048"/>
            <a:ext cx="3246120" cy="63093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6000"/>
              </a:lnSpc>
              <a:buNone/>
            </a:pPr>
            <a:r>
              <a:rPr lang="ja-JP" altLang="en-US" sz="2600" b="1" dirty="0">
                <a:solidFill>
                  <a:srgbClr val="1B2D3B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成果物</a:t>
            </a:r>
            <a:endParaRPr lang="ja-JP" sz="2600" dirty="0">
              <a:latin typeface="Meiryo"/>
              <a:ea typeface="Meiryo"/>
              <a:cs typeface="Meiryo"/>
            </a:endParaRPr>
          </a:p>
        </p:txBody>
      </p:sp>
      <p:sp>
        <p:nvSpPr>
          <p:cNvPr id="6" name="Text 4"/>
          <p:cNvSpPr txBox="1"/>
          <p:nvPr/>
        </p:nvSpPr>
        <p:spPr>
          <a:xfrm>
            <a:off x="6400800" y="1527048"/>
            <a:ext cx="5029200" cy="78638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6000"/>
              </a:lnSpc>
              <a:buNone/>
            </a:pPr>
            <a:r>
              <a:rPr lang="ja-JP" altLang="en-US" sz="2400" dirty="0">
                <a:solidFill>
                  <a:srgbClr val="1B2D3B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問いへの答えが伝わるか</a:t>
            </a:r>
            <a:endParaRPr lang="ja-JP" sz="2400" dirty="0">
              <a:latin typeface="Meiryo"/>
              <a:ea typeface="Meiryo"/>
              <a:cs typeface="Meiryo"/>
            </a:endParaRPr>
          </a:p>
        </p:txBody>
      </p:sp>
      <p:sp>
        <p:nvSpPr>
          <p:cNvPr id="7" name="Text 5"/>
          <p:cNvSpPr txBox="1"/>
          <p:nvPr/>
        </p:nvSpPr>
        <p:spPr>
          <a:xfrm>
            <a:off x="822960" y="2514600"/>
            <a:ext cx="1554480" cy="64922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6000"/>
              </a:lnSpc>
              <a:buNone/>
            </a:pPr>
            <a:r>
              <a:rPr lang="ja-JP" altLang="en-US" sz="3000" b="1" dirty="0">
                <a:solidFill>
                  <a:srgbClr val="007F82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25％</a:t>
            </a:r>
            <a:endParaRPr lang="ja-JP" sz="3000" dirty="0">
              <a:latin typeface="Meiryo"/>
              <a:ea typeface="Meiryo"/>
              <a:cs typeface="Meiryo"/>
            </a:endParaRPr>
          </a:p>
        </p:txBody>
      </p:sp>
      <p:sp>
        <p:nvSpPr>
          <p:cNvPr id="8" name="Text 6"/>
          <p:cNvSpPr txBox="1"/>
          <p:nvPr/>
        </p:nvSpPr>
        <p:spPr>
          <a:xfrm>
            <a:off x="2761488" y="2514600"/>
            <a:ext cx="3246120" cy="63093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6000"/>
              </a:lnSpc>
              <a:buNone/>
            </a:pPr>
            <a:r>
              <a:rPr lang="ja-JP" altLang="en-US" sz="2600" b="1" dirty="0">
                <a:solidFill>
                  <a:srgbClr val="1B2D3B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根拠確認・修正</a:t>
            </a:r>
            <a:endParaRPr lang="ja-JP" sz="2600" dirty="0">
              <a:latin typeface="Meiryo"/>
              <a:ea typeface="Meiryo"/>
              <a:cs typeface="Meiryo"/>
            </a:endParaRPr>
          </a:p>
        </p:txBody>
      </p:sp>
      <p:sp>
        <p:nvSpPr>
          <p:cNvPr id="9" name="Text 7"/>
          <p:cNvSpPr txBox="1"/>
          <p:nvPr/>
        </p:nvSpPr>
        <p:spPr>
          <a:xfrm>
            <a:off x="6400800" y="2514600"/>
            <a:ext cx="5029200" cy="78638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6000"/>
              </a:lnSpc>
              <a:buNone/>
            </a:pPr>
            <a:r>
              <a:rPr lang="ja-JP" altLang="en-US" sz="2400" dirty="0">
                <a:solidFill>
                  <a:srgbClr val="1B2D3B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資料と照合しているか</a:t>
            </a:r>
            <a:endParaRPr lang="ja-JP" sz="2400" dirty="0">
              <a:latin typeface="Meiryo"/>
              <a:ea typeface="Meiryo"/>
              <a:cs typeface="Meiryo"/>
            </a:endParaRPr>
          </a:p>
        </p:txBody>
      </p:sp>
      <p:sp>
        <p:nvSpPr>
          <p:cNvPr id="10" name="Text 8"/>
          <p:cNvSpPr txBox="1"/>
          <p:nvPr/>
        </p:nvSpPr>
        <p:spPr>
          <a:xfrm>
            <a:off x="822960" y="3502152"/>
            <a:ext cx="1554480" cy="64922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6000"/>
              </a:lnSpc>
              <a:buNone/>
            </a:pPr>
            <a:r>
              <a:rPr lang="ja-JP" altLang="en-US" sz="3000" b="1" dirty="0">
                <a:solidFill>
                  <a:srgbClr val="007F82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15％</a:t>
            </a:r>
            <a:endParaRPr lang="ja-JP" sz="3000" dirty="0">
              <a:latin typeface="Meiryo"/>
              <a:ea typeface="Meiryo"/>
              <a:cs typeface="Meiryo"/>
            </a:endParaRPr>
          </a:p>
        </p:txBody>
      </p:sp>
      <p:sp>
        <p:nvSpPr>
          <p:cNvPr id="11" name="Text 9"/>
          <p:cNvSpPr txBox="1"/>
          <p:nvPr/>
        </p:nvSpPr>
        <p:spPr>
          <a:xfrm>
            <a:off x="2761488" y="3502152"/>
            <a:ext cx="3246120" cy="63093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6000"/>
              </a:lnSpc>
              <a:buNone/>
            </a:pPr>
            <a:r>
              <a:rPr lang="ja-JP" altLang="en-US" sz="2600" b="1" dirty="0">
                <a:solidFill>
                  <a:srgbClr val="1B2D3B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AI利用記録</a:t>
            </a:r>
            <a:endParaRPr lang="ja-JP" sz="2600" dirty="0">
              <a:latin typeface="Meiryo"/>
              <a:ea typeface="Meiryo"/>
              <a:cs typeface="Meiryo"/>
            </a:endParaRPr>
          </a:p>
        </p:txBody>
      </p:sp>
      <p:sp>
        <p:nvSpPr>
          <p:cNvPr id="12" name="Text 10"/>
          <p:cNvSpPr txBox="1"/>
          <p:nvPr/>
        </p:nvSpPr>
        <p:spPr>
          <a:xfrm>
            <a:off x="6400800" y="3502152"/>
            <a:ext cx="5029200" cy="78638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6000"/>
              </a:lnSpc>
              <a:buNone/>
            </a:pPr>
            <a:r>
              <a:rPr lang="ja-JP" altLang="en-US" sz="2400" dirty="0">
                <a:solidFill>
                  <a:srgbClr val="1B2D3B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任せた範囲を説明できるか</a:t>
            </a:r>
            <a:endParaRPr lang="ja-JP" sz="2400" dirty="0">
              <a:latin typeface="Meiryo"/>
              <a:ea typeface="Meiryo"/>
              <a:cs typeface="Meiryo"/>
            </a:endParaRPr>
          </a:p>
        </p:txBody>
      </p:sp>
      <p:sp>
        <p:nvSpPr>
          <p:cNvPr id="13" name="Text 11"/>
          <p:cNvSpPr txBox="1"/>
          <p:nvPr/>
        </p:nvSpPr>
        <p:spPr>
          <a:xfrm>
            <a:off x="822960" y="4489704"/>
            <a:ext cx="1554480" cy="64922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6000"/>
              </a:lnSpc>
              <a:buNone/>
            </a:pPr>
            <a:r>
              <a:rPr lang="ja-JP" altLang="en-US" sz="3000" b="1" dirty="0">
                <a:solidFill>
                  <a:srgbClr val="007F82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10％</a:t>
            </a:r>
            <a:endParaRPr lang="ja-JP" sz="3000" dirty="0">
              <a:latin typeface="Meiryo"/>
              <a:ea typeface="Meiryo"/>
              <a:cs typeface="Meiryo"/>
            </a:endParaRPr>
          </a:p>
        </p:txBody>
      </p:sp>
      <p:sp>
        <p:nvSpPr>
          <p:cNvPr id="14" name="Text 12"/>
          <p:cNvSpPr txBox="1"/>
          <p:nvPr/>
        </p:nvSpPr>
        <p:spPr>
          <a:xfrm>
            <a:off x="2761488" y="4489704"/>
            <a:ext cx="3246120" cy="63093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6000"/>
              </a:lnSpc>
              <a:buNone/>
            </a:pPr>
            <a:r>
              <a:rPr lang="ja-JP" altLang="en-US" sz="2600" b="1" dirty="0">
                <a:solidFill>
                  <a:srgbClr val="1B2D3B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GitHub提出</a:t>
            </a:r>
            <a:endParaRPr lang="ja-JP" sz="2600" dirty="0">
              <a:latin typeface="Meiryo"/>
              <a:ea typeface="Meiryo"/>
              <a:cs typeface="Meiryo"/>
            </a:endParaRPr>
          </a:p>
        </p:txBody>
      </p:sp>
      <p:sp>
        <p:nvSpPr>
          <p:cNvPr id="15" name="Text 13"/>
          <p:cNvSpPr txBox="1"/>
          <p:nvPr/>
        </p:nvSpPr>
        <p:spPr>
          <a:xfrm>
            <a:off x="6400800" y="4489704"/>
            <a:ext cx="5029200" cy="78638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6000"/>
              </a:lnSpc>
              <a:buNone/>
            </a:pPr>
            <a:r>
              <a:rPr lang="ja-JP" altLang="en-US" sz="2400" dirty="0">
                <a:solidFill>
                  <a:srgbClr val="1B2D3B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指定の版と場所を示せるか</a:t>
            </a:r>
            <a:endParaRPr lang="ja-JP" sz="2400" dirty="0">
              <a:latin typeface="Meiryo"/>
              <a:ea typeface="Meiryo"/>
              <a:cs typeface="Meiryo"/>
            </a:endParaRPr>
          </a:p>
        </p:txBody>
      </p:sp>
      <p:sp>
        <p:nvSpPr>
          <p:cNvPr id="16" name="Text 14"/>
          <p:cNvSpPr txBox="1"/>
          <p:nvPr/>
        </p:nvSpPr>
        <p:spPr>
          <a:xfrm>
            <a:off x="667512" y="5779008"/>
            <a:ext cx="10844784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6000"/>
              </a:lnSpc>
              <a:buNone/>
            </a:pPr>
            <a:r>
              <a:rPr lang="ja-JP" altLang="en-US" sz="1800" dirty="0">
                <a:solidFill>
                  <a:srgbClr val="4D626D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暗記量、サービス名、課金の有無、プロンプトの長さは採点しない。</a:t>
            </a:r>
            <a:endParaRPr lang="ja-JP" sz="1800" dirty="0">
              <a:latin typeface="Meiryo"/>
              <a:ea typeface="Meiryo"/>
              <a:cs typeface="Meiryo"/>
            </a:endParaRPr>
          </a:p>
        </p:txBody>
      </p:sp>
      <p:sp>
        <p:nvSpPr>
          <p:cNvPr id="17" name="Text 15"/>
          <p:cNvSpPr txBox="1"/>
          <p:nvPr/>
        </p:nvSpPr>
        <p:spPr>
          <a:xfrm>
            <a:off x="667512" y="6428232"/>
            <a:ext cx="384048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6000"/>
              </a:lnSpc>
              <a:buNone/>
            </a:pPr>
            <a:r>
              <a:rPr lang="ja-JP" altLang="en-US" sz="1800" dirty="0">
                <a:solidFill>
                  <a:srgbClr val="4D626D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データ科学入門｜演習</a:t>
            </a:r>
            <a:endParaRPr lang="ja-JP" sz="1800" dirty="0">
              <a:latin typeface="Meiryo"/>
              <a:ea typeface="Meiryo"/>
              <a:cs typeface="Meiryo"/>
            </a:endParaRPr>
          </a:p>
        </p:txBody>
      </p:sp>
      <p:sp>
        <p:nvSpPr>
          <p:cNvPr id="18" name="Text 16"/>
          <p:cNvSpPr txBox="1"/>
          <p:nvPr/>
        </p:nvSpPr>
        <p:spPr>
          <a:xfrm>
            <a:off x="8412480" y="6428232"/>
            <a:ext cx="310896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lnSpc>
                <a:spcPct val="106000"/>
              </a:lnSpc>
              <a:buNone/>
            </a:pPr>
            <a:r>
              <a:rPr lang="ja-JP" altLang="en-US" sz="1800" dirty="0">
                <a:solidFill>
                  <a:srgbClr val="4D626D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最終課題  08 / 12</a:t>
            </a:r>
            <a:endParaRPr lang="ja-JP" sz="1800" dirty="0">
              <a:latin typeface="Meiryo"/>
              <a:ea typeface="Meiryo"/>
              <a:cs typeface="Meiryo"/>
            </a:endParaRP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621792" y="493776"/>
            <a:ext cx="10936224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6000"/>
              </a:lnSpc>
              <a:buNone/>
            </a:pPr>
            <a:r>
              <a:rPr lang="ja-JP" altLang="en-US" sz="3400" b="1" dirty="0">
                <a:solidFill>
                  <a:srgbClr val="1B2D3B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finalフォルダへ、まとめて保存する</a:t>
            </a:r>
            <a:endParaRPr lang="ja-JP" sz="3400" dirty="0">
              <a:latin typeface="Meiryo"/>
              <a:ea typeface="Meiryo"/>
              <a:cs typeface="Meiryo"/>
            </a:endParaRPr>
          </a:p>
        </p:txBody>
      </p:sp>
      <p:sp>
        <p:nvSpPr>
          <p:cNvPr id="3" name="Shape 1"/>
          <p:cNvSpPr/>
          <p:nvPr/>
        </p:nvSpPr>
        <p:spPr>
          <a:xfrm>
            <a:off x="640080" y="1243584"/>
            <a:ext cx="10908792" cy="0"/>
          </a:xfrm>
          <a:prstGeom prst="line">
            <a:avLst/>
          </a:prstGeom>
          <a:noFill/>
          <a:ln w="12700">
            <a:solidFill>
              <a:srgbClr val="CBD7DC"/>
            </a:solidFill>
            <a:prstDash val="solid"/>
          </a:ln>
        </p:spPr>
      </p:sp>
      <p:sp>
        <p:nvSpPr>
          <p:cNvPr id="4" name="Shape 2"/>
          <p:cNvSpPr/>
          <p:nvPr/>
        </p:nvSpPr>
        <p:spPr>
          <a:xfrm>
            <a:off x="640080" y="1554480"/>
            <a:ext cx="5257800" cy="4041648"/>
          </a:xfrm>
          <a:prstGeom prst="rect">
            <a:avLst/>
          </a:prstGeom>
          <a:solidFill>
            <a:srgbClr val="F7F8FA"/>
          </a:solidFill>
          <a:ln w="12700">
            <a:solidFill>
              <a:srgbClr val="F7F8FA"/>
            </a:solidFill>
            <a:prstDash val="solid"/>
          </a:ln>
        </p:spPr>
      </p:sp>
      <p:pic>
        <p:nvPicPr>
          <p:cNvPr id="5" name="Image 0" descr="Lucide folder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923544" y="1828800"/>
            <a:ext cx="448056" cy="448056"/>
          </a:xfrm>
          <a:prstGeom prst="rect">
            <a:avLst/>
          </a:prstGeom>
        </p:spPr>
      </p:pic>
      <p:sp>
        <p:nvSpPr>
          <p:cNvPr id="6" name="Text 3"/>
          <p:cNvSpPr txBox="1"/>
          <p:nvPr/>
        </p:nvSpPr>
        <p:spPr>
          <a:xfrm>
            <a:off x="1572768" y="1819656"/>
            <a:ext cx="402336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6000"/>
              </a:lnSpc>
              <a:buNone/>
            </a:pPr>
            <a:r>
              <a:rPr lang="ja-JP" altLang="en-US" sz="2700" b="1" dirty="0">
                <a:solidFill>
                  <a:srgbClr val="007F82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final/</a:t>
            </a:r>
            <a:endParaRPr lang="ja-JP" sz="2700" dirty="0">
              <a:latin typeface="Meiryo"/>
              <a:ea typeface="Meiryo"/>
              <a:cs typeface="Meiryo"/>
            </a:endParaRPr>
          </a:p>
        </p:txBody>
      </p:sp>
      <p:sp>
        <p:nvSpPr>
          <p:cNvPr id="7" name="Text 4"/>
          <p:cNvSpPr txBox="1"/>
          <p:nvPr/>
        </p:nvSpPr>
        <p:spPr>
          <a:xfrm>
            <a:off x="950976" y="2660904"/>
            <a:ext cx="4590288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6000"/>
              </a:lnSpc>
              <a:buNone/>
            </a:pPr>
            <a:r>
              <a:rPr lang="ja-JP" altLang="en-US" sz="2200" dirty="0">
                <a:solidFill>
                  <a:srgbClr val="1B2D3B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README.md：</a:t>
            </a:r>
            <a:endParaRPr lang="ja-JP" sz="2200" dirty="0">
              <a:latin typeface="Meiryo"/>
              <a:ea typeface="Meiryo"/>
              <a:cs typeface="Meiryo"/>
            </a:endParaRPr>
          </a:p>
          <a:p>
            <a:pPr indent="0" marL="0">
              <a:lnSpc>
                <a:spcPct val="106000"/>
              </a:lnSpc>
              <a:buNone/>
            </a:pPr>
            <a:r>
              <a:rPr lang="ja-JP" altLang="en-US" sz="2200" dirty="0">
                <a:solidFill>
                  <a:srgbClr val="1B2D3B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問い・利用記録</a:t>
            </a:r>
            <a:endParaRPr lang="ja-JP" sz="2200" dirty="0">
              <a:latin typeface="Meiryo"/>
              <a:ea typeface="Meiryo"/>
              <a:cs typeface="Meiryo"/>
            </a:endParaRPr>
          </a:p>
        </p:txBody>
      </p:sp>
      <p:sp>
        <p:nvSpPr>
          <p:cNvPr id="8" name="Text 5"/>
          <p:cNvSpPr txBox="1"/>
          <p:nvPr/>
        </p:nvSpPr>
        <p:spPr>
          <a:xfrm>
            <a:off x="950976" y="3483864"/>
            <a:ext cx="4590288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6000"/>
              </a:lnSpc>
              <a:buNone/>
            </a:pPr>
            <a:r>
              <a:rPr lang="ja-JP" altLang="en-US" sz="2200" dirty="0">
                <a:solidFill>
                  <a:srgbClr val="1B2D3B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成果物：説明文・1枚資料・表など</a:t>
            </a:r>
            <a:endParaRPr lang="ja-JP" sz="2200" dirty="0">
              <a:latin typeface="Meiryo"/>
              <a:ea typeface="Meiryo"/>
              <a:cs typeface="Meiryo"/>
            </a:endParaRPr>
          </a:p>
        </p:txBody>
      </p:sp>
      <p:sp>
        <p:nvSpPr>
          <p:cNvPr id="9" name="Text 6"/>
          <p:cNvSpPr txBox="1"/>
          <p:nvPr/>
        </p:nvSpPr>
        <p:spPr>
          <a:xfrm>
            <a:off x="950976" y="4306824"/>
            <a:ext cx="4590288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6000"/>
              </a:lnSpc>
              <a:buNone/>
            </a:pPr>
            <a:r>
              <a:rPr lang="ja-JP" altLang="en-US" sz="2200" dirty="0">
                <a:solidFill>
                  <a:srgbClr val="1B2D3B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evidence_log.md：根拠ログ</a:t>
            </a:r>
            <a:endParaRPr lang="ja-JP" sz="2200" dirty="0">
              <a:latin typeface="Meiryo"/>
              <a:ea typeface="Meiryo"/>
              <a:cs typeface="Meiryo"/>
            </a:endParaRPr>
          </a:p>
        </p:txBody>
      </p:sp>
      <p:sp>
        <p:nvSpPr>
          <p:cNvPr id="10" name="Text 7"/>
          <p:cNvSpPr txBox="1"/>
          <p:nvPr/>
        </p:nvSpPr>
        <p:spPr>
          <a:xfrm>
            <a:off x="6391656" y="1801368"/>
            <a:ext cx="466344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6000"/>
              </a:lnSpc>
              <a:buNone/>
            </a:pPr>
            <a:r>
              <a:rPr lang="ja-JP" altLang="en-US" sz="2600" b="1" dirty="0">
                <a:solidFill>
                  <a:srgbClr val="1B2D3B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READMEの利用記録</a:t>
            </a:r>
            <a:endParaRPr lang="ja-JP" sz="2600" dirty="0">
              <a:latin typeface="Meiryo"/>
              <a:ea typeface="Meiryo"/>
              <a:cs typeface="Meiryo"/>
            </a:endParaRPr>
          </a:p>
        </p:txBody>
      </p:sp>
      <p:sp>
        <p:nvSpPr>
          <p:cNvPr id="11" name="Text 8"/>
          <p:cNvSpPr txBox="1"/>
          <p:nvPr/>
        </p:nvSpPr>
        <p:spPr>
          <a:xfrm>
            <a:off x="6400800" y="2779776"/>
            <a:ext cx="4809744" cy="243230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6000"/>
              </a:lnSpc>
              <a:buNone/>
            </a:pPr>
            <a:r>
              <a:rPr lang="ja-JP" altLang="en-US" sz="2400" dirty="0">
                <a:solidFill>
                  <a:srgbClr val="1B2D3B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根拠ログはREADME内に</a:t>
            </a:r>
            <a:endParaRPr lang="ja-JP" sz="2400" dirty="0">
              <a:latin typeface="Meiryo"/>
              <a:ea typeface="Meiryo"/>
              <a:cs typeface="Meiryo"/>
            </a:endParaRPr>
          </a:p>
          <a:p>
            <a:pPr indent="0" marL="0">
              <a:lnSpc>
                <a:spcPct val="106000"/>
              </a:lnSpc>
              <a:buNone/>
            </a:pPr>
            <a:r>
              <a:rPr lang="ja-JP" altLang="en-US" sz="2400" dirty="0">
                <a:solidFill>
                  <a:srgbClr val="1B2D3B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書いてもよい。</a:t>
            </a:r>
            <a:endParaRPr lang="ja-JP" sz="2400" dirty="0">
              <a:latin typeface="Meiryo"/>
              <a:ea typeface="Meiryo"/>
              <a:cs typeface="Meiryo"/>
            </a:endParaRPr>
          </a:p>
          <a:p>
            <a:pPr indent="0" marL="0">
              <a:lnSpc>
                <a:spcPct val="106000"/>
              </a:lnSpc>
              <a:buNone/>
            </a:pPr>
            <a:r>
              <a:rPr lang="ja-JP" altLang="en-US" sz="2400" dirty="0">
                <a:solidFill>
                  <a:srgbClr val="1B2D3B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画像やCSVは、リンクから</a:t>
            </a:r>
            <a:endParaRPr lang="ja-JP" sz="2400" dirty="0">
              <a:latin typeface="Meiryo"/>
              <a:ea typeface="Meiryo"/>
              <a:cs typeface="Meiryo"/>
            </a:endParaRPr>
          </a:p>
          <a:p>
            <a:pPr indent="0" marL="0">
              <a:lnSpc>
                <a:spcPct val="106000"/>
              </a:lnSpc>
              <a:buNone/>
            </a:pPr>
            <a:r>
              <a:rPr lang="ja-JP" altLang="en-US" sz="2400" dirty="0">
                <a:solidFill>
                  <a:srgbClr val="1B2D3B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開けるようにする。</a:t>
            </a:r>
            <a:endParaRPr lang="ja-JP" sz="2400" dirty="0">
              <a:latin typeface="Meiryo"/>
              <a:ea typeface="Meiryo"/>
              <a:cs typeface="Meiryo"/>
            </a:endParaRPr>
          </a:p>
        </p:txBody>
      </p:sp>
      <p:sp>
        <p:nvSpPr>
          <p:cNvPr id="12" name="Text 9"/>
          <p:cNvSpPr txBox="1"/>
          <p:nvPr/>
        </p:nvSpPr>
        <p:spPr>
          <a:xfrm>
            <a:off x="667512" y="6428232"/>
            <a:ext cx="384048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6000"/>
              </a:lnSpc>
              <a:buNone/>
            </a:pPr>
            <a:r>
              <a:rPr lang="ja-JP" altLang="en-US" sz="1800" dirty="0">
                <a:solidFill>
                  <a:srgbClr val="4D626D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データ科学入門｜演習</a:t>
            </a:r>
            <a:endParaRPr lang="ja-JP" sz="1800" dirty="0">
              <a:latin typeface="Meiryo"/>
              <a:ea typeface="Meiryo"/>
              <a:cs typeface="Meiryo"/>
            </a:endParaRPr>
          </a:p>
        </p:txBody>
      </p:sp>
      <p:sp>
        <p:nvSpPr>
          <p:cNvPr id="13" name="Text 10"/>
          <p:cNvSpPr txBox="1"/>
          <p:nvPr/>
        </p:nvSpPr>
        <p:spPr>
          <a:xfrm>
            <a:off x="8412480" y="6428232"/>
            <a:ext cx="310896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lnSpc>
                <a:spcPct val="106000"/>
              </a:lnSpc>
              <a:buNone/>
            </a:pPr>
            <a:r>
              <a:rPr lang="ja-JP" altLang="en-US" sz="1800" dirty="0">
                <a:solidFill>
                  <a:srgbClr val="4D626D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最終課題  09 / 12</a:t>
            </a:r>
            <a:endParaRPr lang="ja-JP" sz="1800" dirty="0">
              <a:latin typeface="Meiryo"/>
              <a:ea typeface="Meiryo"/>
              <a:cs typeface="Meiryo"/>
            </a:endParaRP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621792" y="493776"/>
            <a:ext cx="10936224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6000"/>
              </a:lnSpc>
              <a:buNone/>
            </a:pPr>
            <a:r>
              <a:rPr lang="ja-JP" altLang="en-US" sz="3400" b="1" dirty="0">
                <a:solidFill>
                  <a:srgbClr val="1B2D3B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最終課題フォームへ提出する</a:t>
            </a:r>
            <a:endParaRPr lang="ja-JP" sz="3400" dirty="0">
              <a:latin typeface="Meiryo"/>
              <a:ea typeface="Meiryo"/>
              <a:cs typeface="Meiryo"/>
            </a:endParaRPr>
          </a:p>
        </p:txBody>
      </p:sp>
      <p:sp>
        <p:nvSpPr>
          <p:cNvPr id="3" name="Shape 1"/>
          <p:cNvSpPr/>
          <p:nvPr/>
        </p:nvSpPr>
        <p:spPr>
          <a:xfrm>
            <a:off x="640080" y="1243584"/>
            <a:ext cx="10908792" cy="0"/>
          </a:xfrm>
          <a:prstGeom prst="line">
            <a:avLst/>
          </a:prstGeom>
          <a:noFill/>
          <a:ln w="12700">
            <a:solidFill>
              <a:srgbClr val="CBD7DC"/>
            </a:solidFill>
            <a:prstDash val="solid"/>
          </a:ln>
        </p:spPr>
      </p:sp>
      <p:sp>
        <p:nvSpPr>
          <p:cNvPr id="4" name="Text 2"/>
          <p:cNvSpPr txBox="1"/>
          <p:nvPr/>
        </p:nvSpPr>
        <p:spPr>
          <a:xfrm>
            <a:off x="704088" y="1572768"/>
            <a:ext cx="749808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6000"/>
              </a:lnSpc>
              <a:buNone/>
            </a:pPr>
            <a:r>
              <a:rPr lang="ja-JP" altLang="en-US" sz="3200" b="1" dirty="0">
                <a:solidFill>
                  <a:srgbClr val="007F82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01</a:t>
            </a:r>
            <a:endParaRPr lang="ja-JP" sz="3200" dirty="0">
              <a:latin typeface="Meiryo"/>
              <a:ea typeface="Meiryo"/>
              <a:cs typeface="Meiryo"/>
            </a:endParaRPr>
          </a:p>
        </p:txBody>
      </p:sp>
      <p:sp>
        <p:nvSpPr>
          <p:cNvPr id="5" name="Text 3"/>
          <p:cNvSpPr txBox="1"/>
          <p:nvPr/>
        </p:nvSpPr>
        <p:spPr>
          <a:xfrm>
            <a:off x="1737360" y="1508760"/>
            <a:ext cx="9235440" cy="62179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6000"/>
              </a:lnSpc>
              <a:buNone/>
            </a:pPr>
            <a:r>
              <a:rPr lang="ja-JP" altLang="en-US" sz="2800" b="1" dirty="0">
                <a:solidFill>
                  <a:srgbClr val="1B2D3B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finalの全ファイルをcommitする。</a:t>
            </a:r>
            <a:endParaRPr lang="ja-JP" sz="2800" dirty="0">
              <a:latin typeface="Meiryo"/>
              <a:ea typeface="Meiryo"/>
              <a:cs typeface="Meiryo"/>
            </a:endParaRPr>
          </a:p>
        </p:txBody>
      </p:sp>
      <p:sp>
        <p:nvSpPr>
          <p:cNvPr id="6" name="Text 4"/>
          <p:cNvSpPr txBox="1"/>
          <p:nvPr/>
        </p:nvSpPr>
        <p:spPr>
          <a:xfrm>
            <a:off x="1737360" y="2212848"/>
            <a:ext cx="9235440" cy="53035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6000"/>
              </a:lnSpc>
              <a:buNone/>
            </a:pPr>
            <a:r>
              <a:rPr lang="ja-JP" altLang="en-US" sz="2300" dirty="0">
                <a:solidFill>
                  <a:srgbClr val="4D626D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Desktopの場合はpushも行う。</a:t>
            </a:r>
            <a:endParaRPr lang="ja-JP" sz="2300" dirty="0">
              <a:latin typeface="Meiryo"/>
              <a:ea typeface="Meiryo"/>
              <a:cs typeface="Meiryo"/>
            </a:endParaRPr>
          </a:p>
        </p:txBody>
      </p:sp>
      <p:sp>
        <p:nvSpPr>
          <p:cNvPr id="7" name="Shape 5"/>
          <p:cNvSpPr/>
          <p:nvPr/>
        </p:nvSpPr>
        <p:spPr>
          <a:xfrm>
            <a:off x="1737360" y="2752344"/>
            <a:ext cx="9738360" cy="0"/>
          </a:xfrm>
          <a:prstGeom prst="line">
            <a:avLst/>
          </a:prstGeom>
          <a:noFill/>
          <a:ln w="12700">
            <a:solidFill>
              <a:srgbClr val="CBD7DC"/>
            </a:solidFill>
            <a:prstDash val="solid"/>
          </a:ln>
        </p:spPr>
      </p:sp>
      <p:sp>
        <p:nvSpPr>
          <p:cNvPr id="8" name="Text 6"/>
          <p:cNvSpPr txBox="1"/>
          <p:nvPr/>
        </p:nvSpPr>
        <p:spPr>
          <a:xfrm>
            <a:off x="704088" y="2926080"/>
            <a:ext cx="749808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6000"/>
              </a:lnSpc>
              <a:buNone/>
            </a:pPr>
            <a:r>
              <a:rPr lang="ja-JP" altLang="en-US" sz="3200" b="1" dirty="0">
                <a:solidFill>
                  <a:srgbClr val="007F82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02</a:t>
            </a:r>
            <a:endParaRPr lang="ja-JP" sz="3200" dirty="0">
              <a:latin typeface="Meiryo"/>
              <a:ea typeface="Meiryo"/>
              <a:cs typeface="Meiryo"/>
            </a:endParaRPr>
          </a:p>
        </p:txBody>
      </p:sp>
      <p:sp>
        <p:nvSpPr>
          <p:cNvPr id="9" name="Text 7"/>
          <p:cNvSpPr txBox="1"/>
          <p:nvPr/>
        </p:nvSpPr>
        <p:spPr>
          <a:xfrm>
            <a:off x="1737360" y="2862072"/>
            <a:ext cx="9235440" cy="62179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6000"/>
              </a:lnSpc>
              <a:buNone/>
            </a:pPr>
            <a:r>
              <a:rPr lang="ja-JP" altLang="en-US" sz="2800" b="1" dirty="0">
                <a:solidFill>
                  <a:srgbClr val="1B2D3B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そのcommitで成果物を開く。</a:t>
            </a:r>
            <a:endParaRPr lang="ja-JP" sz="2800" dirty="0">
              <a:latin typeface="Meiryo"/>
              <a:ea typeface="Meiryo"/>
              <a:cs typeface="Meiryo"/>
            </a:endParaRPr>
          </a:p>
        </p:txBody>
      </p:sp>
      <p:sp>
        <p:nvSpPr>
          <p:cNvPr id="10" name="Text 8"/>
          <p:cNvSpPr txBox="1"/>
          <p:nvPr/>
        </p:nvSpPr>
        <p:spPr>
          <a:xfrm>
            <a:off x="1737360" y="3566160"/>
            <a:ext cx="9235440" cy="53035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6000"/>
              </a:lnSpc>
              <a:buNone/>
            </a:pPr>
            <a:r>
              <a:rPr lang="ja-JP" altLang="en-US" sz="2300" dirty="0">
                <a:solidFill>
                  <a:srgbClr val="4D626D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表・画像・根拠ログがそろっているか確認する。</a:t>
            </a:r>
            <a:endParaRPr lang="ja-JP" sz="2300" dirty="0">
              <a:latin typeface="Meiryo"/>
              <a:ea typeface="Meiryo"/>
              <a:cs typeface="Meiryo"/>
            </a:endParaRPr>
          </a:p>
        </p:txBody>
      </p:sp>
      <p:sp>
        <p:nvSpPr>
          <p:cNvPr id="11" name="Shape 9"/>
          <p:cNvSpPr/>
          <p:nvPr/>
        </p:nvSpPr>
        <p:spPr>
          <a:xfrm>
            <a:off x="1737360" y="4105656"/>
            <a:ext cx="9738360" cy="0"/>
          </a:xfrm>
          <a:prstGeom prst="line">
            <a:avLst/>
          </a:prstGeom>
          <a:noFill/>
          <a:ln w="12700">
            <a:solidFill>
              <a:srgbClr val="CBD7DC"/>
            </a:solidFill>
            <a:prstDash val="solid"/>
          </a:ln>
        </p:spPr>
      </p:sp>
      <p:sp>
        <p:nvSpPr>
          <p:cNvPr id="12" name="Text 10"/>
          <p:cNvSpPr txBox="1"/>
          <p:nvPr/>
        </p:nvSpPr>
        <p:spPr>
          <a:xfrm>
            <a:off x="704088" y="4279392"/>
            <a:ext cx="749808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6000"/>
              </a:lnSpc>
              <a:buNone/>
            </a:pPr>
            <a:r>
              <a:rPr lang="ja-JP" altLang="en-US" sz="3200" b="1" dirty="0">
                <a:solidFill>
                  <a:srgbClr val="007F82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03</a:t>
            </a:r>
            <a:endParaRPr lang="ja-JP" sz="3200" dirty="0">
              <a:latin typeface="Meiryo"/>
              <a:ea typeface="Meiryo"/>
              <a:cs typeface="Meiryo"/>
            </a:endParaRPr>
          </a:p>
        </p:txBody>
      </p:sp>
      <p:sp>
        <p:nvSpPr>
          <p:cNvPr id="13" name="Text 11"/>
          <p:cNvSpPr txBox="1"/>
          <p:nvPr/>
        </p:nvSpPr>
        <p:spPr>
          <a:xfrm>
            <a:off x="1737360" y="4215384"/>
            <a:ext cx="9235440" cy="62179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6000"/>
              </a:lnSpc>
              <a:buNone/>
            </a:pPr>
            <a:r>
              <a:rPr lang="ja-JP" altLang="en-US" sz="2800" b="1" dirty="0">
                <a:solidFill>
                  <a:srgbClr val="1B2D3B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最終課題フォームを送信する。</a:t>
            </a:r>
            <a:endParaRPr lang="ja-JP" sz="2800" dirty="0">
              <a:latin typeface="Meiryo"/>
              <a:ea typeface="Meiryo"/>
              <a:cs typeface="Meiryo"/>
            </a:endParaRPr>
          </a:p>
        </p:txBody>
      </p:sp>
      <p:sp>
        <p:nvSpPr>
          <p:cNvPr id="14" name="Text 12"/>
          <p:cNvSpPr txBox="1"/>
          <p:nvPr/>
        </p:nvSpPr>
        <p:spPr>
          <a:xfrm>
            <a:off x="1737360" y="4919472"/>
            <a:ext cx="9235440" cy="53035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6000"/>
              </a:lnSpc>
              <a:buNone/>
            </a:pPr>
            <a:r>
              <a:rPr lang="ja-JP" altLang="en-US" sz="2300" dirty="0">
                <a:solidFill>
                  <a:srgbClr val="4D626D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大学アカウントで、commit URLを提出する。</a:t>
            </a:r>
            <a:endParaRPr lang="ja-JP" sz="2300" dirty="0">
              <a:latin typeface="Meiryo"/>
              <a:ea typeface="Meiryo"/>
              <a:cs typeface="Meiryo"/>
            </a:endParaRPr>
          </a:p>
        </p:txBody>
      </p:sp>
      <p:sp>
        <p:nvSpPr>
          <p:cNvPr id="15" name="Text 13"/>
          <p:cNvSpPr txBox="1"/>
          <p:nvPr/>
        </p:nvSpPr>
        <p:spPr>
          <a:xfrm>
            <a:off x="667512" y="5779008"/>
            <a:ext cx="10844784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6000"/>
              </a:lnSpc>
              <a:buNone/>
            </a:pPr>
            <a:r>
              <a:rPr lang="ja-JP" altLang="en-US" sz="1800" dirty="0">
                <a:solidFill>
                  <a:srgbClr val="4D626D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Week 14の提出だけでは、最終課題の提出にはならない。</a:t>
            </a:r>
            <a:endParaRPr lang="ja-JP" sz="1800" dirty="0">
              <a:latin typeface="Meiryo"/>
              <a:ea typeface="Meiryo"/>
              <a:cs typeface="Meiryo"/>
            </a:endParaRPr>
          </a:p>
        </p:txBody>
      </p:sp>
      <p:sp>
        <p:nvSpPr>
          <p:cNvPr id="16" name="Text 14"/>
          <p:cNvSpPr txBox="1"/>
          <p:nvPr/>
        </p:nvSpPr>
        <p:spPr>
          <a:xfrm>
            <a:off x="667512" y="6428232"/>
            <a:ext cx="384048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6000"/>
              </a:lnSpc>
              <a:buNone/>
            </a:pPr>
            <a:r>
              <a:rPr lang="ja-JP" altLang="en-US" sz="1800" dirty="0">
                <a:solidFill>
                  <a:srgbClr val="4D626D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データ科学入門｜演習</a:t>
            </a:r>
            <a:endParaRPr lang="ja-JP" sz="1800" dirty="0">
              <a:latin typeface="Meiryo"/>
              <a:ea typeface="Meiryo"/>
              <a:cs typeface="Meiryo"/>
            </a:endParaRPr>
          </a:p>
        </p:txBody>
      </p:sp>
      <p:sp>
        <p:nvSpPr>
          <p:cNvPr id="17" name="Text 15"/>
          <p:cNvSpPr txBox="1"/>
          <p:nvPr/>
        </p:nvSpPr>
        <p:spPr>
          <a:xfrm>
            <a:off x="8412480" y="6428232"/>
            <a:ext cx="310896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lnSpc>
                <a:spcPct val="106000"/>
              </a:lnSpc>
              <a:buNone/>
            </a:pPr>
            <a:r>
              <a:rPr lang="ja-JP" altLang="en-US" sz="1800" dirty="0">
                <a:solidFill>
                  <a:srgbClr val="4D626D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最終課題  10 / 12</a:t>
            </a:r>
            <a:endParaRPr lang="ja-JP" sz="1800" dirty="0">
              <a:latin typeface="Meiryo"/>
              <a:ea typeface="Meiryo"/>
              <a:cs typeface="Meiryo"/>
            </a:endParaRPr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1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621792" y="493776"/>
            <a:ext cx="10936224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6000"/>
              </a:lnSpc>
              <a:buNone/>
            </a:pPr>
            <a:r>
              <a:rPr lang="ja-JP" altLang="en-US" sz="3400" b="1" dirty="0">
                <a:solidFill>
                  <a:srgbClr val="1B2D3B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提出直前に、実物を開いて確認する</a:t>
            </a:r>
            <a:endParaRPr lang="ja-JP" sz="3400" dirty="0">
              <a:latin typeface="Meiryo"/>
              <a:ea typeface="Meiryo"/>
              <a:cs typeface="Meiryo"/>
            </a:endParaRPr>
          </a:p>
        </p:txBody>
      </p:sp>
      <p:sp>
        <p:nvSpPr>
          <p:cNvPr id="3" name="Shape 1"/>
          <p:cNvSpPr/>
          <p:nvPr/>
        </p:nvSpPr>
        <p:spPr>
          <a:xfrm>
            <a:off x="640080" y="1243584"/>
            <a:ext cx="10908792" cy="0"/>
          </a:xfrm>
          <a:prstGeom prst="line">
            <a:avLst/>
          </a:prstGeom>
          <a:noFill/>
          <a:ln w="12700">
            <a:solidFill>
              <a:srgbClr val="CBD7DC"/>
            </a:solidFill>
            <a:prstDash val="solid"/>
          </a:ln>
        </p:spPr>
      </p:sp>
      <p:pic>
        <p:nvPicPr>
          <p:cNvPr id="4" name="Image 0" descr="Lucide circle-check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731520" y="1682496"/>
            <a:ext cx="402336" cy="402336"/>
          </a:xfrm>
          <a:prstGeom prst="rect">
            <a:avLst/>
          </a:prstGeom>
        </p:spPr>
      </p:pic>
      <p:sp>
        <p:nvSpPr>
          <p:cNvPr id="5" name="Text 2"/>
          <p:cNvSpPr txBox="1"/>
          <p:nvPr/>
        </p:nvSpPr>
        <p:spPr>
          <a:xfrm>
            <a:off x="1435608" y="1645920"/>
            <a:ext cx="9884664" cy="85039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6000"/>
              </a:lnSpc>
              <a:buNone/>
            </a:pPr>
            <a:r>
              <a:rPr lang="ja-JP" altLang="en-US" sz="2600" dirty="0">
                <a:solidFill>
                  <a:srgbClr val="1B2D3B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問いと答え、根拠ログが対応している。</a:t>
            </a:r>
            <a:endParaRPr lang="ja-JP" sz="2600" dirty="0">
              <a:latin typeface="Meiryo"/>
              <a:ea typeface="Meiryo"/>
              <a:cs typeface="Meiryo"/>
            </a:endParaRPr>
          </a:p>
        </p:txBody>
      </p:sp>
      <p:pic>
        <p:nvPicPr>
          <p:cNvPr id="6" name="Image 1" descr="Lucide circle-check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31520" y="2633472"/>
            <a:ext cx="402336" cy="402336"/>
          </a:xfrm>
          <a:prstGeom prst="rect">
            <a:avLst/>
          </a:prstGeom>
        </p:spPr>
      </p:pic>
      <p:sp>
        <p:nvSpPr>
          <p:cNvPr id="7" name="Text 3"/>
          <p:cNvSpPr txBox="1"/>
          <p:nvPr/>
        </p:nvSpPr>
        <p:spPr>
          <a:xfrm>
            <a:off x="1435608" y="2596896"/>
            <a:ext cx="9884664" cy="85039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6000"/>
              </a:lnSpc>
              <a:buNone/>
            </a:pPr>
            <a:r>
              <a:rPr lang="ja-JP" altLang="en-US" sz="2600" dirty="0">
                <a:solidFill>
                  <a:srgbClr val="1B2D3B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数字・日付・固有名詞を確認した。</a:t>
            </a:r>
            <a:endParaRPr lang="ja-JP" sz="2600" dirty="0">
              <a:latin typeface="Meiryo"/>
              <a:ea typeface="Meiryo"/>
              <a:cs typeface="Meiryo"/>
            </a:endParaRPr>
          </a:p>
        </p:txBody>
      </p:sp>
      <p:pic>
        <p:nvPicPr>
          <p:cNvPr id="8" name="Image 2" descr="Lucide circle-check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731520" y="3584448"/>
            <a:ext cx="402336" cy="402336"/>
          </a:xfrm>
          <a:prstGeom prst="rect">
            <a:avLst/>
          </a:prstGeom>
        </p:spPr>
      </p:pic>
      <p:sp>
        <p:nvSpPr>
          <p:cNvPr id="9" name="Text 4"/>
          <p:cNvSpPr txBox="1"/>
          <p:nvPr/>
        </p:nvSpPr>
        <p:spPr>
          <a:xfrm>
            <a:off x="1435608" y="3547872"/>
            <a:ext cx="9884664" cy="85039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6000"/>
              </a:lnSpc>
              <a:buNone/>
            </a:pPr>
            <a:r>
              <a:rPr lang="ja-JP" altLang="en-US" sz="2600" dirty="0">
                <a:solidFill>
                  <a:srgbClr val="1B2D3B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個人情報や非公開資料を含めていない。</a:t>
            </a:r>
            <a:endParaRPr lang="ja-JP" sz="2600" dirty="0">
              <a:latin typeface="Meiryo"/>
              <a:ea typeface="Meiryo"/>
              <a:cs typeface="Meiryo"/>
            </a:endParaRPr>
          </a:p>
        </p:txBody>
      </p:sp>
      <p:pic>
        <p:nvPicPr>
          <p:cNvPr id="10" name="Image 3" descr="Lucide circle-check">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731520" y="4535424"/>
            <a:ext cx="402336" cy="402336"/>
          </a:xfrm>
          <a:prstGeom prst="rect">
            <a:avLst/>
          </a:prstGeom>
        </p:spPr>
      </p:pic>
      <p:sp>
        <p:nvSpPr>
          <p:cNvPr id="11" name="Text 5"/>
          <p:cNvSpPr txBox="1"/>
          <p:nvPr/>
        </p:nvSpPr>
        <p:spPr>
          <a:xfrm>
            <a:off x="1435608" y="4498848"/>
            <a:ext cx="9884664" cy="85039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6000"/>
              </a:lnSpc>
              <a:buNone/>
            </a:pPr>
            <a:r>
              <a:rPr lang="ja-JP" altLang="en-US" sz="2600" dirty="0">
                <a:solidFill>
                  <a:srgbClr val="1B2D3B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提出するcommitを開き、全ファイルを確認した。</a:t>
            </a:r>
            <a:endParaRPr lang="ja-JP" sz="2600" dirty="0">
              <a:latin typeface="Meiryo"/>
              <a:ea typeface="Meiryo"/>
              <a:cs typeface="Meiryo"/>
            </a:endParaRPr>
          </a:p>
        </p:txBody>
      </p:sp>
      <p:sp>
        <p:nvSpPr>
          <p:cNvPr id="12" name="Text 6"/>
          <p:cNvSpPr txBox="1"/>
          <p:nvPr/>
        </p:nvSpPr>
        <p:spPr>
          <a:xfrm>
            <a:off x="667512" y="6428232"/>
            <a:ext cx="384048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6000"/>
              </a:lnSpc>
              <a:buNone/>
            </a:pPr>
            <a:r>
              <a:rPr lang="ja-JP" altLang="en-US" sz="1800" dirty="0">
                <a:solidFill>
                  <a:srgbClr val="4D626D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データ科学入門｜演習</a:t>
            </a:r>
            <a:endParaRPr lang="ja-JP" sz="1800" dirty="0">
              <a:latin typeface="Meiryo"/>
              <a:ea typeface="Meiryo"/>
              <a:cs typeface="Meiryo"/>
            </a:endParaRPr>
          </a:p>
        </p:txBody>
      </p:sp>
      <p:sp>
        <p:nvSpPr>
          <p:cNvPr id="13" name="Text 7"/>
          <p:cNvSpPr txBox="1"/>
          <p:nvPr/>
        </p:nvSpPr>
        <p:spPr>
          <a:xfrm>
            <a:off x="8412480" y="6428232"/>
            <a:ext cx="310896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lnSpc>
                <a:spcPct val="106000"/>
              </a:lnSpc>
              <a:buNone/>
            </a:pPr>
            <a:r>
              <a:rPr lang="ja-JP" altLang="en-US" sz="1800" dirty="0">
                <a:solidFill>
                  <a:srgbClr val="4D626D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最終課題  11 / 12</a:t>
            </a:r>
            <a:endParaRPr lang="ja-JP" sz="1800" dirty="0">
              <a:latin typeface="Meiryo"/>
              <a:ea typeface="Meiryo"/>
              <a:cs typeface="Meiryo"/>
            </a:endParaRP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2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621792" y="493776"/>
            <a:ext cx="10936224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6000"/>
              </a:lnSpc>
              <a:buNone/>
            </a:pPr>
            <a:r>
              <a:rPr lang="ja-JP" altLang="en-US" sz="3400" b="1" dirty="0">
                <a:solidFill>
                  <a:srgbClr val="1B2D3B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最後に、自分の判断を説明する</a:t>
            </a:r>
            <a:endParaRPr lang="ja-JP" sz="3400" dirty="0">
              <a:latin typeface="Meiryo"/>
              <a:ea typeface="Meiryo"/>
              <a:cs typeface="Meiryo"/>
            </a:endParaRPr>
          </a:p>
        </p:txBody>
      </p:sp>
      <p:sp>
        <p:nvSpPr>
          <p:cNvPr id="3" name="Shape 1"/>
          <p:cNvSpPr/>
          <p:nvPr/>
        </p:nvSpPr>
        <p:spPr>
          <a:xfrm>
            <a:off x="640080" y="1243584"/>
            <a:ext cx="10908792" cy="0"/>
          </a:xfrm>
          <a:prstGeom prst="line">
            <a:avLst/>
          </a:prstGeom>
          <a:noFill/>
          <a:ln w="12700">
            <a:solidFill>
              <a:srgbClr val="CBD7DC"/>
            </a:solidFill>
            <a:prstDash val="solid"/>
          </a:ln>
        </p:spPr>
      </p:sp>
      <p:sp>
        <p:nvSpPr>
          <p:cNvPr id="4" name="Shape 2"/>
          <p:cNvSpPr/>
          <p:nvPr/>
        </p:nvSpPr>
        <p:spPr>
          <a:xfrm>
            <a:off x="640080" y="1517904"/>
            <a:ext cx="10908792" cy="4050792"/>
          </a:xfrm>
          <a:prstGeom prst="rect">
            <a:avLst/>
          </a:prstGeom>
          <a:solidFill>
            <a:srgbClr val="EAF4F3"/>
          </a:solidFill>
          <a:ln w="12700">
            <a:solidFill>
              <a:srgbClr val="EAF4F3"/>
            </a:solidFill>
            <a:prstDash val="solid"/>
          </a:ln>
        </p:spPr>
      </p:sp>
      <p:pic>
        <p:nvPicPr>
          <p:cNvPr id="5" name="Image 0" descr="Lucide circle-check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941832" y="1801368"/>
            <a:ext cx="438912" cy="438912"/>
          </a:xfrm>
          <a:prstGeom prst="rect">
            <a:avLst/>
          </a:prstGeom>
        </p:spPr>
      </p:pic>
      <p:sp>
        <p:nvSpPr>
          <p:cNvPr id="6" name="Text 3"/>
          <p:cNvSpPr txBox="1"/>
          <p:nvPr/>
        </p:nvSpPr>
        <p:spPr>
          <a:xfrm>
            <a:off x="1627632" y="1810512"/>
            <a:ext cx="9546336" cy="363931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6000"/>
              </a:lnSpc>
              <a:buNone/>
            </a:pPr>
            <a:r>
              <a:rPr lang="ja-JP" altLang="en-US" sz="2700" dirty="0">
                <a:solidFill>
                  <a:srgbClr val="1B2D3B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AIに任せたのは、どの作業か。</a:t>
            </a:r>
            <a:endParaRPr lang="ja-JP" sz="2700" dirty="0">
              <a:latin typeface="Meiryo"/>
              <a:ea typeface="Meiryo"/>
              <a:cs typeface="Meiryo"/>
            </a:endParaRPr>
          </a:p>
          <a:p>
            <a:pPr indent="0" marL="0">
              <a:lnSpc>
                <a:spcPct val="106000"/>
              </a:lnSpc>
              <a:buNone/>
            </a:pPr>
            <a:r>
              <a:rPr lang="ja-JP" altLang="en-US" sz="2700" dirty="0">
                <a:solidFill>
                  <a:srgbClr val="1B2D3B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その出力の、何を確認したか。</a:t>
            </a:r>
            <a:endParaRPr lang="ja-JP" sz="2700" dirty="0">
              <a:latin typeface="Meiryo"/>
              <a:ea typeface="Meiryo"/>
              <a:cs typeface="Meiryo"/>
            </a:endParaRPr>
          </a:p>
          <a:p>
            <a:pPr indent="0" marL="0">
              <a:lnSpc>
                <a:spcPct val="106000"/>
              </a:lnSpc>
              <a:buNone/>
            </a:pPr>
            <a:r>
              <a:rPr lang="ja-JP" altLang="en-US" sz="2700" dirty="0">
                <a:solidFill>
                  <a:srgbClr val="1B2D3B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どこを採用し、どこを直したか。</a:t>
            </a:r>
            <a:endParaRPr lang="ja-JP" sz="2700" dirty="0">
              <a:latin typeface="Meiryo"/>
              <a:ea typeface="Meiryo"/>
              <a:cs typeface="Meiryo"/>
            </a:endParaRPr>
          </a:p>
          <a:p>
            <a:pPr indent="0" marL="0">
              <a:lnSpc>
                <a:spcPct val="106000"/>
              </a:lnSpc>
              <a:buNone/>
            </a:pPr>
            <a:endParaRPr lang="ja-JP" sz="2700" dirty="0">
              <a:latin typeface="Meiryo"/>
              <a:ea typeface="Meiryo"/>
              <a:cs typeface="Meiryo"/>
            </a:endParaRPr>
          </a:p>
          <a:p>
            <a:pPr indent="0" marL="0">
              <a:lnSpc>
                <a:spcPct val="106000"/>
              </a:lnSpc>
              <a:buNone/>
            </a:pPr>
            <a:r>
              <a:rPr lang="ja-JP" altLang="en-US" sz="2700" dirty="0">
                <a:solidFill>
                  <a:srgbClr val="1B2D3B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この3点が、成果物から分かるようにしよう。</a:t>
            </a:r>
            <a:endParaRPr lang="ja-JP" sz="2700" dirty="0">
              <a:latin typeface="Meiryo"/>
              <a:ea typeface="Meiryo"/>
              <a:cs typeface="Meiryo"/>
            </a:endParaRPr>
          </a:p>
        </p:txBody>
      </p:sp>
      <p:sp>
        <p:nvSpPr>
          <p:cNvPr id="7" name="Text 4"/>
          <p:cNvSpPr txBox="1"/>
          <p:nvPr/>
        </p:nvSpPr>
        <p:spPr>
          <a:xfrm>
            <a:off x="667512" y="6428232"/>
            <a:ext cx="384048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6000"/>
              </a:lnSpc>
              <a:buNone/>
            </a:pPr>
            <a:r>
              <a:rPr lang="ja-JP" altLang="en-US" sz="1800" dirty="0">
                <a:solidFill>
                  <a:srgbClr val="4D626D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データ科学入門｜演習</a:t>
            </a:r>
            <a:endParaRPr lang="ja-JP" sz="1800" dirty="0">
              <a:latin typeface="Meiryo"/>
              <a:ea typeface="Meiryo"/>
              <a:cs typeface="Meiryo"/>
            </a:endParaRPr>
          </a:p>
        </p:txBody>
      </p:sp>
      <p:sp>
        <p:nvSpPr>
          <p:cNvPr id="8" name="Text 5"/>
          <p:cNvSpPr txBox="1"/>
          <p:nvPr/>
        </p:nvSpPr>
        <p:spPr>
          <a:xfrm>
            <a:off x="8412480" y="6428232"/>
            <a:ext cx="310896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lnSpc>
                <a:spcPct val="106000"/>
              </a:lnSpc>
              <a:buNone/>
            </a:pPr>
            <a:r>
              <a:rPr lang="ja-JP" altLang="en-US" sz="1800" dirty="0">
                <a:solidFill>
                  <a:srgbClr val="4D626D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最終課題  12 / 12</a:t>
            </a:r>
            <a:endParaRPr lang="ja-JP" sz="1800" dirty="0">
              <a:latin typeface="Meiryo"/>
              <a:ea typeface="Meiryo"/>
              <a:cs typeface="Meiryo"/>
            </a:endParaRP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Meiryo"/>
        <a:ea typeface="Meiryo"/>
        <a:cs typeface="Meiryo"/>
        <a:font script="Jpan" typeface="Meiryo"/>
        <a:font script="Hang" typeface="Meiryo"/>
        <a:font script="Hans" typeface="Meiryo"/>
        <a:font script="Hant" typeface="Meiryo"/>
        <a:font script="Arab" typeface="Meiryo"/>
        <a:font script="Hebr" typeface="Meiryo"/>
        <a:font script="Thai" typeface="Meiryo"/>
        <a:font script="Ethi" typeface="Meiryo"/>
        <a:font script="Beng" typeface="Meiryo"/>
        <a:font script="Gujr" typeface="Meiryo"/>
        <a:font script="Khmr" typeface="Meiryo"/>
        <a:font script="Knda" typeface="Meiryo"/>
        <a:font script="Guru" typeface="Meiryo"/>
        <a:font script="Cans" typeface="Meiryo"/>
        <a:font script="Cher" typeface="Meiryo"/>
        <a:font script="Yiii" typeface="Meiryo"/>
        <a:font script="Tibt" typeface="Meiryo"/>
        <a:font script="Thaa" typeface="Meiryo"/>
        <a:font script="Deva" typeface="Meiryo"/>
        <a:font script="Telu" typeface="Meiryo"/>
        <a:font script="Taml" typeface="Meiryo"/>
        <a:font script="Syrc" typeface="Meiryo"/>
        <a:font script="Orya" typeface="Meiryo"/>
        <a:font script="Mlym" typeface="Meiryo"/>
        <a:font script="Laoo" typeface="Meiryo"/>
        <a:font script="Sinh" typeface="Meiryo"/>
        <a:font script="Mong" typeface="Meiryo"/>
        <a:font script="Viet" typeface="Meiryo"/>
        <a:font script="Uigh" typeface="Meiryo"/>
        <a:font script="Geor" typeface="Meiryo"/>
        <a:font script="Armn" typeface="Meiryo"/>
        <a:font script="Bugi" typeface="Meiryo"/>
        <a:font script="Bopo" typeface="Meiryo"/>
        <a:font script="Java" typeface="Meiryo"/>
        <a:font script="Lisu" typeface="Meiryo"/>
        <a:font script="Mymr" typeface="Meiryo"/>
        <a:font script="Nkoo" typeface="Meiryo"/>
        <a:font script="Olck" typeface="Meiryo"/>
        <a:font script="Osma" typeface="Meiryo"/>
        <a:font script="Phag" typeface="Meiryo"/>
        <a:font script="Syrn" typeface="Meiryo"/>
        <a:font script="Syrj" typeface="Meiryo"/>
        <a:font script="Syre" typeface="Meiryo"/>
        <a:font script="Sora" typeface="Meiryo"/>
        <a:font script="Tale" typeface="Meiryo"/>
        <a:font script="Talu" typeface="Meiryo"/>
        <a:font script="Tfng" typeface="Meiryo"/>
      </a:majorFont>
      <a:minorFont>
        <a:latin typeface="Meiryo"/>
        <a:ea typeface="Meiryo"/>
        <a:cs typeface="Meiryo"/>
        <a:font script="Jpan" typeface="Meiryo"/>
        <a:font script="Hang" typeface="Meiryo"/>
        <a:font script="Hans" typeface="Meiryo"/>
        <a:font script="Hant" typeface="Meiryo"/>
        <a:font script="Arab" typeface="Meiryo"/>
        <a:font script="Hebr" typeface="Meiryo"/>
        <a:font script="Thai" typeface="Meiryo"/>
        <a:font script="Ethi" typeface="Meiryo"/>
        <a:font script="Beng" typeface="Meiryo"/>
        <a:font script="Gujr" typeface="Meiryo"/>
        <a:font script="Khmr" typeface="Meiryo"/>
        <a:font script="Knda" typeface="Meiryo"/>
        <a:font script="Guru" typeface="Meiryo"/>
        <a:font script="Cans" typeface="Meiryo"/>
        <a:font script="Cher" typeface="Meiryo"/>
        <a:font script="Yiii" typeface="Meiryo"/>
        <a:font script="Tibt" typeface="Meiryo"/>
        <a:font script="Thaa" typeface="Meiryo"/>
        <a:font script="Deva" typeface="Meiryo"/>
        <a:font script="Telu" typeface="Meiryo"/>
        <a:font script="Taml" typeface="Meiryo"/>
        <a:font script="Syrc" typeface="Meiryo"/>
        <a:font script="Orya" typeface="Meiryo"/>
        <a:font script="Mlym" typeface="Meiryo"/>
        <a:font script="Laoo" typeface="Meiryo"/>
        <a:font script="Sinh" typeface="Meiryo"/>
        <a:font script="Mong" typeface="Meiryo"/>
        <a:font script="Viet" typeface="Meiryo"/>
        <a:font script="Uigh" typeface="Meiryo"/>
        <a:font script="Geor" typeface="Meiryo"/>
        <a:font script="Armn" typeface="Meiryo"/>
        <a:font script="Bugi" typeface="Meiryo"/>
        <a:font script="Bopo" typeface="Meiryo"/>
        <a:font script="Java" typeface="Meiryo"/>
        <a:font script="Lisu" typeface="Meiryo"/>
        <a:font script="Mymr" typeface="Meiryo"/>
        <a:font script="Nkoo" typeface="Meiryo"/>
        <a:font script="Olck" typeface="Meiryo"/>
        <a:font script="Osma" typeface="Meiryo"/>
        <a:font script="Phag" typeface="Meiryo"/>
        <a:font script="Syrn" typeface="Meiryo"/>
        <a:font script="Syrj" typeface="Meiryo"/>
        <a:font script="Syre" typeface="Meiryo"/>
        <a:font script="Sora" typeface="Meiryo"/>
        <a:font script="Tale" typeface="Meiryo"/>
        <a:font script="Talu" typeface="Meiryo"/>
        <a:font script="Tfng" typeface="Meiryo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12</Slides>
  <Notes>12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12</vt:i4>
      </vt:variant>
    </vt:vector>
  </HeadingPairs>
  <TitlesOfParts>
    <vt:vector size="15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  <vt:lpstr>Slide 11</vt:lpstr>
      <vt:lpstr>Slide 12</vt:lpstr>
    </vt:vector>
  </TitlesOfParts>
  <Company>Tsuchiya Lab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最終課題</dc:title>
  <dc:subject>AI・データリテラシー／学生向け演習</dc:subject>
  <dc:creator>Takahiro Tsuchiya</dc:creator>
  <cp:lastModifiedBy>Takahiro Tsuchiya</cp:lastModifiedBy>
  <cp:revision>1</cp:revision>
  <dcterms:created xsi:type="dcterms:W3CDTF">2026-09-17T11:31:39Z</dcterms:created>
  <dcterms:modified xsi:type="dcterms:W3CDTF">2026-09-17T11:31:39Z</dcterms:modified>
</cp:coreProperties>
</file>