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eiryo"/>
        <a:ea typeface="Meiryo"/>
        <a:cs typeface="Meiryo"/>
      </a:defRPr>
    </a:lvl1pPr>
    <a:lvl2pPr marL="457200" algn="l" defTabSz="457200" rtl="0" eaLnBrk="1" latinLnBrk="0" hangingPunct="1">
      <a:defRPr sz="1800" kern="1200">
        <a:solidFill>
          <a:schemeClr val="tx1"/>
        </a:solidFill>
        <a:latin typeface="Meiryo"/>
        <a:ea typeface="Meiryo"/>
        <a:cs typeface="Meiryo"/>
      </a:defRPr>
    </a:lvl2pPr>
    <a:lvl3pPr marL="914400" algn="l" defTabSz="457200" rtl="0" eaLnBrk="1" latinLnBrk="0" hangingPunct="1">
      <a:defRPr sz="1800" kern="1200">
        <a:solidFill>
          <a:schemeClr val="tx1"/>
        </a:solidFill>
        <a:latin typeface="Meiryo"/>
        <a:ea typeface="Meiryo"/>
        <a:cs typeface="Meiryo"/>
      </a:defRPr>
    </a:lvl3pPr>
    <a:lvl4pPr marL="1371600" algn="l" defTabSz="457200" rtl="0" eaLnBrk="1" latinLnBrk="0" hangingPunct="1">
      <a:defRPr sz="1800" kern="1200">
        <a:solidFill>
          <a:schemeClr val="tx1"/>
        </a:solidFill>
        <a:latin typeface="Meiryo"/>
        <a:ea typeface="Meiryo"/>
        <a:cs typeface="Meiryo"/>
      </a:defRPr>
    </a:lvl4pPr>
    <a:lvl5pPr marL="1828800" algn="l" defTabSz="457200" rtl="0" eaLnBrk="1" latinLnBrk="0" hangingPunct="1">
      <a:defRPr sz="1800" kern="1200">
        <a:solidFill>
          <a:schemeClr val="tx1"/>
        </a:solidFill>
        <a:latin typeface="Meiryo"/>
        <a:ea typeface="Meiryo"/>
        <a:cs typeface="Meiryo"/>
      </a:defRPr>
    </a:lvl5pPr>
    <a:lvl6pPr marL="2286000" algn="l" defTabSz="457200" rtl="0" eaLnBrk="1" latinLnBrk="0" hangingPunct="1">
      <a:defRPr sz="1800" kern="1200">
        <a:solidFill>
          <a:schemeClr val="tx1"/>
        </a:solidFill>
        <a:latin typeface="Meiryo"/>
        <a:ea typeface="Meiryo"/>
        <a:cs typeface="Meiryo"/>
      </a:defRPr>
    </a:lvl6pPr>
    <a:lvl7pPr marL="2743200" algn="l" defTabSz="457200" rtl="0" eaLnBrk="1" latinLnBrk="0" hangingPunct="1">
      <a:defRPr sz="1800" kern="1200">
        <a:solidFill>
          <a:schemeClr val="tx1"/>
        </a:solidFill>
        <a:latin typeface="Meiryo"/>
        <a:ea typeface="Meiryo"/>
        <a:cs typeface="Meiryo"/>
      </a:defRPr>
    </a:lvl7pPr>
    <a:lvl8pPr marL="3200400" algn="l" defTabSz="457200" rtl="0" eaLnBrk="1" latinLnBrk="0" hangingPunct="1">
      <a:defRPr sz="1800" kern="1200">
        <a:solidFill>
          <a:schemeClr val="tx1"/>
        </a:solidFill>
        <a:latin typeface="Meiryo"/>
        <a:ea typeface="Meiryo"/>
        <a:cs typeface="Meiryo"/>
      </a:defRPr>
    </a:lvl8pPr>
    <a:lvl9pPr marL="3657600" algn="l" defTabSz="457200" rtl="0" eaLnBrk="1" latinLnBrk="0" hangingPunct="1">
      <a:defRPr sz="1800" kern="1200">
        <a:solidFill>
          <a:schemeClr val="tx1"/>
        </a:solidFill>
        <a:latin typeface="Meiryo"/>
        <a:ea typeface="Meiryo"/>
        <a:cs typeface="Meiryo"/>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eiryo"/>
        <a:ea typeface="Meiryo"/>
        <a:cs typeface="Meiryo"/>
      </a:defRPr>
    </a:lvl1pPr>
    <a:lvl2pPr marL="457200" algn="l" defTabSz="457200" rtl="0" eaLnBrk="1" latinLnBrk="0" hangingPunct="1">
      <a:defRPr sz="1200" kern="1200">
        <a:solidFill>
          <a:schemeClr val="tx1"/>
        </a:solidFill>
        <a:latin typeface="Meiryo"/>
        <a:ea typeface="Meiryo"/>
        <a:cs typeface="Meiryo"/>
      </a:defRPr>
    </a:lvl2pPr>
    <a:lvl3pPr marL="914400" algn="l" defTabSz="457200" rtl="0" eaLnBrk="1" latinLnBrk="0" hangingPunct="1">
      <a:defRPr sz="1200" kern="1200">
        <a:solidFill>
          <a:schemeClr val="tx1"/>
        </a:solidFill>
        <a:latin typeface="Meiryo"/>
        <a:ea typeface="Meiryo"/>
        <a:cs typeface="Meiryo"/>
      </a:defRPr>
    </a:lvl3pPr>
    <a:lvl4pPr marL="1371600" algn="l" defTabSz="457200" rtl="0" eaLnBrk="1" latinLnBrk="0" hangingPunct="1">
      <a:defRPr sz="1200" kern="1200">
        <a:solidFill>
          <a:schemeClr val="tx1"/>
        </a:solidFill>
        <a:latin typeface="Meiryo"/>
        <a:ea typeface="Meiryo"/>
        <a:cs typeface="Meiryo"/>
      </a:defRPr>
    </a:lvl4pPr>
    <a:lvl5pPr marL="1828800" algn="l" defTabSz="457200" rtl="0" eaLnBrk="1" latinLnBrk="0" hangingPunct="1">
      <a:defRPr sz="1200" kern="1200">
        <a:solidFill>
          <a:schemeClr val="tx1"/>
        </a:solidFill>
        <a:latin typeface="Meiryo"/>
        <a:ea typeface="Meiryo"/>
        <a:cs typeface="Meiryo"/>
      </a:defRPr>
    </a:lvl5pPr>
    <a:lvl6pPr marL="2286000" algn="l" defTabSz="457200" rtl="0" eaLnBrk="1" latinLnBrk="0" hangingPunct="1">
      <a:defRPr sz="1200" kern="1200">
        <a:solidFill>
          <a:schemeClr val="tx1"/>
        </a:solidFill>
        <a:latin typeface="Meiryo"/>
        <a:ea typeface="Meiryo"/>
        <a:cs typeface="Meiryo"/>
      </a:defRPr>
    </a:lvl6pPr>
    <a:lvl7pPr marL="2743200" algn="l" defTabSz="457200" rtl="0" eaLnBrk="1" latinLnBrk="0" hangingPunct="1">
      <a:defRPr sz="1200" kern="1200">
        <a:solidFill>
          <a:schemeClr val="tx1"/>
        </a:solidFill>
        <a:latin typeface="Meiryo"/>
        <a:ea typeface="Meiryo"/>
        <a:cs typeface="Meiryo"/>
      </a:defRPr>
    </a:lvl7pPr>
    <a:lvl8pPr marL="3200400" algn="l" defTabSz="457200" rtl="0" eaLnBrk="1" latinLnBrk="0" hangingPunct="1">
      <a:defRPr sz="1200" kern="1200">
        <a:solidFill>
          <a:schemeClr val="tx1"/>
        </a:solidFill>
        <a:latin typeface="Meiryo"/>
        <a:ea typeface="Meiryo"/>
        <a:cs typeface="Meiryo"/>
      </a:defRPr>
    </a:lvl8pPr>
    <a:lvl9pPr marL="3657600" algn="l" defTabSz="457200" rtl="0" eaLnBrk="1" latinLnBrk="0" hangingPunct="1">
      <a:defRPr sz="1200" kern="1200">
        <a:solidFill>
          <a:schemeClr val="tx1"/>
        </a:solidFill>
        <a:latin typeface="Meiryo"/>
        <a:ea typeface="Meiryo"/>
        <a:cs typeface="Meiryo"/>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00_Course_Setup_v1.1.pptx：1枚目</a:t>
            </a:r>
          </a:p>
          <a:p>
            <a:r>
              <a:t>00_Course_Setup_v1.3.pptx：1, 2枚目</a:t>
            </a:r>
          </a:p>
          <a:p/>
          <a:p>
            <a:r>
              <a:t>【進行】</a:t>
            </a:r>
          </a:p>
          <a:p>
            <a:r>
              <a:t>v1.1の表紙・配色・大きな文字を継承。目標を画像保存・招待・初回登録までに具体化。教員が個別確認する旧運用は復活させない。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 16枚目</a:t>
            </a:r>
          </a:p>
          <a:p>
            <a:r>
              <a:t>00_Course_Setup_v1.3.pptx：1, 29枚目</a:t>
            </a:r>
          </a:p>
          <a:p/>
          <a:p>
            <a:r>
              <a:t>【進行】</a:t>
            </a:r>
          </a:p>
          <a:p>
            <a:r>
              <a:t>5段階を先に示す。途中参加者は補足ページへ移動できる。本文の番号は段階番号で、フォームのWeek番号ではない。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00_Course_Setup_v1.1.pptx：2, 16枚目</a:t>
            </a:r>
          </a:p>
          <a:p/>
          <a:p>
            <a:r>
              <a:t>【進行】</a:t>
            </a:r>
          </a:p>
          <a:p>
            <a:r>
              <a:t>AIは大学のGeminiか普段の環境を使う。短い質問を1つ送れることを確認する。生成画像が作れない場合は配布画像で続けられる。</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00_Course_Setup_v1.3.pptx：3, 28枚目</a:t>
            </a:r>
          </a:p>
          <a:p/>
          <a:p>
            <a:r>
              <a:t>【進行】</a:t>
            </a:r>
          </a:p>
          <a:p>
            <a:r>
              <a:t>教師の教材を編集しない。handoutsは読む資料、学生のREADMEは書く記録、Formは受付であることを区別する。</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00_Course_Setup_v1.1.pptx：3, 4枚目</a:t>
            </a:r>
          </a:p>
          <a:p>
            <a:r>
              <a:t>00_Course_Setup_v1.3.pptx：4枚目</a:t>
            </a:r>
          </a:p>
          <a:p/>
          <a:p>
            <a:r>
              <a:t>【進行】</a:t>
            </a:r>
          </a:p>
          <a:p>
            <a:r>
              <a:t>授業ページやFormへ入れない場合、まず大学アカウントへ切り替える。アカウントのパスワードを教員へ提示させない。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00_Course_Setup_v1.1.pptx：3, 5, 6枚目</a:t>
            </a:r>
          </a:p>
          <a:p>
            <a:r>
              <a:t>00_Course_Setup_v1.3.pptx：4枚目</a:t>
            </a:r>
          </a:p>
          <a:p/>
          <a:p>
            <a:r>
              <a:t>【進行】</a:t>
            </a:r>
          </a:p>
          <a:p>
            <a:r>
              <a:t>既存アカウントがある学生に作り直しを要求しない。新規・既存の2通りから該当するページへ進む。</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00_Course_Setup_v1.1.pptx：5枚目</a:t>
            </a:r>
          </a:p>
          <a:p/>
          <a:p>
            <a:r>
              <a:t>【進行】</a:t>
            </a:r>
          </a:p>
          <a:p>
            <a:r>
              <a:t>画面は操作箇所の模式図。登録方法は画面案内に従う。既存アカウントの学生は次ページへ進む。</a:t>
            </a:r>
          </a:p>
          <a:p/>
          <a:p>
            <a:r>
              <a:t>【画面の扱い】</a:t>
            </a:r>
          </a:p>
          <a:p>
            <a:r>
              <a:t>v1.1の登録模式図を再構成。実画面のスクリーンショットではない。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00_Course_Setup_v1.1.pptx：6枚目</a:t>
            </a:r>
          </a:p>
          <a:p/>
          <a:p>
            <a:r>
              <a:t>【進行】</a:t>
            </a:r>
          </a:p>
          <a:p>
            <a:r>
              <a:t>新規登録者は追加済みの大学メールの確認状態を見る。既存アカウントは大学メールを追加する。primary email変更は要求しない。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 Official procedural reference, checked 2026-10-07: https://docs.github.com/en/account-and-profile/how-tos/email-preferences/adding-an-email-address-to-your-github-account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00_Course_Setup_v1.1.pptx：8枚目</a:t>
            </a:r>
          </a:p>
          <a:p>
            <a:r>
              <a:t>00_Course_Setup_v1.3.pptx：6枚目</a:t>
            </a:r>
          </a:p>
          <a:p/>
          <a:p>
            <a:r>
              <a:t>【進行】</a:t>
            </a:r>
          </a:p>
          <a:p>
            <a:r>
              <a:t>URLの末尾のusernameと表示名、メールアドレスの違いを示す。example-studentは例。実際には各学生の値を使う。</a:t>
            </a:r>
          </a:p>
          <a:p/>
          <a:p>
            <a:r>
              <a:t>【画面の扱い】</a:t>
            </a:r>
          </a:p>
          <a:p>
            <a:r>
              <a:t>プロフィールURLの模式図。架空のusernameを使用。</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00_Course_Setup_v1.1.pptx：9枚目</a:t>
            </a:r>
          </a:p>
          <a:p>
            <a:r>
              <a:t>00_Course_Setup_v1.3.pptx：7枚目</a:t>
            </a:r>
          </a:p>
          <a:p/>
          <a:p>
            <a:r>
              <a:t>【進行】</a:t>
            </a:r>
          </a:p>
          <a:p>
            <a:r>
              <a:t>v1.3の公開ひな形を使用。画面はログアウト状態で撮影された元画像であり、Use this templateが表示されない点に注意。次のページはログイン後の操作。</a:t>
            </a:r>
          </a:p>
          <a:p/>
          <a:p>
            <a:r>
              <a:t>【画面の扱い】</a:t>
            </a:r>
          </a:p>
          <a:p>
            <a:r>
              <a:t>v1.3の7枚目に収録された公開リポジトリの実画面を使用。新規撮影・実アクセス確認はしていない。元資料の撮影日表記は2026-10-06。</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00_Course_Setup_v1.1.pptx：9枚目</a:t>
            </a:r>
          </a:p>
          <a:p>
            <a:r>
              <a:t>00_Course_Setup_v1.3.pptx：8枚目</a:t>
            </a:r>
          </a:p>
          <a:p/>
          <a:p>
            <a:r>
              <a:t>【進行】</a:t>
            </a:r>
          </a:p>
          <a:p>
            <a:r>
              <a:t>Forkは使わず、Use this templateに統一。ボタンが見えない場合はGitHubにログインしてひな形を開き直す。</a:t>
            </a:r>
          </a:p>
          <a:p/>
          <a:p>
            <a:r>
              <a:t>【画面の扱い】</a:t>
            </a:r>
          </a:p>
          <a:p>
            <a:r>
              <a:t>v1.3の8枚目に収録されたGitHub Docsの画面例を再使用。元の撮影日は不明。</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00_Course_Setup_v1.1.pptx：9, 10枚目</a:t>
            </a:r>
          </a:p>
          <a:p>
            <a:r>
              <a:t>00_Course_Setup_v1.3.pptx：9, 10枚目</a:t>
            </a:r>
          </a:p>
          <a:p/>
          <a:p>
            <a:r>
              <a:t>【進行】</a:t>
            </a:r>
          </a:p>
          <a:p>
            <a:r>
              <a:t>2枚の既存画面例を切り抜き、OwnerとRepository nameの対応を示す。例のhelloは使わずai-learningを入力する。</a:t>
            </a:r>
          </a:p>
          <a:p/>
          <a:p>
            <a:r>
              <a:t>【画面の扱い】</a:t>
            </a:r>
          </a:p>
          <a:p>
            <a:r>
              <a:t>v1.3の9・10枚目に収録されたGitHub Docsの画面例を切り抜き。画面の内容自体は改変していない。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00_Course_Setup_v1.1.pptx：10枚目</a:t>
            </a:r>
          </a:p>
          <a:p>
            <a:r>
              <a:t>00_Course_Setup_v1.3.pptx：11枚目</a:t>
            </a:r>
          </a:p>
          <a:p/>
          <a:p>
            <a:r>
              <a:t>【進行】</a:t>
            </a:r>
          </a:p>
          <a:p>
            <a:r>
              <a:t>非公開設定を保持する。作成画面を示す模式図であって最新の実画面ではない。</a:t>
            </a:r>
          </a:p>
          <a:p/>
          <a:p>
            <a:r>
              <a:t>【画面の扱い】</a:t>
            </a:r>
          </a:p>
          <a:p>
            <a:r>
              <a:t>v1.1の作成画面の模式図を再構成。</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00_Course_Setup_v1.1.pptx：10枚目</a:t>
            </a:r>
          </a:p>
          <a:p>
            <a:r>
              <a:t>00_Course_Setup_v1.3.pptx：11, 14枚目</a:t>
            </a:r>
          </a:p>
          <a:p/>
          <a:p>
            <a:r>
              <a:t>【進行】</a:t>
            </a:r>
          </a:p>
          <a:p>
            <a:r>
              <a:t>操作を止めて自分のusernameとPrivateを確認する。画像は教員の公開ひな形ではなく各学生の非公開リポジトリへ入れる。</a:t>
            </a:r>
          </a:p>
          <a:p/>
          <a:p>
            <a:r>
              <a:t>【画面の扱い】</a:t>
            </a:r>
          </a:p>
          <a:p>
            <a:r>
              <a:t>リポジトリ上部とフォルダ構成を示す模式図。</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00_Course_Setup_v1.3.pptx：12枚目</a:t>
            </a:r>
          </a:p>
          <a:p/>
          <a:p>
            <a:r>
              <a:t>【進行】</a:t>
            </a:r>
          </a:p>
          <a:p>
            <a:r>
              <a:t>画像生成が使える人は自作画像、使えない人は配布画像でよい。画像の美しさ、課金の有無は設定完了の判定対象にしない。</a:t>
            </a:r>
          </a:p>
          <a:p/>
          <a:p>
            <a:r>
              <a:t>【画面の扱い】</a:t>
            </a:r>
          </a:p>
          <a:p>
            <a:r>
              <a:t>v1.3に収録された配布画像を表示。学生が生成した作品とは扱わない。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00_Course_Setup_v1.3.pptx：12, 13枚目</a:t>
            </a:r>
          </a:p>
          <a:p/>
          <a:p>
            <a:r>
              <a:t>【進行】</a:t>
            </a:r>
          </a:p>
          <a:p>
            <a:r>
              <a:t>配布ファイルのURLは元資料のassets/setup/practice.pngを使用する。実際の教材リンクは授業ページから案内。画像生成サービスの保存ボタン名は固定しない。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00_Course_Setup_v1.3.pptx：14枚目</a:t>
            </a:r>
          </a:p>
          <a:p/>
          <a:p>
            <a:r>
              <a:t>【進行】</a:t>
            </a:r>
          </a:p>
          <a:p>
            <a:r>
              <a:t>スクリーンショットは公開ひな形。学生は自分のPrivateに戻る。画面例の所有者やリポジトリ名を自分のものと同一視しない。</a:t>
            </a:r>
          </a:p>
          <a:p/>
          <a:p>
            <a:r>
              <a:t>【画面の扱い】</a:t>
            </a:r>
          </a:p>
          <a:p>
            <a:r>
              <a:t>v1.3の14枚目に収録された公開ひな形の実画面を再使用。</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00_Course_Setup_v1.3.pptx：15枚目</a:t>
            </a:r>
          </a:p>
          <a:p/>
          <a:p>
            <a:r>
              <a:t>【進行】</a:t>
            </a:r>
          </a:p>
          <a:p>
            <a:r>
              <a:t>操作ボタンが読み取れる範囲まで既存画面を切り抜く。学生のGitHubでの操作はまだ行っていない。</a:t>
            </a:r>
          </a:p>
          <a:p/>
          <a:p>
            <a:r>
              <a:t>【画面の扱い】</a:t>
            </a:r>
          </a:p>
          <a:p>
            <a:r>
              <a:t>v1.3の15枚目に収録されたGitHub Docsの画面例を切り抜き。</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00_Course_Setup_v1.3.pptx：16枚目</a:t>
            </a:r>
          </a:p>
          <a:p/>
          <a:p>
            <a:r>
              <a:t>【進行】</a:t>
            </a:r>
          </a:p>
          <a:p>
            <a:r>
              <a:t>元資料のアップロード手順を順序化した模式図。実画面がない部分をスクリーンショットと偽装しない。</a:t>
            </a:r>
          </a:p>
          <a:p/>
          <a:p>
            <a:r>
              <a:t>【画面の扱い】</a:t>
            </a:r>
          </a:p>
          <a:p>
            <a:r>
              <a:t>アップロード画面の操作を示す模式図。</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 Official procedural reference, checked 2026-10-07: https://docs.github.com/en/repositories/working-with-files/managing-files/adding-a-file-to-a-repository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00_Course_Setup_v1.3.pptx：17枚目</a:t>
            </a:r>
          </a:p>
          <a:p/>
          <a:p>
            <a:r>
              <a:t>【進行】</a:t>
            </a:r>
          </a:p>
          <a:p>
            <a:r>
              <a:t>ファイル一覧に名前があるだけでなく画像を開かせる。配布画像でも同じ技術的確認が可能。</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00_Course_Setup_v1.1.pptx：12枚目</a:t>
            </a:r>
          </a:p>
          <a:p>
            <a:r>
              <a:t>00_Course_Setup_v1.3.pptx：18枚目</a:t>
            </a:r>
          </a:p>
          <a:p/>
          <a:p>
            <a:r>
              <a:t>【進行】</a:t>
            </a:r>
          </a:p>
          <a:p>
            <a:r>
              <a:t>v1.1の学習目標記入より、v1.3で指定されたsetup/README.mdの3欄を初回必須に採用。学習目標は補足に分離し、追加の必須提出にはしない。</a:t>
            </a:r>
          </a:p>
          <a:p/>
          <a:p>
            <a:r>
              <a:t>【画面の扱い】</a:t>
            </a:r>
          </a:p>
          <a:p>
            <a:r>
              <a:t>v1.3の18枚目に収録された公開ひな形の実画面を再使用。</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00_Course_Setup_v1.1.pptx：12枚目</a:t>
            </a:r>
          </a:p>
          <a:p>
            <a:r>
              <a:t>00_Course_Setup_v1.3.pptx：19枚目</a:t>
            </a:r>
          </a:p>
          <a:p/>
          <a:p>
            <a:r>
              <a:t>【進行】</a:t>
            </a:r>
          </a:p>
          <a:p>
            <a:r>
              <a:t>CODEOWNERSなどの公式例の内容は学習対象ではない。操作アイコンにだけ注目できるよう切り抜く。</a:t>
            </a:r>
          </a:p>
          <a:p/>
          <a:p>
            <a:r>
              <a:t>【画面の扱い】</a:t>
            </a:r>
          </a:p>
          <a:p>
            <a:r>
              <a:t>v1.3の19枚目に収録されたGitHub Docsの画面例を切り抜き。</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00_Course_Setup_v1.3.pptx：18, 20枚目</a:t>
            </a:r>
          </a:p>
          <a:p/>
          <a:p>
            <a:r>
              <a:t>【進行】</a:t>
            </a:r>
          </a:p>
          <a:p>
            <a:r>
              <a:t>記入例を丸写しするのでなく実際のファイル名と利用内容を書く。AI未使用なら「授業の配布画像を使用」と記す。</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00_Course_Setup_v1.1.pptx：13枚目</a:t>
            </a:r>
          </a:p>
          <a:p>
            <a:r>
              <a:t>00_Course_Setup_v1.3.pptx：21枚目</a:t>
            </a:r>
          </a:p>
          <a:p/>
          <a:p>
            <a:r>
              <a:t>【進行】</a:t>
            </a:r>
          </a:p>
          <a:p>
            <a:r>
              <a:t>Previewは表示確認であって保存ではない。次ページのCommit changesまで進める。</a:t>
            </a:r>
          </a:p>
          <a:p/>
          <a:p>
            <a:r>
              <a:t>【画面の扱い】</a:t>
            </a:r>
          </a:p>
          <a:p>
            <a:r>
              <a:t>v1.3の21枚目に収録されたGitHub Docsの画面例を切り抜き。</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00_Course_Setup_v1.1.pptx：13枚目</a:t>
            </a:r>
          </a:p>
          <a:p>
            <a:r>
              <a:t>00_Course_Setup_v1.3.pptx：22枚目</a:t>
            </a:r>
          </a:p>
          <a:p/>
          <a:p>
            <a:r>
              <a:t>【進行】</a:t>
            </a:r>
          </a:p>
          <a:p>
            <a:r>
              <a:t>ブラウザでのCommit changesで保存。GitHub Desktopのpush手順は初回に混ぜない。既存設定のdefault branchを保持する。</a:t>
            </a:r>
          </a:p>
          <a:p/>
          <a:p>
            <a:r>
              <a:t>【画面の扱い】</a:t>
            </a:r>
          </a:p>
          <a:p>
            <a:r>
              <a:t>v1.1の保存操作の模式図を再構成。</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 Official procedural reference, checked 2026-10-07: https://docs.github.com/en/repositories/working-with-files/managing-files/editing-files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00_Course_Setup_v1.1.pptx：11枚目</a:t>
            </a:r>
          </a:p>
          <a:p>
            <a:r>
              <a:t>00_Course_Setup_v1.3.pptx：23枚目</a:t>
            </a:r>
          </a:p>
          <a:p/>
          <a:p>
            <a:r>
              <a:t>【進行】</a:t>
            </a:r>
          </a:p>
          <a:p>
            <a:r>
              <a:t>アカウント全体のSettingsとリポジトリのSettingsを区別する。メール設定のSettingsとは開く位置が異なる。</a:t>
            </a:r>
          </a:p>
          <a:p/>
          <a:p>
            <a:r>
              <a:t>【画面の扱い】</a:t>
            </a:r>
          </a:p>
          <a:p>
            <a:r>
              <a:t>v1.3の23枚目に収録されたGitHub Docsの画面例を切り抜き。</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00_Course_Setup_v1.1.pptx：11枚目</a:t>
            </a:r>
          </a:p>
          <a:p>
            <a:r>
              <a:t>00_Course_Setup_v1.3.pptx：24枚目</a:t>
            </a:r>
          </a:p>
          <a:p/>
          <a:p>
            <a:r>
              <a:t>【進行】</a:t>
            </a:r>
          </a:p>
          <a:p>
            <a:r>
              <a:t>教員アカウントのusernameを末尾まで確認させる。学生は招待中表示を確認すれば次へ進める。教員の個別受理待ちで授業を止めない。個人リポジトリの共同作業者は書込権限も持つ。</a:t>
            </a:r>
          </a:p>
          <a:p/>
          <a:p>
            <a:r>
              <a:t>【画面の扱い】</a:t>
            </a:r>
          </a:p>
          <a:p>
            <a:r>
              <a:t>招待操作を示す模式図。実画面のスクリーンショットではない。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 Official procedural reference, checked 2026-10-07: https://docs.github.com/en/repositories/managing-your-repositorys-settings-and-features/repository-access-and-collaboration/inviting-collaborators-to-a-personal-repository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00_Course_Setup_v1.1.pptx：14枚目</a:t>
            </a:r>
          </a:p>
          <a:p>
            <a:r>
              <a:t>00_Course_Setup_v1.3.pptx：25枚目</a:t>
            </a:r>
          </a:p>
          <a:p/>
          <a:p>
            <a:r>
              <a:t>【進行】</a:t>
            </a:r>
          </a:p>
          <a:p>
            <a:r>
              <a:t>初回登録はrepository URL。プロフィールやcommit URLはこの欄へ入れない。URLは模式例で、実際は自分の値を使う。</a:t>
            </a:r>
          </a:p>
          <a:p/>
          <a:p>
            <a:r>
              <a:t>【画面の扱い】</a:t>
            </a:r>
          </a:p>
          <a:p>
            <a:r>
              <a:t>URL構造の説明図。example-studentは架空のusername。</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p>
            <a:r>
              <a:t>【画面出典：元資料の注記】</a:t>
            </a:r>
          </a:p>
          <a:p>
            <a:r>
              <a:t>https://github.com/tsuchiyatakahirolab/ai-data-literacy/blob/main/assets/setup/screens/ATTRIBUTION.md</a:t>
            </a:r>
          </a:p>
          <a:p>
            <a:r>
              <a:t>公開ひな形：https://github.com/tsuchiyatakahirolab/ai-data-literacy-student-template</a:t>
            </a:r>
          </a:p>
          <a:p>
            <a:r>
              <a:t>今回の作業では、既存スライド内の画像を使用しており、これらのURLの現行動作や学生の実アカウント操作は検証していません。</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00_Course_Setup_v1.1.pptx：7枚目</a:t>
            </a:r>
          </a:p>
          <a:p>
            <a:r>
              <a:t>00_Course_Setup_v1.3.pptx：5枚目</a:t>
            </a:r>
          </a:p>
          <a:p/>
          <a:p>
            <a:r>
              <a:t>【進行】</a:t>
            </a:r>
          </a:p>
          <a:p>
            <a:r>
              <a:t>2026GT0001は形式例。学生自身の番号を使う。入学年を当該授業年度へ変更させない。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00_Course_Setup_v1.1.pptx：14枚目</a:t>
            </a:r>
          </a:p>
          <a:p>
            <a:r>
              <a:t>00_Course_Setup_v1.3.pptx：25枚目</a:t>
            </a:r>
          </a:p>
          <a:p/>
          <a:p>
            <a:r>
              <a:t>【進行】</a:t>
            </a:r>
          </a:p>
          <a:p>
            <a:r>
              <a:t>フォームを新設せず既存初回登録を使う。本人情報とGitHubを同じ回答に記録する。ここではフォームの実アクセスや名簿照合が完了したと主張しない。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00_Course_Setup_v1.3.pptx：26, 27, 29枚目</a:t>
            </a:r>
          </a:p>
          <a:p/>
          <a:p>
            <a:r>
              <a:t>【進行】</a:t>
            </a:r>
          </a:p>
          <a:p>
            <a:r>
              <a:t>通知・点検機能が実装済みかはこのPPTでは検証していない。画面には授業ページの結果案内に従うと書き、即時メールや採点結果を約束しない。103人の個別受理・コメントを前提に戻さない。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00_Course_Setup_v1.1.pptx：16枚目</a:t>
            </a:r>
          </a:p>
          <a:p>
            <a:r>
              <a:t>00_Course_Setup_v1.3.pptx：29枚目</a:t>
            </a:r>
          </a:p>
          <a:p/>
          <a:p>
            <a:r>
              <a:t>【進行】</a:t>
            </a:r>
          </a:p>
          <a:p>
            <a:r>
              <a:t>学生側で確認できる項目のみでチェックリストを構成。教員が招待受理済みかを学生側完了の条件としない。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00_Course_Setup_v1.3.pptx：3, 28枚目</a:t>
            </a:r>
          </a:p>
          <a:p/>
          <a:p>
            <a:r>
              <a:t>【進行】</a:t>
            </a:r>
          </a:p>
          <a:p>
            <a:r>
              <a:t>初回登録と毎週の提出を区別。初回導入で詳細なcommit URL取得手順を再講義せず、各回の提出手順へ橋渡しする。</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00_Course_Setup_v1.3.pptx：2, 27枚目</a:t>
            </a:r>
          </a:p>
          <a:p/>
          <a:p>
            <a:r>
              <a:t>【進行】</a:t>
            </a:r>
          </a:p>
          <a:p>
            <a:r>
              <a:t>新規参加・修正・再点検は同じ手順。名簿や既存履歴を削除して初期化しない。遅れて参加した学生の過去課題と締切は教員に確認する。</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00_Course_Setup_v1.1.pptx：15枚目</a:t>
            </a:r>
          </a:p>
          <a:p>
            <a:r>
              <a:t>00_Course_Setup_v1.3.pptx：27枚目</a:t>
            </a:r>
          </a:p>
          <a:p/>
          <a:p>
            <a:r>
              <a:t>【進行】</a:t>
            </a:r>
          </a:p>
          <a:p>
            <a:r>
              <a:t>学生が誤ったアカウントでアクセス申請を送る問題を先に防ぐ。機密を伏せてエラーと手順番号を伝える。</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00_Course_Setup_v1.1.pptx：17枚目</a:t>
            </a:r>
          </a:p>
          <a:p>
            <a:r>
              <a:t>00_Course_Setup_v1.3.pptx：29枚目</a:t>
            </a:r>
          </a:p>
          <a:p/>
          <a:p>
            <a:r>
              <a:t>【進行】</a:t>
            </a:r>
          </a:p>
          <a:p>
            <a:r>
              <a:t>GitHub Educationや有料AIを参加条件にしない。Starの具体的操作は希望者にのみ説明する。特典の種類や無料MAX等の未確認情報を追加しない。</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【統合元】</a:t>
            </a:r>
          </a:p>
          <a:p>
            <a:r>
              <a:t>00_Course_Setup_v1.1.pptx：12枚目</a:t>
            </a:r>
          </a:p>
          <a:p/>
          <a:p>
            <a:r>
              <a:t>【進行】</a:t>
            </a:r>
          </a:p>
          <a:p>
            <a:r>
              <a:t>v1.1の学習目標記入を補足として保持。必須のsetup/README.mdの画像・利用・確認の3欄とは別。初回登録の完了条件に追加しない。</a:t>
            </a:r>
          </a:p>
          <a:p/>
          <a:p>
            <a:r>
              <a:t>【画面の扱い】</a:t>
            </a:r>
          </a:p>
          <a:p>
            <a:r>
              <a:t>v1.1の学習目標例を引き継いだ記入例。</a:t>
            </a:r>
          </a:p>
          <a:p/>
          <a:p>
            <a:r>
              <a:t>【教材運用】</a:t>
            </a:r>
          </a:p>
          <a:p>
            <a:r>
              <a:t>初回登録は既存フォームを使用。Forms V6、名簿、採点欄はこのスライド改訂では変更していません。第2回以降の参加者も同じ保存先と初回登録フォームを使います。点検や通知の実装・稼働状況は教員側で確認してください。</a:t>
            </a:r>
          </a:p>
          <a:p/>
          <a:p>
            <a:r>
              <a:t>【表記】</a:t>
            </a:r>
          </a:p>
          <a:p>
            <a:r>
              <a:t>編集可能な文字はメイリオ指定。スクリーンショットの文字は原画像のまま保持。Lucideアイコンのライセンスは同梱のLICENSE_LUCIDE.txtを参照。</a:t>
            </a:r>
          </a:p>
          <a:p>
            <a:r>
              <a:rPr lang="ja-JP" sz="1200">
                <a:latin typeface="Meiryo"/>
              </a:rPr>
              <a:t>Handson review 2026-10-07. Personal logo: https://tsuchiyatakahiro.com/images/logo-full.png. Screens reused from supplied v1.4/v1.3; no student-private-repository walkthrough was performed.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slideLayout" Target="../slideLayouts/slideLayout2.xml" /><ns0:Relationship Id="rId3" Type="http://schemas.openxmlformats.org/officeDocument/2006/relationships/slideLayout" Target="../slideLayouts/slideLayout3.xml" /><ns0:Relationship Id="rId4" Type="http://schemas.openxmlformats.org/officeDocument/2006/relationships/slideLayout" Target="../slideLayouts/slideLayout4.xml" /><ns0:Relationship Id="rId5" Type="http://schemas.openxmlformats.org/officeDocument/2006/relationships/slideLayout" Target="../slideLayouts/slideLayout5.xml" /><ns0:Relationship Id="rId6" Type="http://schemas.openxmlformats.org/officeDocument/2006/relationships/slideLayout" Target="../slideLayouts/slideLayout6.xml" /><ns0:Relationship Id="rId7" Type="http://schemas.openxmlformats.org/officeDocument/2006/relationships/slideLayout" Target="../slideLayouts/slideLayout7.xml" /><ns0:Relationship Id="rId8" Type="http://schemas.openxmlformats.org/officeDocument/2006/relationships/slideLayout" Target="../slideLayouts/slideLayout8.xml" /><ns0:Relationship Id="rId9" Type="http://schemas.openxmlformats.org/officeDocument/2006/relationships/slideLayout" Target="../slideLayouts/slideLayout9.xml" /><ns0:Relationship Id="rId10" Type="http://schemas.openxmlformats.org/officeDocument/2006/relationships/slideLayout" Target="../slideLayouts/slideLayout10.xml" /><ns0:Relationship Id="rId11" Type="http://schemas.openxmlformats.org/officeDocument/2006/relationships/slideLayout" Target="../slideLayouts/slideLayout11.xml" /><ns0:Relationship Id="rId12" Type="http://schemas.openxmlformats.org/officeDocument/2006/relationships/theme" Target="../theme/theme1.xml" /><ns0:Relationship Id="rIdPersonalAuthorLogo" Type="http://schemas.openxmlformats.org/officeDocument/2006/relationships/image" Target="../media/personal-author-logo.png" /></ns0:Relationships>
</file>

<file path=ppt/slideMasters/slideMaster1.xml><?xml version="1.0" encoding="utf-8"?>
<p:sldMaster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pic>
        <p:nvPicPr>
          <p:cNvPr id="7" name=""/>
          <p:cNvPicPr>
            <a:picLocks noChangeAspect="1"/>
          </p:cNvPicPr>
          <p:nvPr/>
        </p:nvPicPr>
        <p:blipFill>
          <a:blip r:embed="rIdPersonalAuthorLogo"/>
          <a:stretch/>
        </p:blipFill>
        <p:spPr>
          <a:xfrm>
            <a:off x="685800" y="85748"/>
            <a:ext cx="1714500" cy="210457"/>
          </a:xfrm>
          <a:prstGeom prst="rect">
            <a:avLst/>
          </a:prstGeom>
        </p:spPr>
      </p:pic>
      <p:sp>
        <p:nvSpPr>
          <p:cNvPr id="8"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607482"/>
                </a:solidFill>
                <a:latin typeface="Meiryo"/>
                <a:ea typeface="Meiryo"/>
                <a:cs typeface="Meiryo"/>
              </a:defRPr>
            </a:pPr>
            <a:r>
              <a:rPr sz="1800">
                <a:solidFill>
                  <a:srgbClr val="607482"/>
                </a:solidFill>
                <a:latin typeface="Meiryo"/>
                <a:ea typeface="Meiryo"/>
                <a:cs typeface="Meiryo"/>
              </a:rPr>
              <a:t>tsuchiyatakahiro.com</a:t>
            </a:r>
          </a:p>
        </p:txBody>
      </p:sp>
    </p:spTree>
    <p:extLst>
      <p:ext uri="{BB962C8B-B14F-4D97-AF65-F5344CB8AC3E}">
        <ns4:creationId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eiryo"/>
          <a:ea typeface="Meiryo"/>
          <a:cs typeface="Meiryo"/>
        </a:defRPr>
      </a:lvl1pPr>
    </p:titleStyle>
    <p:bodyStyle>
      <a:lvl1pPr marL="342900" indent="-342900" algn="l" defTabSz="457200" rtl="0" eaLnBrk="1" latinLnBrk="0" hangingPunct="1">
        <a:spcBef>
          <a:spcPct val="20000"/>
        </a:spcBef>
        <a:buFont typeface="Meiryo"/>
        <a:buChar char="•"/>
        <a:defRPr sz="3200" kern="1200">
          <a:solidFill>
            <a:schemeClr val="tx1"/>
          </a:solidFill>
          <a:latin typeface="Meiryo"/>
          <a:ea typeface="Meiryo"/>
          <a:cs typeface="Meiryo"/>
        </a:defRPr>
      </a:lvl1pPr>
      <a:lvl2pPr marL="742950" indent="-285750" algn="l" defTabSz="457200" rtl="0" eaLnBrk="1" latinLnBrk="0" hangingPunct="1">
        <a:spcBef>
          <a:spcPct val="20000"/>
        </a:spcBef>
        <a:buFont typeface="Meiryo"/>
        <a:buChar char="–"/>
        <a:defRPr sz="2800" kern="1200">
          <a:solidFill>
            <a:schemeClr val="tx1"/>
          </a:solidFill>
          <a:latin typeface="Meiryo"/>
          <a:ea typeface="Meiryo"/>
          <a:cs typeface="Meiryo"/>
        </a:defRPr>
      </a:lvl2pPr>
      <a:lvl3pPr marL="1143000" indent="-228600" algn="l" defTabSz="457200" rtl="0" eaLnBrk="1" latinLnBrk="0" hangingPunct="1">
        <a:spcBef>
          <a:spcPct val="20000"/>
        </a:spcBef>
        <a:buFont typeface="Meiryo"/>
        <a:buChar char="•"/>
        <a:defRPr sz="2400" kern="1200">
          <a:solidFill>
            <a:schemeClr val="tx1"/>
          </a:solidFill>
          <a:latin typeface="Meiryo"/>
          <a:ea typeface="Meiryo"/>
          <a:cs typeface="Meiryo"/>
        </a:defRPr>
      </a:lvl3pPr>
      <a:lvl4pPr marL="16002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4pPr>
      <a:lvl5pPr marL="20574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5pPr>
      <a:lvl6pPr marL="25146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6pPr>
      <a:lvl7pPr marL="29718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7pPr>
      <a:lvl8pPr marL="34290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8pPr>
      <a:lvl9pPr marL="3886200" indent="-228600" algn="l" defTabSz="457200" rtl="0" eaLnBrk="1" latinLnBrk="0" hangingPunct="1">
        <a:spcBef>
          <a:spcPct val="20000"/>
        </a:spcBef>
        <a:buFont typeface="Meiryo"/>
        <a:buChar char="•"/>
        <a:defRPr sz="2000" kern="1200">
          <a:solidFill>
            <a:schemeClr val="tx1"/>
          </a:solidFill>
          <a:latin typeface="Meiryo"/>
          <a:ea typeface="Meiryo"/>
          <a:cs typeface="Meiryo"/>
        </a:defRPr>
      </a:lvl9pPr>
    </p:bodyStyle>
    <p:otherStyle>
      <a:defPPr>
        <a:defRPr lang="en-US"/>
      </a:defPPr>
      <a:lvl1pPr marL="0" algn="l" defTabSz="457200" rtl="0" eaLnBrk="1" latinLnBrk="0" hangingPunct="1">
        <a:defRPr sz="1800" kern="1200">
          <a:solidFill>
            <a:schemeClr val="tx1"/>
          </a:solidFill>
          <a:latin typeface="Meiryo"/>
          <a:ea typeface="Meiryo"/>
          <a:cs typeface="Meiryo"/>
        </a:defRPr>
      </a:lvl1pPr>
      <a:lvl2pPr marL="457200" algn="l" defTabSz="457200" rtl="0" eaLnBrk="1" latinLnBrk="0" hangingPunct="1">
        <a:defRPr sz="1800" kern="1200">
          <a:solidFill>
            <a:schemeClr val="tx1"/>
          </a:solidFill>
          <a:latin typeface="Meiryo"/>
          <a:ea typeface="Meiryo"/>
          <a:cs typeface="Meiryo"/>
        </a:defRPr>
      </a:lvl2pPr>
      <a:lvl3pPr marL="914400" algn="l" defTabSz="457200" rtl="0" eaLnBrk="1" latinLnBrk="0" hangingPunct="1">
        <a:defRPr sz="1800" kern="1200">
          <a:solidFill>
            <a:schemeClr val="tx1"/>
          </a:solidFill>
          <a:latin typeface="Meiryo"/>
          <a:ea typeface="Meiryo"/>
          <a:cs typeface="Meiryo"/>
        </a:defRPr>
      </a:lvl3pPr>
      <a:lvl4pPr marL="1371600" algn="l" defTabSz="457200" rtl="0" eaLnBrk="1" latinLnBrk="0" hangingPunct="1">
        <a:defRPr sz="1800" kern="1200">
          <a:solidFill>
            <a:schemeClr val="tx1"/>
          </a:solidFill>
          <a:latin typeface="Meiryo"/>
          <a:ea typeface="Meiryo"/>
          <a:cs typeface="Meiryo"/>
        </a:defRPr>
      </a:lvl4pPr>
      <a:lvl5pPr marL="1828800" algn="l" defTabSz="457200" rtl="0" eaLnBrk="1" latinLnBrk="0" hangingPunct="1">
        <a:defRPr sz="1800" kern="1200">
          <a:solidFill>
            <a:schemeClr val="tx1"/>
          </a:solidFill>
          <a:latin typeface="Meiryo"/>
          <a:ea typeface="Meiryo"/>
          <a:cs typeface="Meiryo"/>
        </a:defRPr>
      </a:lvl5pPr>
      <a:lvl6pPr marL="2286000" algn="l" defTabSz="457200" rtl="0" eaLnBrk="1" latinLnBrk="0" hangingPunct="1">
        <a:defRPr sz="1800" kern="1200">
          <a:solidFill>
            <a:schemeClr val="tx1"/>
          </a:solidFill>
          <a:latin typeface="Meiryo"/>
          <a:ea typeface="Meiryo"/>
          <a:cs typeface="Meiryo"/>
        </a:defRPr>
      </a:lvl6pPr>
      <a:lvl7pPr marL="2743200" algn="l" defTabSz="457200" rtl="0" eaLnBrk="1" latinLnBrk="0" hangingPunct="1">
        <a:defRPr sz="1800" kern="1200">
          <a:solidFill>
            <a:schemeClr val="tx1"/>
          </a:solidFill>
          <a:latin typeface="Meiryo"/>
          <a:ea typeface="Meiryo"/>
          <a:cs typeface="Meiryo"/>
        </a:defRPr>
      </a:lvl7pPr>
      <a:lvl8pPr marL="3200400" algn="l" defTabSz="457200" rtl="0" eaLnBrk="1" latinLnBrk="0" hangingPunct="1">
        <a:defRPr sz="1800" kern="1200">
          <a:solidFill>
            <a:schemeClr val="tx1"/>
          </a:solidFill>
          <a:latin typeface="Meiryo"/>
          <a:ea typeface="Meiryo"/>
          <a:cs typeface="Meiryo"/>
        </a:defRPr>
      </a:lvl8pPr>
      <a:lvl9pPr marL="3657600" algn="l" defTabSz="457200" rtl="0" eaLnBrk="1" latinLnBrk="0" hangingPunct="1">
        <a:defRPr sz="1800" kern="1200">
          <a:solidFill>
            <a:schemeClr val="tx1"/>
          </a:solidFill>
          <a:latin typeface="Meiryo"/>
          <a:ea typeface="Meiryo"/>
          <a:cs typeface="Meiryo"/>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png" /><ns0:Relationship Id="rId3" Type="http://schemas.openxmlformats.org/officeDocument/2006/relationships/notesSlide" Target="../notesSlides/notesSlide1.xml" /><ns0:Relationship Id="rIdPersonalAuthorLogo" Type="http://schemas.openxmlformats.org/officeDocument/2006/relationships/image" Target="../media/personal-author-logo-white.png" /></ns0: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 Id="rId4" Type="http://schemas.openxmlformats.org/officeDocument/2006/relationships/image" Target="../media/image3.png"/><Relationship Id="rId5" Type="http://schemas.openxmlformats.org/officeDocument/2006/relationships/slide" Target="slide5.xml"/><Relationship Id="rId6" Type="http://schemas.openxmlformats.org/officeDocument/2006/relationships/slide" Target="slide10.xml"/><Relationship Id="rId7" Type="http://schemas.openxmlformats.org/officeDocument/2006/relationships/slide" Target="slide15.xml"/><Relationship Id="rId8" Type="http://schemas.openxmlformats.org/officeDocument/2006/relationships/slide" Target="slide26.xml"/><Relationship Id="rId9" Type="http://schemas.openxmlformats.org/officeDocument/2006/relationships/slide" Target="slide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slide" Target="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3.png"/><Relationship Id="rId5"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6.xml"/><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slide" Target="slide2.xml"/></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4.png" /><ns0:Relationship Id="rId3" Type="http://schemas.openxmlformats.org/officeDocument/2006/relationships/notesSlide" Target="../notesSlides/notesSlide7.xml" /><ns0:Relationship Id="rId4" Type="http://schemas.openxmlformats.org/officeDocument/2006/relationships/image" Target="../media/image3.png" /><ns0:Relationship Id="rId5" Type="http://schemas.openxmlformats.org/officeDocument/2006/relationships/slide" Target="slide2.xml" /><ns0:Relationship Id="rIdHandson19" Type="http://schemas.openxmlformats.org/officeDocument/2006/relationships/hyperlink" Target="https://github.com/signup" TargetMode="Externa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5.png" /><ns0:Relationship Id="rId3" Type="http://schemas.openxmlformats.org/officeDocument/2006/relationships/notesSlide" Target="../notesSlides/notesSlide8.xml" /><ns0:Relationship Id="rId4" Type="http://schemas.openxmlformats.org/officeDocument/2006/relationships/image" Target="../media/image3.png" /><ns0:Relationship Id="rId5" Type="http://schemas.openxmlformats.org/officeDocument/2006/relationships/slide" Target="slide2.xml" /><ns0:Relationship Id="rIdHandson13" Type="http://schemas.openxmlformats.org/officeDocument/2006/relationships/hyperlink" Target="https://github.com/settings/emails" TargetMode="External" /></ns0: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 Id="rId4" Type="http://schemas.openxmlformats.org/officeDocument/2006/relationships/image" Target="../media/image3.png"/><Relationship Id="rId5" Type="http://schemas.openxmlformats.org/officeDocument/2006/relationships/slide" Target="slide2.xml"/></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10.xml" /><ns0:Relationship Id="rId4" Type="http://schemas.openxmlformats.org/officeDocument/2006/relationships/image" Target="../media/image12.png" /><ns0:Relationship Id="rId5" Type="http://schemas.openxmlformats.org/officeDocument/2006/relationships/image" Target="../media/image3.png" /><ns0:Relationship Id="rId6" Type="http://schemas.openxmlformats.org/officeDocument/2006/relationships/slide" Target="slide2.xml" /><ns0:Relationship Id="rIdHandson12" Type="http://schemas.openxmlformats.org/officeDocument/2006/relationships/hyperlink" Target="https://github.com/tsuchiyatakahirolab/ai-data-literacy-student-template" TargetMode="Externa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3.png" /><ns0:Relationship Id="rId3" Type="http://schemas.openxmlformats.org/officeDocument/2006/relationships/notesSlide" Target="../notesSlides/notesSlide11.xml" /><ns0:Relationship Id="rId4" Type="http://schemas.openxmlformats.org/officeDocument/2006/relationships/image" Target="../media/image14.png" /><ns0:Relationship Id="rId5" Type="http://schemas.openxmlformats.org/officeDocument/2006/relationships/image" Target="../media/image3.png" /><ns0:Relationship Id="rId6" Type="http://schemas.openxmlformats.org/officeDocument/2006/relationships/slide" Target="slide2.xml" /></ns0: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3.png"/><Relationship Id="rId7"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 Id="rId4" Type="http://schemas.openxmlformats.org/officeDocument/2006/relationships/image" Target="../media/image17.png"/><Relationship Id="rId5"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 Id="rId4" Type="http://schemas.openxmlformats.org/officeDocument/2006/relationships/slide" Target="slide2.xml"/></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8.png" /><ns0:Relationship Id="rId3" Type="http://schemas.openxmlformats.org/officeDocument/2006/relationships/notesSlide" Target="../notesSlides/notesSlide15.xml" /><ns0:Relationship Id="rId4" Type="http://schemas.openxmlformats.org/officeDocument/2006/relationships/image" Target="../media/image19.png" /><ns0:Relationship Id="rId5" Type="http://schemas.openxmlformats.org/officeDocument/2006/relationships/image" Target="../media/image3.png" /><ns0:Relationship Id="rId6" Type="http://schemas.openxmlformats.org/officeDocument/2006/relationships/slide" Target="slide2.xml"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9.png" /><ns0:Relationship Id="rId3" Type="http://schemas.openxmlformats.org/officeDocument/2006/relationships/notesSlide" Target="../notesSlides/notesSlide16.xml" /><ns0:Relationship Id="rId4" Type="http://schemas.openxmlformats.org/officeDocument/2006/relationships/image" Target="../media/image17.png" /><ns0:Relationship Id="rId5" Type="http://schemas.openxmlformats.org/officeDocument/2006/relationships/slide" Target="slide2.xml" /><ns0:Relationship Id="rIdHandson9" Type="http://schemas.openxmlformats.org/officeDocument/2006/relationships/hyperlink" Target="https://github.com/tsuchiyatakahirolab/ai-data-literacy/blob/main/assets/setup/practice.png" TargetMode="External" /></ns0:Relationships>
</file>

<file path=ppt/slides/_rels/slide1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17.xml" /><ns0:Relationship Id="rId4" Type="http://schemas.openxmlformats.org/officeDocument/2006/relationships/image" Target="../media/image20.png" /><ns0:Relationship Id="rId5" Type="http://schemas.openxmlformats.org/officeDocument/2006/relationships/image" Target="../media/image3.png" /><ns0:Relationship Id="rId6" Type="http://schemas.openxmlformats.org/officeDocument/2006/relationships/slide" Target="slide2.xml" /></ns0: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 Id="rId4" Type="http://schemas.openxmlformats.org/officeDocument/2006/relationships/image" Target="../media/image21.png"/><Relationship Id="rId5" Type="http://schemas.openxmlformats.org/officeDocument/2006/relationships/image" Target="../media/image3.png"/><Relationship Id="rId6" Type="http://schemas.openxmlformats.org/officeDocument/2006/relationships/slide" Target="slide2.xml"/></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19.xml" /><ns0:Relationship Id="rId4" Type="http://schemas.openxmlformats.org/officeDocument/2006/relationships/image" Target="../media/image3.png" /><ns0:Relationship Id="rId5" Type="http://schemas.openxmlformats.org/officeDocument/2006/relationships/slide" Target="slide2.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 Id="rId4"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1.xml"/><Relationship Id="rId4" Type="http://schemas.openxmlformats.org/officeDocument/2006/relationships/image" Target="../media/image23.png"/><Relationship Id="rId5" Type="http://schemas.openxmlformats.org/officeDocument/2006/relationships/image" Target="../media/image3.png"/><Relationship Id="rId6" Type="http://schemas.openxmlformats.org/officeDocument/2006/relationships/slide" Target="slide2.xml"/></Relationships>
</file>

<file path=ppt/slides/_rels/slide22.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4.png" /><ns0:Relationship Id="rId3" Type="http://schemas.openxmlformats.org/officeDocument/2006/relationships/notesSlide" Target="../notesSlides/notesSlide22.xml" /><ns0:Relationship Id="rId4" Type="http://schemas.openxmlformats.org/officeDocument/2006/relationships/image" Target="../media/image24.png" /><ns0:Relationship Id="rId5" Type="http://schemas.openxmlformats.org/officeDocument/2006/relationships/image" Target="../media/image3.png" /><ns0:Relationship Id="rId6" Type="http://schemas.openxmlformats.org/officeDocument/2006/relationships/slide" Target="slide2.xml" /></ns0:Relationships>
</file>

<file path=ppt/slides/_rels/slide2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1.png" /><ns0:Relationship Id="rId3" Type="http://schemas.openxmlformats.org/officeDocument/2006/relationships/notesSlide" Target="../notesSlides/notesSlide23.xml" /><ns0:Relationship Id="rId4" Type="http://schemas.openxmlformats.org/officeDocument/2006/relationships/image" Target="../media/image3.png" /><ns0:Relationship Id="rId5" Type="http://schemas.openxmlformats.org/officeDocument/2006/relationships/slide" Target="slide2.xml" /></ns0: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4.xml"/><Relationship Id="rId4"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slide" Target="slide2.xml"/></Relationships>
</file>

<file path=ppt/slides/_rels/slide2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25.xml" /><ns0:Relationship Id="rId4" Type="http://schemas.openxmlformats.org/officeDocument/2006/relationships/image" Target="../media/image3.png" /><ns0:Relationship Id="rId5" Type="http://schemas.openxmlformats.org/officeDocument/2006/relationships/slide" Target="slide2.xml" /></ns0:Relationships>
</file>

<file path=ppt/slides/_rels/slide2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5.png" /><ns0:Relationship Id="rId3" Type="http://schemas.openxmlformats.org/officeDocument/2006/relationships/notesSlide" Target="../notesSlides/notesSlide26.xml" /><ns0:Relationship Id="rId4" Type="http://schemas.openxmlformats.org/officeDocument/2006/relationships/image" Target="../media/image27.png" /><ns0:Relationship Id="rId5" Type="http://schemas.openxmlformats.org/officeDocument/2006/relationships/image" Target="../media/image3.png" /><ns0:Relationship Id="rId6" Type="http://schemas.openxmlformats.org/officeDocument/2006/relationships/slide" Target="slide2.xml" /></ns0:Relationships>
</file>

<file path=ppt/slides/_rels/slide27.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9.png" /><ns0:Relationship Id="rId3" Type="http://schemas.openxmlformats.org/officeDocument/2006/relationships/notesSlide" Target="../notesSlides/notesSlide27.xml" /><ns0:Relationship Id="rId4" Type="http://schemas.openxmlformats.org/officeDocument/2006/relationships/image" Target="../media/image3.png" /><ns0:Relationship Id="rId5" Type="http://schemas.openxmlformats.org/officeDocument/2006/relationships/slide" Target="slide2.xml" /></ns0:Relationships>
</file>

<file path=ppt/slides/_rels/slide28.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7.png" /><ns0:Relationship Id="rId3" Type="http://schemas.openxmlformats.org/officeDocument/2006/relationships/notesSlide" Target="../notesSlides/notesSlide28.xml" /><ns0:Relationship Id="rId4" Type="http://schemas.openxmlformats.org/officeDocument/2006/relationships/image" Target="../media/image3.png" /><ns0:Relationship Id="rId5" Type="http://schemas.openxmlformats.org/officeDocument/2006/relationships/slide" Target="slide2.xml" /></ns0: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9.xml"/><Relationship Id="rId4" Type="http://schemas.openxmlformats.org/officeDocument/2006/relationships/image" Target="../media/image3.png"/><Relationship Id="rId5" Type="http://schemas.openxmlformats.org/officeDocument/2006/relationships/slide" Target="slide2.xml"/></Relationships>
</file>

<file path=ppt/slides/_rels/slide30.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1.png" /><ns0:Relationship Id="rId3" Type="http://schemas.openxmlformats.org/officeDocument/2006/relationships/notesSlide" Target="../notesSlides/notesSlide30.xml" /><ns0:Relationship Id="rId4" Type="http://schemas.openxmlformats.org/officeDocument/2006/relationships/image" Target="../media/image3.png" /><ns0:Relationship Id="rId5" Type="http://schemas.openxmlformats.org/officeDocument/2006/relationships/slide" Target="slide2.xml" /></ns0: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image" Target="../media/image3.png"/><Relationship Id="rId5" Type="http://schemas.openxmlformats.org/officeDocument/2006/relationships/slide" Target="slide2.xml"/></Relationships>
</file>

<file path=ppt/slides/_rels/slide33.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2.png" /><ns0:Relationship Id="rId3" Type="http://schemas.openxmlformats.org/officeDocument/2006/relationships/notesSlide" Target="../notesSlides/notesSlide33.xml" /><ns0:Relationship Id="rId4" Type="http://schemas.openxmlformats.org/officeDocument/2006/relationships/image" Target="../media/image3.png" /><ns0:Relationship Id="rId5" Type="http://schemas.openxmlformats.org/officeDocument/2006/relationships/slide" Target="slide2.xml" /></ns0:Relationships>
</file>

<file path=ppt/slides/_rels/slide34.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10.png" /><ns0:Relationship Id="rId3" Type="http://schemas.openxmlformats.org/officeDocument/2006/relationships/notesSlide" Target="../notesSlides/notesSlide34.xml" /><ns0:Relationship Id="rId4" Type="http://schemas.openxmlformats.org/officeDocument/2006/relationships/image" Target="../media/image4.png" /><ns0:Relationship Id="rId5" Type="http://schemas.openxmlformats.org/officeDocument/2006/relationships/image" Target="../media/image7.png" /><ns0:Relationship Id="rId6" Type="http://schemas.openxmlformats.org/officeDocument/2006/relationships/image" Target="../media/image11.png" /><ns0:Relationship Id="rId7" Type="http://schemas.openxmlformats.org/officeDocument/2006/relationships/image" Target="../media/image3.png" /><ns0:Relationship Id="rId8" Type="http://schemas.openxmlformats.org/officeDocument/2006/relationships/slide" Target="slide2.xml" /></ns0:Relationships>
</file>

<file path=ppt/slides/_rels/slide35.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28.png" /><ns0:Relationship Id="rId3" Type="http://schemas.openxmlformats.org/officeDocument/2006/relationships/notesSlide" Target="../notesSlides/notesSlide35.xml" /><ns0:Relationship Id="rId4" Type="http://schemas.openxmlformats.org/officeDocument/2006/relationships/image" Target="../media/image5.png" /><ns0:Relationship Id="rId5" Type="http://schemas.openxmlformats.org/officeDocument/2006/relationships/image" Target="../media/image7.png" /><ns0:Relationship Id="rId6" Type="http://schemas.openxmlformats.org/officeDocument/2006/relationships/image" Target="../media/image9.png" /><ns0:Relationship Id="rId7" Type="http://schemas.openxmlformats.org/officeDocument/2006/relationships/image" Target="../media/image17.png" /><ns0:Relationship Id="rId8" Type="http://schemas.openxmlformats.org/officeDocument/2006/relationships/slide" Target="slide2.xml" /></ns0:Relationships>
</file>

<file path=ppt/slides/_rels/slide36.xml.rels><?xml version='1.0' encoding='utf-8'?>
<ns0:Relationships xmlns:ns0="http://schemas.openxmlformats.org/package/2006/relationships"><ns0:Relationship Id="rId1" Type="http://schemas.openxmlformats.org/officeDocument/2006/relationships/slideLayout" Target="../slideLayouts/slideLayout7.xml" /><ns0:Relationship Id="rId2" Type="http://schemas.openxmlformats.org/officeDocument/2006/relationships/image" Target="../media/image8.png" /><ns0:Relationship Id="rId3" Type="http://schemas.openxmlformats.org/officeDocument/2006/relationships/notesSlide" Target="../notesSlides/notesSlide36.xml" /><ns0:Relationship Id="rId4" Type="http://schemas.openxmlformats.org/officeDocument/2006/relationships/image" Target="../media/image7.png" /><ns0:Relationship Id="rId5" Type="http://schemas.openxmlformats.org/officeDocument/2006/relationships/image" Target="../media/image3.png" /><ns0:Relationship Id="rId6" Type="http://schemas.openxmlformats.org/officeDocument/2006/relationships/slide" Target="slide2.xml" /><ns0:Relationship Id="rIdHandson9" Type="http://schemas.openxmlformats.org/officeDocument/2006/relationships/hyperlink" Target="https://education.github.com/pack" TargetMode="External" /></ns0: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7.xml"/><Relationship Id="rId4" Type="http://schemas.openxmlformats.org/officeDocument/2006/relationships/image" Target="../media/image3.png"/><Relationship Id="rId5" Type="http://schemas.openxmlformats.org/officeDocument/2006/relationships/slide" Target="slide2.xml"/></Relationships>
</file>

<file path=ppt/slides/slide1.xml><?xml version="1.0" encoding="utf-8"?>
<p:sld xmlns:a="http://schemas.openxmlformats.org/drawingml/2006/main" xmlns:ns3="http://schemas.microsoft.com/office/drawing/2014/main" xmlns:p="http://schemas.openxmlformats.org/presentationml/2006/main" xmlns:r="http://schemas.openxmlformats.org/officeDocument/2006/relationships" showMasterSp="0">
  <p:cSld>
    <p:bg>
      <p:bgPr>
        <a:solidFill>
          <a:srgbClr val="162C39"/>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older_A2D0D0.png"/>
          <p:cNvPicPr>
            <a:picLocks noChangeAspect="1"/>
          </p:cNvPicPr>
          <p:nvPr/>
        </p:nvPicPr>
        <p:blipFill>
          <a:blip r:embed="rId2"/>
          <a:stretch>
            <a:fillRect/>
          </a:stretch>
        </p:blipFill>
        <p:spPr>
          <a:xfrm>
            <a:off x="10424160" y="640080"/>
            <a:ext cx="841248" cy="841248"/>
          </a:xfrm>
          <a:prstGeom prst="rect">
            <a:avLst/>
          </a:prstGeom>
        </p:spPr>
      </p:pic>
      <p:sp>
        <p:nvSpPr>
          <p:cNvPr id="4" name="cover:はじめに"/>
          <p:cNvSpPr txBox="1"/>
          <p:nvPr/>
        </p:nvSpPr>
        <p:spPr>
          <a:xfrm>
            <a:off x="713232" y="585216"/>
            <a:ext cx="7315200" cy="457200"/>
          </a:xfrm>
          <a:prstGeom prst="rect">
            <a:avLst/>
          </a:prstGeom>
          <a:noFill/>
        </p:spPr>
        <p:txBody>
          <a:bodyPr wrap="none" lIns="0" rIns="0" tIns="0" bIns="0" anchor="t">
            <a:spAutoFit/>
          </a:bodyPr>
          <a:lstStyle/>
          <a:p>
            <a:pPr>
              <a:lnSpc>
                <a:spcPct val="114000"/>
              </a:lnSpc>
              <a:spcBef>
                <a:spcPts val="0"/>
              </a:spcBef>
              <a:spcAft>
                <a:spcPts val="0"/>
              </a:spcAft>
              <a:defRPr sz="2700" b="0">
                <a:solidFill>
                  <a:srgbClr val="A2D0D0"/>
                </a:solidFill>
                <a:latin typeface="Meiryo"/>
              </a:defRPr>
            </a:pPr>
            <a:r>
              <a:rPr sz="2700" b="0">
                <a:solidFill>
                  <a:srgbClr val="A2D0D0"/>
                </a:solidFill>
                <a:latin typeface="Meiryo"/>
                <a:ea typeface="Meiryo"/>
                <a:cs typeface="Meiryo"/>
              </a:rPr>
              <a:t>はじめに</a:t>
            </a:r>
          </a:p>
        </p:txBody>
      </p:sp>
      <p:sp>
        <p:nvSpPr>
          <p:cNvPr id="5" name="cover:AIとGitHubを&#10;使う準備をしよう"/>
          <p:cNvSpPr txBox="1"/>
          <p:nvPr/>
        </p:nvSpPr>
        <p:spPr>
          <a:xfrm>
            <a:off x="713232" y="1673352"/>
            <a:ext cx="10424160" cy="1719072"/>
          </a:xfrm>
          <a:prstGeom prst="rect">
            <a:avLst/>
          </a:prstGeom>
          <a:noFill/>
        </p:spPr>
        <p:txBody>
          <a:bodyPr wrap="none" lIns="0" rIns="0" tIns="0" bIns="0" anchor="t">
            <a:spAutoFit/>
          </a:bodyPr>
          <a:lstStyle/>
          <a:p>
            <a:pPr>
              <a:lnSpc>
                <a:spcPct val="114000"/>
              </a:lnSpc>
              <a:spcBef>
                <a:spcPts val="0"/>
              </a:spcBef>
              <a:spcAft>
                <a:spcPts val="0"/>
              </a:spcAft>
              <a:defRPr sz="4500" b="1">
                <a:solidFill>
                  <a:srgbClr val="FFFFFF"/>
                </a:solidFill>
                <a:latin typeface="Meiryo"/>
              </a:defRPr>
            </a:pPr>
            <a:r>
              <a:rPr sz="4500" b="1">
                <a:solidFill>
                  <a:srgbClr val="FFFFFF"/>
                </a:solidFill>
                <a:latin typeface="Meiryo"/>
                <a:ea typeface="Meiryo"/>
                <a:cs typeface="Meiryo"/>
              </a:rPr>
              <a:t>AIとGitHubを</a:t>
            </a:r>
          </a:p>
          <a:p>
            <a:pPr>
              <a:lnSpc>
                <a:spcPct val="114000"/>
              </a:lnSpc>
              <a:spcBef>
                <a:spcPts val="0"/>
              </a:spcBef>
              <a:spcAft>
                <a:spcPts val="0"/>
              </a:spcAft>
              <a:defRPr sz="4500" b="1">
                <a:solidFill>
                  <a:srgbClr val="FFFFFF"/>
                </a:solidFill>
                <a:latin typeface="Meiryo"/>
              </a:defRPr>
            </a:pPr>
            <a:r>
              <a:rPr sz="4500" b="1">
                <a:solidFill>
                  <a:srgbClr val="FFFFFF"/>
                </a:solidFill>
                <a:latin typeface="Meiryo"/>
                <a:ea typeface="Meiryo"/>
                <a:cs typeface="Meiryo"/>
              </a:rPr>
              <a:t>使う準備をしよう</a:t>
            </a:r>
          </a:p>
        </p:txBody>
      </p:sp>
      <p:sp>
        <p:nvSpPr>
          <p:cNvPr id="6" name="cover:画像を1枚保存し、教員を招待して、&#10;初回登録まで進めます。"/>
          <p:cNvSpPr txBox="1"/>
          <p:nvPr/>
        </p:nvSpPr>
        <p:spPr>
          <a:xfrm>
            <a:off x="731520" y="4160520"/>
            <a:ext cx="10424160" cy="914400"/>
          </a:xfrm>
          <a:prstGeom prst="rect">
            <a:avLst/>
          </a:prstGeom>
          <a:noFill/>
        </p:spPr>
        <p:txBody>
          <a:bodyPr wrap="none" lIns="0" rIns="0" tIns="0" bIns="0" anchor="t">
            <a:spAutoFit/>
          </a:bodyPr>
          <a:lstStyle/>
          <a:p>
            <a:pPr>
              <a:lnSpc>
                <a:spcPct val="114000"/>
              </a:lnSpc>
              <a:spcBef>
                <a:spcPts val="0"/>
              </a:spcBef>
              <a:spcAft>
                <a:spcPts val="0"/>
              </a:spcAft>
              <a:defRPr sz="2800" b="0">
                <a:solidFill>
                  <a:srgbClr val="FFFFFF"/>
                </a:solidFill>
                <a:latin typeface="Meiryo"/>
              </a:defRPr>
            </a:pPr>
            <a:r>
              <a:rPr sz="2800" b="0">
                <a:solidFill>
                  <a:srgbClr val="FFFFFF"/>
                </a:solidFill>
                <a:latin typeface="Meiryo"/>
                <a:ea typeface="Meiryo"/>
                <a:cs typeface="Meiryo"/>
              </a:rPr>
              <a:t>画像を1枚保存し、教員を招待して、</a:t>
            </a:r>
          </a:p>
          <a:p>
            <a:pPr>
              <a:lnSpc>
                <a:spcPct val="114000"/>
              </a:lnSpc>
              <a:spcBef>
                <a:spcPts val="0"/>
              </a:spcBef>
              <a:spcAft>
                <a:spcPts val="0"/>
              </a:spcAft>
              <a:defRPr sz="2800" b="0">
                <a:solidFill>
                  <a:srgbClr val="FFFFFF"/>
                </a:solidFill>
                <a:latin typeface="Meiryo"/>
              </a:defRPr>
            </a:pPr>
            <a:r>
              <a:rPr sz="2800" b="0">
                <a:solidFill>
                  <a:srgbClr val="FFFFFF"/>
                </a:solidFill>
                <a:latin typeface="Meiryo"/>
                <a:ea typeface="Meiryo"/>
                <a:cs typeface="Meiryo"/>
              </a:rPr>
              <a:t>初回登録まで進めます。</a:t>
            </a:r>
          </a:p>
        </p:txBody>
      </p:sp>
      <p:sp>
        <p:nvSpPr>
          <p:cNvPr id="7" name="cover:第2回以降に参加する人も、同じ手順で始められます。"/>
          <p:cNvSpPr txBox="1"/>
          <p:nvPr/>
        </p:nvSpPr>
        <p:spPr>
          <a:xfrm>
            <a:off x="731520" y="5294376"/>
            <a:ext cx="10515600"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A2D0D0"/>
                </a:solidFill>
                <a:latin typeface="Meiryo"/>
              </a:defRPr>
            </a:pPr>
            <a:r>
              <a:rPr sz="2200" b="0">
                <a:solidFill>
                  <a:srgbClr val="A2D0D0"/>
                </a:solidFill>
                <a:latin typeface="Meiryo"/>
                <a:ea typeface="Meiryo"/>
                <a:cs typeface="Meiryo"/>
              </a:rPr>
              <a:t>第2回以降に参加する人も、同じ手順で始められます。</a:t>
            </a:r>
          </a:p>
        </p:txBody>
      </p:sp>
      <p:sp>
        <p:nvSpPr>
          <p:cNvPr id="8" name="footer:大学生のためのAI・データリテラシー"/>
          <p:cNvSpPr txBox="1"/>
          <p:nvPr/>
        </p:nvSpPr>
        <p:spPr>
          <a:xfrm>
            <a:off x="731520" y="6355080"/>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FFFFFF"/>
                </a:solidFill>
                <a:latin typeface="Meiryo"/>
              </a:defRPr>
            </a:pPr>
            <a:r>
              <a:rPr sz="1800" b="0">
                <a:solidFill>
                  <a:srgbClr val="FFFFFF"/>
                </a:solidFill>
                <a:latin typeface="Meiryo"/>
                <a:ea typeface="Meiryo"/>
                <a:cs typeface="Meiryo"/>
              </a:rPr>
              <a:t>大学生のためのAI・データリテラシー</a:t>
            </a:r>
          </a:p>
        </p:txBody>
      </p:sp>
      <p:sp>
        <p:nvSpPr>
          <p:cNvPr id="9" name="footer:導入 v1.4"/>
          <p:cNvSpPr txBox="1"/>
          <p:nvPr/>
        </p:nvSpPr>
        <p:spPr>
          <a:xfrm>
            <a:off x="10149840" y="6355080"/>
            <a:ext cx="132588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FFFFFF"/>
                </a:solidFill>
                <a:latin typeface="Meiryo"/>
              </a:defRPr>
            </a:pPr>
            <a:r>
              <a:rPr sz="1800" b="0">
                <a:solidFill>
                  <a:srgbClr val="FFFFFF"/>
                </a:solidFill>
                <a:latin typeface="Meiryo"/>
                <a:ea typeface="Meiryo"/>
                <a:cs typeface="Meiryo"/>
              </a:rPr>
              <a:t>導入 v1.4</a:t>
            </a:r>
          </a:p>
        </p:txBody>
      </p:sp>
      <p:pic>
        <p:nvPicPr>
          <p:cNvPr id="11" name="" descr="TSUCHIYA TAKAHIRO white logo supplied in Brandeis cover; original bytes reused"/>
          <p:cNvPicPr>
            <a:picLocks noChangeAspect="1"/>
          </p:cNvPicPr>
          <p:nvPr/>
        </p:nvPicPr>
        <p:blipFill>
          <a:blip r:embed="rIdPersonalAuthorLogo"/>
          <a:stretch/>
        </p:blipFill>
        <p:spPr>
          <a:xfrm>
            <a:off x="3810000" y="109728"/>
            <a:ext cx="4572000" cy="561219"/>
          </a:xfrm>
          <a:prstGeom prst="rect">
            <a:avLst/>
          </a:prstGeom>
        </p:spPr>
      </p:pic>
      <p:sp>
        <p:nvSpPr>
          <p:cNvPr id="12" name="Personal author website">
            <a:extLst>
              <a:ext uri="{FF2B5EF4-FFF2-40B4-BE49-F238E27FC236}">
                <ns3:creationId id="{2B199CB2-0940-4D13-9CAC-E3F074FAA0ED}"/>
              </a:ext>
            </a:extLst>
          </p:cNvPr>
          <p:cNvSpPr>
            <a:spLocks noGrp="1"/>
          </p:cNvSpPr>
          <p:nvPr/>
        </p:nvSpPr>
        <p:spPr>
          <a:xfrm>
            <a:off x="6286500" y="6477000"/>
            <a:ext cx="4000500" cy="266700"/>
          </a:xfrm>
          <a:prstGeom prst="rect">
            <a:avLst/>
          </a:prstGeom>
          <a:noFill/>
          <a:ln w="0">
            <a:noFill/>
          </a:ln>
        </p:spPr>
        <p:txBody>
          <a:bodyPr>
            <a:noAutofit/>
          </a:bodyPr>
          <a:lstStyle/>
          <a:p>
            <a:pPr>
              <a:defRPr sz="1800">
                <a:solidFill>
                  <a:srgbClr val="AECFD2"/>
                </a:solidFill>
                <a:latin typeface="Meiryo"/>
                <a:ea typeface="Meiryo"/>
                <a:cs typeface="Meiryo"/>
              </a:defRPr>
            </a:pPr>
            <a:r>
              <a:rPr sz="1800">
                <a:solidFill>
                  <a:srgbClr val="AECFD2"/>
                </a:solidFill>
                <a:latin typeface="Meiryo"/>
                <a:ea typeface="Meiryo"/>
                <a:cs typeface="Meiryo"/>
              </a:rPr>
              <a:t>tsuchiyatakahiro.com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はじめに</a:t>
            </a:r>
          </a:p>
        </p:txBody>
      </p:sp>
      <p:sp>
        <p:nvSpPr>
          <p:cNvPr id="4" name="title:今日は、この順番で準備しま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今日は、この順番で準備します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checks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a:hlinkClick action="ppaction://hlinksldjump" r:id="rId5"/>
          </p:cNvPr>
          <p:cNvSpPr/>
          <p:nvPr/>
        </p:nvSpPr>
        <p:spPr>
          <a:xfrm>
            <a:off x="594360" y="167335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177850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umber:1"/>
          <p:cNvSpPr txBox="1"/>
          <p:nvPr/>
        </p:nvSpPr>
        <p:spPr>
          <a:xfrm>
            <a:off x="777240" y="180136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0" name="body:アカウントを確かめる"/>
          <p:cNvSpPr txBox="1"/>
          <p:nvPr/>
        </p:nvSpPr>
        <p:spPr>
          <a:xfrm>
            <a:off x="1389888" y="177393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アカウントを確かめる</a:t>
            </a:r>
          </a:p>
        </p:txBody>
      </p:sp>
      <p:sp>
        <p:nvSpPr>
          <p:cNvPr id="11" name="body:大学GoogleとGitHubを開く。"/>
          <p:cNvSpPr txBox="1"/>
          <p:nvPr/>
        </p:nvSpPr>
        <p:spPr>
          <a:xfrm>
            <a:off x="6446520" y="179222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大学GoogleとGitHubを開く。</a:t>
            </a:r>
          </a:p>
        </p:txBody>
      </p:sp>
      <p:sp>
        <p:nvSpPr>
          <p:cNvPr id="12" name="Rectangle 11">
            <a:hlinkClick action="ppaction://hlinksldjump" r:id="rId6"/>
          </p:cNvPr>
          <p:cNvSpPr/>
          <p:nvPr/>
        </p:nvSpPr>
        <p:spPr>
          <a:xfrm>
            <a:off x="594360" y="2404872"/>
            <a:ext cx="11000232" cy="62179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251002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777240" y="253288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保存先を作る"/>
          <p:cNvSpPr txBox="1"/>
          <p:nvPr/>
        </p:nvSpPr>
        <p:spPr>
          <a:xfrm>
            <a:off x="1389888" y="250545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保存先を作る</a:t>
            </a:r>
          </a:p>
        </p:txBody>
      </p:sp>
      <p:sp>
        <p:nvSpPr>
          <p:cNvPr id="16" name="body:ひな形からPrivateで作る。"/>
          <p:cNvSpPr txBox="1"/>
          <p:nvPr/>
        </p:nvSpPr>
        <p:spPr>
          <a:xfrm>
            <a:off x="6446520" y="252374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ひな形からPrivateで作る。</a:t>
            </a:r>
          </a:p>
        </p:txBody>
      </p:sp>
      <p:sp>
        <p:nvSpPr>
          <p:cNvPr id="17" name="Rectangle 16">
            <a:hlinkClick action="ppaction://hlinksldjump" r:id="rId7"/>
          </p:cNvPr>
          <p:cNvSpPr/>
          <p:nvPr/>
        </p:nvSpPr>
        <p:spPr>
          <a:xfrm>
            <a:off x="594360" y="313639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 y="324154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umber:3"/>
          <p:cNvSpPr txBox="1"/>
          <p:nvPr/>
        </p:nvSpPr>
        <p:spPr>
          <a:xfrm>
            <a:off x="777240" y="326440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0" name="body:画像と記録を保存する"/>
          <p:cNvSpPr txBox="1"/>
          <p:nvPr/>
        </p:nvSpPr>
        <p:spPr>
          <a:xfrm>
            <a:off x="1389888" y="323697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画像と記録を保存する</a:t>
            </a:r>
          </a:p>
        </p:txBody>
      </p:sp>
      <p:sp>
        <p:nvSpPr>
          <p:cNvPr id="21" name="body:画像と記録を保存します。"/>
          <p:cNvSpPr txBox="1"/>
          <p:nvPr/>
        </p:nvSpPr>
        <p:spPr>
          <a:xfrm>
            <a:off x="6446520" y="325526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画像1枚と、利用記録を残す。</a:t>
            </a:r>
          </a:p>
        </p:txBody>
      </p:sp>
      <p:sp>
        <p:nvSpPr>
          <p:cNvPr id="22" name="Rectangle 21">
            <a:hlinkClick action="ppaction://hlinksldjump" r:id="rId8"/>
          </p:cNvPr>
          <p:cNvSpPr/>
          <p:nvPr/>
        </p:nvSpPr>
        <p:spPr>
          <a:xfrm>
            <a:off x="594360" y="3867912"/>
            <a:ext cx="11000232" cy="62179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77240" y="397306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4"/>
          <p:cNvSpPr txBox="1"/>
          <p:nvPr/>
        </p:nvSpPr>
        <p:spPr>
          <a:xfrm>
            <a:off x="777240" y="399592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4</a:t>
            </a:r>
          </a:p>
        </p:txBody>
      </p:sp>
      <p:sp>
        <p:nvSpPr>
          <p:cNvPr id="25" name="body:教員を招待する"/>
          <p:cNvSpPr txBox="1"/>
          <p:nvPr/>
        </p:nvSpPr>
        <p:spPr>
          <a:xfrm>
            <a:off x="1389888" y="396849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教員を招待する</a:t>
            </a:r>
          </a:p>
        </p:txBody>
      </p:sp>
      <p:sp>
        <p:nvSpPr>
          <p:cNvPr id="26" name="body:自分の保存先へ教員を招待する。"/>
          <p:cNvSpPr txBox="1"/>
          <p:nvPr/>
        </p:nvSpPr>
        <p:spPr>
          <a:xfrm>
            <a:off x="6446520" y="398678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自分の保存先へ教員を招待する。</a:t>
            </a:r>
          </a:p>
        </p:txBody>
      </p:sp>
      <p:sp>
        <p:nvSpPr>
          <p:cNvPr id="27" name="Rectangle 26">
            <a:hlinkClick action="ppaction://hlinksldjump" r:id="rId9"/>
          </p:cNvPr>
          <p:cNvSpPr/>
          <p:nvPr/>
        </p:nvSpPr>
        <p:spPr>
          <a:xfrm>
            <a:off x="594360" y="4599432"/>
            <a:ext cx="11000232" cy="62179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7240" y="4704588"/>
            <a:ext cx="384048" cy="384048"/>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umber:5"/>
          <p:cNvSpPr txBox="1"/>
          <p:nvPr/>
        </p:nvSpPr>
        <p:spPr>
          <a:xfrm>
            <a:off x="777240" y="4727448"/>
            <a:ext cx="384048" cy="384048"/>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5</a:t>
            </a:r>
          </a:p>
        </p:txBody>
      </p:sp>
      <p:sp>
        <p:nvSpPr>
          <p:cNvPr id="30" name="body:初回登録を送る"/>
          <p:cNvSpPr txBox="1"/>
          <p:nvPr/>
        </p:nvSpPr>
        <p:spPr>
          <a:xfrm>
            <a:off x="1389888" y="4700016"/>
            <a:ext cx="4773168" cy="457200"/>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初回登録を送る</a:t>
            </a:r>
          </a:p>
        </p:txBody>
      </p:sp>
      <p:sp>
        <p:nvSpPr>
          <p:cNvPr id="31" name="body:学生情報とGitHubを登録する。"/>
          <p:cNvSpPr txBox="1"/>
          <p:nvPr/>
        </p:nvSpPr>
        <p:spPr>
          <a:xfrm>
            <a:off x="6446520" y="4718304"/>
            <a:ext cx="4882896" cy="42062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学生情報とGitHubを登録する。</a:t>
            </a:r>
          </a:p>
        </p:txBody>
      </p:sp>
      <p:sp>
        <p:nvSpPr>
          <p:cNvPr id="32" name="Rectangle 31"/>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34" name="result:終わった手順は飛ばせます。途中参加の人も、同じ順番で進め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終わった手順は飛ばせます。途中参加の人も、同じ順番で進めます。</a:t>
            </a:r>
          </a:p>
        </p:txBody>
      </p:sp>
      <p:sp>
        <p:nvSpPr>
          <p:cNvPr id="35"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36" name="footer:0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はじめに</a:t>
            </a:r>
          </a:p>
        </p:txBody>
      </p:sp>
      <p:sp>
        <p:nvSpPr>
          <p:cNvPr id="4" name="title:準備するものは、この3つ"/>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準備するものは、この3つ</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48456"/>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2"/>
          <a:stretch>
            <a:fillRect/>
          </a:stretch>
        </p:blipFill>
        <p:spPr>
          <a:xfrm>
            <a:off x="841248" y="1947672"/>
            <a:ext cx="438912" cy="438912"/>
          </a:xfrm>
          <a:prstGeom prst="rect">
            <a:avLst/>
          </a:prstGeom>
        </p:spPr>
      </p:pic>
      <p:sp>
        <p:nvSpPr>
          <p:cNvPr id="9" name="body:パソコン"/>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パソコン</a:t>
            </a:r>
          </a:p>
        </p:txBody>
      </p:sp>
      <p:sp>
        <p:nvSpPr>
          <p:cNvPr id="10" name="body:ブラウザを開く。&#10;充電器を用意する。"/>
          <p:cNvSpPr txBox="1"/>
          <p:nvPr/>
        </p:nvSpPr>
        <p:spPr>
          <a:xfrm>
            <a:off x="841248" y="3321557"/>
            <a:ext cx="3017520" cy="792479"/>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ブラウザを開く。</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充電器を用意する。</a:t>
            </a:r>
          </a:p>
        </p:txBody>
      </p:sp>
      <p:sp>
        <p:nvSpPr>
          <p:cNvPr id="11" name="Rectangle 10"/>
          <p:cNvSpPr/>
          <p:nvPr/>
        </p:nvSpPr>
        <p:spPr>
          <a:xfrm>
            <a:off x="4343400" y="1700784"/>
            <a:ext cx="3511296" cy="364845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ock-keyhole_007F80.png"/>
          <p:cNvPicPr>
            <a:picLocks noChangeAspect="1"/>
          </p:cNvPicPr>
          <p:nvPr/>
        </p:nvPicPr>
        <p:blipFill>
          <a:blip r:embed="rId4"/>
          <a:stretch>
            <a:fillRect/>
          </a:stretch>
        </p:blipFill>
        <p:spPr>
          <a:xfrm>
            <a:off x="4590288" y="1947672"/>
            <a:ext cx="438912" cy="438912"/>
          </a:xfrm>
          <a:prstGeom prst="rect">
            <a:avLst/>
          </a:prstGeom>
        </p:spPr>
      </p:pic>
      <p:sp>
        <p:nvSpPr>
          <p:cNvPr id="13" name="body:大学アカウント"/>
          <p:cNvSpPr txBox="1"/>
          <p:nvPr/>
        </p:nvSpPr>
        <p:spPr>
          <a:xfrm>
            <a:off x="459028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大学アカウント</a:t>
            </a:r>
          </a:p>
        </p:txBody>
      </p:sp>
      <p:sp>
        <p:nvSpPr>
          <p:cNvPr id="14" name="body:授業ページと&#10;提出フォームを&#10;開くために使う。"/>
          <p:cNvSpPr txBox="1"/>
          <p:nvPr/>
        </p:nvSpPr>
        <p:spPr>
          <a:xfrm>
            <a:off x="4590288" y="3321557"/>
            <a:ext cx="3017520"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授業ページと</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提出フォームを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開くために使う。</a:t>
            </a:r>
          </a:p>
        </p:txBody>
      </p:sp>
      <p:sp>
        <p:nvSpPr>
          <p:cNvPr id="15" name="Rectangle 14"/>
          <p:cNvSpPr/>
          <p:nvPr/>
        </p:nvSpPr>
        <p:spPr>
          <a:xfrm>
            <a:off x="8092440" y="1700784"/>
            <a:ext cx="3502152" cy="3648456"/>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essage-circle_007F80.png"/>
          <p:cNvPicPr>
            <a:picLocks noChangeAspect="1"/>
          </p:cNvPicPr>
          <p:nvPr/>
        </p:nvPicPr>
        <p:blipFill>
          <a:blip r:embed="rId5"/>
          <a:stretch>
            <a:fillRect/>
          </a:stretch>
        </p:blipFill>
        <p:spPr>
          <a:xfrm>
            <a:off x="8339327" y="1947672"/>
            <a:ext cx="438912" cy="438912"/>
          </a:xfrm>
          <a:prstGeom prst="rect">
            <a:avLst/>
          </a:prstGeom>
        </p:spPr>
      </p:pic>
      <p:sp>
        <p:nvSpPr>
          <p:cNvPr id="17" name="body:利用できるAI"/>
          <p:cNvSpPr txBox="1"/>
          <p:nvPr/>
        </p:nvSpPr>
        <p:spPr>
          <a:xfrm>
            <a:off x="8339327" y="2642615"/>
            <a:ext cx="3008376"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利用できるAI</a:t>
            </a:r>
          </a:p>
        </p:txBody>
      </p:sp>
      <p:sp>
        <p:nvSpPr>
          <p:cNvPr id="18" name="body:大学のGeminiか、&#10;普段のAIを開く。&#10;短い質問を&#10;1つ送ってみる。"/>
          <p:cNvSpPr txBox="1"/>
          <p:nvPr/>
        </p:nvSpPr>
        <p:spPr>
          <a:xfrm>
            <a:off x="8339327" y="3321557"/>
            <a:ext cx="3008376"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大学のGeminiか、</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普段のAIを開く。</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短い質問を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1つ送ってみる。</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1" name="result:有料契約は不要です。画像生成が使えなくても、配布画像で進められ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有料契約は不要です。画像生成が使えなくても、配布画像で進められます。</a:t>
            </a:r>
          </a:p>
        </p:txBody>
      </p:sp>
      <p:sp>
        <p:nvSpPr>
          <p:cNvPr id="22" name="tag:手順一覧へ">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0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はじめに</a:t>
            </a:r>
          </a:p>
        </p:txBody>
      </p:sp>
      <p:sp>
        <p:nvSpPr>
          <p:cNvPr id="4" name="title:読む場所・保存する場所・提出する場所"/>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読む場所・保存する場所・提出する場所</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3511296" cy="3383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ok-open_007F80.png"/>
          <p:cNvPicPr>
            <a:picLocks noChangeAspect="1"/>
          </p:cNvPicPr>
          <p:nvPr/>
        </p:nvPicPr>
        <p:blipFill>
          <a:blip r:embed="rId4"/>
          <a:stretch>
            <a:fillRect/>
          </a:stretch>
        </p:blipFill>
        <p:spPr>
          <a:xfrm>
            <a:off x="841248" y="1938528"/>
            <a:ext cx="438912" cy="438912"/>
          </a:xfrm>
          <a:prstGeom prst="rect">
            <a:avLst/>
          </a:prstGeom>
        </p:spPr>
      </p:pic>
      <p:sp>
        <p:nvSpPr>
          <p:cNvPr id="9" name="body:① 課題を読む"/>
          <p:cNvSpPr txBox="1"/>
          <p:nvPr/>
        </p:nvSpPr>
        <p:spPr>
          <a:xfrm>
            <a:off x="841248" y="2633472"/>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① 課題を読む</a:t>
            </a:r>
          </a:p>
        </p:txBody>
      </p:sp>
      <p:sp>
        <p:nvSpPr>
          <p:cNvPr id="10" name="body:教員の公開教材で、&#10;演習の手順を読む。"/>
          <p:cNvSpPr txBox="1"/>
          <p:nvPr/>
        </p:nvSpPr>
        <p:spPr>
          <a:xfrm>
            <a:off x="841248" y="3312413"/>
            <a:ext cx="3017520" cy="792479"/>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教員の公開教材で、</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演習の手順を読む。</a:t>
            </a:r>
          </a:p>
        </p:txBody>
      </p:sp>
      <p:sp>
        <p:nvSpPr>
          <p:cNvPr id="11" name="Rectangle 10"/>
          <p:cNvSpPr/>
          <p:nvPr/>
        </p:nvSpPr>
        <p:spPr>
          <a:xfrm>
            <a:off x="4343400" y="1691640"/>
            <a:ext cx="3511296" cy="33832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2"/>
          <a:stretch>
            <a:fillRect/>
          </a:stretch>
        </p:blipFill>
        <p:spPr>
          <a:xfrm>
            <a:off x="4590288" y="1938528"/>
            <a:ext cx="438912" cy="438912"/>
          </a:xfrm>
          <a:prstGeom prst="rect">
            <a:avLst/>
          </a:prstGeom>
        </p:spPr>
      </p:pic>
      <p:sp>
        <p:nvSpPr>
          <p:cNvPr id="13" name="body:② 成果物を保存"/>
          <p:cNvSpPr txBox="1"/>
          <p:nvPr/>
        </p:nvSpPr>
        <p:spPr>
          <a:xfrm>
            <a:off x="4590288" y="2633472"/>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② 成果物を保存</a:t>
            </a:r>
          </a:p>
        </p:txBody>
      </p:sp>
      <p:sp>
        <p:nvSpPr>
          <p:cNvPr id="14" name="body:自分の保存先に、&#10;画像や文章を置く。"/>
          <p:cNvSpPr txBox="1"/>
          <p:nvPr/>
        </p:nvSpPr>
        <p:spPr>
          <a:xfrm>
            <a:off x="4590288" y="3312413"/>
            <a:ext cx="3017520" cy="792479"/>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自分の保存先に、</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画像や文章を置く。</a:t>
            </a:r>
          </a:p>
        </p:txBody>
      </p:sp>
      <p:sp>
        <p:nvSpPr>
          <p:cNvPr id="15" name="Rectangle 14"/>
          <p:cNvSpPr/>
          <p:nvPr/>
        </p:nvSpPr>
        <p:spPr>
          <a:xfrm>
            <a:off x="8092440" y="1691640"/>
            <a:ext cx="3502152" cy="3383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pload_007F80.png"/>
          <p:cNvPicPr>
            <a:picLocks noChangeAspect="1"/>
          </p:cNvPicPr>
          <p:nvPr/>
        </p:nvPicPr>
        <p:blipFill>
          <a:blip r:embed="rId5"/>
          <a:stretch>
            <a:fillRect/>
          </a:stretch>
        </p:blipFill>
        <p:spPr>
          <a:xfrm>
            <a:off x="8339327" y="1938528"/>
            <a:ext cx="438912" cy="438912"/>
          </a:xfrm>
          <a:prstGeom prst="rect">
            <a:avLst/>
          </a:prstGeom>
        </p:spPr>
      </p:pic>
      <p:sp>
        <p:nvSpPr>
          <p:cNvPr id="17" name="body:③ 提出を知らせる"/>
          <p:cNvSpPr txBox="1"/>
          <p:nvPr/>
        </p:nvSpPr>
        <p:spPr>
          <a:xfrm>
            <a:off x="8339327" y="2633472"/>
            <a:ext cx="3008376"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③ 提出を知らせる</a:t>
            </a:r>
          </a:p>
        </p:txBody>
      </p:sp>
      <p:sp>
        <p:nvSpPr>
          <p:cNvPr id="18" name="body:大学のフォームへ、&#10;指定されたURLを&#10;送信する。"/>
          <p:cNvSpPr txBox="1"/>
          <p:nvPr/>
        </p:nvSpPr>
        <p:spPr>
          <a:xfrm>
            <a:off x="8339327" y="3312413"/>
            <a:ext cx="3008376"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大学のフォームへ、</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指定されたURLを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送信する。</a:t>
            </a:r>
          </a:p>
        </p:txBody>
      </p:sp>
      <p:sp>
        <p:nvSpPr>
          <p:cNvPr id="19" name="body:初回は保存先の登録。毎週は、その回の課題を保存した版の提出です。"/>
          <p:cNvSpPr txBox="1"/>
          <p:nvPr/>
        </p:nvSpPr>
        <p:spPr>
          <a:xfrm>
            <a:off x="758952" y="5084064"/>
            <a:ext cx="10607040" cy="43891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初回は保存先の登録。毎週は、その回の課題を保存した版の提出です。</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2" name="result:教員の教材と、自分の提出先を取り違えないように進め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教員の教材と、自分の提出先を取り違えないように進めます。</a:t>
            </a:r>
          </a:p>
        </p:txBody>
      </p:sp>
      <p:sp>
        <p:nvSpPr>
          <p:cNvPr id="23" name="tag:手順一覧へ">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5" name="footer:0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大学アカウントで授業ページ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大学アカウントで授業ページを開く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授業ページを開き、右上のアカウントを見る。"/>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授業ページを開き、右上のアカウントを見る。</a:t>
            </a:r>
          </a:p>
        </p:txBody>
      </p:sp>
      <p:sp>
        <p:nvSpPr>
          <p:cNvPr id="10" name="body:大学のメールアドレスでログインしているか確認します。"/>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大学のメールアドレスでログインしているか確認します。</a:t>
            </a:r>
          </a:p>
        </p:txBody>
      </p:sp>
      <p:sp>
        <p:nvSpPr>
          <p:cNvPr id="11" name="Oval 10"/>
          <p:cNvSpPr/>
          <p:nvPr/>
        </p:nvSpPr>
        <p:spPr>
          <a:xfrm>
            <a:off x="749808" y="295300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7586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私用アカウントなら、大学アカウントへ切り替える。"/>
          <p:cNvSpPr txBox="1"/>
          <p:nvPr/>
        </p:nvSpPr>
        <p:spPr>
          <a:xfrm>
            <a:off x="1325880" y="2943859"/>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私用アカウントなら、大学アカウントへ切り替える。</a:t>
            </a:r>
          </a:p>
        </p:txBody>
      </p:sp>
      <p:sp>
        <p:nvSpPr>
          <p:cNvPr id="14" name="body:私用Gmailのまま「アクセスをリクエスト」は送りません。"/>
          <p:cNvSpPr txBox="1"/>
          <p:nvPr/>
        </p:nvSpPr>
        <p:spPr>
          <a:xfrm>
            <a:off x="1325880" y="3467353"/>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私用Gmailのまま「アクセスをリクエスト」は送りません。</a:t>
            </a:r>
          </a:p>
        </p:txBody>
      </p:sp>
      <p:sp>
        <p:nvSpPr>
          <p:cNvPr id="15" name="Oval 14"/>
          <p:cNvSpPr/>
          <p:nvPr/>
        </p:nvSpPr>
        <p:spPr>
          <a:xfrm>
            <a:off x="749808" y="421436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23722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授業ページをもう一度開く。"/>
          <p:cNvSpPr txBox="1"/>
          <p:nvPr/>
        </p:nvSpPr>
        <p:spPr>
          <a:xfrm>
            <a:off x="1325880" y="4205223"/>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授業ページをもう一度開く。</a:t>
            </a:r>
          </a:p>
        </p:txBody>
      </p:sp>
      <p:sp>
        <p:nvSpPr>
          <p:cNvPr id="18" name="body:まだ開けなければ、表示されたエラーを教員に見せます。"/>
          <p:cNvSpPr txBox="1"/>
          <p:nvPr/>
        </p:nvSpPr>
        <p:spPr>
          <a:xfrm>
            <a:off x="1325880" y="4728717"/>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まだ開けなければ、表示されたエラーを教員に見せます。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大学アカウントで授業ページとフォームを開けたら、GitHubへ進み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大学アカウントで授業ページとフォームを開けたら、GitHubへ進みます。</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0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GitHubは、大学Googleとは別に確認しま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GitHubは、大学Googleとは別に確認します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5367528" cy="3493008"/>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4"/>
          <a:stretch>
            <a:fillRect/>
          </a:stretch>
        </p:blipFill>
        <p:spPr>
          <a:xfrm>
            <a:off x="841248" y="1938528"/>
            <a:ext cx="438912" cy="438912"/>
          </a:xfrm>
          <a:prstGeom prst="rect">
            <a:avLst/>
          </a:prstGeom>
        </p:spPr>
      </p:pic>
      <p:sp>
        <p:nvSpPr>
          <p:cNvPr id="9" name="body:GitHubを初めて使う人"/>
          <p:cNvSpPr txBox="1"/>
          <p:nvPr/>
        </p:nvSpPr>
        <p:spPr>
          <a:xfrm>
            <a:off x="841248" y="2633472"/>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GitHubを初めて使う人</a:t>
            </a:r>
          </a:p>
        </p:txBody>
      </p:sp>
      <p:sp>
        <p:nvSpPr>
          <p:cNvPr id="10" name="body:次のページで登録します。&#10;大学メールを使い、&#10;確認メールを開きます。"/>
          <p:cNvSpPr txBox="1"/>
          <p:nvPr/>
        </p:nvSpPr>
        <p:spPr>
          <a:xfrm>
            <a:off x="841248" y="3312413"/>
            <a:ext cx="4873752"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次のページで登録します。</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大学メールを使い、</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確認メールを開きます。</a:t>
            </a:r>
          </a:p>
        </p:txBody>
      </p:sp>
      <p:sp>
        <p:nvSpPr>
          <p:cNvPr id="11" name="Rectangle 10"/>
          <p:cNvSpPr/>
          <p:nvPr/>
        </p:nvSpPr>
        <p:spPr>
          <a:xfrm>
            <a:off x="6217920" y="1691640"/>
            <a:ext cx="5367528" cy="3493008"/>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ircle-check_007F80.png"/>
          <p:cNvPicPr>
            <a:picLocks noChangeAspect="1"/>
          </p:cNvPicPr>
          <p:nvPr/>
        </p:nvPicPr>
        <p:blipFill>
          <a:blip r:embed="rId5"/>
          <a:stretch>
            <a:fillRect/>
          </a:stretch>
        </p:blipFill>
        <p:spPr>
          <a:xfrm>
            <a:off x="6464808" y="1938528"/>
            <a:ext cx="438912" cy="438912"/>
          </a:xfrm>
          <a:prstGeom prst="rect">
            <a:avLst/>
          </a:prstGeom>
        </p:spPr>
      </p:pic>
      <p:sp>
        <p:nvSpPr>
          <p:cNvPr id="13" name="body:すでにアカウントがある人"/>
          <p:cNvSpPr txBox="1"/>
          <p:nvPr/>
        </p:nvSpPr>
        <p:spPr>
          <a:xfrm>
            <a:off x="6464808" y="2633472"/>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すでにアカウントがある人</a:t>
            </a:r>
          </a:p>
        </p:txBody>
      </p:sp>
      <p:sp>
        <p:nvSpPr>
          <p:cNvPr id="14" name="body:今のアカウントを開き、&#10;大学メールの追加と確認を&#10;済ませます。"/>
          <p:cNvSpPr txBox="1"/>
          <p:nvPr/>
        </p:nvSpPr>
        <p:spPr>
          <a:xfrm>
            <a:off x="6464808" y="3312413"/>
            <a:ext cx="4873752"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今のアカウントを開き、</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大学メールの追加と確認を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済ませます。</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7" name="result:公開プロフィールに学籍番号や大学メールを書く必要はあり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公開プロフィールに学籍番号や大学メールを書く必要はありません。</a:t>
            </a:r>
          </a:p>
        </p:txBody>
      </p:sp>
      <p:sp>
        <p:nvSpPr>
          <p:cNvPr id="18"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19"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0" name="footer:0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初めて使う人は、GitHubに登録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初めて使う人は、GitHubに登録する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47872"/>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GitHub / Sign up"/>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GitHub / Sign up</a:t>
            </a:r>
          </a:p>
        </p:txBody>
      </p:sp>
      <p:sp>
        <p:nvSpPr>
          <p:cNvPr id="10" name="tag:Email"/>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Email</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自分の大学メール"/>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自分の大学メール</a:t>
            </a:r>
          </a:p>
        </p:txBody>
      </p:sp>
      <p:sp>
        <p:nvSpPr>
          <p:cNvPr id="13" name="tag:Username"/>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Username</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自分で決めた名前"/>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自分で決めた名前</a:t>
            </a:r>
          </a:p>
        </p:txBody>
      </p:sp>
      <p:sp>
        <p:nvSpPr>
          <p:cNvPr id="16" name="caption:操作する場所を示した模式図"/>
          <p:cNvSpPr txBox="1"/>
          <p:nvPr/>
        </p:nvSpPr>
        <p:spPr>
          <a:xfrm>
            <a:off x="731520" y="5303520"/>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登録リンクを開く。"/>
          <p:cNvSpPr txBox="1"/>
          <p:nvPr/>
        </p:nvSpPr>
        <p:spPr>
          <a:xfrm>
            <a:off x="7982712" y="1719072"/>
            <a:ext cx="3557015" cy="42951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u="sng">
                <a:solidFill>
                  <a:srgbClr val="007F83"/>
                </a:solidFill>
                <a:latin typeface="Meiryo"/>
                <a:ea typeface="Meiryo"/>
                <a:cs typeface="Meiryo"/>
                <a:hlinkClick r:id="rIdHandson19"/>
              </a:rPr>
              <a:t>GitHubの登録を開く。</a:t>
            </a:r>
          </a:p>
        </p:txBody>
      </p:sp>
      <p:sp>
        <p:nvSpPr>
          <p:cNvPr id="20" name="Oval 19"/>
          <p:cNvSpPr/>
          <p:nvPr/>
        </p:nvSpPr>
        <p:spPr>
          <a:xfrm>
            <a:off x="7406640" y="2432049"/>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45490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大学メールと&#10;usernameなどを入力&#10;する。"/>
          <p:cNvSpPr txBox="1"/>
          <p:nvPr/>
        </p:nvSpPr>
        <p:spPr>
          <a:xfrm>
            <a:off x="7982712" y="2422906"/>
            <a:ext cx="3557015" cy="117881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大学メール・username・</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パスワードを入力する。</a:t>
            </a:r>
          </a:p>
        </p:txBody>
      </p:sp>
      <p:sp>
        <p:nvSpPr>
          <p:cNvPr id="23" name="Oval 22"/>
          <p:cNvSpPr/>
          <p:nvPr/>
        </p:nvSpPr>
        <p:spPr>
          <a:xfrm>
            <a:off x="7406640" y="38851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080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届いた確認メールを開&#10;き、登録を完了する。"/>
          <p:cNvSpPr txBox="1"/>
          <p:nvPr/>
        </p:nvSpPr>
        <p:spPr>
          <a:xfrm>
            <a:off x="7982712" y="387604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画面の案内で確認し、</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大学メールの確認も</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完了する。</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登録できたら、次のページでメールの公開設定も確かめ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登録済みの人は作り直さず、Sign inで今のアカウントを使います。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31" name="footer:0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大学メールと、メールの公開設定を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大学メールと、メールの公開設定を確かめる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右上のプロフィールから Settings を開く。"/>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右上のプロフィールから Settings を開く。</a:t>
            </a:r>
          </a:p>
        </p:txBody>
      </p:sp>
      <p:sp>
        <p:nvSpPr>
          <p:cNvPr id="10" name="body:ここでは、アカウント全体の設定を開きます。"/>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ここでは、アカウント全体の設定を開きます。</a:t>
            </a:r>
          </a:p>
        </p:txBody>
      </p:sp>
      <p:sp>
        <p:nvSpPr>
          <p:cNvPr id="11" name="Oval 10"/>
          <p:cNvSpPr/>
          <p:nvPr/>
        </p:nvSpPr>
        <p:spPr>
          <a:xfrm>
            <a:off x="749808" y="291642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39287"/>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Emails で大学メールを追加し、確認する。"/>
          <p:cNvSpPr txBox="1"/>
          <p:nvPr/>
        </p:nvSpPr>
        <p:spPr>
          <a:xfrm>
            <a:off x="1325880" y="2907283"/>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u="sng">
                <a:solidFill>
                  <a:srgbClr val="007F83"/>
                </a:solidFill>
                <a:latin typeface="Meiryo"/>
                <a:ea typeface="Meiryo"/>
                <a:cs typeface="Meiryo"/>
                <a:hlinkClick r:id="rIdHandson13"/>
              </a:rPr>
              <a:t>Emails で大学メールを追加し、確認する。</a:t>
            </a:r>
          </a:p>
        </p:txBody>
      </p:sp>
      <p:sp>
        <p:nvSpPr>
          <p:cNvPr id="14" name="body:追加済みの人は、メールの確認が済んでいるか見ます。"/>
          <p:cNvSpPr txBox="1"/>
          <p:nvPr/>
        </p:nvSpPr>
        <p:spPr>
          <a:xfrm>
            <a:off x="1325880" y="3430777"/>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Add email addressに大学メールを入力 → Add → 届いたメールで確認。</a:t>
            </a:r>
          </a:p>
        </p:txBody>
      </p:sp>
      <p:sp>
        <p:nvSpPr>
          <p:cNvPr id="15" name="Oval 14"/>
          <p:cNvSpPr/>
          <p:nvPr/>
        </p:nvSpPr>
        <p:spPr>
          <a:xfrm>
            <a:off x="749808" y="41412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64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Keep my email addresses private を確認す"/>
          <p:cNvSpPr txBox="1"/>
          <p:nvPr/>
        </p:nvSpPr>
        <p:spPr>
          <a:xfrm>
            <a:off x="1325880" y="4132071"/>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Keep my email addresses private を確認する。</a:t>
            </a:r>
          </a:p>
        </p:txBody>
      </p:sp>
      <p:sp>
        <p:nvSpPr>
          <p:cNvPr id="18" name="body:メールアドレスを公開しない設定にします。"/>
          <p:cNvSpPr txBox="1"/>
          <p:nvPr/>
        </p:nvSpPr>
        <p:spPr>
          <a:xfrm>
            <a:off x="1325880" y="465556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チェックを入れます。大学メールがVerified（確認済み）かも見ます。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普段使うメールを大学メールへ変更する必要はあり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普段使うメールを大学メールへ変更する必要はありません。</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0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1 / 5　アカウン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1 / 5　アカウント</a:t>
            </a:r>
          </a:p>
        </p:txBody>
      </p:sp>
      <p:sp>
        <p:nvSpPr>
          <p:cNvPr id="4" name="title:自分のusernameを控え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自分のusernameを控える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Your profile"/>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Your profile</a:t>
            </a:r>
          </a:p>
        </p:txBody>
      </p:sp>
      <p:sp>
        <p:nvSpPr>
          <p:cNvPr id="10" name="tag:プロフィールのURL"/>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プロフィールのURL</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github.com/example-student"/>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github.com/example-student</a:t>
            </a:r>
          </a:p>
        </p:txBody>
      </p:sp>
      <p:sp>
        <p:nvSpPr>
          <p:cNvPr id="13" name="tag:登録フォームに書く名前"/>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登録フォームに書く名前</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example-student"/>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example-student</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右上からYour profile&#10;を開く。"/>
          <p:cNvSpPr txBox="1"/>
          <p:nvPr/>
        </p:nvSpPr>
        <p:spPr>
          <a:xfrm>
            <a:off x="7982712" y="1719072"/>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右上からYour profile</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を開く。</a:t>
            </a:r>
          </a:p>
        </p:txBody>
      </p:sp>
      <p:sp>
        <p:nvSpPr>
          <p:cNvPr id="20" name="Oval 19"/>
          <p:cNvSpPr/>
          <p:nvPr/>
        </p:nvSpPr>
        <p:spPr>
          <a:xfrm>
            <a:off x="7406640" y="280670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82955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URLの末尾が&#10;usernameです。"/>
          <p:cNvSpPr txBox="1"/>
          <p:nvPr/>
        </p:nvSpPr>
        <p:spPr>
          <a:xfrm>
            <a:off x="7982712" y="279755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URLの末尾が</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usernameです。</a:t>
            </a:r>
          </a:p>
        </p:txBody>
      </p:sp>
      <p:sp>
        <p:nvSpPr>
          <p:cNvPr id="23" name="Oval 22"/>
          <p:cNvSpPr/>
          <p:nvPr/>
        </p:nvSpPr>
        <p:spPr>
          <a:xfrm>
            <a:off x="7406640" y="38851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080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自分のusernameを控&#10;える。初回登録で使い&#10;ます。"/>
          <p:cNvSpPr txBox="1"/>
          <p:nvPr/>
        </p:nvSpPr>
        <p:spPr>
          <a:xfrm>
            <a:off x="7982712" y="3876040"/>
            <a:ext cx="3557015" cy="11788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自分のusernameを控</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える。初回登録で使い</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ます。</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表示名やメールアドレスではなく、URLの最後の名前を使い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表示名やメールアドレスではなく、URLの最後の名前を使います。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31" name="footer:0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09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授業ページから「学生用ひな形」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授業ページから「学生用ひな形」を開く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教員の学生用ひな形の画面例。ログイン後に自分用へコピーします。"/>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教員の学生用ひな形の画面例。ログイン後に自分用へコピーします。</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13_s07_img2.png"/>
          <p:cNvPicPr>
            <a:picLocks noChangeAspect="1"/>
          </p:cNvPicPr>
          <p:nvPr/>
        </p:nvPicPr>
        <p:blipFill>
          <a:blip r:embed="rId4"/>
          <a:stretch>
            <a:fillRect/>
          </a:stretch>
        </p:blipFill>
        <p:spPr>
          <a:xfrm>
            <a:off x="1272114" y="1947672"/>
            <a:ext cx="9644723" cy="2798064"/>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学生用ひな形を開く。"/>
          <p:cNvSpPr txBox="1"/>
          <p:nvPr/>
        </p:nvSpPr>
        <p:spPr>
          <a:xfrm>
            <a:off x="130759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u="sng">
                <a:solidFill>
                  <a:srgbClr val="007F83"/>
                </a:solidFill>
                <a:latin typeface="Meiryo"/>
                <a:ea typeface="Meiryo"/>
                <a:cs typeface="Meiryo"/>
                <a:hlinkClick r:id="rIdHandson12"/>
              </a:rPr>
              <a:t>学生用ひな形を開く（クリック）。</a:t>
            </a:r>
          </a:p>
        </p:txBody>
      </p:sp>
      <p:sp>
        <p:nvSpPr>
          <p:cNvPr id="13" name="Oval 12"/>
          <p:cNvSpPr/>
          <p:nvPr/>
        </p:nvSpPr>
        <p:spPr>
          <a:xfrm>
            <a:off x="638251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638251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setupなどのフォルダを見る。"/>
          <p:cNvSpPr txBox="1"/>
          <p:nvPr/>
        </p:nvSpPr>
        <p:spPr>
          <a:xfrm>
            <a:off x="6931152" y="5038344"/>
            <a:ext cx="4709160" cy="457200"/>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setupなどのフォルダを見る。</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このひな形を直接編集せず、次の手順で自分用の保存先を作り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このひな形を直接編集せず、次の手順で自分用の保存先を作ります。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1" name="footer:1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Use this template から自分用にコピー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Use this template から自分用にコピーする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ouse-pointer-2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13_s08_img2.png"/>
          <p:cNvPicPr>
            <a:picLocks noChangeAspect="1"/>
          </p:cNvPicPr>
          <p:nvPr/>
        </p:nvPicPr>
        <p:blipFill>
          <a:blip r:embed="rId4"/>
          <a:stretch>
            <a:fillRect/>
          </a:stretch>
        </p:blipFill>
        <p:spPr>
          <a:xfrm>
            <a:off x="731520" y="2077151"/>
            <a:ext cx="6291072" cy="2657977"/>
          </a:xfrm>
          <a:prstGeom prst="rect">
            <a:avLst/>
          </a:prstGeom>
        </p:spPr>
      </p:pic>
      <p:sp>
        <p:nvSpPr>
          <p:cNvPr id="9" name="caption:GitHub公式文書の画面例。"/>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Use this template を&#10;押す。"/>
          <p:cNvSpPr txBox="1"/>
          <p:nvPr/>
        </p:nvSpPr>
        <p:spPr>
          <a:xfrm>
            <a:off x="7982712" y="1719072"/>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Use this template を</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押す。</a:t>
            </a:r>
          </a:p>
        </p:txBody>
      </p:sp>
      <p:sp>
        <p:nvSpPr>
          <p:cNvPr id="13" name="body:GitHubへログインした状&#10;態で操作します。"/>
          <p:cNvSpPr txBox="1"/>
          <p:nvPr/>
        </p:nvSpPr>
        <p:spPr>
          <a:xfrm>
            <a:off x="7982712" y="2587243"/>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GitHubへログインした状</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態で操作します。</a:t>
            </a:r>
          </a:p>
        </p:txBody>
      </p:sp>
      <p:sp>
        <p:nvSpPr>
          <p:cNvPr id="14" name="Oval 13"/>
          <p:cNvSpPr/>
          <p:nvPr/>
        </p:nvSpPr>
        <p:spPr>
          <a:xfrm>
            <a:off x="7406640" y="3688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71094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Create a new&#10;repository を選ぶ。"/>
          <p:cNvSpPr txBox="1"/>
          <p:nvPr/>
        </p:nvSpPr>
        <p:spPr>
          <a:xfrm>
            <a:off x="7982712" y="367893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Create a new</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repository を選ぶ。</a:t>
            </a:r>
          </a:p>
        </p:txBody>
      </p:sp>
      <p:sp>
        <p:nvSpPr>
          <p:cNvPr id="17" name="body:自分の保存先を作る画面&#10;へ進みます。"/>
          <p:cNvSpPr txBox="1"/>
          <p:nvPr/>
        </p:nvSpPr>
        <p:spPr>
          <a:xfrm>
            <a:off x="7982712" y="4547108"/>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自分の保存先を作る画面</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へ進みます。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作成済みのai-learningがある人は、同じものを使い続け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ai-learningが作成済みなら、作り直さず14ページへ進みます。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3" name="footer:1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所有者とリポジトリ名を入力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所有者とリポジトリ名を入力する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09_55_70_510_235.png"/>
          <p:cNvPicPr>
            <a:picLocks noChangeAspect="1"/>
          </p:cNvPicPr>
          <p:nvPr/>
        </p:nvPicPr>
        <p:blipFill>
          <a:blip r:embed="rId4"/>
          <a:stretch>
            <a:fillRect/>
          </a:stretch>
        </p:blipFill>
        <p:spPr>
          <a:xfrm>
            <a:off x="1948087" y="1810512"/>
            <a:ext cx="3857936" cy="1399032"/>
          </a:xfrm>
          <a:prstGeom prst="rect">
            <a:avLst/>
          </a:prstGeom>
        </p:spPr>
      </p:pic>
      <p:pic>
        <p:nvPicPr>
          <p:cNvPr id="9" name="Picture 8" descr="crop_10_330_85_1425_245.png"/>
          <p:cNvPicPr>
            <a:picLocks noChangeAspect="1"/>
          </p:cNvPicPr>
          <p:nvPr/>
        </p:nvPicPr>
        <p:blipFill>
          <a:blip r:embed="rId5"/>
          <a:stretch>
            <a:fillRect/>
          </a:stretch>
        </p:blipFill>
        <p:spPr>
          <a:xfrm>
            <a:off x="758952" y="3741482"/>
            <a:ext cx="6236208" cy="911226"/>
          </a:xfrm>
          <a:prstGeom prst="rect">
            <a:avLst/>
          </a:prstGeom>
        </p:spPr>
      </p:pic>
      <p:sp>
        <p:nvSpPr>
          <p:cNvPr id="10" name="caption:公式画面例。入力する値は右側へ。"/>
          <p:cNvSpPr txBox="1"/>
          <p:nvPr/>
        </p:nvSpPr>
        <p:spPr>
          <a:xfrm>
            <a:off x="749808" y="5230368"/>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公式画面例。入力する値は右側へ。</a:t>
            </a:r>
          </a:p>
        </p:txBody>
      </p:sp>
      <p:sp>
        <p:nvSpPr>
          <p:cNvPr id="11" name="Oval 10"/>
          <p:cNvSpPr/>
          <p:nvPr/>
        </p:nvSpPr>
        <p:spPr>
          <a:xfrm>
            <a:off x="7406640" y="174650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1"/>
          <p:cNvSpPr txBox="1"/>
          <p:nvPr/>
        </p:nvSpPr>
        <p:spPr>
          <a:xfrm>
            <a:off x="7406640" y="176936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3" name="body:Ownerは自分のアカウ&#10;ントを選ぶ。"/>
          <p:cNvSpPr txBox="1"/>
          <p:nvPr/>
        </p:nvSpPr>
        <p:spPr>
          <a:xfrm>
            <a:off x="7982712" y="173736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Ownerは自分のアカウ</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ントを選ぶ。</a:t>
            </a:r>
          </a:p>
        </p:txBody>
      </p:sp>
      <p:sp>
        <p:nvSpPr>
          <p:cNvPr id="14" name="Oval 13"/>
          <p:cNvSpPr/>
          <p:nvPr/>
        </p:nvSpPr>
        <p:spPr>
          <a:xfrm>
            <a:off x="7406640" y="283413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285699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名前はai-learning。&#10;Repository nameへ&#10;入力し"/>
          <p:cNvSpPr txBox="1"/>
          <p:nvPr/>
        </p:nvSpPr>
        <p:spPr>
          <a:xfrm>
            <a:off x="7982712" y="2824988"/>
            <a:ext cx="3557015" cy="11788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名前はai-learning。</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Repository nameへ</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入力します。</a:t>
            </a:r>
          </a:p>
        </p:txBody>
      </p:sp>
      <p:sp>
        <p:nvSpPr>
          <p:cNvPr id="17" name="Oval 16"/>
          <p:cNvSpPr/>
          <p:nvPr/>
        </p:nvSpPr>
        <p:spPr>
          <a:xfrm>
            <a:off x="7406640" y="429641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3"/>
          <p:cNvSpPr txBox="1"/>
          <p:nvPr/>
        </p:nvSpPr>
        <p:spPr>
          <a:xfrm>
            <a:off x="7406640" y="431927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9" name="body:例のhelloや、学籍番号&#10;は使いません。"/>
          <p:cNvSpPr txBox="1"/>
          <p:nvPr/>
        </p:nvSpPr>
        <p:spPr>
          <a:xfrm>
            <a:off x="7982712" y="428726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例のhelloや、学籍番号</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は使いません。</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6"/>
          <a:stretch>
            <a:fillRect/>
          </a:stretch>
        </p:blipFill>
        <p:spPr>
          <a:xfrm>
            <a:off x="749808" y="5751576"/>
            <a:ext cx="283464" cy="283464"/>
          </a:xfrm>
          <a:prstGeom prst="rect">
            <a:avLst/>
          </a:prstGeom>
        </p:spPr>
      </p:pic>
      <p:sp>
        <p:nvSpPr>
          <p:cNvPr id="22" name="result:リポジトリは、ファイルと変更履歴をまとめて保存する場所で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リポジトリは、ファイルと変更履歴をまとめて保存する場所です。</a:t>
            </a:r>
          </a:p>
        </p:txBody>
      </p:sp>
      <p:sp>
        <p:nvSpPr>
          <p:cNvPr id="23" name="tag:手順一覧へ">
            <a:hlinkClick action="ppaction://hlinksldjump" r:id="rId7"/>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5" name="footer:1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Privateを選んで、保存先を作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Privateを選んで、保存先を作る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Create a new repository"/>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Create a new repository</a:t>
            </a:r>
          </a:p>
        </p:txBody>
      </p:sp>
      <p:sp>
        <p:nvSpPr>
          <p:cNvPr id="10" name="tag:Repository name"/>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Repository name</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ai-learning"/>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ai-learning</a:t>
            </a:r>
          </a:p>
        </p:txBody>
      </p:sp>
      <p:sp>
        <p:nvSpPr>
          <p:cNvPr id="13" name="tag:Visibility"/>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Visibility</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Private"/>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Private</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Privateを選ぶ。"/>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Privateを選ぶ。</a:t>
            </a:r>
          </a:p>
        </p:txBody>
      </p:sp>
      <p:sp>
        <p:nvSpPr>
          <p:cNvPr id="20" name="Oval 19"/>
          <p:cNvSpPr/>
          <p:nvPr/>
        </p:nvSpPr>
        <p:spPr>
          <a:xfrm>
            <a:off x="7406640" y="2432049"/>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45490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Ownerと名前を&#10;確認する。"/>
          <p:cNvSpPr txBox="1"/>
          <p:nvPr/>
        </p:nvSpPr>
        <p:spPr>
          <a:xfrm>
            <a:off x="7982712" y="242290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Ownerと名前を</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確認する。</a:t>
            </a:r>
          </a:p>
        </p:txBody>
      </p:sp>
      <p:sp>
        <p:nvSpPr>
          <p:cNvPr id="23" name="Oval 22"/>
          <p:cNvSpPr/>
          <p:nvPr/>
        </p:nvSpPr>
        <p:spPr>
          <a:xfrm>
            <a:off x="7406640" y="351053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53339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Create repositoryを押&#10;して作成する。"/>
          <p:cNvSpPr txBox="1"/>
          <p:nvPr/>
        </p:nvSpPr>
        <p:spPr>
          <a:xfrm>
            <a:off x="7982712" y="350139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Create repositoryを押</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して作成する。</a:t>
            </a:r>
          </a:p>
        </p:txBody>
      </p:sp>
      <p:sp>
        <p:nvSpPr>
          <p:cNvPr id="26" name="Rectangle 25"/>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riangle-alert_9A6113.png"/>
          <p:cNvPicPr>
            <a:picLocks noChangeAspect="1"/>
          </p:cNvPicPr>
          <p:nvPr/>
        </p:nvPicPr>
        <p:blipFill>
          <a:blip r:embed="rId4"/>
          <a:stretch>
            <a:fillRect/>
          </a:stretch>
        </p:blipFill>
        <p:spPr>
          <a:xfrm>
            <a:off x="749808" y="5751576"/>
            <a:ext cx="283464" cy="283464"/>
          </a:xfrm>
          <a:prstGeom prst="rect">
            <a:avLst/>
          </a:prstGeom>
        </p:spPr>
      </p:pic>
      <p:sp>
        <p:nvSpPr>
          <p:cNvPr id="28" name="result:Publicではなく、Privateになっていることを確かめてください。"/>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9A6113"/>
                </a:solidFill>
                <a:latin typeface="Meiryo"/>
              </a:defRPr>
            </a:pPr>
            <a:r>
              <a:rPr sz="2200" b="0">
                <a:solidFill>
                  <a:srgbClr val="9A6113"/>
                </a:solidFill>
                <a:latin typeface="Meiryo"/>
                <a:ea typeface="Meiryo"/>
                <a:cs typeface="Meiryo"/>
              </a:rPr>
              <a:t>Publicではなく、Privateになっていることを確かめてください。</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31" name="footer:1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2 / 5　保存先"/>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2 / 5　保存先</a:t>
            </a:r>
          </a:p>
        </p:txBody>
      </p:sp>
      <p:sp>
        <p:nvSpPr>
          <p:cNvPr id="4" name="title:自分の保存先ができたか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自分の保存先ができたか確かめる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603504" y="1728216"/>
            <a:ext cx="10981944" cy="100584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自分のusername / ai-learning"/>
          <p:cNvSpPr txBox="1"/>
          <p:nvPr/>
        </p:nvSpPr>
        <p:spPr>
          <a:xfrm>
            <a:off x="859536" y="1956816"/>
            <a:ext cx="8778240" cy="548640"/>
          </a:xfrm>
          <a:prstGeom prst="rect">
            <a:avLst/>
          </a:prstGeom>
          <a:noFill/>
        </p:spPr>
        <p:txBody>
          <a:bodyPr wrap="none" lIns="0" rIns="0" tIns="0" bIns="0" anchor="t">
            <a:spAutoFit/>
          </a:bodyPr>
          <a:lstStyle/>
          <a:p>
            <a:pPr>
              <a:lnSpc>
                <a:spcPct val="114000"/>
              </a:lnSpc>
              <a:spcBef>
                <a:spcPts val="0"/>
              </a:spcBef>
              <a:spcAft>
                <a:spcPts val="0"/>
              </a:spcAft>
              <a:defRPr sz="3200" b="1">
                <a:solidFill>
                  <a:srgbClr val="1D343E"/>
                </a:solidFill>
                <a:latin typeface="Meiryo"/>
              </a:defRPr>
            </a:pPr>
            <a:r>
              <a:rPr sz="3200" b="1">
                <a:solidFill>
                  <a:srgbClr val="1D343E"/>
                </a:solidFill>
                <a:latin typeface="Meiryo"/>
                <a:ea typeface="Meiryo"/>
                <a:cs typeface="Meiryo"/>
              </a:rPr>
              <a:t>自分のusername / ai-learning</a:t>
            </a:r>
          </a:p>
        </p:txBody>
      </p:sp>
      <p:sp>
        <p:nvSpPr>
          <p:cNvPr id="9" name="Rectangle 8"/>
          <p:cNvSpPr/>
          <p:nvPr/>
        </p:nvSpPr>
        <p:spPr>
          <a:xfrm>
            <a:off x="9564624" y="1911095"/>
            <a:ext cx="1719072" cy="612648"/>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dy:Private"/>
          <p:cNvSpPr txBox="1"/>
          <p:nvPr/>
        </p:nvSpPr>
        <p:spPr>
          <a:xfrm>
            <a:off x="9692640" y="2011680"/>
            <a:ext cx="1463040" cy="420624"/>
          </a:xfrm>
          <a:prstGeom prst="rect">
            <a:avLst/>
          </a:prstGeom>
          <a:noFill/>
        </p:spPr>
        <p:txBody>
          <a:bodyPr wrap="none" lIns="0" rIns="0" tIns="0" bIns="0" anchor="t">
            <a:spAutoFit/>
          </a:bodyPr>
          <a:lstStyle/>
          <a:p>
            <a:pPr algn="ct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Private</a:t>
            </a:r>
          </a:p>
        </p:txBody>
      </p:sp>
      <p:sp>
        <p:nvSpPr>
          <p:cNvPr id="11" name="caption:画面上部の模式図。usernameは自分のものを確かめます。"/>
          <p:cNvSpPr txBox="1"/>
          <p:nvPr/>
        </p:nvSpPr>
        <p:spPr>
          <a:xfrm>
            <a:off x="758952" y="2898648"/>
            <a:ext cx="10698480" cy="374904"/>
          </a:xfrm>
          <a:prstGeom prst="rect">
            <a:avLst/>
          </a:prstGeom>
          <a:noFill/>
        </p:spPr>
        <p:txBody>
          <a:bodyPr wrap="none" lIns="0" rIns="0" tIns="0" bIns="0" anchor="t">
            <a:spAutoFit/>
          </a:bodyPr>
          <a:lstStyle/>
          <a:p>
            <a:pPr>
              <a:lnSpc>
                <a:spcPct val="114000"/>
              </a:lnSpc>
              <a:spcBef>
                <a:spcPts val="0"/>
              </a:spcBef>
              <a:spcAft>
                <a:spcPts val="0"/>
              </a:spcAft>
              <a:defRPr sz="2000" b="0">
                <a:solidFill>
                  <a:srgbClr val="53656D"/>
                </a:solidFill>
                <a:latin typeface="Meiryo"/>
              </a:defRPr>
            </a:pPr>
            <a:r>
              <a:rPr sz="2000" b="0">
                <a:solidFill>
                  <a:srgbClr val="53656D"/>
                </a:solidFill>
                <a:latin typeface="Meiryo"/>
                <a:ea typeface="Meiryo"/>
                <a:cs typeface="Meiryo"/>
              </a:rPr>
              <a:t>画面上部の模式図。usernameは自分のものを確かめます。</a:t>
            </a:r>
          </a:p>
        </p:txBody>
      </p:sp>
      <p:sp>
        <p:nvSpPr>
          <p:cNvPr id="12" name="Oval 11"/>
          <p:cNvSpPr/>
          <p:nvPr/>
        </p:nvSpPr>
        <p:spPr>
          <a:xfrm>
            <a:off x="749808" y="342900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umber:1"/>
          <p:cNvSpPr txBox="1"/>
          <p:nvPr/>
        </p:nvSpPr>
        <p:spPr>
          <a:xfrm>
            <a:off x="749808" y="345186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4" name="body:setup フォルダを探す。"/>
          <p:cNvSpPr txBox="1"/>
          <p:nvPr/>
        </p:nvSpPr>
        <p:spPr>
          <a:xfrm>
            <a:off x="1325880" y="341985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setup フォルダを探す。</a:t>
            </a:r>
          </a:p>
        </p:txBody>
      </p:sp>
      <p:sp>
        <p:nvSpPr>
          <p:cNvPr id="15" name="body:この後、練習画像と短い記録をここへ保存します。"/>
          <p:cNvSpPr txBox="1"/>
          <p:nvPr/>
        </p:nvSpPr>
        <p:spPr>
          <a:xfrm>
            <a:off x="1325880" y="394335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この後、練習画像と短い記録をここへ保存します。</a:t>
            </a:r>
          </a:p>
        </p:txBody>
      </p:sp>
      <p:sp>
        <p:nvSpPr>
          <p:cNvPr id="16" name="Oval 15"/>
          <p:cNvSpPr/>
          <p:nvPr/>
        </p:nvSpPr>
        <p:spPr>
          <a:xfrm>
            <a:off x="749808" y="4562348"/>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umber:2"/>
          <p:cNvSpPr txBox="1"/>
          <p:nvPr/>
        </p:nvSpPr>
        <p:spPr>
          <a:xfrm>
            <a:off x="749808" y="458520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8" name="body:week01 以降のフォルダも見る。"/>
          <p:cNvSpPr txBox="1"/>
          <p:nvPr/>
        </p:nvSpPr>
        <p:spPr>
          <a:xfrm>
            <a:off x="1325880" y="4553204"/>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week01 以降のフォルダも見る。</a:t>
            </a:r>
          </a:p>
        </p:txBody>
      </p:sp>
      <p:sp>
        <p:nvSpPr>
          <p:cNvPr id="19" name="body:毎週の課題には、その週のフォルダを使います。"/>
          <p:cNvSpPr txBox="1"/>
          <p:nvPr/>
        </p:nvSpPr>
        <p:spPr>
          <a:xfrm>
            <a:off x="1325880" y="5076698"/>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毎週の課題には、その週のフォルダを使います。</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22" name="result:自分のusername・ai-learning・Privateの3つを確"/>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自分のusername・ai-learning・Privateの3つを確認できたら次へ。</a:t>
            </a:r>
          </a:p>
        </p:txBody>
      </p:sp>
      <p:sp>
        <p:nvSpPr>
          <p:cNvPr id="23" name="tag:手順一覧へ">
            <a:hlinkClick action="ppaction://hlinksldjump" r:id="rId4"/>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5" name="footer:1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練習用の画像を1枚用意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練習用の画像を1枚用意する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4709160" cy="160020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画像生成を使う人"/>
          <p:cNvSpPr txBox="1"/>
          <p:nvPr/>
        </p:nvSpPr>
        <p:spPr>
          <a:xfrm>
            <a:off x="841248" y="1938528"/>
            <a:ext cx="4215384"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画像生成を使う人</a:t>
            </a:r>
          </a:p>
        </p:txBody>
      </p:sp>
      <p:sp>
        <p:nvSpPr>
          <p:cNvPr id="9" name="body:使えるAIで作り、画像を保存します。"/>
          <p:cNvSpPr txBox="1"/>
          <p:nvPr/>
        </p:nvSpPr>
        <p:spPr>
          <a:xfrm>
            <a:off x="841248" y="2617470"/>
            <a:ext cx="4215384" cy="762507"/>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AIで作り、画像を保存。</a:t>
            </a:r>
          </a:p>
        </p:txBody>
      </p:sp>
      <p:sp>
        <p:nvSpPr>
          <p:cNvPr id="10" name="Rectangle 9"/>
          <p:cNvSpPr/>
          <p:nvPr/>
        </p:nvSpPr>
        <p:spPr>
          <a:xfrm>
            <a:off x="594360" y="3483864"/>
            <a:ext cx="4709160" cy="1609344"/>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配布画像を使う人"/>
          <p:cNvSpPr txBox="1"/>
          <p:nvPr/>
        </p:nvSpPr>
        <p:spPr>
          <a:xfrm>
            <a:off x="841248" y="3730752"/>
            <a:ext cx="4215384"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配布画像を使う人</a:t>
            </a:r>
          </a:p>
        </p:txBody>
      </p:sp>
      <p:sp>
        <p:nvSpPr>
          <p:cNvPr id="12" name="body:授業で配られた画像を保存します。"/>
          <p:cNvSpPr txBox="1"/>
          <p:nvPr/>
        </p:nvSpPr>
        <p:spPr>
          <a:xfrm>
            <a:off x="841248" y="4409694"/>
            <a:ext cx="4215384" cy="762507"/>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配布画像を保存する。</a:t>
            </a:r>
          </a:p>
        </p:txBody>
      </p:sp>
      <p:sp>
        <p:nvSpPr>
          <p:cNvPr id="13" name="Rectangle 12"/>
          <p:cNvSpPr/>
          <p:nvPr/>
        </p:nvSpPr>
        <p:spPr>
          <a:xfrm>
            <a:off x="5623560" y="1691640"/>
            <a:ext cx="5961888" cy="340156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v13_s12_img2.png"/>
          <p:cNvPicPr>
            <a:picLocks noChangeAspect="1"/>
          </p:cNvPicPr>
          <p:nvPr/>
        </p:nvPicPr>
        <p:blipFill>
          <a:blip r:embed="rId4"/>
          <a:stretch>
            <a:fillRect/>
          </a:stretch>
        </p:blipFill>
        <p:spPr>
          <a:xfrm>
            <a:off x="6526530" y="1865376"/>
            <a:ext cx="4155948" cy="2770632"/>
          </a:xfrm>
          <a:prstGeom prst="rect">
            <a:avLst/>
          </a:prstGeom>
        </p:spPr>
      </p:pic>
      <p:sp>
        <p:nvSpPr>
          <p:cNvPr id="15" name="caption:授業の配布画像の例"/>
          <p:cNvSpPr txBox="1"/>
          <p:nvPr/>
        </p:nvSpPr>
        <p:spPr>
          <a:xfrm>
            <a:off x="5916168" y="4782312"/>
            <a:ext cx="53035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授業の配布画像の例</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画像生成が使えなくても大丈夫です。どちらも同じ手順で進め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画像生成が使えなくても大丈夫です。どちらも同じ手順で進めます。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1" name="footer:1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画像そのものをパソコンへ保存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画像そのものをパソコンへ保存する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配布画像なら、公開教材の画像ページを開く。"/>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u="sng">
                <a:solidFill>
                  <a:srgbClr val="007F83"/>
                </a:solidFill>
                <a:latin typeface="Meiryo"/>
                <a:ea typeface="Meiryo"/>
                <a:cs typeface="Meiryo"/>
                <a:hlinkClick r:id="rIdHandson9"/>
              </a:rPr>
              <a:t>配布画像のページを開く（クリック）。</a:t>
            </a:r>
          </a:p>
        </p:txBody>
      </p:sp>
      <p:sp>
        <p:nvSpPr>
          <p:cNvPr id="10" name="body:assets/setup/practice.png を開きます。"/>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assets/setup/practice.png を開きます。</a:t>
            </a:r>
          </a:p>
        </p:txBody>
      </p:sp>
      <p:sp>
        <p:nvSpPr>
          <p:cNvPr id="11" name="Oval 10"/>
          <p:cNvSpPr/>
          <p:nvPr/>
        </p:nvSpPr>
        <p:spPr>
          <a:xfrm>
            <a:off x="749808" y="287985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0271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Download raw file で画像を保存する。"/>
          <p:cNvSpPr txBox="1"/>
          <p:nvPr/>
        </p:nvSpPr>
        <p:spPr>
          <a:xfrm>
            <a:off x="1325880" y="2870707"/>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Download raw file で画像を保存する。</a:t>
            </a:r>
          </a:p>
        </p:txBody>
      </p:sp>
      <p:sp>
        <p:nvSpPr>
          <p:cNvPr id="14" name="body:AIで作った人は、そのAIの画像保存機能を使います。"/>
          <p:cNvSpPr txBox="1"/>
          <p:nvPr/>
        </p:nvSpPr>
        <p:spPr>
          <a:xfrm>
            <a:off x="1325880" y="3394201"/>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右上の下向き矢印を押します。AIで作った画像は、そのAIで保存します。</a:t>
            </a:r>
          </a:p>
        </p:txBody>
      </p:sp>
      <p:sp>
        <p:nvSpPr>
          <p:cNvPr id="15" name="Oval 14"/>
          <p:cNvSpPr/>
          <p:nvPr/>
        </p:nvSpPr>
        <p:spPr>
          <a:xfrm>
            <a:off x="749808" y="406806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09092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保存したファイルをパソコンで開く。"/>
          <p:cNvSpPr txBox="1"/>
          <p:nvPr/>
        </p:nvSpPr>
        <p:spPr>
          <a:xfrm>
            <a:off x="1325880" y="4058919"/>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保存したファイルをパソコンで開く。</a:t>
            </a:r>
          </a:p>
        </p:txBody>
      </p:sp>
      <p:sp>
        <p:nvSpPr>
          <p:cNvPr id="18" name="body:画像が表示されることと、ファイル名を確かめます。"/>
          <p:cNvSpPr txBox="1"/>
          <p:nvPr/>
        </p:nvSpPr>
        <p:spPr>
          <a:xfrm>
            <a:off x="1325880" y="4582413"/>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「ダウンロード」フォルダなどを開き、PNG／JPEGの画像を確認します。</a:t>
            </a:r>
          </a:p>
        </p:txBody>
      </p:sp>
      <p:sp>
        <p:nvSpPr>
          <p:cNvPr id="19" name="Rectangle 18"/>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iangle-alert_9A6113.png"/>
          <p:cNvPicPr>
            <a:picLocks noChangeAspect="1"/>
          </p:cNvPicPr>
          <p:nvPr/>
        </p:nvPicPr>
        <p:blipFill>
          <a:blip r:embed="rId4"/>
          <a:stretch>
            <a:fillRect/>
          </a:stretch>
        </p:blipFill>
        <p:spPr>
          <a:xfrm>
            <a:off x="749808" y="5751576"/>
            <a:ext cx="283464" cy="283464"/>
          </a:xfrm>
          <a:prstGeom prst="rect">
            <a:avLst/>
          </a:prstGeom>
        </p:spPr>
      </p:pic>
      <p:sp>
        <p:nvSpPr>
          <p:cNvPr id="21" name="result:ページのURLをコピーするだけでは、画像ファイルの保存にはなり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9A6113"/>
                </a:solidFill>
                <a:latin typeface="Meiryo"/>
              </a:defRPr>
            </a:pPr>
            <a:r>
              <a:rPr sz="2200" b="0">
                <a:solidFill>
                  <a:srgbClr val="9A6113"/>
                </a:solidFill>
                <a:latin typeface="Meiryo"/>
                <a:ea typeface="Meiryo"/>
                <a:cs typeface="Meiryo"/>
              </a:rPr>
              <a:t>ページのURLをコピーするだけでは、画像ファイルの保存にはなりません。</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1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自分のai-learningで、setup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自分のai-learningで、setupを開く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画面例は教員のひな形。作業するのは自分のPrivateです。"/>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画面例は教員のひな形。作業するのは自分のPrivateです。</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13_s14_img2.png"/>
          <p:cNvPicPr>
            <a:picLocks noChangeAspect="1"/>
          </p:cNvPicPr>
          <p:nvPr/>
        </p:nvPicPr>
        <p:blipFill>
          <a:blip r:embed="rId4"/>
          <a:stretch>
            <a:fillRect/>
          </a:stretch>
        </p:blipFill>
        <p:spPr>
          <a:xfrm>
            <a:off x="768096" y="2276248"/>
            <a:ext cx="10652760" cy="2140911"/>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ai-learningを開く。"/>
          <p:cNvSpPr txBox="1"/>
          <p:nvPr/>
        </p:nvSpPr>
        <p:spPr>
          <a:xfrm>
            <a:off x="130759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自分のai-learningを開く。</a:t>
            </a:r>
          </a:p>
        </p:txBody>
      </p:sp>
      <p:sp>
        <p:nvSpPr>
          <p:cNvPr id="13" name="Oval 12"/>
          <p:cNvSpPr/>
          <p:nvPr/>
        </p:nvSpPr>
        <p:spPr>
          <a:xfrm>
            <a:off x="638251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638251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setupでREADME.mdを見る。"/>
          <p:cNvSpPr txBox="1"/>
          <p:nvPr/>
        </p:nvSpPr>
        <p:spPr>
          <a:xfrm>
            <a:off x="6931152" y="5038344"/>
            <a:ext cx="4709160" cy="457200"/>
          </a:xfrm>
          <a:prstGeom prst="rect">
            <a:avLst/>
          </a:prstGeom>
          <a:noFill/>
        </p:spPr>
        <p:txBody>
          <a:bodyPr wrap="none" lIns="0" tIns="0" rIns="0" bIns="0" anchor="t">
            <a:noAutofit/>
          </a:bodyPr>
          <a:lstStyle/>
          <a:p>
            <a:pPr>
              <a:lnSpc>
                <a:spcPct val="114000"/>
              </a:lnSpc>
              <a:spcBef>
                <a:spcPts val="0"/>
              </a:spcBef>
              <a:spcAft>
                <a:spcPts val="0"/>
              </a:spcAft>
              <a:buNone/>
              <a:defRPr sz="2400" b="1">
                <a:solidFill>
                  <a:srgbClr val="1D343E"/>
                </a:solidFill>
                <a:latin typeface="Meiryo"/>
                <a:ea typeface="Meiryo"/>
                <a:cs typeface="Meiryo"/>
              </a:defRPr>
            </a:pPr>
            <a:r>
              <a:rPr sz="2400" b="1">
                <a:solidFill>
                  <a:srgbClr val="1D343E"/>
                </a:solidFill>
                <a:latin typeface="Meiryo"/>
                <a:ea typeface="Meiryo"/>
                <a:cs typeface="Meiryo"/>
              </a:rPr>
              <a:t>setupのREADME.mdを見る。</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ここからの画像追加と文章編集は、すべて自分の保存先で行い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右上 → Your repositories → ai-learningで、自分の保存先へ戻ります。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1" name="footer:1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Add fileから、画像をアップロード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Add fileから、画像をアップロードする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15_790_0_1440_252.png"/>
          <p:cNvPicPr>
            <a:picLocks noChangeAspect="1"/>
          </p:cNvPicPr>
          <p:nvPr/>
        </p:nvPicPr>
        <p:blipFill>
          <a:blip r:embed="rId4"/>
          <a:stretch>
            <a:fillRect/>
          </a:stretch>
        </p:blipFill>
        <p:spPr>
          <a:xfrm>
            <a:off x="731520" y="2186639"/>
            <a:ext cx="6291072" cy="2439000"/>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Add file を押す。"/>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Add file を押す。</a:t>
            </a:r>
          </a:p>
        </p:txBody>
      </p:sp>
      <p:sp>
        <p:nvSpPr>
          <p:cNvPr id="13" name="body:自分のsetupフォルダで&#10;操作します。"/>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自分のsetupフォルダで</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操作します。</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Upload files を選ぶ。"/>
          <p:cNvSpPr txBox="1"/>
          <p:nvPr/>
        </p:nvSpPr>
        <p:spPr>
          <a:xfrm>
            <a:off x="7982712" y="3304286"/>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Upload files を選ぶ。</a:t>
            </a:r>
          </a:p>
        </p:txBody>
      </p:sp>
      <p:sp>
        <p:nvSpPr>
          <p:cNvPr id="17" name="body:画像を選ぶ画面へ&#10;進みます。"/>
          <p:cNvSpPr txBox="1"/>
          <p:nvPr/>
        </p:nvSpPr>
        <p:spPr>
          <a:xfrm>
            <a:off x="7982712" y="3797808"/>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画像を選ぶ画面へ</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進みます。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Upload filesを選べたら、パソコンに保存した画像を選び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Upload filesを選べたら、パソコンに保存した画像を選びます。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3" name="footer:1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画像を選び、Commit changesで保存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画像を選び、Commit changesで保存する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ai-learning / setup / Upload file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ai-learning / setup / Upload files</a:t>
            </a:r>
          </a:p>
        </p:txBody>
      </p:sp>
      <p:sp>
        <p:nvSpPr>
          <p:cNvPr id="10" name="tag:選ぶファイル"/>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選ぶファイル</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保存した画像を1枚"/>
          <p:cNvSpPr txBox="1"/>
          <p:nvPr/>
        </p:nvSpPr>
        <p:spPr>
          <a:xfrm>
            <a:off x="978408" y="2852928"/>
            <a:ext cx="5797296" cy="438912"/>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PNG／JPEG画像を1枚</a:t>
            </a:r>
          </a:p>
        </p:txBody>
      </p:sp>
      <p:sp>
        <p:nvSpPr>
          <p:cNvPr id="13" name="tag:変更内容"/>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変更内容</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練習用の画像を追加"/>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練習用の画像を追加</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choose your filesを&#10;押し、画像を選ぶ。"/>
          <p:cNvSpPr txBox="1"/>
          <p:nvPr/>
        </p:nvSpPr>
        <p:spPr>
          <a:xfrm>
            <a:off x="7982712" y="1719072"/>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choose your filesで</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画像を1枚選ぶ。</a:t>
            </a:r>
          </a:p>
        </p:txBody>
      </p:sp>
      <p:sp>
        <p:nvSpPr>
          <p:cNvPr id="20" name="Oval 19"/>
          <p:cNvSpPr/>
          <p:nvPr/>
        </p:nvSpPr>
        <p:spPr>
          <a:xfrm>
            <a:off x="7406640" y="281584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83870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変更内容に「練習用の&#10;画像を追加」と書く。"/>
          <p:cNvSpPr txBox="1"/>
          <p:nvPr/>
        </p:nvSpPr>
        <p:spPr>
          <a:xfrm>
            <a:off x="7982712" y="280670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変更内容に「練習用の</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画像を追加」と書く。</a:t>
            </a:r>
          </a:p>
        </p:txBody>
      </p:sp>
      <p:sp>
        <p:nvSpPr>
          <p:cNvPr id="23" name="Oval 22"/>
          <p:cNvSpPr/>
          <p:nvPr/>
        </p:nvSpPr>
        <p:spPr>
          <a:xfrm>
            <a:off x="7406640" y="390347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92633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Commit changesで保&#10;存する。"/>
          <p:cNvSpPr txBox="1"/>
          <p:nvPr/>
        </p:nvSpPr>
        <p:spPr>
          <a:xfrm>
            <a:off x="7982712" y="389432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画面下のCommit</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changesを押して保存。</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setupのファイル一覧に、選んだ画像のファイル名が表示され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setupへ戻り、画像の名前が見えたら保存完了。次は画像を開きます。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31" name="footer:1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保存した画像を、GitHubで開いてみ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保存した画像を、GitHubで開いてみる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setup の画像ファイル名を押す。"/>
          <p:cNvSpPr txBox="1"/>
          <p:nvPr/>
        </p:nvSpPr>
        <p:spPr>
          <a:xfrm>
            <a:off x="1325880" y="1682496"/>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setup の画像ファイル名を押す。</a:t>
            </a:r>
          </a:p>
        </p:txBody>
      </p:sp>
      <p:sp>
        <p:nvSpPr>
          <p:cNvPr id="10" name="body:自分が追加した画像を開きます。"/>
          <p:cNvSpPr txBox="1"/>
          <p:nvPr/>
        </p:nvSpPr>
        <p:spPr>
          <a:xfrm>
            <a:off x="1325880" y="2205990"/>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自分が追加した画像を開きます。</a:t>
            </a:r>
          </a:p>
        </p:txBody>
      </p:sp>
      <p:sp>
        <p:nvSpPr>
          <p:cNvPr id="11" name="Oval 10"/>
          <p:cNvSpPr/>
          <p:nvPr/>
        </p:nvSpPr>
        <p:spPr>
          <a:xfrm>
            <a:off x="749808" y="292557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4843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パソコンに保存した画像と比べる。"/>
          <p:cNvSpPr txBox="1"/>
          <p:nvPr/>
        </p:nvSpPr>
        <p:spPr>
          <a:xfrm>
            <a:off x="1325880" y="2916428"/>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パソコンに保存した画像と比べる。</a:t>
            </a:r>
          </a:p>
        </p:txBody>
      </p:sp>
      <p:sp>
        <p:nvSpPr>
          <p:cNvPr id="14" name="body:同じ画像が表示されるか見ます。"/>
          <p:cNvSpPr txBox="1"/>
          <p:nvPr/>
        </p:nvSpPr>
        <p:spPr>
          <a:xfrm>
            <a:off x="1325880" y="3439921"/>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同じ画像が表示されるか見ます。</a:t>
            </a:r>
          </a:p>
        </p:txBody>
      </p:sp>
      <p:sp>
        <p:nvSpPr>
          <p:cNvPr id="15" name="Oval 14"/>
          <p:cNvSpPr/>
          <p:nvPr/>
        </p:nvSpPr>
        <p:spPr>
          <a:xfrm>
            <a:off x="749808" y="4159503"/>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8236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表示されなければ、元のファイルを見直す。"/>
          <p:cNvSpPr txBox="1"/>
          <p:nvPr/>
        </p:nvSpPr>
        <p:spPr>
          <a:xfrm>
            <a:off x="1325880" y="4150360"/>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表示されなければ、元のファイルを見直す。</a:t>
            </a:r>
          </a:p>
        </p:txBody>
      </p:sp>
      <p:sp>
        <p:nvSpPr>
          <p:cNvPr id="18" name="body:画像を開けるか確認してから、もう一度アップロードします。"/>
          <p:cNvSpPr txBox="1"/>
          <p:nvPr/>
        </p:nvSpPr>
        <p:spPr>
          <a:xfrm>
            <a:off x="1325880" y="4673854"/>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画像を開けるか確認してから、もう一度アップロードします。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21" name="result:画像が表示されたら、次は同じsetupフォルダに利用記録を残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画像が表示されたら、次は同じsetupフォルダに利用記録を残します。</a:t>
            </a:r>
          </a:p>
        </p:txBody>
      </p:sp>
      <p:sp>
        <p:nvSpPr>
          <p:cNvPr id="22" name="tag:手順一覧へ">
            <a:hlinkClick action="ppaction://hlinksldjump" r:id="rId4"/>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2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setupのREADME.md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setupのREADME.mdを開く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caption:READMEは、利用記録を書く文章ファイルです。画面例は教員のひな形です"/>
          <p:cNvSpPr txBox="1"/>
          <p:nvPr/>
        </p:nvSpPr>
        <p:spPr>
          <a:xfrm>
            <a:off x="758952" y="1481328"/>
            <a:ext cx="1078992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READMEは、利用記録を書く文章ファイルです。画面例は教員のひな形です。</a:t>
            </a:r>
          </a:p>
        </p:txBody>
      </p:sp>
      <p:sp>
        <p:nvSpPr>
          <p:cNvPr id="8" name="Rectangle 7"/>
          <p:cNvSpPr/>
          <p:nvPr/>
        </p:nvSpPr>
        <p:spPr>
          <a:xfrm>
            <a:off x="594360" y="1847088"/>
            <a:ext cx="11000232" cy="299008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rop_18_245_75_1055_395.png"/>
          <p:cNvPicPr>
            <a:picLocks noChangeAspect="1"/>
          </p:cNvPicPr>
          <p:nvPr/>
        </p:nvPicPr>
        <p:blipFill>
          <a:blip r:embed="rId4"/>
          <a:stretch>
            <a:fillRect/>
          </a:stretch>
        </p:blipFill>
        <p:spPr>
          <a:xfrm>
            <a:off x="2553176" y="1947672"/>
            <a:ext cx="7082599" cy="2798064"/>
          </a:xfrm>
          <a:prstGeom prst="rect">
            <a:avLst/>
          </a:prstGeom>
        </p:spPr>
      </p:pic>
      <p:sp>
        <p:nvSpPr>
          <p:cNvPr id="10" name="Oval 9"/>
          <p:cNvSpPr/>
          <p:nvPr/>
        </p:nvSpPr>
        <p:spPr>
          <a:xfrm>
            <a:off x="75895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5895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setupに戻る。"/>
          <p:cNvSpPr txBox="1"/>
          <p:nvPr/>
        </p:nvSpPr>
        <p:spPr>
          <a:xfrm>
            <a:off x="1307592" y="5038344"/>
            <a:ext cx="4709160" cy="457200"/>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自分のsetupに戻る。</a:t>
            </a:r>
          </a:p>
        </p:txBody>
      </p:sp>
      <p:sp>
        <p:nvSpPr>
          <p:cNvPr id="13" name="Oval 12"/>
          <p:cNvSpPr/>
          <p:nvPr/>
        </p:nvSpPr>
        <p:spPr>
          <a:xfrm>
            <a:off x="6382512" y="5047488"/>
            <a:ext cx="365760" cy="365760"/>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2"/>
          <p:cNvSpPr txBox="1"/>
          <p:nvPr/>
        </p:nvSpPr>
        <p:spPr>
          <a:xfrm>
            <a:off x="6382512" y="5070348"/>
            <a:ext cx="365760" cy="365760"/>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5" name="body:README.mdを開く。"/>
          <p:cNvSpPr txBox="1"/>
          <p:nvPr/>
        </p:nvSpPr>
        <p:spPr>
          <a:xfrm>
            <a:off x="6931152" y="5038344"/>
            <a:ext cx="4709160" cy="457200"/>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README.mdを開く。</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8" name="result:リポジトリの一番上ではなく、setupの中にあるREADME.mdを使い"/>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リポジトリの一番上ではなく、setupの中にあるREADME.mdを使います。</a:t>
            </a:r>
          </a:p>
        </p:txBody>
      </p:sp>
      <p:sp>
        <p:nvSpPr>
          <p:cNvPr id="19"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1" name="footer:2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鉛筆ボタンを押して、記録を編集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鉛筆ボタンを押して、記録を編集する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19_960_0_1406_180.png"/>
          <p:cNvPicPr>
            <a:picLocks noChangeAspect="1"/>
          </p:cNvPicPr>
          <p:nvPr/>
        </p:nvPicPr>
        <p:blipFill>
          <a:blip r:embed="rId4"/>
          <a:stretch>
            <a:fillRect/>
          </a:stretch>
        </p:blipFill>
        <p:spPr>
          <a:xfrm>
            <a:off x="731520" y="2136641"/>
            <a:ext cx="6291072" cy="2538997"/>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鉛筆のボタンを押す。"/>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鉛筆のボタンを押す。</a:t>
            </a:r>
          </a:p>
        </p:txBody>
      </p:sp>
      <p:sp>
        <p:nvSpPr>
          <p:cNvPr id="13" name="body:README.mdの編集画面&#10;を開きます。"/>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README.mdの編集画面</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を開きます。</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案内文を自分の記録に&#10;替える。"/>
          <p:cNvSpPr txBox="1"/>
          <p:nvPr/>
        </p:nvSpPr>
        <p:spPr>
          <a:xfrm>
            <a:off x="7982712" y="3304286"/>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案内文だけを</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自分の記録に替える。</a:t>
            </a:r>
          </a:p>
        </p:txBody>
      </p:sp>
      <p:sp>
        <p:nvSpPr>
          <p:cNvPr id="17" name="body:次のページの3つの欄に&#10;書きます。"/>
          <p:cNvSpPr txBox="1"/>
          <p:nvPr/>
        </p:nvSpPr>
        <p:spPr>
          <a:xfrm>
            <a:off x="7982712" y="4172458"/>
            <a:ext cx="3557015" cy="744220"/>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見出しは残します。</a:t>
            </a:r>
          </a:p>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次のページの3欄に記入。</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AIとの会話全文や、名前・学籍番号は、この記録に貼り付け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AIとの会話全文や、名前・学籍番号は、この記録に貼り付けません。</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3" name="footer:2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3つの見出しの下に、実際に行ったことを書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3つの見出しの下に、実際に行ったことを書く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73352"/>
            <a:ext cx="10991088" cy="1097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保存した画像の&#10;ファイル名"/>
          <p:cNvSpPr txBox="1"/>
          <p:nvPr/>
        </p:nvSpPr>
        <p:spPr>
          <a:xfrm>
            <a:off x="859536" y="1792224"/>
            <a:ext cx="3858768" cy="859536"/>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保存した画像の</a:t>
            </a:r>
          </a:p>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ファイル名</a:t>
            </a:r>
          </a:p>
        </p:txBody>
      </p:sp>
      <p:sp>
        <p:nvSpPr>
          <p:cNvPr id="9" name="body:practice.png"/>
          <p:cNvSpPr txBox="1"/>
          <p:nvPr/>
        </p:nvSpPr>
        <p:spPr>
          <a:xfrm>
            <a:off x="4983480" y="1828800"/>
            <a:ext cx="6254496" cy="813816"/>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practice.png</a:t>
            </a:r>
          </a:p>
        </p:txBody>
      </p:sp>
      <p:sp>
        <p:nvSpPr>
          <p:cNvPr id="10" name="Rectangle 9"/>
          <p:cNvSpPr/>
          <p:nvPr/>
        </p:nvSpPr>
        <p:spPr>
          <a:xfrm>
            <a:off x="594360" y="2944368"/>
            <a:ext cx="10991088" cy="10972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ody:使ったAIまたは配布画像"/>
          <p:cNvSpPr txBox="1"/>
          <p:nvPr/>
        </p:nvSpPr>
        <p:spPr>
          <a:xfrm>
            <a:off x="859536" y="3063239"/>
            <a:ext cx="3858768" cy="859536"/>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使ったAIまたは配布画像</a:t>
            </a:r>
          </a:p>
        </p:txBody>
      </p:sp>
      <p:sp>
        <p:nvSpPr>
          <p:cNvPr id="12" name="body:授業の配布画像を使用"/>
          <p:cNvSpPr txBox="1"/>
          <p:nvPr/>
        </p:nvSpPr>
        <p:spPr>
          <a:xfrm>
            <a:off x="4983480" y="3099815"/>
            <a:ext cx="6254496" cy="813816"/>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教員の配布画像を使用</a:t>
            </a:r>
          </a:p>
        </p:txBody>
      </p:sp>
      <p:sp>
        <p:nvSpPr>
          <p:cNvPr id="13" name="Rectangle 12"/>
          <p:cNvSpPr/>
          <p:nvPr/>
        </p:nvSpPr>
        <p:spPr>
          <a:xfrm>
            <a:off x="594360" y="4215383"/>
            <a:ext cx="10991088" cy="10972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ody:自分で確認したこと"/>
          <p:cNvSpPr txBox="1"/>
          <p:nvPr/>
        </p:nvSpPr>
        <p:spPr>
          <a:xfrm>
            <a:off x="859536" y="4334255"/>
            <a:ext cx="3858768" cy="859536"/>
          </a:xfrm>
          <a:prstGeom prst="rect">
            <a:avLst/>
          </a:prstGeom>
          <a:noFill/>
        </p:spPr>
        <p:txBody>
          <a:bodyPr wrap="none" lIns="0" rIns="0" tIns="0" bIns="0" anchor="t">
            <a:spAutoFit/>
          </a:bodyPr>
          <a:lstStyle/>
          <a:p>
            <a:pPr>
              <a:lnSpc>
                <a:spcPct val="114000"/>
              </a:lnSpc>
              <a:spcBef>
                <a:spcPts val="0"/>
              </a:spcBef>
              <a:spcAft>
                <a:spcPts val="0"/>
              </a:spcAft>
              <a:defRPr sz="2400" b="1">
                <a:solidFill>
                  <a:srgbClr val="1D343E"/>
                </a:solidFill>
                <a:latin typeface="Meiryo"/>
              </a:defRPr>
            </a:pPr>
            <a:r>
              <a:rPr sz="2400" b="1">
                <a:solidFill>
                  <a:srgbClr val="1D343E"/>
                </a:solidFill>
                <a:latin typeface="Meiryo"/>
                <a:ea typeface="Meiryo"/>
                <a:cs typeface="Meiryo"/>
              </a:rPr>
              <a:t>自分で確認したこと</a:t>
            </a:r>
          </a:p>
        </p:txBody>
      </p:sp>
      <p:sp>
        <p:nvSpPr>
          <p:cNvPr id="15" name="body:GitHubで画像を開き、パソコンの画像と同じだと確認した。"/>
          <p:cNvSpPr txBox="1"/>
          <p:nvPr/>
        </p:nvSpPr>
        <p:spPr>
          <a:xfrm>
            <a:off x="4983480" y="4370831"/>
            <a:ext cx="6254496" cy="813816"/>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GitHubで画像を開き、パソコンの画像と</a:t>
            </a:r>
          </a:p>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同じだと確認した。</a:t>
            </a:r>
          </a:p>
        </p:txBody>
      </p:sp>
      <p:sp>
        <p:nvSpPr>
          <p:cNvPr id="16" name="Rectangle 1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18" name="result:自分のファイル名・使ったAI・確認内容に替えてください。"/>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3つの見出しは残します。例を自分のファイル名・利用・確認に替えます。</a:t>
            </a:r>
          </a:p>
        </p:txBody>
      </p:sp>
      <p:sp>
        <p:nvSpPr>
          <p:cNvPr id="1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1" name="footer:2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Previewで、保存前の表示を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Previewで、保存前の表示を確かめる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ar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21_0_45_645_290.png"/>
          <p:cNvPicPr>
            <a:picLocks noChangeAspect="1"/>
          </p:cNvPicPr>
          <p:nvPr/>
        </p:nvPicPr>
        <p:blipFill>
          <a:blip r:embed="rId4"/>
          <a:stretch>
            <a:fillRect/>
          </a:stretch>
        </p:blipFill>
        <p:spPr>
          <a:xfrm>
            <a:off x="731520" y="2211323"/>
            <a:ext cx="6291072" cy="2389632"/>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Preview を押す。"/>
          <p:cNvSpPr txBox="1"/>
          <p:nvPr/>
        </p:nvSpPr>
        <p:spPr>
          <a:xfrm>
            <a:off x="7982712" y="1719072"/>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Preview を押す。</a:t>
            </a:r>
          </a:p>
        </p:txBody>
      </p:sp>
      <p:sp>
        <p:nvSpPr>
          <p:cNvPr id="13" name="body:書いた文章の表示を確認&#10;します。"/>
          <p:cNvSpPr txBox="1"/>
          <p:nvPr/>
        </p:nvSpPr>
        <p:spPr>
          <a:xfrm>
            <a:off x="7982712" y="2212594"/>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書いた文章の表示を確認</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します。</a:t>
            </a:r>
          </a:p>
        </p:txBody>
      </p:sp>
      <p:sp>
        <p:nvSpPr>
          <p:cNvPr id="14" name="Oval 13"/>
          <p:cNvSpPr/>
          <p:nvPr/>
        </p:nvSpPr>
        <p:spPr>
          <a:xfrm>
            <a:off x="7406640" y="331343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33628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3つの欄を読み返す。"/>
          <p:cNvSpPr txBox="1"/>
          <p:nvPr/>
        </p:nvSpPr>
        <p:spPr>
          <a:xfrm>
            <a:off x="7982712" y="3304286"/>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3つの欄を読み返す。</a:t>
            </a:r>
          </a:p>
        </p:txBody>
      </p:sp>
      <p:sp>
        <p:nvSpPr>
          <p:cNvPr id="17" name="body:ファイル名の誤りや、案&#10;内文が残っていないか見&#10;ます。"/>
          <p:cNvSpPr txBox="1"/>
          <p:nvPr/>
        </p:nvSpPr>
        <p:spPr>
          <a:xfrm>
            <a:off x="7982712" y="3797808"/>
            <a:ext cx="3557015" cy="1088898"/>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ファイル名の誤りや、案</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内文が残っていないか見</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Previewを見るだけでは保存されません。次のページで変更を確定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Previewを見るだけでは保存されません。次のページで変更を確定します。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3" name="footer:2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3 / 5　画像と記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3 / 5　画像と記録</a:t>
            </a:r>
          </a:p>
        </p:txBody>
      </p:sp>
      <p:sp>
        <p:nvSpPr>
          <p:cNvPr id="4" name="title:Commit changesで、利用記録を保存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Commit changesで、利用記録を保存する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Commit change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Commit changes</a:t>
            </a:r>
          </a:p>
        </p:txBody>
      </p:sp>
      <p:sp>
        <p:nvSpPr>
          <p:cNvPr id="10" name="tag:変更内容"/>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変更内容</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初回の利用記録を追加"/>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初回の利用記録を追加</a:t>
            </a:r>
          </a:p>
        </p:txBody>
      </p:sp>
      <p:sp>
        <p:nvSpPr>
          <p:cNvPr id="13" name="tag:保存先"/>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保存先</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最初の選択を変更しない"/>
          <p:cNvSpPr txBox="1"/>
          <p:nvPr/>
        </p:nvSpPr>
        <p:spPr>
          <a:xfrm>
            <a:off x="978408" y="3950208"/>
            <a:ext cx="5797296" cy="438912"/>
          </a:xfrm>
          <a:prstGeom prst="rect">
            <a:avLst/>
          </a:prstGeom>
          <a:noFill/>
        </p:spPr>
        <p:txBody>
          <a:bodyPr wrap="none" lIns="0" tIns="0" rIns="0" bIns="0" anchor="t">
            <a:noAutofit/>
          </a:bodyPr>
          <a:lstStyle/>
          <a:p>
            <a:pPr>
              <a:lnSpc>
                <a:spcPct val="114000"/>
              </a:lnSpc>
              <a:spcBef>
                <a:spcPts val="0"/>
              </a:spcBef>
              <a:spcAft>
                <a:spcPts val="0"/>
              </a:spcAft>
              <a:buNone/>
              <a:defRPr sz="2500" b="0">
                <a:solidFill>
                  <a:srgbClr val="1D343E"/>
                </a:solidFill>
                <a:latin typeface="Meiryo"/>
                <a:ea typeface="Meiryo"/>
                <a:cs typeface="Meiryo"/>
              </a:defRPr>
            </a:pPr>
            <a:r>
              <a:rPr sz="2500" b="0">
                <a:solidFill>
                  <a:srgbClr val="1D343E"/>
                </a:solidFill>
                <a:latin typeface="Meiryo"/>
                <a:ea typeface="Meiryo"/>
                <a:cs typeface="Meiryo"/>
              </a:rPr>
              <a:t>Commit directly to the main branch</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1907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4193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Commit changesで&#10;保存に進む。"/>
          <p:cNvSpPr txBox="1"/>
          <p:nvPr/>
        </p:nvSpPr>
        <p:spPr>
          <a:xfrm>
            <a:off x="7982712" y="1709928"/>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Commit changesで</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保存に進む。</a:t>
            </a:r>
          </a:p>
        </p:txBody>
      </p:sp>
      <p:sp>
        <p:nvSpPr>
          <p:cNvPr id="20" name="Oval 19"/>
          <p:cNvSpPr/>
          <p:nvPr/>
        </p:nvSpPr>
        <p:spPr>
          <a:xfrm>
            <a:off x="7406640" y="278841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811271"/>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変更内容を書く。&#10;例は左側を見ます。"/>
          <p:cNvSpPr txBox="1"/>
          <p:nvPr/>
        </p:nvSpPr>
        <p:spPr>
          <a:xfrm>
            <a:off x="7982712" y="277926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変更内容を書く。</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mainへ直接保存を選ぶ。</a:t>
            </a:r>
          </a:p>
        </p:txBody>
      </p:sp>
      <p:sp>
        <p:nvSpPr>
          <p:cNvPr id="23" name="Oval 22"/>
          <p:cNvSpPr/>
          <p:nvPr/>
        </p:nvSpPr>
        <p:spPr>
          <a:xfrm>
            <a:off x="7406640" y="3857751"/>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88061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保存を確定し、文章が&#10;反映されたか見る。"/>
          <p:cNvSpPr txBox="1"/>
          <p:nvPr/>
        </p:nvSpPr>
        <p:spPr>
          <a:xfrm>
            <a:off x="7982712" y="3848608"/>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もう一度Commit</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changesを押して</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保存を確定する。</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commitは変更の記録です。今日はブラウザだけで保存し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READMEの表示へ戻り、自分の記録が3欄に見えたら保存完了です。</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31" name="footer:2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4 / 5　教員を招待"/>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4 / 5　教員を招待</a:t>
            </a:r>
          </a:p>
        </p:txBody>
      </p:sp>
      <p:sp>
        <p:nvSpPr>
          <p:cNvPr id="4" name="title:自分のリポジトリのSettingsを開く"/>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自分のリポジトリのSettingsを開く</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ck-keyhole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45920"/>
            <a:ext cx="6565392" cy="3575304"/>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rop_23_900_0_1440_142.png"/>
          <p:cNvPicPr>
            <a:picLocks noChangeAspect="1"/>
          </p:cNvPicPr>
          <p:nvPr/>
        </p:nvPicPr>
        <p:blipFill>
          <a:blip r:embed="rId4"/>
          <a:stretch>
            <a:fillRect/>
          </a:stretch>
        </p:blipFill>
        <p:spPr>
          <a:xfrm>
            <a:off x="731520" y="2578980"/>
            <a:ext cx="6291072" cy="1654318"/>
          </a:xfrm>
          <a:prstGeom prst="rect">
            <a:avLst/>
          </a:prstGeom>
        </p:spPr>
      </p:pic>
      <p:sp>
        <p:nvSpPr>
          <p:cNvPr id="9" name="caption:GitHub公式文書の画面例を切り抜き。"/>
          <p:cNvSpPr txBox="1"/>
          <p:nvPr/>
        </p:nvSpPr>
        <p:spPr>
          <a:xfrm>
            <a:off x="740664" y="5221224"/>
            <a:ext cx="649224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GitHub公式文書の画面例を切り抜き。</a:t>
            </a:r>
          </a:p>
        </p:txBody>
      </p:sp>
      <p:sp>
        <p:nvSpPr>
          <p:cNvPr id="10" name="Oval 9"/>
          <p:cNvSpPr/>
          <p:nvPr/>
        </p:nvSpPr>
        <p:spPr>
          <a:xfrm>
            <a:off x="7406640" y="1728216"/>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06640" y="1751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 ai-learning を&#10;開く。"/>
          <p:cNvSpPr txBox="1"/>
          <p:nvPr/>
        </p:nvSpPr>
        <p:spPr>
          <a:xfrm>
            <a:off x="7982712" y="1719072"/>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自分の ai-learning を</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開く。</a:t>
            </a:r>
          </a:p>
        </p:txBody>
      </p:sp>
      <p:sp>
        <p:nvSpPr>
          <p:cNvPr id="13" name="body:OwnerとPrivateを確認&#10;します。"/>
          <p:cNvSpPr txBox="1"/>
          <p:nvPr/>
        </p:nvSpPr>
        <p:spPr>
          <a:xfrm>
            <a:off x="7982712" y="2587243"/>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OwnerとPrivateを確認</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します。</a:t>
            </a:r>
          </a:p>
        </p:txBody>
      </p:sp>
      <p:sp>
        <p:nvSpPr>
          <p:cNvPr id="14" name="Oval 13"/>
          <p:cNvSpPr/>
          <p:nvPr/>
        </p:nvSpPr>
        <p:spPr>
          <a:xfrm>
            <a:off x="7406640" y="3688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371094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Settings を押す。"/>
          <p:cNvSpPr txBox="1"/>
          <p:nvPr/>
        </p:nvSpPr>
        <p:spPr>
          <a:xfrm>
            <a:off x="7982712" y="3678936"/>
            <a:ext cx="3557015" cy="42951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Settings を押す。</a:t>
            </a:r>
          </a:p>
        </p:txBody>
      </p:sp>
      <p:sp>
        <p:nvSpPr>
          <p:cNvPr id="17" name="body:一覧の上にある&#10;Settingsです。"/>
          <p:cNvSpPr txBox="1"/>
          <p:nvPr/>
        </p:nvSpPr>
        <p:spPr>
          <a:xfrm>
            <a:off x="7982712" y="4172458"/>
            <a:ext cx="3557015" cy="74422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一覧の上にある</a:t>
            </a:r>
          </a:p>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Settingsです。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20" name="result:右上のプロフィールではなく、保存先のSettingsを開き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Settingsが見えないときは、右端の「…」も確認します。</a:t>
            </a:r>
          </a:p>
        </p:txBody>
      </p:sp>
      <p:sp>
        <p:nvSpPr>
          <p:cNvPr id="21"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3" name="footer:2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26 /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4 / 5　教員を招待"/>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4 / 5　教員を招待</a:t>
            </a:r>
          </a:p>
        </p:txBody>
      </p:sp>
      <p:sp>
        <p:nvSpPr>
          <p:cNvPr id="4" name="title:tsuchiyatakahirolabを教員として招待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tsuchiyatakahirolabを教員として招待する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ploa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6565392" cy="3538728"/>
          </a:xfrm>
          <a:prstGeom prst="rect">
            <a:avLst/>
          </a:prstGeom>
          <a:solidFill>
            <a:srgbClr val="F5F7F8"/>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00784"/>
            <a:ext cx="6565392" cy="50292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g:ai-learning / Settings"/>
          <p:cNvSpPr txBox="1"/>
          <p:nvPr/>
        </p:nvSpPr>
        <p:spPr>
          <a:xfrm>
            <a:off x="795528" y="1787652"/>
            <a:ext cx="6163055" cy="387858"/>
          </a:xfrm>
          <a:prstGeom prst="rect">
            <a:avLst/>
          </a:prstGeom>
          <a:noFill/>
        </p:spPr>
        <p:txBody>
          <a:bodyPr wrap="none" lIns="0" rIns="0" tIns="0" bIns="0" anchor="t">
            <a:spAutoFit/>
          </a:bodyPr>
          <a:lstStyle/>
          <a:p>
            <a:pPr>
              <a:lnSpc>
                <a:spcPct val="114000"/>
              </a:lnSpc>
              <a:spcBef>
                <a:spcPts val="0"/>
              </a:spcBef>
              <a:spcAft>
                <a:spcPts val="0"/>
              </a:spcAft>
              <a:defRPr sz="2100" b="0">
                <a:solidFill>
                  <a:srgbClr val="53656D"/>
                </a:solidFill>
                <a:latin typeface="Meiryo"/>
              </a:defRPr>
            </a:pPr>
            <a:r>
              <a:rPr sz="2100" b="0">
                <a:solidFill>
                  <a:srgbClr val="53656D"/>
                </a:solidFill>
                <a:latin typeface="Meiryo"/>
                <a:ea typeface="Meiryo"/>
                <a:cs typeface="Meiryo"/>
              </a:rPr>
              <a:t>ai-learning / Settings</a:t>
            </a:r>
          </a:p>
        </p:txBody>
      </p:sp>
      <p:sp>
        <p:nvSpPr>
          <p:cNvPr id="10" name="tag:アクセス管理"/>
          <p:cNvSpPr txBox="1"/>
          <p:nvPr/>
        </p:nvSpPr>
        <p:spPr>
          <a:xfrm>
            <a:off x="841248" y="242316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アクセス管理</a:t>
            </a:r>
          </a:p>
        </p:txBody>
      </p:sp>
      <p:sp>
        <p:nvSpPr>
          <p:cNvPr id="11" name="Rectangle 10"/>
          <p:cNvSpPr/>
          <p:nvPr/>
        </p:nvSpPr>
        <p:spPr>
          <a:xfrm>
            <a:off x="841248" y="276148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nput:Collaborators → Add people"/>
          <p:cNvSpPr txBox="1"/>
          <p:nvPr/>
        </p:nvSpPr>
        <p:spPr>
          <a:xfrm>
            <a:off x="978408" y="285292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Collaborators → Add people</a:t>
            </a:r>
          </a:p>
        </p:txBody>
      </p:sp>
      <p:sp>
        <p:nvSpPr>
          <p:cNvPr id="13" name="tag:招待するusername"/>
          <p:cNvSpPr txBox="1"/>
          <p:nvPr/>
        </p:nvSpPr>
        <p:spPr>
          <a:xfrm>
            <a:off x="841248" y="3520440"/>
            <a:ext cx="6071616" cy="357886"/>
          </a:xfrm>
          <a:prstGeom prst="rect">
            <a:avLst/>
          </a:prstGeom>
          <a:noFill/>
        </p:spPr>
        <p:txBody>
          <a:bodyPr wrap="none" lIns="0" rIns="0" tIns="0" bIns="0" anchor="t">
            <a:spAutoFit/>
          </a:bodyPr>
          <a:lstStyle/>
          <a:p>
            <a:pPr>
              <a:lnSpc>
                <a:spcPct val="114000"/>
              </a:lnSpc>
              <a:spcBef>
                <a:spcPts val="0"/>
              </a:spcBef>
              <a:spcAft>
                <a:spcPts val="0"/>
              </a:spcAft>
              <a:defRPr sz="1900" b="0">
                <a:solidFill>
                  <a:srgbClr val="53656D"/>
                </a:solidFill>
                <a:latin typeface="Meiryo"/>
              </a:defRPr>
            </a:pPr>
            <a:r>
              <a:rPr sz="1900" b="0">
                <a:solidFill>
                  <a:srgbClr val="53656D"/>
                </a:solidFill>
                <a:latin typeface="Meiryo"/>
                <a:ea typeface="Meiryo"/>
                <a:cs typeface="Meiryo"/>
              </a:rPr>
              <a:t>招待するusername</a:t>
            </a:r>
          </a:p>
        </p:txBody>
      </p:sp>
      <p:sp>
        <p:nvSpPr>
          <p:cNvPr id="14" name="Rectangle 13"/>
          <p:cNvSpPr/>
          <p:nvPr/>
        </p:nvSpPr>
        <p:spPr>
          <a:xfrm>
            <a:off x="841248" y="3858768"/>
            <a:ext cx="6071616" cy="576072"/>
          </a:xfrm>
          <a:prstGeom prst="rect">
            <a:avLst/>
          </a:prstGeom>
          <a:solidFill>
            <a:srgbClr val="FFFFFF"/>
          </a:solidFill>
          <a:ln w="12700">
            <a:solidFill>
              <a:srgbClr val="CBD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put:tsuchiyatakahirolab"/>
          <p:cNvSpPr txBox="1"/>
          <p:nvPr/>
        </p:nvSpPr>
        <p:spPr>
          <a:xfrm>
            <a:off x="978408" y="3950208"/>
            <a:ext cx="5797296" cy="438912"/>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tsuchiyatakahirolab</a:t>
            </a:r>
          </a:p>
        </p:txBody>
      </p:sp>
      <p:sp>
        <p:nvSpPr>
          <p:cNvPr id="16" name="caption:操作する場所を示した模式図"/>
          <p:cNvSpPr txBox="1"/>
          <p:nvPr/>
        </p:nvSpPr>
        <p:spPr>
          <a:xfrm>
            <a:off x="731520" y="5294376"/>
            <a:ext cx="629107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操作する場所を示した模式図</a:t>
            </a:r>
          </a:p>
        </p:txBody>
      </p:sp>
      <p:sp>
        <p:nvSpPr>
          <p:cNvPr id="17" name="Oval 16"/>
          <p:cNvSpPr/>
          <p:nvPr/>
        </p:nvSpPr>
        <p:spPr>
          <a:xfrm>
            <a:off x="7406640" y="170078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1"/>
          <p:cNvSpPr txBox="1"/>
          <p:nvPr/>
        </p:nvSpPr>
        <p:spPr>
          <a:xfrm>
            <a:off x="7406640" y="172364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9" name="body:Collaboratorsから&#10;Add peopleを押す。"/>
          <p:cNvSpPr txBox="1"/>
          <p:nvPr/>
        </p:nvSpPr>
        <p:spPr>
          <a:xfrm>
            <a:off x="7982712" y="169164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Collaboratorsから</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Add peopleを押す。</a:t>
            </a:r>
          </a:p>
        </p:txBody>
      </p:sp>
      <p:sp>
        <p:nvSpPr>
          <p:cNvPr id="20" name="Oval 19"/>
          <p:cNvSpPr/>
          <p:nvPr/>
        </p:nvSpPr>
        <p:spPr>
          <a:xfrm>
            <a:off x="7406640" y="277012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2"/>
          <p:cNvSpPr txBox="1"/>
          <p:nvPr/>
        </p:nvSpPr>
        <p:spPr>
          <a:xfrm>
            <a:off x="7406640" y="279298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22" name="body:左の教員名を検索し、&#10;候補を最後まで見る。"/>
          <p:cNvSpPr txBox="1"/>
          <p:nvPr/>
        </p:nvSpPr>
        <p:spPr>
          <a:xfrm>
            <a:off x="7982712" y="276098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同じusernameの候補を</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クリックして選ぶ。</a:t>
            </a:r>
          </a:p>
        </p:txBody>
      </p:sp>
      <p:sp>
        <p:nvSpPr>
          <p:cNvPr id="23" name="Oval 22"/>
          <p:cNvSpPr/>
          <p:nvPr/>
        </p:nvSpPr>
        <p:spPr>
          <a:xfrm>
            <a:off x="7406640" y="383946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3"/>
          <p:cNvSpPr txBox="1"/>
          <p:nvPr/>
        </p:nvSpPr>
        <p:spPr>
          <a:xfrm>
            <a:off x="7406640" y="3862324"/>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25" name="body:招待を送る。招待中の&#10;表示になれば次へ。"/>
          <p:cNvSpPr txBox="1"/>
          <p:nvPr/>
        </p:nvSpPr>
        <p:spPr>
          <a:xfrm>
            <a:off x="7982712" y="3830320"/>
            <a:ext cx="3557015" cy="804164"/>
          </a:xfrm>
          <a:prstGeom prst="rect">
            <a:avLst/>
          </a:prstGeom>
          <a:noFill/>
        </p:spPr>
        <p:txBody>
          <a:bodyPr wrap="none" lIns="0" tIns="0" rIns="0" bIns="0" anchor="t">
            <a:noAutofit/>
          </a:bodyPr>
          <a:lstStyle/>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Add … to ai-learning</a:t>
            </a:r>
          </a:p>
          <a:p>
            <a:pPr>
              <a:lnSpc>
                <a:spcPct val="114000"/>
              </a:lnSpc>
              <a:spcBef>
                <a:spcPts val="0"/>
              </a:spcBef>
              <a:spcAft>
                <a:spcPts val="0"/>
              </a:spcAft>
              <a:buNone/>
              <a:defRPr sz="2500" b="1">
                <a:solidFill>
                  <a:srgbClr val="1D343E"/>
                </a:solidFill>
                <a:latin typeface="Meiryo"/>
                <a:ea typeface="Meiryo"/>
                <a:cs typeface="Meiryo"/>
              </a:defRPr>
            </a:pPr>
            <a:r>
              <a:rPr sz="2500" b="1">
                <a:solidFill>
                  <a:srgbClr val="1D343E"/>
                </a:solidFill>
                <a:latin typeface="Meiryo"/>
                <a:ea typeface="Meiryo"/>
                <a:cs typeface="Meiryo"/>
              </a:rPr>
              <a:t>を押して招待を確定。</a:t>
            </a:r>
          </a:p>
        </p:txBody>
      </p:sp>
      <p:sp>
        <p:nvSpPr>
          <p:cNvPr id="26" name="Rectangle 25"/>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8" name="result:招待中になれば次へ進めます。ログイン認証コードは渡しません。"/>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招待中、または教員名が登録済みなら次へ。認証コードは渡しません。</a:t>
            </a:r>
          </a:p>
        </p:txBody>
      </p:sp>
      <p:sp>
        <p:nvSpPr>
          <p:cNvPr id="29"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30"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31" name="footer:2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27 /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自分のリポジトリのURLをコピー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自分のリポジトリのURLをコピーする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lder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10991088" cy="1152144"/>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https://github.com/example-student/a"/>
          <p:cNvSpPr txBox="1"/>
          <p:nvPr/>
        </p:nvSpPr>
        <p:spPr>
          <a:xfrm>
            <a:off x="841248" y="1993392"/>
            <a:ext cx="10497312" cy="502920"/>
          </a:xfrm>
          <a:prstGeom prst="rect">
            <a:avLst/>
          </a:prstGeom>
          <a:noFill/>
        </p:spPr>
        <p:txBody>
          <a:bodyPr wrap="none" lIns="0" rIns="0" tIns="0" bIns="0" anchor="t">
            <a:spAutoFit/>
          </a:bodyPr>
          <a:lstStyle/>
          <a:p>
            <a:pPr>
              <a:lnSpc>
                <a:spcPct val="114000"/>
              </a:lnSpc>
              <a:spcBef>
                <a:spcPts val="0"/>
              </a:spcBef>
              <a:spcAft>
                <a:spcPts val="0"/>
              </a:spcAft>
              <a:defRPr sz="2800" b="1">
                <a:solidFill>
                  <a:srgbClr val="1D343E"/>
                </a:solidFill>
                <a:latin typeface="Meiryo"/>
              </a:defRPr>
            </a:pPr>
            <a:r>
              <a:rPr sz="2800" b="1">
                <a:solidFill>
                  <a:srgbClr val="1D343E"/>
                </a:solidFill>
                <a:latin typeface="Meiryo"/>
                <a:ea typeface="Meiryo"/>
                <a:cs typeface="Meiryo"/>
              </a:rPr>
              <a:t>https://github.com/example-student/ai-learning</a:t>
            </a:r>
          </a:p>
        </p:txBody>
      </p:sp>
      <p:sp>
        <p:nvSpPr>
          <p:cNvPr id="9" name="body:example-studentの部分が、自分のusernameか確かめま"/>
          <p:cNvSpPr txBox="1"/>
          <p:nvPr/>
        </p:nvSpPr>
        <p:spPr>
          <a:xfrm>
            <a:off x="786384" y="2971800"/>
            <a:ext cx="10607040" cy="457200"/>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example-studentの部分が、自分のusernameか確かめます。</a:t>
            </a:r>
          </a:p>
        </p:txBody>
      </p:sp>
      <p:sp>
        <p:nvSpPr>
          <p:cNvPr id="10" name="Oval 9"/>
          <p:cNvSpPr/>
          <p:nvPr/>
        </p:nvSpPr>
        <p:spPr>
          <a:xfrm>
            <a:off x="749808" y="35570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umber:1"/>
          <p:cNvSpPr txBox="1"/>
          <p:nvPr/>
        </p:nvSpPr>
        <p:spPr>
          <a:xfrm>
            <a:off x="749808" y="35798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2" name="body:自分の ai-learning の最上位を開く。"/>
          <p:cNvSpPr txBox="1"/>
          <p:nvPr/>
        </p:nvSpPr>
        <p:spPr>
          <a:xfrm>
            <a:off x="1325880" y="3547872"/>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自分の ai-learning の最上位を開く。</a:t>
            </a:r>
          </a:p>
        </p:txBody>
      </p:sp>
      <p:sp>
        <p:nvSpPr>
          <p:cNvPr id="13" name="body:setupなどのフォルダが並ぶ画面へ戻ります。"/>
          <p:cNvSpPr txBox="1"/>
          <p:nvPr/>
        </p:nvSpPr>
        <p:spPr>
          <a:xfrm>
            <a:off x="1325880" y="4071366"/>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上部のai-learningを押し、Codeのフォルダ一覧へ戻ります。</a:t>
            </a:r>
          </a:p>
        </p:txBody>
      </p:sp>
      <p:sp>
        <p:nvSpPr>
          <p:cNvPr id="14" name="Oval 13"/>
          <p:cNvSpPr/>
          <p:nvPr/>
        </p:nvSpPr>
        <p:spPr>
          <a:xfrm>
            <a:off x="749808" y="4617212"/>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9808" y="4640072"/>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ブラウザ上部のURLをコピーする。"/>
          <p:cNvSpPr txBox="1"/>
          <p:nvPr/>
        </p:nvSpPr>
        <p:spPr>
          <a:xfrm>
            <a:off x="1325880" y="4608068"/>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ブラウザ上部のURLをコピーする。</a:t>
            </a:r>
          </a:p>
        </p:txBody>
      </p:sp>
      <p:sp>
        <p:nvSpPr>
          <p:cNvPr id="17" name="body:初回登録フォームのリポジトリURL欄に貼り付けます。"/>
          <p:cNvSpPr txBox="1"/>
          <p:nvPr/>
        </p:nvSpPr>
        <p:spPr>
          <a:xfrm>
            <a:off x="1325880" y="5131562"/>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WindowsならCtrl+L → Ctrl+C。フォーム欄にCtrl+Vで貼り付けます。</a:t>
            </a:r>
          </a:p>
        </p:txBody>
      </p:sp>
      <p:sp>
        <p:nvSpPr>
          <p:cNvPr id="18" name="Rectangle 17"/>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0" name="result:初回は保存先のURLです。commit URLは毎週の提出に使い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初回は末尾が /ai-learning のURL。/tree/・/blob/・/commit/ は使いません。</a:t>
            </a:r>
          </a:p>
        </p:txBody>
      </p:sp>
      <p:sp>
        <p:nvSpPr>
          <p:cNvPr id="21"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2"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3" name="footer:28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学籍番号は、省略せず半角10文字で入力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学籍番号は、省略せず半角10文字で入力する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eyboard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691640"/>
            <a:ext cx="5349240"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ircle-check_007F80.png"/>
          <p:cNvPicPr>
            <a:picLocks noChangeAspect="1"/>
          </p:cNvPicPr>
          <p:nvPr/>
        </p:nvPicPr>
        <p:blipFill>
          <a:blip r:embed="rId4"/>
          <a:stretch>
            <a:fillRect/>
          </a:stretch>
        </p:blipFill>
        <p:spPr>
          <a:xfrm>
            <a:off x="886968" y="1965960"/>
            <a:ext cx="411480" cy="411480"/>
          </a:xfrm>
          <a:prstGeom prst="rect">
            <a:avLst/>
          </a:prstGeom>
        </p:spPr>
      </p:pic>
      <p:sp>
        <p:nvSpPr>
          <p:cNvPr id="9" name="body:入力する形式"/>
          <p:cNvSpPr txBox="1"/>
          <p:nvPr/>
        </p:nvSpPr>
        <p:spPr>
          <a:xfrm>
            <a:off x="1417320" y="1975104"/>
            <a:ext cx="4114800" cy="484632"/>
          </a:xfrm>
          <a:prstGeom prst="rect">
            <a:avLst/>
          </a:prstGeom>
          <a:noFill/>
        </p:spPr>
        <p:txBody>
          <a:bodyPr wrap="none" lIns="0" rIns="0" tIns="0" bIns="0" anchor="t">
            <a:spAutoFit/>
          </a:bodyPr>
          <a:lstStyle/>
          <a:p>
            <a:pPr>
              <a:lnSpc>
                <a:spcPct val="114000"/>
              </a:lnSpc>
              <a:spcBef>
                <a:spcPts val="0"/>
              </a:spcBef>
              <a:spcAft>
                <a:spcPts val="0"/>
              </a:spcAft>
              <a:defRPr sz="2600" b="1">
                <a:solidFill>
                  <a:srgbClr val="1D343E"/>
                </a:solidFill>
                <a:latin typeface="Meiryo"/>
              </a:defRPr>
            </a:pPr>
            <a:r>
              <a:rPr sz="2600" b="1">
                <a:solidFill>
                  <a:srgbClr val="1D343E"/>
                </a:solidFill>
                <a:latin typeface="Meiryo"/>
                <a:ea typeface="Meiryo"/>
                <a:cs typeface="Meiryo"/>
              </a:rPr>
              <a:t>入力する形式</a:t>
            </a:r>
          </a:p>
        </p:txBody>
      </p:sp>
      <p:sp>
        <p:nvSpPr>
          <p:cNvPr id="10" name="body:2026GT0001"/>
          <p:cNvSpPr txBox="1"/>
          <p:nvPr/>
        </p:nvSpPr>
        <p:spPr>
          <a:xfrm>
            <a:off x="868680" y="2770632"/>
            <a:ext cx="4782312" cy="694944"/>
          </a:xfrm>
          <a:prstGeom prst="rect">
            <a:avLst/>
          </a:prstGeom>
          <a:noFill/>
        </p:spPr>
        <p:txBody>
          <a:bodyPr wrap="none" lIns="0" rIns="0" tIns="0" bIns="0" anchor="t">
            <a:spAutoFit/>
          </a:bodyPr>
          <a:lstStyle/>
          <a:p>
            <a:pPr>
              <a:lnSpc>
                <a:spcPct val="114000"/>
              </a:lnSpc>
              <a:spcBef>
                <a:spcPts val="0"/>
              </a:spcBef>
              <a:spcAft>
                <a:spcPts val="0"/>
              </a:spcAft>
              <a:defRPr sz="3900" b="1">
                <a:solidFill>
                  <a:srgbClr val="1D343E"/>
                </a:solidFill>
                <a:latin typeface="Meiryo"/>
              </a:defRPr>
            </a:pPr>
            <a:r>
              <a:rPr sz="3900" b="1">
                <a:solidFill>
                  <a:srgbClr val="1D343E"/>
                </a:solidFill>
                <a:latin typeface="Meiryo"/>
                <a:ea typeface="Meiryo"/>
                <a:cs typeface="Meiryo"/>
              </a:rPr>
              <a:t>2026GT0001</a:t>
            </a:r>
          </a:p>
        </p:txBody>
      </p:sp>
      <p:sp>
        <p:nvSpPr>
          <p:cNvPr id="11" name="body:西暦4桁＋英大文字2字&#10;＋数字4桁&#10;自分の実際の番号を使います。"/>
          <p:cNvSpPr txBox="1"/>
          <p:nvPr/>
        </p:nvSpPr>
        <p:spPr>
          <a:xfrm>
            <a:off x="896112" y="3822191"/>
            <a:ext cx="4718304" cy="1335024"/>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西暦4桁＋英大文字2字</a:t>
            </a:r>
          </a:p>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＋数字4桁</a:t>
            </a:r>
          </a:p>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自分の実際の番号を使います。</a:t>
            </a:r>
          </a:p>
        </p:txBody>
      </p:sp>
      <p:sp>
        <p:nvSpPr>
          <p:cNvPr id="12" name="Rectangle 11"/>
          <p:cNvSpPr/>
          <p:nvPr/>
        </p:nvSpPr>
        <p:spPr>
          <a:xfrm>
            <a:off x="6217920" y="1691640"/>
            <a:ext cx="536752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受け付けない入力例"/>
          <p:cNvSpPr txBox="1"/>
          <p:nvPr/>
        </p:nvSpPr>
        <p:spPr>
          <a:xfrm>
            <a:off x="6492240" y="1975104"/>
            <a:ext cx="4764024" cy="457200"/>
          </a:xfrm>
          <a:prstGeom prst="rect">
            <a:avLst/>
          </a:prstGeom>
          <a:noFill/>
        </p:spPr>
        <p:txBody>
          <a:bodyPr wrap="none" lIns="0" rIns="0" tIns="0" bIns="0" anchor="t">
            <a:spAutoFit/>
          </a:bodyPr>
          <a:lstStyle/>
          <a:p>
            <a:pPr>
              <a:lnSpc>
                <a:spcPct val="114000"/>
              </a:lnSpc>
              <a:spcBef>
                <a:spcPts val="0"/>
              </a:spcBef>
              <a:spcAft>
                <a:spcPts val="0"/>
              </a:spcAft>
              <a:defRPr sz="2600" b="1">
                <a:solidFill>
                  <a:srgbClr val="1D343E"/>
                </a:solidFill>
                <a:latin typeface="Meiryo"/>
              </a:defRPr>
            </a:pPr>
            <a:r>
              <a:rPr sz="2600" b="1">
                <a:solidFill>
                  <a:srgbClr val="1D343E"/>
                </a:solidFill>
                <a:latin typeface="Meiryo"/>
                <a:ea typeface="Meiryo"/>
                <a:cs typeface="Meiryo"/>
              </a:rPr>
              <a:t>受け付けない入力例</a:t>
            </a:r>
          </a:p>
        </p:txBody>
      </p:sp>
      <p:sp>
        <p:nvSpPr>
          <p:cNvPr id="14" name="body:26GT0001"/>
          <p:cNvSpPr txBox="1"/>
          <p:nvPr/>
        </p:nvSpPr>
        <p:spPr>
          <a:xfrm>
            <a:off x="6510528" y="2816352"/>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26GT0001</a:t>
            </a:r>
          </a:p>
        </p:txBody>
      </p:sp>
      <p:sp>
        <p:nvSpPr>
          <p:cNvPr id="15" name="caption:年を省略している"/>
          <p:cNvSpPr txBox="1"/>
          <p:nvPr/>
        </p:nvSpPr>
        <p:spPr>
          <a:xfrm>
            <a:off x="6510528" y="3218688"/>
            <a:ext cx="4718304"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年を省略している</a:t>
            </a:r>
          </a:p>
        </p:txBody>
      </p:sp>
      <p:sp>
        <p:nvSpPr>
          <p:cNvPr id="16" name="body:2026gt0001"/>
          <p:cNvSpPr txBox="1"/>
          <p:nvPr/>
        </p:nvSpPr>
        <p:spPr>
          <a:xfrm>
            <a:off x="6510528" y="3602736"/>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2026gt0001</a:t>
            </a:r>
          </a:p>
        </p:txBody>
      </p:sp>
      <p:sp>
        <p:nvSpPr>
          <p:cNvPr id="17" name="caption:英字が小文字"/>
          <p:cNvSpPr txBox="1"/>
          <p:nvPr/>
        </p:nvSpPr>
        <p:spPr>
          <a:xfrm>
            <a:off x="6510528" y="4005072"/>
            <a:ext cx="4718304"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英字が小文字</a:t>
            </a:r>
          </a:p>
        </p:txBody>
      </p:sp>
      <p:sp>
        <p:nvSpPr>
          <p:cNvPr id="18" name="body:２０２６ＧＴ０００１"/>
          <p:cNvSpPr txBox="1"/>
          <p:nvPr/>
        </p:nvSpPr>
        <p:spPr>
          <a:xfrm>
            <a:off x="6510528" y="4389120"/>
            <a:ext cx="4718304" cy="438912"/>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AB3C32"/>
                </a:solidFill>
                <a:latin typeface="Meiryo"/>
              </a:defRPr>
            </a:pPr>
            <a:r>
              <a:rPr sz="2400" b="0">
                <a:solidFill>
                  <a:srgbClr val="AB3C32"/>
                </a:solidFill>
                <a:latin typeface="Meiryo"/>
                <a:ea typeface="Meiryo"/>
                <a:cs typeface="Meiryo"/>
              </a:rPr>
              <a:t>２０２６ＧＴ０００１</a:t>
            </a:r>
          </a:p>
        </p:txBody>
      </p:sp>
      <p:sp>
        <p:nvSpPr>
          <p:cNvPr id="19" name="caption:全角になっている"/>
          <p:cNvSpPr txBox="1"/>
          <p:nvPr/>
        </p:nvSpPr>
        <p:spPr>
          <a:xfrm>
            <a:off x="6510528" y="4791456"/>
            <a:ext cx="4718304"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全角になっている</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2" name="result:学籍番号はフォームだけへ。GitHubの公開プロフィールには書き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学籍番号はフォームだけへ。GitHubの公開プロフィールには書きません。</a:t>
            </a:r>
          </a:p>
        </p:txBody>
      </p:sp>
      <p:sp>
        <p:nvSpPr>
          <p:cNvPr id="23"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5" name="footer:29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初回登録フォームで、自分の情報を結び付け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初回登録フォームで、自分の情報を結び付ける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大学アカウントで「初回登録」を開く。"/>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大学の授業ページから「初回登録」を開く。</a:t>
            </a:r>
          </a:p>
        </p:txBody>
      </p:sp>
      <p:sp>
        <p:nvSpPr>
          <p:cNvPr id="10" name="body:自動取得されるメールアドレスを確かめます。"/>
          <p:cNvSpPr txBox="1"/>
          <p:nvPr/>
        </p:nvSpPr>
        <p:spPr>
          <a:xfrm>
            <a:off x="1325880" y="2205990"/>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大学メールのアカウントか確認。フォームのメール欄も確認します。</a:t>
            </a:r>
          </a:p>
        </p:txBody>
      </p:sp>
      <p:sp>
        <p:nvSpPr>
          <p:cNvPr id="11" name="Oval 10"/>
          <p:cNvSpPr/>
          <p:nvPr/>
        </p:nvSpPr>
        <p:spPr>
          <a:xfrm>
            <a:off x="749808" y="291642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39287"/>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学籍番号・username・自分のURLを入力する。"/>
          <p:cNvSpPr txBox="1"/>
          <p:nvPr/>
        </p:nvSpPr>
        <p:spPr>
          <a:xfrm>
            <a:off x="1325880" y="2907283"/>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学籍番号・username・自分のURLを入力する。</a:t>
            </a:r>
          </a:p>
        </p:txBody>
      </p:sp>
      <p:sp>
        <p:nvSpPr>
          <p:cNvPr id="14" name="body:その他の必須項目も、フォームの案内に沿って入力します。"/>
          <p:cNvSpPr txBox="1"/>
          <p:nvPr/>
        </p:nvSpPr>
        <p:spPr>
          <a:xfrm>
            <a:off x="1325880" y="3430777"/>
            <a:ext cx="9893807" cy="399542"/>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53656D"/>
                </a:solidFill>
                <a:latin typeface="Meiryo"/>
              </a:defRPr>
            </a:pPr>
            <a:r>
              <a:rPr sz="2300" b="0">
                <a:solidFill>
                  <a:srgbClr val="53656D"/>
                </a:solidFill>
                <a:latin typeface="Meiryo"/>
                <a:ea typeface="Meiryo"/>
                <a:cs typeface="Meiryo"/>
              </a:rPr>
              <a:t>その他の必須項目も、フォームの案内に沿って入力します。</a:t>
            </a:r>
          </a:p>
        </p:txBody>
      </p:sp>
      <p:sp>
        <p:nvSpPr>
          <p:cNvPr id="15" name="Oval 14"/>
          <p:cNvSpPr/>
          <p:nvPr/>
        </p:nvSpPr>
        <p:spPr>
          <a:xfrm>
            <a:off x="749808" y="41412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64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送信し、完了画面を確かめる。"/>
          <p:cNvSpPr txBox="1"/>
          <p:nvPr/>
        </p:nvSpPr>
        <p:spPr>
          <a:xfrm>
            <a:off x="1325880" y="4132071"/>
            <a:ext cx="9893807" cy="459485"/>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送信し、完了画面を確かめる。</a:t>
            </a:r>
          </a:p>
        </p:txBody>
      </p:sp>
      <p:sp>
        <p:nvSpPr>
          <p:cNvPr id="18" name="body:この登録で、学生情報とGitHubの提出先を対応づけます。"/>
          <p:cNvSpPr txBox="1"/>
          <p:nvPr/>
        </p:nvSpPr>
        <p:spPr>
          <a:xfrm>
            <a:off x="1325880" y="465556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完了画面が出たら送信済みです。後で続きを進めるために保存先を控えます。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初回登録では、AIの会話全文やcommit URLを提出し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初回登録では、AIの会話全文やcommit URLを提出しません。</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30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学生の作業完了と、教員側の点検を分け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学生の作業完了と、教員側の点検を分ける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ircle-check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5358384" cy="3547872"/>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upload_007F80.png"/>
          <p:cNvPicPr>
            <a:picLocks noChangeAspect="1"/>
          </p:cNvPicPr>
          <p:nvPr/>
        </p:nvPicPr>
        <p:blipFill>
          <a:blip r:embed="rId4"/>
          <a:stretch>
            <a:fillRect/>
          </a:stretch>
        </p:blipFill>
        <p:spPr>
          <a:xfrm>
            <a:off x="841248" y="1947672"/>
            <a:ext cx="438912" cy="438912"/>
          </a:xfrm>
          <a:prstGeom prst="rect">
            <a:avLst/>
          </a:prstGeom>
        </p:spPr>
      </p:pic>
      <p:sp>
        <p:nvSpPr>
          <p:cNvPr id="9" name="body:学生が行うこと"/>
          <p:cNvSpPr txBox="1"/>
          <p:nvPr/>
        </p:nvSpPr>
        <p:spPr>
          <a:xfrm>
            <a:off x="841248" y="2642615"/>
            <a:ext cx="4864608"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学生が行うこと</a:t>
            </a:r>
          </a:p>
        </p:txBody>
      </p:sp>
      <p:sp>
        <p:nvSpPr>
          <p:cNvPr id="10" name="body:画像と利用記録を保存し、&#10;教員へ招待を送り、&#10;初回登録を送信します。"/>
          <p:cNvSpPr txBox="1"/>
          <p:nvPr/>
        </p:nvSpPr>
        <p:spPr>
          <a:xfrm>
            <a:off x="841248" y="3321557"/>
            <a:ext cx="4864608" cy="1152144"/>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画像と利用記録を保存し、</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教員へ招待を送り、</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初回登録を送信します。</a:t>
            </a:r>
          </a:p>
        </p:txBody>
      </p:sp>
      <p:sp>
        <p:nvSpPr>
          <p:cNvPr id="11" name="Rectangle 10"/>
          <p:cNvSpPr/>
          <p:nvPr/>
        </p:nvSpPr>
        <p:spPr>
          <a:xfrm>
            <a:off x="6217920" y="1700784"/>
            <a:ext cx="5367528" cy="3547872"/>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st-checks_007F80.png"/>
          <p:cNvPicPr>
            <a:picLocks noChangeAspect="1"/>
          </p:cNvPicPr>
          <p:nvPr/>
        </p:nvPicPr>
        <p:blipFill>
          <a:blip r:embed="rId5"/>
          <a:stretch>
            <a:fillRect/>
          </a:stretch>
        </p:blipFill>
        <p:spPr>
          <a:xfrm>
            <a:off x="6464808" y="1947672"/>
            <a:ext cx="438912" cy="438912"/>
          </a:xfrm>
          <a:prstGeom prst="rect">
            <a:avLst/>
          </a:prstGeom>
        </p:spPr>
      </p:pic>
      <p:sp>
        <p:nvSpPr>
          <p:cNvPr id="13" name="body:その後の点検"/>
          <p:cNvSpPr txBox="1"/>
          <p:nvPr/>
        </p:nvSpPr>
        <p:spPr>
          <a:xfrm>
            <a:off x="6464808" y="2642615"/>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その後の点検</a:t>
            </a:r>
          </a:p>
        </p:txBody>
      </p:sp>
      <p:sp>
        <p:nvSpPr>
          <p:cNvPr id="14" name="body:教員側で登録と保存先を&#10;まとめて確認します。&#10;結果は授業ページの案内に&#10;"/>
          <p:cNvSpPr txBox="1"/>
          <p:nvPr/>
        </p:nvSpPr>
        <p:spPr>
          <a:xfrm>
            <a:off x="6464808" y="3321557"/>
            <a:ext cx="4873752"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教員側で登録と保存先を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まとめて確認します。</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結果は授業ページの案内に</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従って受け取ります。</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2"/>
          <a:stretch>
            <a:fillRect/>
          </a:stretch>
        </p:blipFill>
        <p:spPr>
          <a:xfrm>
            <a:off x="749808" y="5751576"/>
            <a:ext cx="283464" cy="283464"/>
          </a:xfrm>
          <a:prstGeom prst="rect">
            <a:avLst/>
          </a:prstGeom>
        </p:spPr>
      </p:pic>
      <p:sp>
        <p:nvSpPr>
          <p:cNvPr id="17" name="result:結果がすぐ届かなくても、初回登録を何度も送らないでください。"/>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結果がすぐ届かなくても、初回登録を何度も送らないでください。</a:t>
            </a:r>
          </a:p>
        </p:txBody>
      </p:sp>
      <p:sp>
        <p:nvSpPr>
          <p:cNvPr id="18"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19"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0" name="footer:31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5 / 5　初回登録"/>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5 / 5　初回登録</a:t>
            </a:r>
          </a:p>
        </p:txBody>
      </p:sp>
      <p:sp>
        <p:nvSpPr>
          <p:cNvPr id="4" name="title:ここまでできたら、準備作業は完了で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ここまでできたら、準備作業は完了です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st-checks_007F80.png"/>
          <p:cNvPicPr>
            <a:picLocks noChangeAspect="1"/>
          </p:cNvPicPr>
          <p:nvPr/>
        </p:nvPicPr>
        <p:blipFill>
          <a:blip r:embed="rId2"/>
          <a:stretch>
            <a:fillRect/>
          </a:stretch>
        </p:blipFill>
        <p:spPr>
          <a:xfrm>
            <a:off x="11064240" y="740664"/>
            <a:ext cx="420624" cy="420624"/>
          </a:xfrm>
          <a:prstGeom prst="rect">
            <a:avLst/>
          </a:prstGeom>
        </p:spPr>
      </p:pic>
      <p:pic>
        <p:nvPicPr>
          <p:cNvPr id="7" name="Picture 6" descr="circle-check_007F80.png"/>
          <p:cNvPicPr>
            <a:picLocks noChangeAspect="1"/>
          </p:cNvPicPr>
          <p:nvPr/>
        </p:nvPicPr>
        <p:blipFill>
          <a:blip r:embed="rId4"/>
          <a:stretch>
            <a:fillRect/>
          </a:stretch>
        </p:blipFill>
        <p:spPr>
          <a:xfrm>
            <a:off x="768096" y="1732788"/>
            <a:ext cx="310896" cy="310896"/>
          </a:xfrm>
          <a:prstGeom prst="rect">
            <a:avLst/>
          </a:prstGeom>
        </p:spPr>
      </p:pic>
      <p:sp>
        <p:nvSpPr>
          <p:cNvPr id="8" name="body:自分の ai-learning が Private になっている。"/>
          <p:cNvSpPr txBox="1"/>
          <p:nvPr/>
        </p:nvSpPr>
        <p:spPr>
          <a:xfrm>
            <a:off x="1307592" y="1700784"/>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自分の ai-learning が Private になっている。</a:t>
            </a:r>
          </a:p>
        </p:txBody>
      </p:sp>
      <p:pic>
        <p:nvPicPr>
          <p:cNvPr id="9" name="Picture 8" descr="circle-check_007F80.png"/>
          <p:cNvPicPr>
            <a:picLocks noChangeAspect="1"/>
          </p:cNvPicPr>
          <p:nvPr/>
        </p:nvPicPr>
        <p:blipFill>
          <a:blip r:embed="rId4"/>
          <a:stretch>
            <a:fillRect/>
          </a:stretch>
        </p:blipFill>
        <p:spPr>
          <a:xfrm>
            <a:off x="768096" y="2455164"/>
            <a:ext cx="310896" cy="310896"/>
          </a:xfrm>
          <a:prstGeom prst="rect">
            <a:avLst/>
          </a:prstGeom>
        </p:spPr>
      </p:pic>
      <p:sp>
        <p:nvSpPr>
          <p:cNvPr id="10" name="body:setup に画像があり、GitHubで開ける。"/>
          <p:cNvSpPr txBox="1"/>
          <p:nvPr/>
        </p:nvSpPr>
        <p:spPr>
          <a:xfrm>
            <a:off x="1307592" y="2423160"/>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setup に画像があり、GitHubで開ける。</a:t>
            </a:r>
          </a:p>
        </p:txBody>
      </p:sp>
      <p:pic>
        <p:nvPicPr>
          <p:cNvPr id="11" name="Picture 10" descr="circle-check_007F80.png"/>
          <p:cNvPicPr>
            <a:picLocks noChangeAspect="1"/>
          </p:cNvPicPr>
          <p:nvPr/>
        </p:nvPicPr>
        <p:blipFill>
          <a:blip r:embed="rId4"/>
          <a:stretch>
            <a:fillRect/>
          </a:stretch>
        </p:blipFill>
        <p:spPr>
          <a:xfrm>
            <a:off x="768096" y="3177540"/>
            <a:ext cx="310896" cy="310896"/>
          </a:xfrm>
          <a:prstGeom prst="rect">
            <a:avLst/>
          </a:prstGeom>
        </p:spPr>
      </p:pic>
      <p:sp>
        <p:nvSpPr>
          <p:cNvPr id="12" name="body:setup/README.md に、自分の利用記録を保存した。"/>
          <p:cNvSpPr txBox="1"/>
          <p:nvPr/>
        </p:nvSpPr>
        <p:spPr>
          <a:xfrm>
            <a:off x="1307592" y="3145536"/>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setup/README.md に、自分の利用記録を保存した。</a:t>
            </a:r>
          </a:p>
        </p:txBody>
      </p:sp>
      <p:pic>
        <p:nvPicPr>
          <p:cNvPr id="13" name="Picture 12" descr="circle-check_007F80.png"/>
          <p:cNvPicPr>
            <a:picLocks noChangeAspect="1"/>
          </p:cNvPicPr>
          <p:nvPr/>
        </p:nvPicPr>
        <p:blipFill>
          <a:blip r:embed="rId4"/>
          <a:stretch>
            <a:fillRect/>
          </a:stretch>
        </p:blipFill>
        <p:spPr>
          <a:xfrm>
            <a:off x="768096" y="3899916"/>
            <a:ext cx="310896" cy="310896"/>
          </a:xfrm>
          <a:prstGeom prst="rect">
            <a:avLst/>
          </a:prstGeom>
        </p:spPr>
      </p:pic>
      <p:sp>
        <p:nvSpPr>
          <p:cNvPr id="14" name="body:tsuchiyatakahirolab へ招待を送った。"/>
          <p:cNvSpPr txBox="1"/>
          <p:nvPr/>
        </p:nvSpPr>
        <p:spPr>
          <a:xfrm>
            <a:off x="1307592" y="3867912"/>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tsuchiyatakahirolab へ招待を送った。</a:t>
            </a:r>
          </a:p>
        </p:txBody>
      </p:sp>
      <p:pic>
        <p:nvPicPr>
          <p:cNvPr id="15" name="Picture 14" descr="circle-check_007F80.png"/>
          <p:cNvPicPr>
            <a:picLocks noChangeAspect="1"/>
          </p:cNvPicPr>
          <p:nvPr/>
        </p:nvPicPr>
        <p:blipFill>
          <a:blip r:embed="rId4"/>
          <a:stretch>
            <a:fillRect/>
          </a:stretch>
        </p:blipFill>
        <p:spPr>
          <a:xfrm>
            <a:off x="768096" y="4622292"/>
            <a:ext cx="310896" cy="310896"/>
          </a:xfrm>
          <a:prstGeom prst="rect">
            <a:avLst/>
          </a:prstGeom>
        </p:spPr>
      </p:pic>
      <p:sp>
        <p:nvSpPr>
          <p:cNvPr id="16" name="body:大学アカウントで初回登録を送り、完了画面を見た。"/>
          <p:cNvSpPr txBox="1"/>
          <p:nvPr/>
        </p:nvSpPr>
        <p:spPr>
          <a:xfrm>
            <a:off x="1307592" y="4590288"/>
            <a:ext cx="10058400" cy="512064"/>
          </a:xfrm>
          <a:prstGeom prst="rect">
            <a:avLst/>
          </a:prstGeom>
          <a:noFill/>
        </p:spPr>
        <p:txBody>
          <a:bodyPr wrap="none" lIns="0" rIns="0" tIns="0" bIns="0" anchor="t">
            <a:spAutoFit/>
          </a:bodyPr>
          <a:lstStyle/>
          <a:p>
            <a:pPr>
              <a:lnSpc>
                <a:spcPct val="114000"/>
              </a:lnSpc>
              <a:spcBef>
                <a:spcPts val="0"/>
              </a:spcBef>
              <a:spcAft>
                <a:spcPts val="0"/>
              </a:spcAft>
              <a:defRPr sz="2600" b="0">
                <a:solidFill>
                  <a:srgbClr val="1D343E"/>
                </a:solidFill>
                <a:latin typeface="Meiryo"/>
              </a:defRPr>
            </a:pPr>
            <a:r>
              <a:rPr sz="2600" b="0">
                <a:solidFill>
                  <a:srgbClr val="1D343E"/>
                </a:solidFill>
                <a:latin typeface="Meiryo"/>
                <a:ea typeface="Meiryo"/>
                <a:cs typeface="Meiryo"/>
              </a:rPr>
              <a:t>大学アカウントで初回登録を送り、完了画面を見た。</a:t>
            </a:r>
          </a:p>
        </p:txBody>
      </p:sp>
      <p:sp>
        <p:nvSpPr>
          <p:cNvPr id="17" name="Rectangle 16"/>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19" name="result:この後は点検結果を確認し、修正の案内があれば該当する箇所を直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この後は点検結果を確認し、修正の案内があれば該当する箇所を直します。</a:t>
            </a:r>
          </a:p>
        </p:txBody>
      </p:sp>
      <p:sp>
        <p:nvSpPr>
          <p:cNvPr id="20"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1"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2" name="footer:32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提出と再開</a:t>
            </a:r>
          </a:p>
        </p:txBody>
      </p:sp>
      <p:sp>
        <p:nvSpPr>
          <p:cNvPr id="4" name="title:毎週は、その回の成果物を保存して提出す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毎週は、その回の成果物を保存して提出する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commit-horizontal_007F80.png"/>
          <p:cNvPicPr>
            <a:picLocks noChangeAspect="1"/>
          </p:cNvPicPr>
          <p:nvPr/>
        </p:nvPicPr>
        <p:blipFill>
          <a:blip r:embed="rId2"/>
          <a:stretch>
            <a:fillRect/>
          </a:stretch>
        </p:blipFill>
        <p:spPr>
          <a:xfrm>
            <a:off x="11064240" y="740664"/>
            <a:ext cx="420624" cy="420624"/>
          </a:xfrm>
          <a:prstGeom prst="rect">
            <a:avLst/>
          </a:prstGeom>
        </p:spPr>
      </p:pic>
      <p:sp>
        <p:nvSpPr>
          <p:cNvPr id="7" name="Oval 6"/>
          <p:cNvSpPr/>
          <p:nvPr/>
        </p:nvSpPr>
        <p:spPr>
          <a:xfrm>
            <a:off x="749808" y="169164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1"/>
          <p:cNvSpPr txBox="1"/>
          <p:nvPr/>
        </p:nvSpPr>
        <p:spPr>
          <a:xfrm>
            <a:off x="749808" y="1714500"/>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9" name="body:教員の演習シートを読む。"/>
          <p:cNvSpPr txBox="1"/>
          <p:nvPr/>
        </p:nvSpPr>
        <p:spPr>
          <a:xfrm>
            <a:off x="1325880" y="1682496"/>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その回の成果物と短い利用記録を、自分の保存先へ保存する。</a:t>
            </a:r>
          </a:p>
        </p:txBody>
      </p:sp>
      <p:sp>
        <p:nvSpPr>
          <p:cNvPr id="10" name="body:例：handouts/week01.md で、その回の課題を確認します。"/>
          <p:cNvSpPr txBox="1"/>
          <p:nvPr/>
        </p:nvSpPr>
        <p:spPr>
          <a:xfrm>
            <a:off x="1325880" y="2205990"/>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読む：教員のhandouts/week01.md。書く：自分のweek01/README.md。</a:t>
            </a:r>
          </a:p>
        </p:txBody>
      </p:sp>
      <p:sp>
        <p:nvSpPr>
          <p:cNvPr id="11" name="Oval 10"/>
          <p:cNvSpPr/>
          <p:nvPr/>
        </p:nvSpPr>
        <p:spPr>
          <a:xfrm>
            <a:off x="749808" y="2916427"/>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2"/>
          <p:cNvSpPr txBox="1"/>
          <p:nvPr/>
        </p:nvSpPr>
        <p:spPr>
          <a:xfrm>
            <a:off x="749808" y="2939287"/>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3" name="body:自分のフォルダへ、成果物と短い利用記録を保存する。"/>
          <p:cNvSpPr txBox="1"/>
          <p:nvPr/>
        </p:nvSpPr>
        <p:spPr>
          <a:xfrm>
            <a:off x="1325880" y="2907283"/>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Code →「○ commits」→ 一番上のcommitの説明を押す。</a:t>
            </a:r>
          </a:p>
        </p:txBody>
      </p:sp>
      <p:sp>
        <p:nvSpPr>
          <p:cNvPr id="14" name="body:例：week01/README.md と、必要な画像・文書などを保存しま"/>
          <p:cNvSpPr txBox="1"/>
          <p:nvPr/>
        </p:nvSpPr>
        <p:spPr>
          <a:xfrm>
            <a:off x="1325880" y="3430777"/>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自分のai-learningに戻り、ファイル一覧の右上にある履歴を開きます。</a:t>
            </a:r>
          </a:p>
        </p:txBody>
      </p:sp>
      <p:sp>
        <p:nvSpPr>
          <p:cNvPr id="15" name="Oval 14"/>
          <p:cNvSpPr/>
          <p:nvPr/>
        </p:nvSpPr>
        <p:spPr>
          <a:xfrm>
            <a:off x="749808" y="4141215"/>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3"/>
          <p:cNvSpPr txBox="1"/>
          <p:nvPr/>
        </p:nvSpPr>
        <p:spPr>
          <a:xfrm>
            <a:off x="749808" y="4164075"/>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7" name="body:全部保存した後のcommit URLを、週次フォームへ送る。"/>
          <p:cNvSpPr txBox="1"/>
          <p:nvPr/>
        </p:nvSpPr>
        <p:spPr>
          <a:xfrm>
            <a:off x="1325880" y="4132071"/>
            <a:ext cx="9893807" cy="459485"/>
          </a:xfrm>
          <a:prstGeom prst="rect">
            <a:avLst/>
          </a:prstGeom>
          <a:noFill/>
        </p:spPr>
        <p:txBody>
          <a:bodyPr wrap="none" lIns="0" tIns="0" rIns="0" bIns="0" anchor="t">
            <a:noAutofit/>
          </a:bodyPr>
          <a:lstStyle/>
          <a:p>
            <a:pPr>
              <a:lnSpc>
                <a:spcPct val="114000"/>
              </a:lnSpc>
              <a:spcBef>
                <a:spcPts val="0"/>
              </a:spcBef>
              <a:spcAft>
                <a:spcPts val="0"/>
              </a:spcAft>
              <a:buNone/>
              <a:defRPr sz="2700" b="1">
                <a:solidFill>
                  <a:srgbClr val="1D343E"/>
                </a:solidFill>
                <a:latin typeface="Meiryo"/>
                <a:ea typeface="Meiryo"/>
                <a:cs typeface="Meiryo"/>
              </a:defRPr>
            </a:pPr>
            <a:r>
              <a:rPr sz="2700" b="1">
                <a:solidFill>
                  <a:srgbClr val="1D343E"/>
                </a:solidFill>
                <a:latin typeface="Meiryo"/>
                <a:ea typeface="Meiryo"/>
                <a:cs typeface="Meiryo"/>
              </a:rPr>
              <a:t>URLをコピーし、その回の週次フォームへ送る。</a:t>
            </a:r>
          </a:p>
        </p:txBody>
      </p:sp>
      <p:sp>
        <p:nvSpPr>
          <p:cNvPr id="18" name="body:最後のcommitを開き、/commit/ を含むURLをコピーします。"/>
          <p:cNvSpPr txBox="1"/>
          <p:nvPr/>
        </p:nvSpPr>
        <p:spPr>
          <a:xfrm>
            <a:off x="1325880" y="4655565"/>
            <a:ext cx="9893807" cy="399542"/>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53656D"/>
                </a:solidFill>
                <a:latin typeface="Meiryo"/>
                <a:ea typeface="Meiryo"/>
                <a:cs typeface="Meiryo"/>
              </a:defRPr>
            </a:pPr>
            <a:r>
              <a:rPr sz="2300" b="0">
                <a:solidFill>
                  <a:srgbClr val="53656D"/>
                </a:solidFill>
                <a:latin typeface="Meiryo"/>
                <a:ea typeface="Meiryo"/>
                <a:cs typeface="Meiryo"/>
              </a:rPr>
              <a:t>URLに /commit/ と長い英数字があるか確認し、貼り付けます。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1" name="result:毎週は、その回の成果物と短いAI利用記録を提出しま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提出前にBrowse filesで、その回の必要な全ファイルが入っているか確認します。</a:t>
            </a:r>
          </a:p>
        </p:txBody>
      </p:sp>
      <p:sp>
        <p:nvSpPr>
          <p:cNvPr id="22"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33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提出と再開</a:t>
            </a:r>
          </a:p>
        </p:txBody>
      </p:sp>
      <p:sp>
        <p:nvSpPr>
          <p:cNvPr id="4" name="title:第2回以降も、途中から続けられま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第2回以降も、途中から続けられます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git-branch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eyboard_007F80.png"/>
          <p:cNvPicPr>
            <a:picLocks noChangeAspect="1"/>
          </p:cNvPicPr>
          <p:nvPr/>
        </p:nvPicPr>
        <p:blipFill>
          <a:blip r:embed="rId4"/>
          <a:stretch>
            <a:fillRect/>
          </a:stretch>
        </p:blipFill>
        <p:spPr>
          <a:xfrm>
            <a:off x="841248" y="1947672"/>
            <a:ext cx="438912" cy="438912"/>
          </a:xfrm>
          <a:prstGeom prst="rect">
            <a:avLst/>
          </a:prstGeom>
        </p:spPr>
      </p:pic>
      <p:sp>
        <p:nvSpPr>
          <p:cNvPr id="9" name="body:初めての人"/>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初めての人</a:t>
            </a:r>
          </a:p>
        </p:txBody>
      </p:sp>
      <p:sp>
        <p:nvSpPr>
          <p:cNvPr id="10" name="body:最初から進める。&#10;同じフォームで&#10;初回登録を送る。"/>
          <p:cNvSpPr txBox="1"/>
          <p:nvPr/>
        </p:nvSpPr>
        <p:spPr>
          <a:xfrm>
            <a:off x="841248" y="3321557"/>
            <a:ext cx="3017520" cy="1107186"/>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最初から進める。</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同じフォームで</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初回登録を送る。</a:t>
            </a:r>
          </a:p>
        </p:txBody>
      </p:sp>
      <p:sp>
        <p:nvSpPr>
          <p:cNvPr id="11" name="Rectangle 10"/>
          <p:cNvSpPr/>
          <p:nvPr/>
        </p:nvSpPr>
        <p:spPr>
          <a:xfrm>
            <a:off x="4343400" y="1700784"/>
            <a:ext cx="3511296"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5"/>
          <a:stretch>
            <a:fillRect/>
          </a:stretch>
        </p:blipFill>
        <p:spPr>
          <a:xfrm>
            <a:off x="4590288" y="1947672"/>
            <a:ext cx="438912" cy="438912"/>
          </a:xfrm>
          <a:prstGeom prst="rect">
            <a:avLst/>
          </a:prstGeom>
        </p:spPr>
      </p:pic>
      <p:sp>
        <p:nvSpPr>
          <p:cNvPr id="13" name="body:続きからの人"/>
          <p:cNvSpPr txBox="1"/>
          <p:nvPr/>
        </p:nvSpPr>
        <p:spPr>
          <a:xfrm>
            <a:off x="459028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続きからの人</a:t>
            </a:r>
          </a:p>
        </p:txBody>
      </p:sp>
      <p:sp>
        <p:nvSpPr>
          <p:cNvPr id="14" name="body:今のai-learningで、&#10;未完了の手順から&#10;続きを進める。&#10;作り直"/>
          <p:cNvSpPr txBox="1"/>
          <p:nvPr/>
        </p:nvSpPr>
        <p:spPr>
          <a:xfrm>
            <a:off x="4590288" y="3321557"/>
            <a:ext cx="3017520" cy="1451864"/>
          </a:xfrm>
          <a:prstGeom prst="rect">
            <a:avLst/>
          </a:prstGeom>
          <a:noFill/>
        </p:spPr>
        <p:txBody>
          <a:bodyPr wrap="none" lIns="0" rIns="0" tIns="0" bIns="0" anchor="t">
            <a:spAutoFit/>
          </a:bodyPr>
          <a:lstStyle/>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今のai-learningで、</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未完了の手順から</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続きを進める。</a:t>
            </a:r>
          </a:p>
          <a:p>
            <a:pPr>
              <a:lnSpc>
                <a:spcPct val="114000"/>
              </a:lnSpc>
              <a:spcBef>
                <a:spcPts val="0"/>
              </a:spcBef>
              <a:spcAft>
                <a:spcPts val="0"/>
              </a:spcAft>
              <a:defRPr sz="2300" b="0">
                <a:solidFill>
                  <a:srgbClr val="1D343E"/>
                </a:solidFill>
                <a:latin typeface="Meiryo"/>
              </a:defRPr>
            </a:pPr>
            <a:r>
              <a:rPr sz="2300" b="0">
                <a:solidFill>
                  <a:srgbClr val="1D343E"/>
                </a:solidFill>
                <a:latin typeface="Meiryo"/>
                <a:ea typeface="Meiryo"/>
                <a:cs typeface="Meiryo"/>
              </a:rPr>
              <a:t>作り直しは不要。</a:t>
            </a:r>
          </a:p>
        </p:txBody>
      </p:sp>
      <p:sp>
        <p:nvSpPr>
          <p:cNvPr id="15" name="Rectangle 14"/>
          <p:cNvSpPr/>
          <p:nvPr/>
        </p:nvSpPr>
        <p:spPr>
          <a:xfrm>
            <a:off x="8092440" y="1700784"/>
            <a:ext cx="349300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ile-text_007F80.png"/>
          <p:cNvPicPr>
            <a:picLocks noChangeAspect="1"/>
          </p:cNvPicPr>
          <p:nvPr/>
        </p:nvPicPr>
        <p:blipFill>
          <a:blip r:embed="rId6"/>
          <a:stretch>
            <a:fillRect/>
          </a:stretch>
        </p:blipFill>
        <p:spPr>
          <a:xfrm>
            <a:off x="8339327" y="1947672"/>
            <a:ext cx="438912" cy="438912"/>
          </a:xfrm>
          <a:prstGeom prst="rect">
            <a:avLst/>
          </a:prstGeom>
        </p:spPr>
      </p:pic>
      <p:sp>
        <p:nvSpPr>
          <p:cNvPr id="17" name="body:修正する人"/>
          <p:cNvSpPr txBox="1"/>
          <p:nvPr/>
        </p:nvSpPr>
        <p:spPr>
          <a:xfrm>
            <a:off x="8339327" y="2642615"/>
            <a:ext cx="299923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修正する人</a:t>
            </a:r>
          </a:p>
        </p:txBody>
      </p:sp>
      <p:sp>
        <p:nvSpPr>
          <p:cNvPr id="18" name="body:指定箇所を直して&#10;保存する。&#10;URLの間違いは、&#10;登録情報も直す。"/>
          <p:cNvSpPr txBox="1"/>
          <p:nvPr/>
        </p:nvSpPr>
        <p:spPr>
          <a:xfrm>
            <a:off x="8339327" y="3321557"/>
            <a:ext cx="2999232" cy="1451864"/>
          </a:xfrm>
          <a:prstGeom prst="rect">
            <a:avLst/>
          </a:prstGeom>
          <a:noFill/>
        </p:spPr>
        <p:txBody>
          <a:bodyPr wrap="none" lIns="0" tIns="0" rIns="0" bIns="0" anchor="t">
            <a:noAutofit/>
          </a:bodyPr>
          <a:lstStyle/>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画像・記録を直し、</a:t>
            </a:r>
          </a:p>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保存する。</a:t>
            </a:r>
          </a:p>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usernameやURLの</a:t>
            </a:r>
          </a:p>
          <a:p>
            <a:pPr>
              <a:lnSpc>
                <a:spcPct val="114000"/>
              </a:lnSpc>
              <a:spcBef>
                <a:spcPts val="0"/>
              </a:spcBef>
              <a:spcAft>
                <a:spcPts val="0"/>
              </a:spcAft>
              <a:buNone/>
              <a:defRPr sz="2300" b="0">
                <a:solidFill>
                  <a:srgbClr val="1D343E"/>
                </a:solidFill>
                <a:latin typeface="Meiryo"/>
                <a:ea typeface="Meiryo"/>
                <a:cs typeface="Meiryo"/>
              </a:defRPr>
            </a:pPr>
            <a:r>
              <a:rPr sz="2300" b="0">
                <a:solidFill>
                  <a:srgbClr val="1D343E"/>
                </a:solidFill>
                <a:latin typeface="Meiryo"/>
                <a:ea typeface="Meiryo"/>
                <a:cs typeface="Meiryo"/>
              </a:rPr>
              <a:t>誤りは登録も直す。</a:t>
            </a:r>
          </a:p>
        </p:txBody>
      </p:sp>
      <p:sp>
        <p:nvSpPr>
          <p:cNvPr id="19" name="Rectangle 18"/>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ircle-check_007F80.png"/>
          <p:cNvPicPr>
            <a:picLocks noChangeAspect="1"/>
          </p:cNvPicPr>
          <p:nvPr/>
        </p:nvPicPr>
        <p:blipFill>
          <a:blip r:embed="rId7"/>
          <a:stretch>
            <a:fillRect/>
          </a:stretch>
        </p:blipFill>
        <p:spPr>
          <a:xfrm>
            <a:off x="749808" y="5751576"/>
            <a:ext cx="283464" cy="283464"/>
          </a:xfrm>
          <a:prstGeom prst="rect">
            <a:avLst/>
          </a:prstGeom>
        </p:spPr>
      </p:pic>
      <p:sp>
        <p:nvSpPr>
          <p:cNvPr id="21" name="result:画像・記録だけの修正なら、初回登録の再送は不要です。"/>
          <p:cNvSpPr txBox="1"/>
          <p:nvPr/>
        </p:nvSpPr>
        <p:spPr>
          <a:xfrm>
            <a:off x="1179576" y="5710428"/>
            <a:ext cx="10168128" cy="438912"/>
          </a:xfrm>
          <a:prstGeom prst="rect">
            <a:avLst/>
          </a:prstGeom>
          <a:noFill/>
        </p:spPr>
        <p:txBody>
          <a:bodyPr wrap="none" lIns="0" tIns="0" rIns="0" bIns="0" anchor="t">
            <a:noAutofit/>
          </a:bodyPr>
          <a:lstStyle/>
          <a:p>
            <a:pPr>
              <a:lnSpc>
                <a:spcPct val="114000"/>
              </a:lnSpc>
              <a:spcBef>
                <a:spcPts val="0"/>
              </a:spcBef>
              <a:spcAft>
                <a:spcPts val="0"/>
              </a:spcAft>
              <a:buNone/>
              <a:defRPr sz="2200" b="0">
                <a:solidFill>
                  <a:srgbClr val="1D343E"/>
                </a:solidFill>
                <a:latin typeface="Meiryo"/>
                <a:ea typeface="Meiryo"/>
                <a:cs typeface="Meiryo"/>
              </a:defRPr>
            </a:pPr>
            <a:r>
              <a:rPr sz="2200" b="0">
                <a:solidFill>
                  <a:srgbClr val="1D343E"/>
                </a:solidFill>
                <a:latin typeface="Meiryo"/>
                <a:ea typeface="Meiryo"/>
                <a:cs typeface="Meiryo"/>
              </a:rPr>
              <a:t>画像・記録だけの修正は再送不要。過去の課題・締切は教員に確認します。</a:t>
            </a:r>
          </a:p>
        </p:txBody>
      </p:sp>
      <p:sp>
        <p:nvSpPr>
          <p:cNvPr id="22" name="tag:手順一覧へ">
            <a:hlinkClick action="ppaction://hlinksldjump" r:id="rId8"/>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34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提出と再開</a:t>
            </a:r>
          </a:p>
        </p:txBody>
      </p:sp>
      <p:sp>
        <p:nvSpPr>
          <p:cNvPr id="4" name="title:困ったら、止まった画面を確かめ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困ったら、止まった画面を確かめる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3511296"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ck-keyhole_007F80.png"/>
          <p:cNvPicPr>
            <a:picLocks noChangeAspect="1"/>
          </p:cNvPicPr>
          <p:nvPr/>
        </p:nvPicPr>
        <p:blipFill>
          <a:blip r:embed="rId4"/>
          <a:stretch>
            <a:fillRect/>
          </a:stretch>
        </p:blipFill>
        <p:spPr>
          <a:xfrm>
            <a:off x="841248" y="1947672"/>
            <a:ext cx="438912" cy="438912"/>
          </a:xfrm>
          <a:prstGeom prst="rect">
            <a:avLst/>
          </a:prstGeom>
        </p:spPr>
      </p:pic>
      <p:sp>
        <p:nvSpPr>
          <p:cNvPr id="9" name="body:ログインできない"/>
          <p:cNvSpPr txBox="1"/>
          <p:nvPr/>
        </p:nvSpPr>
        <p:spPr>
          <a:xfrm>
            <a:off x="84124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ログインできない</a:t>
            </a:r>
          </a:p>
        </p:txBody>
      </p:sp>
      <p:sp>
        <p:nvSpPr>
          <p:cNvPr id="10" name="body:大学アカウントへ&#10;切り替え、&#10;授業ページから&#10;開き直す。"/>
          <p:cNvSpPr txBox="1"/>
          <p:nvPr/>
        </p:nvSpPr>
        <p:spPr>
          <a:xfrm>
            <a:off x="841248" y="3321557"/>
            <a:ext cx="3017520" cy="1511808"/>
          </a:xfrm>
          <a:prstGeom prst="rect">
            <a:avLst/>
          </a:prstGeom>
          <a:noFill/>
        </p:spPr>
        <p:txBody>
          <a:bodyPr wrap="none" lIns="0" tIns="0" rIns="0" bIns="0" anchor="t">
            <a:noAutofit/>
          </a:bodyPr>
          <a:lstStyle/>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授業：大学Google。</a:t>
            </a:r>
          </a:p>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GitHub：別アカウント。</a:t>
            </a:r>
          </a:p>
          <a:p>
            <a:pPr>
              <a:lnSpc>
                <a:spcPct val="114000"/>
              </a:lnSpc>
              <a:spcBef>
                <a:spcPts val="0"/>
              </a:spcBef>
              <a:spcAft>
                <a:spcPts val="0"/>
              </a:spcAft>
              <a:buNone/>
              <a:defRPr sz="2400" b="0">
                <a:solidFill>
                  <a:srgbClr val="1D343E"/>
                </a:solidFill>
                <a:latin typeface="Meiryo"/>
                <a:ea typeface="Meiryo"/>
                <a:cs typeface="Meiryo"/>
              </a:defRPr>
            </a:pPr>
            <a:r>
              <a:rPr sz="2400" b="0">
                <a:solidFill>
                  <a:srgbClr val="1D343E"/>
                </a:solidFill>
                <a:latin typeface="Meiryo"/>
                <a:ea typeface="Meiryo"/>
                <a:cs typeface="Meiryo"/>
              </a:rPr>
              <a:t>5〜8ページを確認。</a:t>
            </a:r>
          </a:p>
        </p:txBody>
      </p:sp>
      <p:sp>
        <p:nvSpPr>
          <p:cNvPr id="11" name="Rectangle 10"/>
          <p:cNvSpPr/>
          <p:nvPr/>
        </p:nvSpPr>
        <p:spPr>
          <a:xfrm>
            <a:off x="4343400" y="1700784"/>
            <a:ext cx="3511296" cy="361188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5"/>
          <a:stretch>
            <a:fillRect/>
          </a:stretch>
        </p:blipFill>
        <p:spPr>
          <a:xfrm>
            <a:off x="4590288" y="1947672"/>
            <a:ext cx="438912" cy="438912"/>
          </a:xfrm>
          <a:prstGeom prst="rect">
            <a:avLst/>
          </a:prstGeom>
        </p:spPr>
      </p:pic>
      <p:sp>
        <p:nvSpPr>
          <p:cNvPr id="13" name="body:編集できない"/>
          <p:cNvSpPr txBox="1"/>
          <p:nvPr/>
        </p:nvSpPr>
        <p:spPr>
          <a:xfrm>
            <a:off x="4590288" y="2642615"/>
            <a:ext cx="3017520"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編集できない</a:t>
            </a:r>
          </a:p>
        </p:txBody>
      </p:sp>
      <p:sp>
        <p:nvSpPr>
          <p:cNvPr id="14" name="body:自分の保存先か&#10;確かめる。&#10;教員のひな形では&#10;作業しない。"/>
          <p:cNvSpPr txBox="1"/>
          <p:nvPr/>
        </p:nvSpPr>
        <p:spPr>
          <a:xfrm>
            <a:off x="4590288" y="3321557"/>
            <a:ext cx="3017520"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自分の保存先か</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確かめる。</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教員のひな形では</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作業しない。</a:t>
            </a:r>
          </a:p>
        </p:txBody>
      </p:sp>
      <p:sp>
        <p:nvSpPr>
          <p:cNvPr id="15" name="Rectangle 14"/>
          <p:cNvSpPr/>
          <p:nvPr/>
        </p:nvSpPr>
        <p:spPr>
          <a:xfrm>
            <a:off x="8092440" y="1700784"/>
            <a:ext cx="3493008" cy="3611880"/>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pload_007F80.png"/>
          <p:cNvPicPr>
            <a:picLocks noChangeAspect="1"/>
          </p:cNvPicPr>
          <p:nvPr/>
        </p:nvPicPr>
        <p:blipFill>
          <a:blip r:embed="rId6"/>
          <a:stretch>
            <a:fillRect/>
          </a:stretch>
        </p:blipFill>
        <p:spPr>
          <a:xfrm>
            <a:off x="8339327" y="1947672"/>
            <a:ext cx="438912" cy="438912"/>
          </a:xfrm>
          <a:prstGeom prst="rect">
            <a:avLst/>
          </a:prstGeom>
        </p:spPr>
      </p:pic>
      <p:sp>
        <p:nvSpPr>
          <p:cNvPr id="17" name="body:保存できない"/>
          <p:cNvSpPr txBox="1"/>
          <p:nvPr/>
        </p:nvSpPr>
        <p:spPr>
          <a:xfrm>
            <a:off x="8339327" y="2642615"/>
            <a:ext cx="299923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保存できない</a:t>
            </a:r>
          </a:p>
        </p:txBody>
      </p:sp>
      <p:sp>
        <p:nvSpPr>
          <p:cNvPr id="18" name="body:エラーの文と&#10;この資料の&#10;ページ番号を&#10;教員に伝える。"/>
          <p:cNvSpPr txBox="1"/>
          <p:nvPr/>
        </p:nvSpPr>
        <p:spPr>
          <a:xfrm>
            <a:off x="8339327" y="3321557"/>
            <a:ext cx="2999232"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エラーの文と</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この資料の</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ページ番号を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教員に伝える。</a:t>
            </a:r>
          </a:p>
        </p:txBody>
      </p:sp>
      <p:sp>
        <p:nvSpPr>
          <p:cNvPr id="19" name="Rectangle 18"/>
          <p:cNvSpPr/>
          <p:nvPr/>
        </p:nvSpPr>
        <p:spPr>
          <a:xfrm>
            <a:off x="594360" y="5605272"/>
            <a:ext cx="11000232" cy="630936"/>
          </a:xfrm>
          <a:prstGeom prst="rect">
            <a:avLst/>
          </a:prstGeom>
          <a:solidFill>
            <a:srgbClr val="FFF6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triangle-alert_9A6113.png"/>
          <p:cNvPicPr>
            <a:picLocks noChangeAspect="1"/>
          </p:cNvPicPr>
          <p:nvPr/>
        </p:nvPicPr>
        <p:blipFill>
          <a:blip r:embed="rId7"/>
          <a:stretch>
            <a:fillRect/>
          </a:stretch>
        </p:blipFill>
        <p:spPr>
          <a:xfrm>
            <a:off x="749808" y="5751576"/>
            <a:ext cx="283464" cy="283464"/>
          </a:xfrm>
          <a:prstGeom prst="rect">
            <a:avLst/>
          </a:prstGeom>
        </p:spPr>
      </p:pic>
      <p:sp>
        <p:nvSpPr>
          <p:cNvPr id="21" name="result:パスワード・ログイン認証コード・個人情報は、見せる画面から隠し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9A6113"/>
                </a:solidFill>
                <a:latin typeface="Meiryo"/>
              </a:defRPr>
            </a:pPr>
            <a:r>
              <a:rPr sz="2200" b="0">
                <a:solidFill>
                  <a:srgbClr val="9A6113"/>
                </a:solidFill>
                <a:latin typeface="Meiryo"/>
                <a:ea typeface="Meiryo"/>
                <a:cs typeface="Meiryo"/>
              </a:rPr>
              <a:t>パスワード・ログイン認証コード・個人情報は、見せる画面から隠します。</a:t>
            </a:r>
          </a:p>
        </p:txBody>
      </p:sp>
      <p:sp>
        <p:nvSpPr>
          <p:cNvPr id="22" name="tag:手順一覧へ">
            <a:hlinkClick action="ppaction://hlinksldjump" r:id="rId8"/>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3"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4" name="footer:35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任意の操作</a:t>
            </a:r>
          </a:p>
        </p:txBody>
      </p:sp>
      <p:sp>
        <p:nvSpPr>
          <p:cNvPr id="4" name="title:特典の申請と、お気に入り登録は任意です"/>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特典の申請と、お気に入り登録は任意です</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00784"/>
            <a:ext cx="5358384" cy="3584448"/>
          </a:xfrm>
          <a:prstGeom prst="rect">
            <a:avLst/>
          </a:prstGeom>
          <a:solidFill>
            <a:srgbClr val="F5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book-open_007F80.png"/>
          <p:cNvPicPr>
            <a:picLocks noChangeAspect="1"/>
          </p:cNvPicPr>
          <p:nvPr/>
        </p:nvPicPr>
        <p:blipFill>
          <a:blip r:embed="rId2"/>
          <a:stretch>
            <a:fillRect/>
          </a:stretch>
        </p:blipFill>
        <p:spPr>
          <a:xfrm>
            <a:off x="841248" y="1947672"/>
            <a:ext cx="438912" cy="438912"/>
          </a:xfrm>
          <a:prstGeom prst="rect">
            <a:avLst/>
          </a:prstGeom>
        </p:spPr>
      </p:pic>
      <p:sp>
        <p:nvSpPr>
          <p:cNvPr id="9" name="body:学生向け特典を調べる"/>
          <p:cNvSpPr txBox="1"/>
          <p:nvPr/>
        </p:nvSpPr>
        <p:spPr>
          <a:xfrm>
            <a:off x="841248" y="2642615"/>
            <a:ext cx="4864608"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u="sng">
                <a:solidFill>
                  <a:srgbClr val="007F83"/>
                </a:solidFill>
                <a:latin typeface="Meiryo"/>
                <a:ea typeface="Meiryo"/>
                <a:cs typeface="Meiryo"/>
                <a:hlinkClick r:id="rIdHandson9"/>
              </a:rPr>
              <a:t>学生向け特典を調べる</a:t>
            </a:r>
          </a:p>
        </p:txBody>
      </p:sp>
      <p:sp>
        <p:nvSpPr>
          <p:cNvPr id="10" name="body:GitHub Educationの&#10;公式ページで、現在の特典を&#10;確認しま"/>
          <p:cNvSpPr txBox="1"/>
          <p:nvPr/>
        </p:nvSpPr>
        <p:spPr>
          <a:xfrm>
            <a:off x="841248" y="3321557"/>
            <a:ext cx="4864608"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GitHub Educationの</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公式ページで、現在の特典を</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確認します。審査を待たずに</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授業へ参加できます。</a:t>
            </a:r>
          </a:p>
        </p:txBody>
      </p:sp>
      <p:sp>
        <p:nvSpPr>
          <p:cNvPr id="11" name="Rectangle 10"/>
          <p:cNvSpPr/>
          <p:nvPr/>
        </p:nvSpPr>
        <p:spPr>
          <a:xfrm>
            <a:off x="6217920" y="1700784"/>
            <a:ext cx="5367528" cy="3584448"/>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older_007F80.png"/>
          <p:cNvPicPr>
            <a:picLocks noChangeAspect="1"/>
          </p:cNvPicPr>
          <p:nvPr/>
        </p:nvPicPr>
        <p:blipFill>
          <a:blip r:embed="rId4"/>
          <a:stretch>
            <a:fillRect/>
          </a:stretch>
        </p:blipFill>
        <p:spPr>
          <a:xfrm>
            <a:off x="6464808" y="1947672"/>
            <a:ext cx="438912" cy="438912"/>
          </a:xfrm>
          <a:prstGeom prst="rect">
            <a:avLst/>
          </a:prstGeom>
        </p:spPr>
      </p:pic>
      <p:sp>
        <p:nvSpPr>
          <p:cNvPr id="13" name="body:教材を開きやすくする"/>
          <p:cNvSpPr txBox="1"/>
          <p:nvPr/>
        </p:nvSpPr>
        <p:spPr>
          <a:xfrm>
            <a:off x="6464808" y="2642615"/>
            <a:ext cx="4873752" cy="477773"/>
          </a:xfrm>
          <a:prstGeom prst="rect">
            <a:avLst/>
          </a:prstGeom>
          <a:noFill/>
        </p:spPr>
        <p:txBody>
          <a:bodyPr wrap="none" lIns="0" rIns="0" tIns="0" bIns="0" anchor="t">
            <a:spAutoFit/>
          </a:bodyPr>
          <a:lstStyle/>
          <a:p>
            <a:pPr>
              <a:lnSpc>
                <a:spcPct val="114000"/>
              </a:lnSpc>
              <a:spcBef>
                <a:spcPts val="0"/>
              </a:spcBef>
              <a:spcAft>
                <a:spcPts val="0"/>
              </a:spcAft>
              <a:defRPr sz="2700" b="1">
                <a:solidFill>
                  <a:srgbClr val="1D343E"/>
                </a:solidFill>
                <a:latin typeface="Meiryo"/>
              </a:defRPr>
            </a:pPr>
            <a:r>
              <a:rPr sz="2700" b="1">
                <a:solidFill>
                  <a:srgbClr val="1D343E"/>
                </a:solidFill>
                <a:latin typeface="Meiryo"/>
                <a:ea typeface="Meiryo"/>
                <a:cs typeface="Meiryo"/>
              </a:rPr>
              <a:t>教材を開きやすくする</a:t>
            </a:r>
          </a:p>
        </p:txBody>
      </p:sp>
      <p:sp>
        <p:nvSpPr>
          <p:cNvPr id="14" name="body:教材をブラウザの&#10;お気に入りに登録すると、&#10;次の回も開きやすくなります。"/>
          <p:cNvSpPr txBox="1"/>
          <p:nvPr/>
        </p:nvSpPr>
        <p:spPr>
          <a:xfrm>
            <a:off x="6464808" y="3321557"/>
            <a:ext cx="4873752" cy="1511808"/>
          </a:xfrm>
          <a:prstGeom prst="rect">
            <a:avLst/>
          </a:prstGeom>
          <a:noFill/>
        </p:spPr>
        <p:txBody>
          <a:bodyPr wrap="none" lIns="0" rIns="0" tIns="0" bIns="0" anchor="t">
            <a:spAutoFit/>
          </a:bodyPr>
          <a:lstStyle/>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教材をブラウザの</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お気に入りに登録すると、</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次の回も開きやすくなります。</a:t>
            </a:r>
          </a:p>
          <a:p>
            <a:pPr>
              <a:lnSpc>
                <a:spcPct val="114000"/>
              </a:lnSpc>
              <a:spcBef>
                <a:spcPts val="0"/>
              </a:spcBef>
              <a:spcAft>
                <a:spcPts val="0"/>
              </a:spcAft>
              <a:defRPr sz="2400" b="0">
                <a:solidFill>
                  <a:srgbClr val="1D343E"/>
                </a:solidFill>
                <a:latin typeface="Meiryo"/>
              </a:defRPr>
            </a:pPr>
            <a:r>
              <a:rPr sz="2400" b="0">
                <a:solidFill>
                  <a:srgbClr val="1D343E"/>
                </a:solidFill>
                <a:latin typeface="Meiryo"/>
                <a:ea typeface="Meiryo"/>
                <a:cs typeface="Meiryo"/>
              </a:rPr>
              <a:t>GitHubのStarも任意です。</a:t>
            </a:r>
          </a:p>
        </p:txBody>
      </p:sp>
      <p:sp>
        <p:nvSpPr>
          <p:cNvPr id="15" name="Rectangle 14"/>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ircle-check_007F80.png"/>
          <p:cNvPicPr>
            <a:picLocks noChangeAspect="1"/>
          </p:cNvPicPr>
          <p:nvPr/>
        </p:nvPicPr>
        <p:blipFill>
          <a:blip r:embed="rId5"/>
          <a:stretch>
            <a:fillRect/>
          </a:stretch>
        </p:blipFill>
        <p:spPr>
          <a:xfrm>
            <a:off x="749808" y="5751576"/>
            <a:ext cx="283464" cy="283464"/>
          </a:xfrm>
          <a:prstGeom prst="rect">
            <a:avLst/>
          </a:prstGeom>
        </p:spPr>
      </p:pic>
      <p:sp>
        <p:nvSpPr>
          <p:cNvPr id="17" name="result:特典の取得、Star、有料プランへの契約は、準備完了の条件に含めません。"/>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特典の取得、Star、有料プランへの契約は、準備完了の条件に含めません。</a:t>
            </a:r>
          </a:p>
        </p:txBody>
      </p:sp>
      <p:sp>
        <p:nvSpPr>
          <p:cNvPr id="18" name="tag:手順一覧へ">
            <a:hlinkClick action="ppaction://hlinksldjump" r:id="rId6"/>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19"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0" name="footer:36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ag:はじめに"/>
          <p:cNvSpPr txBox="1"/>
          <p:nvPr/>
        </p:nvSpPr>
        <p:spPr>
          <a:xfrm>
            <a:off x="594360" y="246888"/>
            <a:ext cx="9144000" cy="342900"/>
          </a:xfrm>
          <a:prstGeom prst="rect">
            <a:avLst/>
          </a:prstGeom>
          <a:noFill/>
        </p:spPr>
        <p:txBody>
          <a:bodyPr wrap="none" lIns="0" rIns="0" tIns="0" bIns="0" anchor="t">
            <a:spAutoFit/>
          </a:bodyPr>
          <a:lstStyle/>
          <a:p>
            <a:pPr>
              <a:lnSpc>
                <a:spcPct val="114000"/>
              </a:lnSpc>
              <a:spcBef>
                <a:spcPts val="0"/>
              </a:spcBef>
              <a:spcAft>
                <a:spcPts val="0"/>
              </a:spcAft>
              <a:defRPr sz="1800" b="1">
                <a:solidFill>
                  <a:srgbClr val="007F80"/>
                </a:solidFill>
                <a:latin typeface="Meiryo"/>
              </a:defRPr>
            </a:pPr>
            <a:r>
              <a:rPr sz="1800" b="1">
                <a:solidFill>
                  <a:srgbClr val="007F80"/>
                </a:solidFill>
                <a:latin typeface="Meiryo"/>
                <a:ea typeface="Meiryo"/>
                <a:cs typeface="Meiryo"/>
              </a:rPr>
              <a:t>任意の操作</a:t>
            </a:r>
          </a:p>
        </p:txBody>
      </p:sp>
      <p:sp>
        <p:nvSpPr>
          <p:cNvPr id="4" name="title:余裕があれば、学習目標を2行書いてみる"/>
          <p:cNvSpPr txBox="1"/>
          <p:nvPr/>
        </p:nvSpPr>
        <p:spPr>
          <a:xfrm>
            <a:off x="594360" y="685800"/>
            <a:ext cx="10469880" cy="585216"/>
          </a:xfrm>
          <a:prstGeom prst="rect">
            <a:avLst/>
          </a:prstGeom>
          <a:noFill/>
        </p:spPr>
        <p:txBody>
          <a:bodyPr wrap="none" lIns="0" rIns="0" tIns="0" bIns="0" anchor="t">
            <a:spAutoFit/>
          </a:bodyPr>
          <a:lstStyle/>
          <a:p>
            <a:pPr>
              <a:lnSpc>
                <a:spcPct val="114000"/>
              </a:lnSpc>
              <a:spcBef>
                <a:spcPts val="0"/>
              </a:spcBef>
              <a:spcAft>
                <a:spcPts val="0"/>
              </a:spcAft>
              <a:defRPr sz="3400" b="1">
                <a:solidFill>
                  <a:srgbClr val="1D343E"/>
                </a:solidFill>
                <a:latin typeface="Meiryo"/>
              </a:defRPr>
            </a:pPr>
            <a:r>
              <a:rPr sz="3400" b="1">
                <a:solidFill>
                  <a:srgbClr val="1D343E"/>
                </a:solidFill>
                <a:latin typeface="Meiryo"/>
                <a:ea typeface="Meiryo"/>
                <a:cs typeface="Meiryo"/>
              </a:rPr>
              <a:t>余裕があれば、学習目標を2行書いてみる</a:t>
            </a:r>
          </a:p>
        </p:txBody>
      </p:sp>
      <p:sp>
        <p:nvSpPr>
          <p:cNvPr id="5" name="Rectangle 4"/>
          <p:cNvSpPr/>
          <p:nvPr/>
        </p:nvSpPr>
        <p:spPr>
          <a:xfrm>
            <a:off x="594360" y="1353312"/>
            <a:ext cx="11000232" cy="10972"/>
          </a:xfrm>
          <a:prstGeom prst="rect">
            <a:avLst/>
          </a:prstGeom>
          <a:solidFill>
            <a:srgbClr val="CBD6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le-text_007F80.png"/>
          <p:cNvPicPr>
            <a:picLocks noChangeAspect="1"/>
          </p:cNvPicPr>
          <p:nvPr/>
        </p:nvPicPr>
        <p:blipFill>
          <a:blip r:embed="rId2"/>
          <a:stretch>
            <a:fillRect/>
          </a:stretch>
        </p:blipFill>
        <p:spPr>
          <a:xfrm>
            <a:off x="11064240" y="740664"/>
            <a:ext cx="420624" cy="420624"/>
          </a:xfrm>
          <a:prstGeom prst="rect">
            <a:avLst/>
          </a:prstGeom>
        </p:spPr>
      </p:pic>
      <p:sp>
        <p:nvSpPr>
          <p:cNvPr id="7" name="Rectangle 6"/>
          <p:cNvSpPr/>
          <p:nvPr/>
        </p:nvSpPr>
        <p:spPr>
          <a:xfrm>
            <a:off x="594360" y="1719072"/>
            <a:ext cx="6565392" cy="3566160"/>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ody:ai-learning / README.md"/>
          <p:cNvSpPr txBox="1"/>
          <p:nvPr/>
        </p:nvSpPr>
        <p:spPr>
          <a:xfrm>
            <a:off x="877824" y="1956816"/>
            <a:ext cx="5998464" cy="411480"/>
          </a:xfrm>
          <a:prstGeom prst="rect">
            <a:avLst/>
          </a:prstGeom>
          <a:noFill/>
        </p:spPr>
        <p:txBody>
          <a:bodyPr wrap="none" lIns="0" rIns="0" tIns="0" bIns="0" anchor="t">
            <a:spAutoFit/>
          </a:bodyPr>
          <a:lstStyle/>
          <a:p>
            <a:pPr>
              <a:lnSpc>
                <a:spcPct val="114000"/>
              </a:lnSpc>
              <a:spcBef>
                <a:spcPts val="0"/>
              </a:spcBef>
              <a:spcAft>
                <a:spcPts val="0"/>
              </a:spcAft>
              <a:defRPr sz="2300" b="1">
                <a:solidFill>
                  <a:srgbClr val="007F80"/>
                </a:solidFill>
                <a:latin typeface="Meiryo"/>
              </a:defRPr>
            </a:pPr>
            <a:r>
              <a:rPr sz="2300" b="1">
                <a:solidFill>
                  <a:srgbClr val="007F80"/>
                </a:solidFill>
                <a:latin typeface="Meiryo"/>
                <a:ea typeface="Meiryo"/>
                <a:cs typeface="Meiryo"/>
              </a:rPr>
              <a:t>ai-learning / README.md</a:t>
            </a:r>
          </a:p>
        </p:txBody>
      </p:sp>
      <p:sp>
        <p:nvSpPr>
          <p:cNvPr id="9" name="body:この授業で試したいこと"/>
          <p:cNvSpPr txBox="1"/>
          <p:nvPr/>
        </p:nvSpPr>
        <p:spPr>
          <a:xfrm>
            <a:off x="877824" y="2752344"/>
            <a:ext cx="5961888" cy="685800"/>
          </a:xfrm>
          <a:prstGeom prst="rect">
            <a:avLst/>
          </a:prstGeom>
          <a:noFill/>
        </p:spPr>
        <p:txBody>
          <a:bodyPr wrap="none" lIns="0" rIns="0" tIns="0" bIns="0" anchor="t">
            <a:spAutoFit/>
          </a:bodyPr>
          <a:lstStyle/>
          <a:p>
            <a:pPr>
              <a:lnSpc>
                <a:spcPct val="114000"/>
              </a:lnSpc>
              <a:spcBef>
                <a:spcPts val="0"/>
              </a:spcBef>
              <a:spcAft>
                <a:spcPts val="0"/>
              </a:spcAft>
              <a:defRPr sz="2800" b="1">
                <a:solidFill>
                  <a:srgbClr val="1D343E"/>
                </a:solidFill>
                <a:latin typeface="Meiryo"/>
              </a:defRPr>
            </a:pPr>
            <a:r>
              <a:rPr sz="2800" b="1">
                <a:solidFill>
                  <a:srgbClr val="1D343E"/>
                </a:solidFill>
                <a:latin typeface="Meiryo"/>
                <a:ea typeface="Meiryo"/>
                <a:cs typeface="Meiryo"/>
              </a:rPr>
              <a:t>この授業で試したいこと</a:t>
            </a:r>
          </a:p>
        </p:txBody>
      </p:sp>
      <p:sp>
        <p:nvSpPr>
          <p:cNvPr id="10" name="body:資料をAIに読ませてみたい。&#10;自分で確かめる方法を知りたい。"/>
          <p:cNvSpPr txBox="1"/>
          <p:nvPr/>
        </p:nvSpPr>
        <p:spPr>
          <a:xfrm>
            <a:off x="877824" y="3785615"/>
            <a:ext cx="5971032" cy="1014984"/>
          </a:xfrm>
          <a:prstGeom prst="rect">
            <a:avLst/>
          </a:prstGeom>
          <a:noFill/>
        </p:spPr>
        <p:txBody>
          <a:bodyPr wrap="none" lIns="0" rIns="0" tIns="0" bIns="0" anchor="t">
            <a:spAutoFit/>
          </a:bodyPr>
          <a:lstStyle/>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資料をAIに読ませてみたい。</a:t>
            </a:r>
          </a:p>
          <a:p>
            <a:pPr>
              <a:lnSpc>
                <a:spcPct val="114000"/>
              </a:lnSpc>
              <a:spcBef>
                <a:spcPts val="0"/>
              </a:spcBef>
              <a:spcAft>
                <a:spcPts val="0"/>
              </a:spcAft>
              <a:defRPr sz="2500" b="0">
                <a:solidFill>
                  <a:srgbClr val="1D343E"/>
                </a:solidFill>
                <a:latin typeface="Meiryo"/>
              </a:defRPr>
            </a:pPr>
            <a:r>
              <a:rPr sz="2500" b="0">
                <a:solidFill>
                  <a:srgbClr val="1D343E"/>
                </a:solidFill>
                <a:latin typeface="Meiryo"/>
                <a:ea typeface="Meiryo"/>
                <a:cs typeface="Meiryo"/>
              </a:rPr>
              <a:t>自分で確かめる方法を知りたい。</a:t>
            </a:r>
          </a:p>
        </p:txBody>
      </p:sp>
      <p:sp>
        <p:nvSpPr>
          <p:cNvPr id="11" name="Oval 10"/>
          <p:cNvSpPr/>
          <p:nvPr/>
        </p:nvSpPr>
        <p:spPr>
          <a:xfrm>
            <a:off x="7406640" y="1783080"/>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1"/>
          <p:cNvSpPr txBox="1"/>
          <p:nvPr/>
        </p:nvSpPr>
        <p:spPr>
          <a:xfrm>
            <a:off x="7406640" y="1805939"/>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1</a:t>
            </a:r>
          </a:p>
        </p:txBody>
      </p:sp>
      <p:sp>
        <p:nvSpPr>
          <p:cNvPr id="13" name="body:一番上のREADME.md&#10;を開く。"/>
          <p:cNvSpPr txBox="1"/>
          <p:nvPr/>
        </p:nvSpPr>
        <p:spPr>
          <a:xfrm>
            <a:off x="7982712" y="1773936"/>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一番上のREADME.md</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を開く。</a:t>
            </a:r>
          </a:p>
        </p:txBody>
      </p:sp>
      <p:sp>
        <p:nvSpPr>
          <p:cNvPr id="14" name="Oval 13"/>
          <p:cNvSpPr/>
          <p:nvPr/>
        </p:nvSpPr>
        <p:spPr>
          <a:xfrm>
            <a:off x="7406640" y="2861564"/>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2"/>
          <p:cNvSpPr txBox="1"/>
          <p:nvPr/>
        </p:nvSpPr>
        <p:spPr>
          <a:xfrm>
            <a:off x="7406640" y="2884423"/>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2</a:t>
            </a:r>
          </a:p>
        </p:txBody>
      </p:sp>
      <p:sp>
        <p:nvSpPr>
          <p:cNvPr id="16" name="body:鉛筆ボタンから、自分&#10;の目標を2行書く。"/>
          <p:cNvSpPr txBox="1"/>
          <p:nvPr/>
        </p:nvSpPr>
        <p:spPr>
          <a:xfrm>
            <a:off x="7982712" y="2852420"/>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鉛筆ボタンから、自分</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の目標を2行書く。</a:t>
            </a:r>
          </a:p>
        </p:txBody>
      </p:sp>
      <p:sp>
        <p:nvSpPr>
          <p:cNvPr id="17" name="Oval 16"/>
          <p:cNvSpPr/>
          <p:nvPr/>
        </p:nvSpPr>
        <p:spPr>
          <a:xfrm>
            <a:off x="7406640" y="3940048"/>
            <a:ext cx="374904" cy="374904"/>
          </a:xfrm>
          <a:prstGeom prst="ellipse">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3"/>
          <p:cNvSpPr txBox="1"/>
          <p:nvPr/>
        </p:nvSpPr>
        <p:spPr>
          <a:xfrm>
            <a:off x="7406640" y="3962908"/>
            <a:ext cx="374904" cy="374904"/>
          </a:xfrm>
          <a:prstGeom prst="rect">
            <a:avLst/>
          </a:prstGeom>
          <a:noFill/>
        </p:spPr>
        <p:txBody>
          <a:bodyPr wrap="none" lIns="0" rIns="0" tIns="0" bIns="0" anchor="t">
            <a:spAutoFit/>
          </a:bodyPr>
          <a:lstStyle/>
          <a:p>
            <a:pPr algn="ctr">
              <a:lnSpc>
                <a:spcPct val="114000"/>
              </a:lnSpc>
              <a:spcBef>
                <a:spcPts val="0"/>
              </a:spcBef>
              <a:spcAft>
                <a:spcPts val="0"/>
              </a:spcAft>
              <a:defRPr sz="1900" b="1">
                <a:solidFill>
                  <a:srgbClr val="FFFFFF"/>
                </a:solidFill>
                <a:latin typeface="Meiryo"/>
              </a:defRPr>
            </a:pPr>
            <a:r>
              <a:rPr sz="1900" b="1">
                <a:solidFill>
                  <a:srgbClr val="FFFFFF"/>
                </a:solidFill>
                <a:latin typeface="Meiryo"/>
                <a:ea typeface="Meiryo"/>
                <a:cs typeface="Meiryo"/>
              </a:rPr>
              <a:t>3</a:t>
            </a:r>
          </a:p>
        </p:txBody>
      </p:sp>
      <p:sp>
        <p:nvSpPr>
          <p:cNvPr id="19" name="body:commitで保存する。&#10;登録の再送は不要。"/>
          <p:cNvSpPr txBox="1"/>
          <p:nvPr/>
        </p:nvSpPr>
        <p:spPr>
          <a:xfrm>
            <a:off x="7982712" y="3930904"/>
            <a:ext cx="3557015" cy="804164"/>
          </a:xfrm>
          <a:prstGeom prst="rect">
            <a:avLst/>
          </a:prstGeom>
          <a:noFill/>
        </p:spPr>
        <p:txBody>
          <a:bodyPr wrap="none" lIns="0" rIns="0" tIns="0" bIns="0" anchor="t">
            <a:spAutoFit/>
          </a:bodyPr>
          <a:lstStyle/>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commitで保存する。</a:t>
            </a:r>
          </a:p>
          <a:p>
            <a:pPr>
              <a:lnSpc>
                <a:spcPct val="114000"/>
              </a:lnSpc>
              <a:spcBef>
                <a:spcPts val="0"/>
              </a:spcBef>
              <a:spcAft>
                <a:spcPts val="0"/>
              </a:spcAft>
              <a:defRPr sz="2500" b="1">
                <a:solidFill>
                  <a:srgbClr val="1D343E"/>
                </a:solidFill>
                <a:latin typeface="Meiryo"/>
              </a:defRPr>
            </a:pPr>
            <a:r>
              <a:rPr sz="2500" b="1">
                <a:solidFill>
                  <a:srgbClr val="1D343E"/>
                </a:solidFill>
                <a:latin typeface="Meiryo"/>
                <a:ea typeface="Meiryo"/>
                <a:cs typeface="Meiryo"/>
              </a:rPr>
              <a:t>登録の再送は不要。</a:t>
            </a:r>
          </a:p>
        </p:txBody>
      </p:sp>
      <p:sp>
        <p:nvSpPr>
          <p:cNvPr id="20" name="Rectangle 19"/>
          <p:cNvSpPr/>
          <p:nvPr/>
        </p:nvSpPr>
        <p:spPr>
          <a:xfrm>
            <a:off x="594360" y="5605272"/>
            <a:ext cx="11000232" cy="630936"/>
          </a:xfrm>
          <a:prstGeom prst="rect">
            <a:avLst/>
          </a:prstGeom>
          <a:solidFill>
            <a:srgbClr val="EA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ircle-check_007F80.png"/>
          <p:cNvPicPr>
            <a:picLocks noChangeAspect="1"/>
          </p:cNvPicPr>
          <p:nvPr/>
        </p:nvPicPr>
        <p:blipFill>
          <a:blip r:embed="rId4"/>
          <a:stretch>
            <a:fillRect/>
          </a:stretch>
        </p:blipFill>
        <p:spPr>
          <a:xfrm>
            <a:off x="749808" y="5751576"/>
            <a:ext cx="283464" cy="283464"/>
          </a:xfrm>
          <a:prstGeom prst="rect">
            <a:avLst/>
          </a:prstGeom>
        </p:spPr>
      </p:pic>
      <p:sp>
        <p:nvSpPr>
          <p:cNvPr id="22" name="result:任意の作業です。先に画像・記録・招待・初回登録を終えます。"/>
          <p:cNvSpPr txBox="1"/>
          <p:nvPr/>
        </p:nvSpPr>
        <p:spPr>
          <a:xfrm>
            <a:off x="1179576" y="5710428"/>
            <a:ext cx="10168128" cy="438912"/>
          </a:xfrm>
          <a:prstGeom prst="rect">
            <a:avLst/>
          </a:prstGeom>
          <a:noFill/>
        </p:spPr>
        <p:txBody>
          <a:bodyPr wrap="none" lIns="0" rIns="0" tIns="0" bIns="0" anchor="t">
            <a:spAutoFit/>
          </a:bodyPr>
          <a:lstStyle/>
          <a:p>
            <a:pPr>
              <a:lnSpc>
                <a:spcPct val="114000"/>
              </a:lnSpc>
              <a:spcBef>
                <a:spcPts val="0"/>
              </a:spcBef>
              <a:spcAft>
                <a:spcPts val="0"/>
              </a:spcAft>
              <a:defRPr sz="2200" b="0">
                <a:solidFill>
                  <a:srgbClr val="1D343E"/>
                </a:solidFill>
                <a:latin typeface="Meiryo"/>
              </a:defRPr>
            </a:pPr>
            <a:r>
              <a:rPr sz="2200" b="0">
                <a:solidFill>
                  <a:srgbClr val="1D343E"/>
                </a:solidFill>
                <a:latin typeface="Meiryo"/>
                <a:ea typeface="Meiryo"/>
                <a:cs typeface="Meiryo"/>
              </a:rPr>
              <a:t>任意の作業です。先に画像・記録・招待・初回登録を終えます。</a:t>
            </a:r>
          </a:p>
        </p:txBody>
      </p:sp>
      <p:sp>
        <p:nvSpPr>
          <p:cNvPr id="23" name="tag:手順一覧へ">
            <a:hlinkClick action="ppaction://hlinksldjump" r:id="rId5"/>
          </p:cNvPr>
          <p:cNvSpPr txBox="1"/>
          <p:nvPr/>
        </p:nvSpPr>
        <p:spPr>
          <a:xfrm>
            <a:off x="9994392" y="228600"/>
            <a:ext cx="1581912"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007F80"/>
                </a:solidFill>
                <a:latin typeface="Meiryo"/>
              </a:defRPr>
            </a:pPr>
            <a:r>
              <a:rPr sz="1800" b="0">
                <a:solidFill>
                  <a:srgbClr val="007F80"/>
                </a:solidFill>
                <a:latin typeface="Meiryo"/>
                <a:ea typeface="Meiryo"/>
                <a:cs typeface="Meiryo"/>
              </a:rPr>
              <a:t>手順一覧へ</a:t>
            </a:r>
          </a:p>
        </p:txBody>
      </p:sp>
      <p:sp>
        <p:nvSpPr>
          <p:cNvPr id="24" name="footer:データ科学入門｜演習　導入 v1.4"/>
          <p:cNvSpPr txBox="1"/>
          <p:nvPr/>
        </p:nvSpPr>
        <p:spPr>
          <a:xfrm>
            <a:off x="594360" y="6455664"/>
            <a:ext cx="8229600" cy="342900"/>
          </a:xfrm>
          <a:prstGeom prst="rect">
            <a:avLst/>
          </a:prstGeom>
          <a:noFill/>
        </p:spPr>
        <p:txBody>
          <a:bodyPr wrap="none" lIns="0" rIns="0" tIns="0" bIns="0" anchor="t">
            <a:spAutoFit/>
          </a:bodyPr>
          <a:lstStyle/>
          <a:p>
            <a:pP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データ科学入門｜演習　導入 v1.4</a:t>
            </a:r>
          </a:p>
        </p:txBody>
      </p:sp>
      <p:sp>
        <p:nvSpPr>
          <p:cNvPr id="25" name="footer:37 / 37"/>
          <p:cNvSpPr txBox="1"/>
          <p:nvPr/>
        </p:nvSpPr>
        <p:spPr>
          <a:xfrm>
            <a:off x="10424160" y="6455664"/>
            <a:ext cx="1161288" cy="342900"/>
          </a:xfrm>
          <a:prstGeom prst="rect">
            <a:avLst/>
          </a:prstGeom>
          <a:noFill/>
        </p:spPr>
        <p:txBody>
          <a:bodyPr wrap="none" lIns="0" rIns="0" tIns="0" bIns="0" anchor="t">
            <a:spAutoFit/>
          </a:bodyPr>
          <a:lstStyle/>
          <a:p>
            <a:pPr algn="r">
              <a:lnSpc>
                <a:spcPct val="114000"/>
              </a:lnSpc>
              <a:spcBef>
                <a:spcPts val="0"/>
              </a:spcBef>
              <a:spcAft>
                <a:spcPts val="0"/>
              </a:spcAft>
              <a:defRPr sz="1800" b="0">
                <a:solidFill>
                  <a:srgbClr val="53656D"/>
                </a:solidFill>
                <a:latin typeface="Meiryo"/>
              </a:defRPr>
            </a:pPr>
            <a:r>
              <a:rPr sz="1800" b="0">
                <a:solidFill>
                  <a:srgbClr val="53656D"/>
                </a:solidFill>
                <a:latin typeface="Meiryo"/>
                <a:ea typeface="Meiryo"/>
                <a:cs typeface="Meiryo"/>
              </a:rPr>
              <a:t>37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ajorFont>
      <a:minorFont>
        <a:latin typeface="Meiryo"/>
        <a:ea typeface="Meiryo"/>
        <a:cs typeface="Meiryo"/>
        <a:font script="Jpan" typeface="Meiryo"/>
        <a:font script="Hang" typeface="Meiryo"/>
        <a:font script="Hans" typeface="Meiryo"/>
        <a:font script="Hant" typeface="Meiryo"/>
        <a:font script="Arab" typeface="Meiryo"/>
        <a:font script="Hebr" typeface="Meiryo"/>
        <a:font script="Thai" typeface="Meiryo"/>
        <a:font script="Ethi" typeface="Meiryo"/>
        <a:font script="Beng" typeface="Meiryo"/>
        <a:font script="Gujr" typeface="Meiryo"/>
        <a:font script="Khmr" typeface="Meiryo"/>
        <a:font script="Knda" typeface="Meiryo"/>
        <a:font script="Guru" typeface="Meiryo"/>
        <a:font script="Cans" typeface="Meiryo"/>
        <a:font script="Cher" typeface="Meiryo"/>
        <a:font script="Yiii" typeface="Meiryo"/>
        <a:font script="Tibt" typeface="Meiryo"/>
        <a:font script="Thaa" typeface="Meiryo"/>
        <a:font script="Deva" typeface="Meiryo"/>
        <a:font script="Telu" typeface="Meiryo"/>
        <a:font script="Taml" typeface="Meiryo"/>
        <a:font script="Syrc" typeface="Meiryo"/>
        <a:font script="Orya" typeface="Meiryo"/>
        <a:font script="Mlym" typeface="Meiryo"/>
        <a:font script="Laoo" typeface="Meiryo"/>
        <a:font script="Sinh" typeface="Meiryo"/>
        <a:font script="Mong" typeface="Meiryo"/>
        <a:font script="Viet" typeface="Meiryo"/>
        <a:font script="Uigh" typeface="Meiryo"/>
        <a:font script="Geor" typeface="Meiryo"/>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AIとGitHubを使う準備をしよう｜データ科学入門・演習 導入 v1.4</dc:title>
  <dc:subject>v1.1の導入構成とv1.3の画面例を統合した学生向けハンズオン</dc:subject>
  <dc:creator>Takahiro Tsuchiya</dc:creator>
  <cp:keywords>データ科学入門, AI, GitHub, 初回登録, 学生用, v1.4</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ja-JP</dc:language>
</cp:coreProperties>
</file>