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1pPr>
    <a:lvl2pPr marL="4572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2pPr>
    <a:lvl3pPr marL="9144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3pPr>
    <a:lvl4pPr marL="13716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4pPr>
    <a:lvl5pPr marL="18288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5pPr>
    <a:lvl6pPr marL="22860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6pPr>
    <a:lvl7pPr marL="27432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7pPr>
    <a:lvl8pPr marL="32004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8pPr>
    <a:lvl9pPr marL="36576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fld id="{5282F153-3F37-0F45-9E97-73ACFA13230C}" type="datetimeFigureOut">
              <a:rPr lang="ja-JP">
                <a:latin typeface="Meiryo"/>
                <a:ea typeface="Meiryo"/>
                <a:cs typeface="Meiryo"/>
              </a:rPr>
              <a:t>7/23/19</a:t>
            </a:fld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ja-JP">
                <a:latin typeface="Meiryo"/>
                <a:ea typeface="Meiryo"/>
                <a:cs typeface="Meiryo"/>
              </a:rPr>
              <a:t>Click to edit Master text styles</a:t>
            </a:r>
          </a:p>
          <a:p>
            <a:pPr lvl="1"/>
            <a:r>
              <a:rPr lang="ja-JP">
                <a:latin typeface="Meiryo"/>
                <a:ea typeface="Meiryo"/>
                <a:cs typeface="Meiryo"/>
              </a:rPr>
              <a:t>Second level</a:t>
            </a:r>
          </a:p>
          <a:p>
            <a:pPr lvl="2"/>
            <a:r>
              <a:rPr lang="ja-JP">
                <a:latin typeface="Meiryo"/>
                <a:ea typeface="Meiryo"/>
                <a:cs typeface="Meiryo"/>
              </a:rPr>
              <a:t>Third level</a:t>
            </a:r>
          </a:p>
          <a:p>
            <a:pPr lvl="3"/>
            <a:r>
              <a:rPr lang="ja-JP">
                <a:latin typeface="Meiryo"/>
                <a:ea typeface="Meiryo"/>
                <a:cs typeface="Meiryo"/>
              </a:rPr>
              <a:t>Fourth level</a:t>
            </a:r>
          </a:p>
          <a:p>
            <a:pPr lvl="4"/>
            <a:r>
              <a:rPr lang="ja-JP">
                <a:latin typeface="Meiryo"/>
                <a:ea typeface="Meiryo"/>
                <a:cs typeface="Meiryo"/>
              </a:rP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fld id="{CE5E9CC1-C706-0F49-92D6-E571CC5EEA8F}" type="slidenum">
              <a:rPr lang="ja-JP">
                <a:latin typeface="Meiryo"/>
                <a:ea typeface="Meiryo"/>
                <a:cs typeface="Meiryo"/>
              </a:rPr>
              <a:t>‹#›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1pPr>
    <a:lvl2pPr marL="4572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2pPr>
    <a:lvl3pPr marL="9144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3pPr>
    <a:lvl4pPr marL="13716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4pPr>
    <a:lvl5pPr marL="18288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5pPr>
    <a:lvl6pPr marL="22860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6pPr>
    <a:lvl7pPr marL="27432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7pPr>
    <a:lvl8pPr marL="32004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8pPr>
    <a:lvl9pPr marL="36576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【進行】初めて読む人に伝わる案内を作る / 1ページ
到達点：読者が行動に移せる短い案内を作る。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【進行】初めて読む人に伝わる案内を作る / 2ページ
到達点：読者が行動に移せる短い案内を作る。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2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【進行】初めて読む人に伝わる案内を作る / 3ページ
到達点：読者が行動に移せる短い案内を作る。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3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【進行】初めて読む人に伝わる案内を作る / 4ページ
到達点：読者が行動に移せる短い案内を作る。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4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【進行】初めて読む人に伝わる案内を作る / 5ページ
到達点：読者が行動に移せる短い案内を作る。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5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【進行】初めて読む人に伝わる案内を作る / 6ページ
到達点：読者が行動に移せる短い案内を作る。
スライドの指示に沿って操作を待つ。学生の画面で結果を確認してから次へ進む。
操作に詰まった学生には、表示中の画面と止まった箇所を確認する。パスワードや認証コードは見せさせない。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6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【進行】初めて読む人に伝わる案内を作る / 7ページ
到達点：読者が行動に移せる短い案内を作る。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7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【進行】初めて読む人に伝わる案内を作る / 8ページ
到達点：読者が行動に移せる短い案内を作る。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8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【進行】初めて読む人に伝わる案内を作る / 9ページ
到達点：読者が行動に移せる短い案内を作る。
スライドの指示に沿って操作を待つ。学生の画面で結果を確認してから次へ進む。
操作に詰まった学生には、表示中の画面と止まった箇所を確認する。パスワードや認証コードは見せさせない。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9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【進行】初めて読む人に伝わる案内を作る / 10ページ
到達点：読者が行動に移せる短い案内を作る。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10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【進行】初めて読む人に伝わる案内を作る / 11ページ
到達点：読者が行動に移せる短い案内を作る。
AIとの会話全文、共有リンク、無意味な再試行回数は求めない。変更が不要だった場合も確認した対象と結果を書けばよい。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11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【進行】初めて読む人に伝わる案内を作る / 12ページ
到達点：読者が行動に移せる短い案内を作る。
Desktopを使った学生はPush origin後にGitHubで確認する。フォーム送信完了画面まで確認。教員の閲覧権限は別途必要。
操作に詰まった学生には、表示中の画面と止まった箇所を確認する。パスワードや認証コードは見せさせない。
【参考資料】
GitHub Docs「Editing files」
https://docs.github.com/en/repositories/working-with-files/managing-files/editing-files
確認日：2026-09-17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12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【進行】初めて読む人に伝わる案内を作る / 13ページ
到達点：読者が行動に移せる短い案内を作る。
このチェックは暗記テストではない。ファイルと画面を見ながら自己確認させる。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13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 lang="ja-JP">
          <a:solidFill>
            <a:schemeClr val="tx1"/>
          </a:solidFill>
          <a:latin typeface="Meiryo"/>
          <a:ea typeface="Meiryo"/>
          <a:cs typeface="Meiryo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Meiryo" pitchFamily="34" charset="0"/>
        <a:buChar char="•"/>
        <a:defRPr sz="32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742950" indent="-285750" algn="l" defTabSz="914400" rtl="0" eaLnBrk="1" latinLnBrk="0" hangingPunct="1">
        <a:spcBef>
          <a:spcPct val="20000"/>
        </a:spcBef>
        <a:buFont typeface="Meiryo" pitchFamily="34" charset="0"/>
        <a:buChar char="–"/>
        <a:defRPr sz="2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1143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4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600200" indent="-228600" algn="l" defTabSz="914400" rtl="0" eaLnBrk="1" latinLnBrk="0" hangingPunct="1">
        <a:spcBef>
          <a:spcPct val="20000"/>
        </a:spcBef>
        <a:buFont typeface="Meiryo" pitchFamily="34" charset="0"/>
        <a:buChar char="–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2057400" indent="-228600" algn="l" defTabSz="914400" rtl="0" eaLnBrk="1" latinLnBrk="0" hangingPunct="1">
        <a:spcBef>
          <a:spcPct val="20000"/>
        </a:spcBef>
        <a:buFont typeface="Meiryo" pitchFamily="34" charset="0"/>
        <a:buChar char="»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5146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9718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429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8862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9pPr>
    </p:bodyStyle>
    <p:otherStyle>
      <a:defPPr>
        <a:defRPr lang="ja-JP">
          <a:latin typeface="Meiryo"/>
          <a:ea typeface="Meiryo"/>
          <a:cs typeface="Meiryo"/>
        </a:defRPr>
      </a:defPPr>
      <a:lvl1pPr marL="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457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914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371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18288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2860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743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200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657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1.png"/><Relationship Id="rId3" Type="http://schemas.openxmlformats.org/officeDocument/2006/relationships/image" Target="../media/image-10-1.png"/><Relationship Id="rId4" Type="http://schemas.openxmlformats.org/officeDocument/2006/relationships/image" Target="../media/image-10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1.png"/><Relationship Id="rId3" Type="http://schemas.openxmlformats.org/officeDocument/2006/relationships/image" Target="../media/image-13-1.png"/><Relationship Id="rId4" Type="http://schemas.openxmlformats.org/officeDocument/2006/relationships/image" Target="../media/image-13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007F82"/>
          </a:solidFill>
          <a:ln w="12700">
            <a:solidFill>
              <a:srgbClr val="007F8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557784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B1D6D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第06回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713232" y="1554480"/>
            <a:ext cx="94183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初めて読む人が、</a:t>
            </a:r>
            <a:endParaRPr lang="ja-JP" sz="4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次に動ける案内に。</a:t>
            </a:r>
            <a:endParaRPr lang="ja-JP" sz="4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749808" y="4169664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第6回｜AIの案を使い、</a:t>
            </a:r>
            <a:endParaRPr lang="ja-JP" sz="26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授業のAI利用案内を完成させます。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7" name="Image 0" descr="Lucide im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97312" y="566928"/>
            <a:ext cx="841248" cy="8412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49808" y="6281928"/>
            <a:ext cx="9144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大学生のためのAI・データリテラシー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今回の読者は、新入生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17904"/>
            <a:ext cx="10908792" cy="4050792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pic>
        <p:nvPicPr>
          <p:cNvPr id="5" name="Image 0" descr="Lucide message-circ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801368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27632" y="1810512"/>
            <a:ext cx="9546336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チャットで質問したことはある。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でも、出典を確かめたり、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GitHubへ記録したりしたことはない。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この人に、最初の一歩を伝えよう。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第6回  02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案内に入れるのは、3つ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36192"/>
            <a:ext cx="3496056" cy="397764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message-circ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819656"/>
            <a:ext cx="530352" cy="5303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96112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AIを使ってよい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896112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説明を聞く。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情報を整理する。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文章の案を作る。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Shape 5"/>
          <p:cNvSpPr/>
          <p:nvPr/>
        </p:nvSpPr>
        <p:spPr>
          <a:xfrm>
            <a:off x="4346448" y="1536192"/>
            <a:ext cx="3496056" cy="3977640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pic>
        <p:nvPicPr>
          <p:cNvPr id="9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2480" y="1819656"/>
            <a:ext cx="530352" cy="53035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02480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結果を確認する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4602480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出力をそのまま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提出しない。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8052816" y="1536192"/>
            <a:ext cx="3496056" cy="397764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13" name="Image 2" descr="Lucide fold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8848" y="1819656"/>
            <a:ext cx="530352" cy="53035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308848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短い記録を残す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8308848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任せたことと確認を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GitHubへ残す。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1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2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第6回  03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文案を作ってもらう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新入生向けに、この授業でのAI利用を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300〜500字で案内してください。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AIを使えること、結果を確認すること、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短い利用記録をGitHubに残すことを含めてください。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下に配布された制作条件を貼る。学内URLなどは創作させない。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第6回  04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読者が動ける文章にする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358384" cy="3986784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05256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抽象的な案内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905256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AIを効果的に活用し、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適切に検証して、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質の高い成果物を作ろう。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190488" y="1554480"/>
            <a:ext cx="5358384" cy="3986784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55664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行動が分かる案内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455664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AIの答えに数字があったら、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元資料で同じ数字を探そう。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確認した場所を記録しよう。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第6回  05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文案を自分で整える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長い説明を分ける。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読者が最初に行うことから順に置く。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曖昧な動詞を具体的にする。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「検証する」を「元資料の数字を照合する」へ。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読者の立場で読み返す。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何を開き、何を確認すればよいか分かるか。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第6回  06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1枚資料にする場合も、内容を先に決める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17904"/>
            <a:ext cx="10908792" cy="4050792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pic>
        <p:nvPicPr>
          <p:cNvPr id="5" name="Image 0" descr="Lucide file-t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801368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27632" y="1810512"/>
            <a:ext cx="9546336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見出しを1つ置く。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必要な行動を順に並べる。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文字が小さくなるなら、文を減らす。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普段使う文書・スライドソフトでよい。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デザイン専用ツールへの登録は不要。文章だけの提出でもよい。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第6回  07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画像を加える人は、役割を決める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この案内に添える挿絵を作ってください。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「資料を開いて確認する」場面にします。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実在の学生や大学のロゴは使わず、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本文を置く余白を残してください。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画像生成は任意。利用できなければ、文字と図形だけでよい。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第6回  08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画像を使う場合は、表示も確認する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案内の意味に合っているか見る。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必要な行動が分かりやすくなるか。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文字や細部を確認する。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誤字、不要なロゴ、不自然な表現はないか。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必要な部分だけ修正を頼む。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画像の説明文も付け、見えない人にも伝える。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第6回  09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他の学生に、30秒だけ読んでもらう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circle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82496"/>
            <a:ext cx="402336" cy="4023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35608" y="1645920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何の案内か分かったか。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6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33472"/>
            <a:ext cx="402336" cy="4023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35608" y="2596896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最初に何をするか分かったか。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2" descr="Lucide circle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584448"/>
            <a:ext cx="402336" cy="40233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435608" y="3547872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記録する内容が分かったか。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Image 3" descr="Lucide circle-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535424"/>
            <a:ext cx="402336" cy="402336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435608" y="4498848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分からなかった語を1つ教えてもらったか。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6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他の人に見てもらえない場合は、時間を置いて自分で読み直す。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7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8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第6回  10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成果物と確認したことを残す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257800" cy="4041648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fol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1828800"/>
            <a:ext cx="448056" cy="4480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72768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week06/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950976" y="2660904"/>
            <a:ext cx="4590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README.md：</a:t>
            </a:r>
            <a:endParaRPr lang="ja-JP" sz="2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制作意図・確認記録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950976" y="3483864"/>
            <a:ext cx="4590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案内文または1枚資料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6391656" y="180136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READMEの利用記録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7"/>
          <p:cNvSpPr txBox="1"/>
          <p:nvPr/>
        </p:nvSpPr>
        <p:spPr>
          <a:xfrm>
            <a:off x="6400800" y="2779776"/>
            <a:ext cx="480974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AIに任せたこと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自分で確かめたこと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確認できなかったこと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8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9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第6回  11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保存した版のURLを提出する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GitHubで変更を確定する。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更新したファイルを確認し、commitする。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そのcommitのページを開く。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URLに /commit/ があることを確認する。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授業の提出フォームを送る。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大学アカウントで開き、Week 06を選ぶ。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ブラウザでcommitした場合、別のpush操作は不要。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第6回  12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提出する前に、ここを確認する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circle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82496"/>
            <a:ext cx="402336" cy="4023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35608" y="1645920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300〜500字の案内か1枚資料を作った。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6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33472"/>
            <a:ext cx="402336" cy="4023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35608" y="2596896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読者が取る行動を具体的に書いた。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2" descr="Lucide circle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584448"/>
            <a:ext cx="402336" cy="40233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435608" y="3547872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画像の有無ではなく伝わり方を確認した。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Image 3" descr="Lucide circle-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535424"/>
            <a:ext cx="402336" cy="402336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435608" y="4498848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成果物のあるcommit URLを送った。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第6回  13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Meiryo"/>
        <a:cs typeface="Meiryo"/>
        <a:font script="Jpan" typeface="Meiryo"/>
        <a:font script="Hang" typeface="Meiryo"/>
        <a:font script="Hans" typeface="Meiryo"/>
        <a:font script="Hant" typeface="Meiryo"/>
        <a:font script="Arab" typeface="Meiryo"/>
        <a:font script="Hebr" typeface="Meiryo"/>
        <a:font script="Thai" typeface="Meiryo"/>
        <a:font script="Ethi" typeface="Meiryo"/>
        <a:font script="Beng" typeface="Meiryo"/>
        <a:font script="Gujr" typeface="Meiryo"/>
        <a:font script="Khmr" typeface="Meiryo"/>
        <a:font script="Knda" typeface="Meiryo"/>
        <a:font script="Guru" typeface="Meiryo"/>
        <a:font script="Cans" typeface="Meiryo"/>
        <a:font script="Cher" typeface="Meiryo"/>
        <a:font script="Yiii" typeface="Meiryo"/>
        <a:font script="Tibt" typeface="Meiryo"/>
        <a:font script="Thaa" typeface="Meiryo"/>
        <a:font script="Deva" typeface="Meiryo"/>
        <a:font script="Telu" typeface="Meiryo"/>
        <a:font script="Taml" typeface="Meiryo"/>
        <a:font script="Syrc" typeface="Meiryo"/>
        <a:font script="Orya" typeface="Meiryo"/>
        <a:font script="Mlym" typeface="Meiryo"/>
        <a:font script="Laoo" typeface="Meiryo"/>
        <a:font script="Sinh" typeface="Meiryo"/>
        <a:font script="Mong" typeface="Meiryo"/>
        <a:font script="Viet" typeface="Meiryo"/>
        <a:font script="Uigh" typeface="Meiryo"/>
        <a:font script="Geor" typeface="Meiryo"/>
        <a:font script="Armn" typeface="Meiryo"/>
        <a:font script="Bugi" typeface="Meiryo"/>
        <a:font script="Bopo" typeface="Meiryo"/>
        <a:font script="Java" typeface="Meiryo"/>
        <a:font script="Lisu" typeface="Meiryo"/>
        <a:font script="Mymr" typeface="Meiryo"/>
        <a:font script="Nkoo" typeface="Meiryo"/>
        <a:font script="Olck" typeface="Meiryo"/>
        <a:font script="Osma" typeface="Meiryo"/>
        <a:font script="Phag" typeface="Meiryo"/>
        <a:font script="Syrn" typeface="Meiryo"/>
        <a:font script="Syrj" typeface="Meiryo"/>
        <a:font script="Syre" typeface="Meiryo"/>
        <a:font script="Sora" typeface="Meiryo"/>
        <a:font script="Tale" typeface="Meiryo"/>
        <a:font script="Talu" typeface="Meiryo"/>
        <a:font script="Tfng" typeface="Meiryo"/>
      </a:majorFont>
      <a:minorFont>
        <a:latin typeface="Meiryo"/>
        <a:ea typeface="Meiryo"/>
        <a:cs typeface="Meiryo"/>
        <a:font script="Jpan" typeface="Meiryo"/>
        <a:font script="Hang" typeface="Meiryo"/>
        <a:font script="Hans" typeface="Meiryo"/>
        <a:font script="Hant" typeface="Meiryo"/>
        <a:font script="Arab" typeface="Meiryo"/>
        <a:font script="Hebr" typeface="Meiryo"/>
        <a:font script="Thai" typeface="Meiryo"/>
        <a:font script="Ethi" typeface="Meiryo"/>
        <a:font script="Beng" typeface="Meiryo"/>
        <a:font script="Gujr" typeface="Meiryo"/>
        <a:font script="Khmr" typeface="Meiryo"/>
        <a:font script="Knda" typeface="Meiryo"/>
        <a:font script="Guru" typeface="Meiryo"/>
        <a:font script="Cans" typeface="Meiryo"/>
        <a:font script="Cher" typeface="Meiryo"/>
        <a:font script="Yiii" typeface="Meiryo"/>
        <a:font script="Tibt" typeface="Meiryo"/>
        <a:font script="Thaa" typeface="Meiryo"/>
        <a:font script="Deva" typeface="Meiryo"/>
        <a:font script="Telu" typeface="Meiryo"/>
        <a:font script="Taml" typeface="Meiryo"/>
        <a:font script="Syrc" typeface="Meiryo"/>
        <a:font script="Orya" typeface="Meiryo"/>
        <a:font script="Mlym" typeface="Meiryo"/>
        <a:font script="Laoo" typeface="Meiryo"/>
        <a:font script="Sinh" typeface="Meiryo"/>
        <a:font script="Mong" typeface="Meiryo"/>
        <a:font script="Viet" typeface="Meiryo"/>
        <a:font script="Uigh" typeface="Meiryo"/>
        <a:font script="Geor" typeface="Meiryo"/>
        <a:font script="Armn" typeface="Meiryo"/>
        <a:font script="Bugi" typeface="Meiryo"/>
        <a:font script="Bopo" typeface="Meiryo"/>
        <a:font script="Java" typeface="Meiryo"/>
        <a:font script="Lisu" typeface="Meiryo"/>
        <a:font script="Mymr" typeface="Meiryo"/>
        <a:font script="Nkoo" typeface="Meiryo"/>
        <a:font script="Olck" typeface="Meiryo"/>
        <a:font script="Osma" typeface="Meiryo"/>
        <a:font script="Phag" typeface="Meiryo"/>
        <a:font script="Syrn" typeface="Meiryo"/>
        <a:font script="Syrj" typeface="Meiryo"/>
        <a:font script="Syre" typeface="Meiryo"/>
        <a:font script="Sora" typeface="Meiryo"/>
        <a:font script="Tale" typeface="Meiryo"/>
        <a:font script="Talu" typeface="Meiryo"/>
        <a:font script="Tfng" typeface="Meiryo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Tsuchiya 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初めて読む人に伝わる案内を作る</dc:title>
  <dc:subject>AI・データリテラシー／学生向け演習</dc:subject>
  <dc:creator>Takahiro Tsuchiya</dc:creator>
  <cp:lastModifiedBy>Takahiro Tsuchiya</cp:lastModifiedBy>
  <cp:revision>1</cp:revision>
  <dcterms:created xsi:type="dcterms:W3CDTF">2026-09-17T11:31:39Z</dcterms:created>
  <dcterms:modified xsi:type="dcterms:W3CDTF">2026-09-17T11:31:39Z</dcterms:modified>
</cp:coreProperties>
</file>