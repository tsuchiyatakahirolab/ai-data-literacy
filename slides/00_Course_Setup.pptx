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eiryo"/>
        <a:ea typeface="Meiryo"/>
        <a:cs typeface="Meiryo"/>
      </a:defRPr>
    </a:lvl1pPr>
    <a:lvl2pPr marL="457200" algn="l" defTabSz="457200" rtl="0" eaLnBrk="1" latinLnBrk="0" hangingPunct="1">
      <a:defRPr sz="1800" kern="1200">
        <a:solidFill>
          <a:schemeClr val="tx1"/>
        </a:solidFill>
        <a:latin typeface="Meiryo"/>
        <a:ea typeface="Meiryo"/>
        <a:cs typeface="Meiryo"/>
      </a:defRPr>
    </a:lvl2pPr>
    <a:lvl3pPr marL="914400" algn="l" defTabSz="457200" rtl="0" eaLnBrk="1" latinLnBrk="0" hangingPunct="1">
      <a:defRPr sz="1800" kern="1200">
        <a:solidFill>
          <a:schemeClr val="tx1"/>
        </a:solidFill>
        <a:latin typeface="Meiryo"/>
        <a:ea typeface="Meiryo"/>
        <a:cs typeface="Meiryo"/>
      </a:defRPr>
    </a:lvl3pPr>
    <a:lvl4pPr marL="1371600" algn="l" defTabSz="457200" rtl="0" eaLnBrk="1" latinLnBrk="0" hangingPunct="1">
      <a:defRPr sz="1800" kern="1200">
        <a:solidFill>
          <a:schemeClr val="tx1"/>
        </a:solidFill>
        <a:latin typeface="Meiryo"/>
        <a:ea typeface="Meiryo"/>
        <a:cs typeface="Meiryo"/>
      </a:defRPr>
    </a:lvl4pPr>
    <a:lvl5pPr marL="1828800" algn="l" defTabSz="457200" rtl="0" eaLnBrk="1" latinLnBrk="0" hangingPunct="1">
      <a:defRPr sz="1800" kern="1200">
        <a:solidFill>
          <a:schemeClr val="tx1"/>
        </a:solidFill>
        <a:latin typeface="Meiryo"/>
        <a:ea typeface="Meiryo"/>
        <a:cs typeface="Meiryo"/>
      </a:defRPr>
    </a:lvl5pPr>
    <a:lvl6pPr marL="2286000" algn="l" defTabSz="457200" rtl="0" eaLnBrk="1" latinLnBrk="0" hangingPunct="1">
      <a:defRPr sz="1800" kern="1200">
        <a:solidFill>
          <a:schemeClr val="tx1"/>
        </a:solidFill>
        <a:latin typeface="Meiryo"/>
        <a:ea typeface="Meiryo"/>
        <a:cs typeface="Meiryo"/>
      </a:defRPr>
    </a:lvl6pPr>
    <a:lvl7pPr marL="2743200" algn="l" defTabSz="457200" rtl="0" eaLnBrk="1" latinLnBrk="0" hangingPunct="1">
      <a:defRPr sz="1800" kern="1200">
        <a:solidFill>
          <a:schemeClr val="tx1"/>
        </a:solidFill>
        <a:latin typeface="Meiryo"/>
        <a:ea typeface="Meiryo"/>
        <a:cs typeface="Meiryo"/>
      </a:defRPr>
    </a:lvl7pPr>
    <a:lvl8pPr marL="3200400" algn="l" defTabSz="457200" rtl="0" eaLnBrk="1" latinLnBrk="0" hangingPunct="1">
      <a:defRPr sz="1800" kern="1200">
        <a:solidFill>
          <a:schemeClr val="tx1"/>
        </a:solidFill>
        <a:latin typeface="Meiryo"/>
        <a:ea typeface="Meiryo"/>
        <a:cs typeface="Meiryo"/>
      </a:defRPr>
    </a:lvl8pPr>
    <a:lvl9pPr marL="3657600" algn="l" defTabSz="457200" rtl="0" eaLnBrk="1" latinLnBrk="0" hangingPunct="1">
      <a:defRPr sz="1800" kern="1200">
        <a:solidFill>
          <a:schemeClr val="tx1"/>
        </a:solidFill>
        <a:latin typeface="Meiryo"/>
        <a:ea typeface="Meiryo"/>
        <a:cs typeface="Meiryo"/>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eiryo"/>
        <a:ea typeface="Meiryo"/>
        <a:cs typeface="Meiryo"/>
      </a:defRPr>
    </a:lvl1pPr>
    <a:lvl2pPr marL="457200" algn="l" defTabSz="457200" rtl="0" eaLnBrk="1" latinLnBrk="0" hangingPunct="1">
      <a:defRPr sz="1200" kern="1200">
        <a:solidFill>
          <a:schemeClr val="tx1"/>
        </a:solidFill>
        <a:latin typeface="Meiryo"/>
        <a:ea typeface="Meiryo"/>
        <a:cs typeface="Meiryo"/>
      </a:defRPr>
    </a:lvl2pPr>
    <a:lvl3pPr marL="914400" algn="l" defTabSz="457200" rtl="0" eaLnBrk="1" latinLnBrk="0" hangingPunct="1">
      <a:defRPr sz="1200" kern="1200">
        <a:solidFill>
          <a:schemeClr val="tx1"/>
        </a:solidFill>
        <a:latin typeface="Meiryo"/>
        <a:ea typeface="Meiryo"/>
        <a:cs typeface="Meiryo"/>
      </a:defRPr>
    </a:lvl3pPr>
    <a:lvl4pPr marL="1371600" algn="l" defTabSz="457200" rtl="0" eaLnBrk="1" latinLnBrk="0" hangingPunct="1">
      <a:defRPr sz="1200" kern="1200">
        <a:solidFill>
          <a:schemeClr val="tx1"/>
        </a:solidFill>
        <a:latin typeface="Meiryo"/>
        <a:ea typeface="Meiryo"/>
        <a:cs typeface="Meiryo"/>
      </a:defRPr>
    </a:lvl4pPr>
    <a:lvl5pPr marL="1828800" algn="l" defTabSz="457200" rtl="0" eaLnBrk="1" latinLnBrk="0" hangingPunct="1">
      <a:defRPr sz="1200" kern="1200">
        <a:solidFill>
          <a:schemeClr val="tx1"/>
        </a:solidFill>
        <a:latin typeface="Meiryo"/>
        <a:ea typeface="Meiryo"/>
        <a:cs typeface="Meiryo"/>
      </a:defRPr>
    </a:lvl5pPr>
    <a:lvl6pPr marL="2286000" algn="l" defTabSz="457200" rtl="0" eaLnBrk="1" latinLnBrk="0" hangingPunct="1">
      <a:defRPr sz="1200" kern="1200">
        <a:solidFill>
          <a:schemeClr val="tx1"/>
        </a:solidFill>
        <a:latin typeface="Meiryo"/>
        <a:ea typeface="Meiryo"/>
        <a:cs typeface="Meiryo"/>
      </a:defRPr>
    </a:lvl6pPr>
    <a:lvl7pPr marL="2743200" algn="l" defTabSz="457200" rtl="0" eaLnBrk="1" latinLnBrk="0" hangingPunct="1">
      <a:defRPr sz="1200" kern="1200">
        <a:solidFill>
          <a:schemeClr val="tx1"/>
        </a:solidFill>
        <a:latin typeface="Meiryo"/>
        <a:ea typeface="Meiryo"/>
        <a:cs typeface="Meiryo"/>
      </a:defRPr>
    </a:lvl7pPr>
    <a:lvl8pPr marL="3200400" algn="l" defTabSz="457200" rtl="0" eaLnBrk="1" latinLnBrk="0" hangingPunct="1">
      <a:defRPr sz="1200" kern="1200">
        <a:solidFill>
          <a:schemeClr val="tx1"/>
        </a:solidFill>
        <a:latin typeface="Meiryo"/>
        <a:ea typeface="Meiryo"/>
        <a:cs typeface="Meiryo"/>
      </a:defRPr>
    </a:lvl8pPr>
    <a:lvl9pPr marL="3657600" algn="l" defTabSz="457200" rtl="0" eaLnBrk="1" latinLnBrk="0" hangingPunct="1">
      <a:defRPr sz="1200" kern="1200">
        <a:solidFill>
          <a:schemeClr val="tx1"/>
        </a:solidFill>
        <a:latin typeface="Meiryo"/>
        <a:ea typeface="Meiryo"/>
        <a:cs typeface="Meiryo"/>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画像保存・利用記録・教員への招待・初回登録までを今日の目標として示します。授業で使うAI、教員のusername、提出先は担当教員の案内に従います。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5段階を先に示す。途中参加者は補足ページへ移動できる。本文の番号は段階番号で、フォームのWeek番号ではない。</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授業で利用できるAIか普段の環境を使い、短い質問を1つ送れることを確かめます。画像生成を利用できない場合は配布画像で進められます。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教師の教材を編集しない。handoutsは読む資料、学生のREADMEは書く記録、Formは受付であることを区別する。</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授業ページや提出フォームへ入れない場合は、担当教員が指定したアカウントへ切り替えます。パスワードや認証コードは見せさせません。</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既存アカウントがある学生に作り直しを要求しない。新規・既存の2通りから該当するページへ進む。</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画面は操作箇所の模式図。登録方法は画面案内に従う。既存アカウントの学生は次ページへ進む。</a:t>
            </a:r>
          </a:p>
          <a:p>
            <a:r>
              <a:t/>
            </a:r>
          </a:p>
          <a:p>
            <a:r>
              <a:t>【画面例】</a:t>
            </a:r>
          </a:p>
          <a:p>
            <a:r>
              <a:t>登録模式図。実画面のスクリーンショットではない。</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大学メールを追加する場合は確認メールを開きます。登録済み、またはPrimaryに大学メールが入っている場合は重複追加させません。普段使うメールの変更は必須にしません。</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https://docs.github.com/en/account-and-profile/how-tos/email-preferences/adding-an-email-address-to-your-github-account</a:t>
            </a:r>
          </a:p>
          <a:p>
            <a:r>
              <a:t/>
            </a:r>
          </a:p>
          <a:p>
            <a:r>
              <a:t>【アイコンの利用条件】</a:t>
            </a:r>
          </a:p>
          <a:p>
            <a:r>
              <a:rPr sz="1200">
                <a:latin typeface="Meiryo"/>
                <a:ea typeface="Meiryo"/>
                <a:cs typeface="Meiryo"/>
              </a:rP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URLの末尾のusernameと表示名、メールアドレスの違いを示す。example-studentは例。実際には各学生の値を使う。</a:t>
            </a:r>
          </a:p>
          <a:p>
            <a:r>
              <a:t/>
            </a:r>
          </a:p>
          <a:p>
            <a:r>
              <a:t>【画面例】</a:t>
            </a:r>
          </a:p>
          <a:p>
            <a:r>
              <a:t>プロフィールURLの模式図。架空のusernameを使用。</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https://github.blog/changelog/2025-09-04-profile-menu-enhancements-in-global-navigation/</a:t>
            </a:r>
          </a:p>
          <a:p>
            <a:r>
              <a:t>https://docs.github.com/en/account-and-profile/how-tos/email-preferences/remembering-your-github-username-or-email</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授業で指定したひな形を開きます。掲載例はログアウト状態の公開リポジトリです。Use this templateが見えないときはGitHubへログインして開き直します。</a:t>
            </a:r>
          </a:p>
          <a:p>
            <a:r>
              <a:t/>
            </a:r>
          </a:p>
          <a:p>
            <a:r>
              <a:t>【画面例】</a:t>
            </a:r>
          </a:p>
          <a:p>
            <a:r>
              <a:t>画面例は教材の公開ひな形です。学生は自分のPrivateリポジトリを開いて作業します。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Forkは使わず、Use this templateに統一。ボタンが見えない場合はGitHubにログインしてひな形を開き直す。</a:t>
            </a:r>
          </a:p>
          <a:p>
            <a:r>
              <a:t/>
            </a:r>
          </a:p>
          <a:p>
            <a:r>
              <a:t>【画面例】</a:t>
            </a:r>
          </a:p>
          <a:p>
            <a:r>
              <a:t>GitHub公式文書の操作画面を掲載しています。画面の配置や表示は変わることがあるため、学生の画面でも確認します。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Ownerは学生自身、Repository nameはai-learningとします。画面例の名前をそのまま入力せず、自分の保存先を作ります。</a:t>
            </a:r>
          </a:p>
          <a:p>
            <a:r>
              <a:t/>
            </a:r>
          </a:p>
          <a:p>
            <a:r>
              <a:t>【画面例】</a:t>
            </a:r>
          </a:p>
          <a:p>
            <a:r>
              <a:t>GitHub公式文書の操作画面を掲載しています。画面の配置や表示は変わることがあるため、学生の画面でも確認します。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非公開設定を保持する。作成画面を示す模式図であって最新の実画面ではない。</a:t>
            </a:r>
          </a:p>
          <a:p>
            <a:r>
              <a:t/>
            </a:r>
          </a:p>
          <a:p>
            <a:r>
              <a:t>【画面例】</a:t>
            </a:r>
          </a:p>
          <a:p>
            <a:r>
              <a:t>作成画面の模式図。</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操作を止めて自分のusernameとPrivateを確認する。画像は教員の公開ひな形ではなく各学生の非公開リポジトリへ入れる。</a:t>
            </a:r>
          </a:p>
          <a:p>
            <a:r>
              <a:t/>
            </a:r>
          </a:p>
          <a:p>
            <a:r>
              <a:t>【画面例】</a:t>
            </a:r>
          </a:p>
          <a:p>
            <a:r>
              <a:t>リポジトリ上部とフォルダ構成を示す模式図。</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画像生成が使える人は自作画像、使えない人は配布画像でよい。画像の美しさ、課金の有無は設定完了の判定対象にしない。</a:t>
            </a:r>
          </a:p>
          <a:p>
            <a:r>
              <a:t/>
            </a:r>
          </a:p>
          <a:p>
            <a:r>
              <a:t>【画面例】</a:t>
            </a:r>
          </a:p>
          <a:p>
            <a:r>
              <a:t>配布画像を表示しています。画像内の行事や日程は授業用の架空資料です。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配布画像はassets/setup/practice.pngです。授業ページから画像へのリンクを案内します。画像生成を使った場合はサービスの保存方法に従います。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スクリーンショットは公開ひな形。学生は自分のPrivateに戻る。画面例の所有者やリポジトリ名を自分のものと同一視しない。</a:t>
            </a:r>
          </a:p>
          <a:p>
            <a:r>
              <a:t/>
            </a:r>
          </a:p>
          <a:p>
            <a:r>
              <a:t>【画面例】</a:t>
            </a:r>
          </a:p>
          <a:p>
            <a:r>
              <a:t>画面例は教材の公開ひな形です。学生は自分のPrivateリポジトリを開いて作業します。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Add fileからUpload filesへ進む場所を示し、学生の操作が終わるまで待ちます。</a:t>
            </a:r>
          </a:p>
          <a:p>
            <a:r>
              <a:t/>
            </a:r>
          </a:p>
          <a:p>
            <a:r>
              <a:t>【画面例】</a:t>
            </a:r>
          </a:p>
          <a:p>
            <a:r>
              <a:t>GitHub公式文書の操作画面を掲載しています。画面の配置や表示は変わることがあるため、学生の画面でも確認します。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画像を選択してアップロードし、Commit changesで保存する順番を確認します。画面は操作箇所を示す模式図です。</a:t>
            </a:r>
          </a:p>
          <a:p>
            <a:r>
              <a:t/>
            </a:r>
          </a:p>
          <a:p>
            <a:r>
              <a:t>【画面例】</a:t>
            </a:r>
          </a:p>
          <a:p>
            <a:r>
              <a:t>アップロード画面の操作を示す模式図。</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https://docs.github.com/en/repositories/working-with-files/managing-files/adding-a-file-to-a-repository</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ファイル一覧に名前があるだけでなく画像を開かせる。配布画像でも同じ技術的確認が可能。</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setup/README.mdに、画像ファイル名・利用方法・自分が確認したことを書きます。任意の学習目標とは分けて説明します。</a:t>
            </a:r>
          </a:p>
          <a:p>
            <a:r>
              <a:t/>
            </a:r>
          </a:p>
          <a:p>
            <a:r>
              <a:t>【画面例】</a:t>
            </a:r>
          </a:p>
          <a:p>
            <a:r>
              <a:t>画面例は教材の公開ひな形です。学生は自分のPrivateリポジトリを開いて作業します。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READMEの編集アイコンの場所を確認します。画面例のファイル内容を写す必要はありません。</a:t>
            </a:r>
          </a:p>
          <a:p>
            <a:r>
              <a:t/>
            </a:r>
          </a:p>
          <a:p>
            <a:r>
              <a:t>【画面例】</a:t>
            </a:r>
          </a:p>
          <a:p>
            <a:r>
              <a:t>GitHub公式文書の操作画面を掲載しています。画面の配置や表示は変わることがあるため、学生の画面でも確認します。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記入例を丸写しするのでなく実際のファイル名と利用内容を書く。AI未使用なら「授業の配布画像を使用」と記す。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Previewは表示確認であって保存ではない。次ページのCommit changesまで進める。</a:t>
            </a:r>
          </a:p>
          <a:p>
            <a:r>
              <a:t/>
            </a:r>
          </a:p>
          <a:p>
            <a:r>
              <a:t>【画面例】</a:t>
            </a:r>
          </a:p>
          <a:p>
            <a:r>
              <a:t>GitHub公式文書の操作画面を掲載しています。画面の配置や表示は変わることがあるため、学生の画面でも確認します。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ブラウザでCommit changesを押すとGitHubへ保存されます。初回準備で追加のpush操作は要りません。授業で指定した保存先のブランチを使います。</a:t>
            </a:r>
          </a:p>
          <a:p>
            <a:r>
              <a:t/>
            </a:r>
          </a:p>
          <a:p>
            <a:r>
              <a:t>【画面例】</a:t>
            </a:r>
          </a:p>
          <a:p>
            <a:r>
              <a:t>保存操作の模式図。</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https://docs.github.com/en/repositories/working-with-files/managing-files/editing-files</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アカウント全体のSettingsとリポジトリのSettingsを区別する。メール設定のSettingsとは開く位置が異なる。</a:t>
            </a:r>
          </a:p>
          <a:p>
            <a:r>
              <a:t/>
            </a:r>
          </a:p>
          <a:p>
            <a:r>
              <a:t>【画面例】</a:t>
            </a:r>
          </a:p>
          <a:p>
            <a:r>
              <a:t>GitHub公式文書の操作画面を掲載しています。画面の配置や表示は変わることがあるため、学生の画面でも確認します。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担当教員が指定したusernameを最後まで確認し、候補を選んで招待します。例のtsuchiyatakahirolabは教材作成者のアカウントです。別の授業では招待先を担当教員のものへ差し替えます。招待中の表示が出れば次へ進めます。個人リポジトリの共同作業者には書き込み権限もあるため、教員は学生のファイルを不用意に編集しません。</a:t>
            </a:r>
          </a:p>
          <a:p>
            <a:r>
              <a:t/>
            </a:r>
          </a:p>
          <a:p>
            <a:r>
              <a:t>【画面例】</a:t>
            </a:r>
          </a:p>
          <a:p>
            <a:r>
              <a:t>招待操作を示す模式図。実画面のスクリーンショットではない。</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https://docs.github.com/en/repositories/managing-your-repositorys-settings-and-features/repository-access-and-collaboration/inviting-collaborators-to-a-personal-repository</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初回登録はrepository URL。プロフィールやcommit URLはこの欄へ入れない。URLは模式例で、実際は自分の値を使う。</a:t>
            </a:r>
          </a:p>
          <a:p>
            <a:r>
              <a:t/>
            </a:r>
          </a:p>
          <a:p>
            <a:r>
              <a:t>【画面例】</a:t>
            </a:r>
          </a:p>
          <a:p>
            <a:r>
              <a:t>URL構造の説明図。example-studentは架空のusername。</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https://github.com/tsuchiyatakahirolab/ai-data-literacy/blob/main/assets/setup/screens/ATTRIBUTION.md</a:t>
            </a:r>
          </a:p>
          <a:p>
            <a:r>
              <a:t>https://github.com/tsuchiyatakahirolab/ai-data-literacy-student-template</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2026GT0001は入力形式の例です。実際には各大学が指定した形式の学籍番号を省略せず入力します。例の桁数や入学年度を全大学共通の規則として説明しません。</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授業で案内された初回登録フォームを使い、学籍番号・メール・GitHub username・自分のリポジトリURLを同じ回答に入力します。フォームの実際の項目や入力規則は担当教員の案内に従います。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点検結果の確認方法は授業ページで案内します。学生に招待受理や個別コメントを待たせず、修正の案内があれば該当箇所を直してもらいます。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学生側で確認できる項目のみでチェックリストを構成。教員が招待受理済みかを学生側完了の条件としない。</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初回登録と毎週の提出を区別。初回導入で詳細なcommit URL取得手順を再講義せず、各回の提出手順へ橋渡しする。</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途中参加者も同じひな形・初回登録・準備資料を使います。作成済みの保存先と記録を続けて使います。過去の課題と締切の扱いは担当教員の方針を案内します。</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学生が誤ったアカウントでアクセス申請を送る問題を先に防ぐ。機密を伏せてエラーと手順番号を伝える。</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学生特典・有料AI・Starは任意です。利用条件は公式案内で確認し、授業参加や評価の必須条件にしません。</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【授業の進め方】</a:t>
            </a:r>
          </a:p>
          <a:p>
            <a:r>
              <a:t>学習目標の記入は任意です。初回準備の必須記録である画像・利用方法・確認したこととは分けて案内します。</a:t>
            </a:r>
          </a:p>
          <a:p>
            <a:r>
              <a:t/>
            </a:r>
          </a:p>
          <a:p>
            <a:r>
              <a:t>【画面例】</a:t>
            </a:r>
          </a:p>
          <a:p>
            <a:r>
              <a:t>学習目標例の記入例。</a:t>
            </a:r>
          </a:p>
          <a:p>
            <a:r>
              <a:t/>
            </a:r>
          </a:p>
          <a:p>
            <a:r>
              <a:t>【授業に合わせる項目】</a:t>
            </a:r>
          </a:p>
          <a:p>
            <a:r>
              <a:t>教員のusername、学生用ひな形、提出先、使用アカウント、学籍番号の形式は担当教員が案内します。途中参加者も同じ準備手順を使います。</a:t>
            </a:r>
          </a:p>
          <a:p>
            <a:r>
              <a:t/>
            </a:r>
          </a:p>
          <a:p>
            <a:r>
              <a:t>【参考リンク】</a:t>
            </a:r>
          </a:p>
          <a:p>
            <a:r>
              <a:t>https://tsuchiyatakahiro.com/images/logo-full.png.</a:t>
            </a:r>
          </a:p>
          <a:p>
            <a:r>
              <a:t/>
            </a:r>
          </a:p>
          <a:p>
            <a:r>
              <a:t>【アイコンの利用条件】</a:t>
            </a:r>
          </a:p>
          <a:p>
            <a:r>
              <a:t>Lucideアイコンのライセンスはassets/icons/lucide/LICENSE.txtを参照。</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slideLayout" Target="../slideLayouts/slideLayout2.xml" /><ns0:Relationship Id="rId3" Type="http://schemas.openxmlformats.org/officeDocument/2006/relationships/slideLayout" Target="../slideLayouts/slideLayout3.xml" /><ns0:Relationship Id="rId4" Type="http://schemas.openxmlformats.org/officeDocument/2006/relationships/slideLayout" Target="../slideLayouts/slideLayout4.xml" /><ns0:Relationship Id="rId5" Type="http://schemas.openxmlformats.org/officeDocument/2006/relationships/slideLayout" Target="../slideLayouts/slideLayout5.xml" /><ns0:Relationship Id="rId6" Type="http://schemas.openxmlformats.org/officeDocument/2006/relationships/slideLayout" Target="../slideLayouts/slideLayout6.xml" /><ns0:Relationship Id="rId7" Type="http://schemas.openxmlformats.org/officeDocument/2006/relationships/slideLayout" Target="../slideLayouts/slideLayout7.xml" /><ns0:Relationship Id="rId8" Type="http://schemas.openxmlformats.org/officeDocument/2006/relationships/slideLayout" Target="../slideLayouts/slideLayout8.xml" /><ns0:Relationship Id="rId9" Type="http://schemas.openxmlformats.org/officeDocument/2006/relationships/slideLayout" Target="../slideLayouts/slideLayout9.xml" /><ns0:Relationship Id="rId10" Type="http://schemas.openxmlformats.org/officeDocument/2006/relationships/slideLayout" Target="../slideLayouts/slideLayout10.xml" /><ns0:Relationship Id="rId11" Type="http://schemas.openxmlformats.org/officeDocument/2006/relationships/slideLayout" Target="../slideLayouts/slideLayout11.xml" /><ns0:Relationship Id="rId12" Type="http://schemas.openxmlformats.org/officeDocument/2006/relationships/theme" Target="../theme/theme1.xml" /><ns0:Relationship Id="rIdPersonalAuthorLogo" Type="http://schemas.openxmlformats.org/officeDocument/2006/relationships/image" Target="../media/personal-author-logo.png" /></ns0:Relationships>
</file>

<file path=ppt/slideMasters/slideMaster1.xml><?xml version="1.0" encoding="utf-8"?>
<p:sldMaster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7" name=""/>
          <p:cNvPicPr>
            <a:picLocks noChangeAspect="1"/>
          </p:cNvPicPr>
          <p:nvPr/>
        </p:nvPicPr>
        <p:blipFill>
          <a:blip r:embed="rIdPersonalAuthorLogo"/>
          <a:stretch/>
        </p:blipFill>
        <p:spPr>
          <a:xfrm>
            <a:off x="685800" y="85748"/>
            <a:ext cx="1714500" cy="210457"/>
          </a:xfrm>
          <a:prstGeom prst="rect">
            <a:avLst/>
          </a:prstGeom>
        </p:spPr>
      </p:pic>
      <p:sp>
        <p:nvSpPr>
          <p:cNvPr id="8" name="Personal author website">
            <a:extLst>
              <a:ext uri="{FF2B5EF4-FFF2-40B4-BE49-F238E27FC236}">
                <ns3:creationId id="{2B199CB2-0940-4D13-9CAC-E3F074FAA0ED}"/>
              </a:ext>
            </a:extLst>
          </p:cNvPr>
          <p:cNvSpPr>
            <a:spLocks noGrp="1"/>
          </p:cNvSpPr>
          <p:nvPr/>
        </p:nvSpPr>
        <p:spPr>
          <a:xfrm>
            <a:off x="6286500" y="6477000"/>
            <a:ext cx="4000500" cy="266700"/>
          </a:xfrm>
          <a:prstGeom prst="rect">
            <a:avLst/>
          </a:prstGeom>
          <a:noFill/>
          <a:ln w="0">
            <a:noFill/>
          </a:ln>
        </p:spPr>
        <p:txBody>
          <a:bodyPr>
            <a:noAutofit/>
          </a:bodyPr>
          <a:lstStyle/>
          <a:p>
            <a:pPr>
              <a:defRPr sz="1800">
                <a:solidFill>
                  <a:srgbClr val="607482"/>
                </a:solidFill>
                <a:latin typeface="Meiryo"/>
                <a:ea typeface="Meiryo"/>
                <a:cs typeface="Meiryo"/>
              </a:defRPr>
            </a:pPr>
            <a:r>
              <a:rPr sz="1800">
                <a:solidFill>
                  <a:srgbClr val="607482"/>
                </a:solidFill>
                <a:latin typeface="Meiryo"/>
                <a:ea typeface="Meiryo"/>
                <a:cs typeface="Meiryo"/>
              </a:rPr>
              <a:t>tsuchiyatakahiro.com</a:t>
            </a:r>
          </a:p>
        </p:txBody>
      </p:sp>
    </p:spTree>
    <p:extLst>
      <p:ext uri="{BB962C8B-B14F-4D97-AF65-F5344CB8AC3E}">
        <ns4:creationId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eiryo"/>
          <a:ea typeface="Meiryo"/>
          <a:cs typeface="Meiryo"/>
        </a:defRPr>
      </a:lvl1pPr>
    </p:titleStyle>
    <p:bodyStyle>
      <a:lvl1pPr marL="342900" indent="-342900" algn="l" defTabSz="457200" rtl="0" eaLnBrk="1" latinLnBrk="0" hangingPunct="1">
        <a:spcBef>
          <a:spcPct val="20000"/>
        </a:spcBef>
        <a:buFont typeface="Meiryo"/>
        <a:buChar char="•"/>
        <a:defRPr sz="3200" kern="1200">
          <a:solidFill>
            <a:schemeClr val="tx1"/>
          </a:solidFill>
          <a:latin typeface="Meiryo"/>
          <a:ea typeface="Meiryo"/>
          <a:cs typeface="Meiryo"/>
        </a:defRPr>
      </a:lvl1pPr>
      <a:lvl2pPr marL="742950" indent="-285750" algn="l" defTabSz="457200" rtl="0" eaLnBrk="1" latinLnBrk="0" hangingPunct="1">
        <a:spcBef>
          <a:spcPct val="20000"/>
        </a:spcBef>
        <a:buFont typeface="Meiryo"/>
        <a:buChar char="–"/>
        <a:defRPr sz="2800" kern="1200">
          <a:solidFill>
            <a:schemeClr val="tx1"/>
          </a:solidFill>
          <a:latin typeface="Meiryo"/>
          <a:ea typeface="Meiryo"/>
          <a:cs typeface="Meiryo"/>
        </a:defRPr>
      </a:lvl2pPr>
      <a:lvl3pPr marL="1143000" indent="-228600" algn="l" defTabSz="457200" rtl="0" eaLnBrk="1" latinLnBrk="0" hangingPunct="1">
        <a:spcBef>
          <a:spcPct val="20000"/>
        </a:spcBef>
        <a:buFont typeface="Meiryo"/>
        <a:buChar char="•"/>
        <a:defRPr sz="2400" kern="1200">
          <a:solidFill>
            <a:schemeClr val="tx1"/>
          </a:solidFill>
          <a:latin typeface="Meiryo"/>
          <a:ea typeface="Meiryo"/>
          <a:cs typeface="Meiryo"/>
        </a:defRPr>
      </a:lvl3pPr>
      <a:lvl4pPr marL="16002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4pPr>
      <a:lvl5pPr marL="20574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5pPr>
      <a:lvl6pPr marL="25146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6pPr>
      <a:lvl7pPr marL="29718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7pPr>
      <a:lvl8pPr marL="34290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8pPr>
      <a:lvl9pPr marL="38862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9pPr>
    </p:bodyStyle>
    <p:otherStyle>
      <a:defPPr>
        <a:defRPr lang="en-US"/>
      </a:defPPr>
      <a:lvl1pPr marL="0" algn="l" defTabSz="457200" rtl="0" eaLnBrk="1" latinLnBrk="0" hangingPunct="1">
        <a:defRPr sz="1800" kern="1200">
          <a:solidFill>
            <a:schemeClr val="tx1"/>
          </a:solidFill>
          <a:latin typeface="Meiryo"/>
          <a:ea typeface="Meiryo"/>
          <a:cs typeface="Meiryo"/>
        </a:defRPr>
      </a:lvl1pPr>
      <a:lvl2pPr marL="457200" algn="l" defTabSz="457200" rtl="0" eaLnBrk="1" latinLnBrk="0" hangingPunct="1">
        <a:defRPr sz="1800" kern="1200">
          <a:solidFill>
            <a:schemeClr val="tx1"/>
          </a:solidFill>
          <a:latin typeface="Meiryo"/>
          <a:ea typeface="Meiryo"/>
          <a:cs typeface="Meiryo"/>
        </a:defRPr>
      </a:lvl2pPr>
      <a:lvl3pPr marL="914400" algn="l" defTabSz="457200" rtl="0" eaLnBrk="1" latinLnBrk="0" hangingPunct="1">
        <a:defRPr sz="1800" kern="1200">
          <a:solidFill>
            <a:schemeClr val="tx1"/>
          </a:solidFill>
          <a:latin typeface="Meiryo"/>
          <a:ea typeface="Meiryo"/>
          <a:cs typeface="Meiryo"/>
        </a:defRPr>
      </a:lvl3pPr>
      <a:lvl4pPr marL="1371600" algn="l" defTabSz="457200" rtl="0" eaLnBrk="1" latinLnBrk="0" hangingPunct="1">
        <a:defRPr sz="1800" kern="1200">
          <a:solidFill>
            <a:schemeClr val="tx1"/>
          </a:solidFill>
          <a:latin typeface="Meiryo"/>
          <a:ea typeface="Meiryo"/>
          <a:cs typeface="Meiryo"/>
        </a:defRPr>
      </a:lvl4pPr>
      <a:lvl5pPr marL="1828800" algn="l" defTabSz="457200" rtl="0" eaLnBrk="1" latinLnBrk="0" hangingPunct="1">
        <a:defRPr sz="1800" kern="1200">
          <a:solidFill>
            <a:schemeClr val="tx1"/>
          </a:solidFill>
          <a:latin typeface="Meiryo"/>
          <a:ea typeface="Meiryo"/>
          <a:cs typeface="Meiryo"/>
        </a:defRPr>
      </a:lvl5pPr>
      <a:lvl6pPr marL="2286000" algn="l" defTabSz="457200" rtl="0" eaLnBrk="1" latinLnBrk="0" hangingPunct="1">
        <a:defRPr sz="1800" kern="1200">
          <a:solidFill>
            <a:schemeClr val="tx1"/>
          </a:solidFill>
          <a:latin typeface="Meiryo"/>
          <a:ea typeface="Meiryo"/>
          <a:cs typeface="Meiryo"/>
        </a:defRPr>
      </a:lvl6pPr>
      <a:lvl7pPr marL="2743200" algn="l" defTabSz="457200" rtl="0" eaLnBrk="1" latinLnBrk="0" hangingPunct="1">
        <a:defRPr sz="1800" kern="1200">
          <a:solidFill>
            <a:schemeClr val="tx1"/>
          </a:solidFill>
          <a:latin typeface="Meiryo"/>
          <a:ea typeface="Meiryo"/>
          <a:cs typeface="Meiryo"/>
        </a:defRPr>
      </a:lvl7pPr>
      <a:lvl8pPr marL="3200400" algn="l" defTabSz="457200" rtl="0" eaLnBrk="1" latinLnBrk="0" hangingPunct="1">
        <a:defRPr sz="1800" kern="1200">
          <a:solidFill>
            <a:schemeClr val="tx1"/>
          </a:solidFill>
          <a:latin typeface="Meiryo"/>
          <a:ea typeface="Meiryo"/>
          <a:cs typeface="Meiryo"/>
        </a:defRPr>
      </a:lvl8pPr>
      <a:lvl9pPr marL="3657600" algn="l" defTabSz="457200" rtl="0" eaLnBrk="1" latinLnBrk="0" hangingPunct="1">
        <a:defRPr sz="1800" kern="1200">
          <a:solidFill>
            <a:schemeClr val="tx1"/>
          </a:solidFill>
          <a:latin typeface="Meiryo"/>
          <a:ea typeface="Meiryo"/>
          <a:cs typeface="Meiryo"/>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png" /><ns0:Relationship Id="rId3" Type="http://schemas.openxmlformats.org/officeDocument/2006/relationships/notesSlide" Target="../notesSlides/notesSlide1.xml" /><ns0:Relationship Id="rIdPersonalAuthorLogo" Type="http://schemas.openxmlformats.org/officeDocument/2006/relationships/image" Target="../media/personal-author-logo-white.png" /></ns0: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 Id="rId4" Type="http://schemas.openxmlformats.org/officeDocument/2006/relationships/image" Target="../media/image3.png"/><Relationship Id="rId5" Type="http://schemas.openxmlformats.org/officeDocument/2006/relationships/slide" Target="slide5.xml"/><Relationship Id="rId6" Type="http://schemas.openxmlformats.org/officeDocument/2006/relationships/slide" Target="slide10.xml"/><Relationship Id="rId7" Type="http://schemas.openxmlformats.org/officeDocument/2006/relationships/slide" Target="slide15.xml"/><Relationship Id="rId8" Type="http://schemas.openxmlformats.org/officeDocument/2006/relationships/slide" Target="slide26.xml"/><Relationship Id="rId9" Type="http://schemas.openxmlformats.org/officeDocument/2006/relationships/slide" Target="slide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3.png"/><Relationship Id="rId7"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image" Target="../media/image3.png"/><Relationship Id="rId5"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6.xml"/><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slide" Target="slide2.xml"/></Relationships>
</file>

<file path=ppt/slides/_rels/slide7.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4.png" /><ns0:Relationship Id="rId3" Type="http://schemas.openxmlformats.org/officeDocument/2006/relationships/notesSlide" Target="../notesSlides/notesSlide7.xml" /><ns0:Relationship Id="rId4" Type="http://schemas.openxmlformats.org/officeDocument/2006/relationships/image" Target="../media/image3.png" /><ns0:Relationship Id="rId5" Type="http://schemas.openxmlformats.org/officeDocument/2006/relationships/slide" Target="slide2.xml" /><ns0:Relationship Id="rIdHandson19" Type="http://schemas.openxmlformats.org/officeDocument/2006/relationships/hyperlink" Target="https://github.com/signup" TargetMode="External" /></ns0:Relationships>
</file>

<file path=ppt/slides/_rels/slide8.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5.png" /><ns0:Relationship Id="rId3" Type="http://schemas.openxmlformats.org/officeDocument/2006/relationships/notesSlide" Target="../notesSlides/notesSlide8.xml" /><ns0:Relationship Id="rId4" Type="http://schemas.openxmlformats.org/officeDocument/2006/relationships/image" Target="../media/image3.png" /><ns0:Relationship Id="rId5" Type="http://schemas.openxmlformats.org/officeDocument/2006/relationships/slide" Target="slide2.xml" /><ns0:Relationship Id="rIdHandson13" Type="http://schemas.openxmlformats.org/officeDocument/2006/relationships/hyperlink" Target="https://github.com/settings/emails" TargetMode="External" /></ns0: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 Id="rId4" Type="http://schemas.openxmlformats.org/officeDocument/2006/relationships/image" Target="../media/image3.png"/><Relationship Id="rId5" Type="http://schemas.openxmlformats.org/officeDocument/2006/relationships/slide" Target="slide2.xml"/></Relationships>
</file>

<file path=ppt/slides/_rels/slide10.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7.png" /><ns0:Relationship Id="rId3" Type="http://schemas.openxmlformats.org/officeDocument/2006/relationships/notesSlide" Target="../notesSlides/notesSlide10.xml" /><ns0:Relationship Id="rId4" Type="http://schemas.openxmlformats.org/officeDocument/2006/relationships/image" Target="../media/image12.png" /><ns0:Relationship Id="rId5" Type="http://schemas.openxmlformats.org/officeDocument/2006/relationships/image" Target="../media/image3.png" /><ns0:Relationship Id="rId6" Type="http://schemas.openxmlformats.org/officeDocument/2006/relationships/slide" Target="slide2.xml" /><ns0:Relationship Id="rIdHandson12" Type="http://schemas.openxmlformats.org/officeDocument/2006/relationships/hyperlink" Target="https://github.com/tsuchiyatakahirolab/ai-data-literacy-student-template" TargetMode="External" /></ns0:Relationships>
</file>

<file path=ppt/slides/_rels/slide11.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3.png" /><ns0:Relationship Id="rId3" Type="http://schemas.openxmlformats.org/officeDocument/2006/relationships/notesSlide" Target="../notesSlides/notesSlide11.xml" /><ns0:Relationship Id="rId4" Type="http://schemas.openxmlformats.org/officeDocument/2006/relationships/image" Target="../media/image14.png" /><ns0:Relationship Id="rId5" Type="http://schemas.openxmlformats.org/officeDocument/2006/relationships/image" Target="../media/image3.png" /><ns0:Relationship Id="rId6" Type="http://schemas.openxmlformats.org/officeDocument/2006/relationships/slide" Target="slide2.xml" /></ns0: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3.png"/><Relationship Id="rId7"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 Id="rId4" Type="http://schemas.openxmlformats.org/officeDocument/2006/relationships/image" Target="../media/image17.png"/><Relationship Id="rId5"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 Id="rId4" Type="http://schemas.openxmlformats.org/officeDocument/2006/relationships/slide" Target="slide2.xml"/></Relationships>
</file>

<file path=ppt/slides/_rels/slide15.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8.png" /><ns0:Relationship Id="rId3" Type="http://schemas.openxmlformats.org/officeDocument/2006/relationships/notesSlide" Target="../notesSlides/notesSlide15.xml" /><ns0:Relationship Id="rId4" Type="http://schemas.openxmlformats.org/officeDocument/2006/relationships/image" Target="../media/image19.png" /><ns0:Relationship Id="rId5" Type="http://schemas.openxmlformats.org/officeDocument/2006/relationships/image" Target="../media/image3.png" /><ns0:Relationship Id="rId6" Type="http://schemas.openxmlformats.org/officeDocument/2006/relationships/slide" Target="slide2.xml" /></ns0:Relationships>
</file>

<file path=ppt/slides/_rels/slide16.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9.png" /><ns0:Relationship Id="rId3" Type="http://schemas.openxmlformats.org/officeDocument/2006/relationships/notesSlide" Target="../notesSlides/notesSlide16.xml" /><ns0:Relationship Id="rId4" Type="http://schemas.openxmlformats.org/officeDocument/2006/relationships/image" Target="../media/image17.png" /><ns0:Relationship Id="rId5" Type="http://schemas.openxmlformats.org/officeDocument/2006/relationships/slide" Target="slide2.xml" /><ns0:Relationship Id="rIdHandson9" Type="http://schemas.openxmlformats.org/officeDocument/2006/relationships/hyperlink" Target="https://github.com/tsuchiyatakahirolab/ai-data-literacy/blob/main/assets/setup/practice.png" TargetMode="External" /></ns0:Relationships>
</file>

<file path=ppt/slides/_rels/slide17.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7.png" /><ns0:Relationship Id="rId3" Type="http://schemas.openxmlformats.org/officeDocument/2006/relationships/notesSlide" Target="../notesSlides/notesSlide17.xml" /><ns0:Relationship Id="rId4" Type="http://schemas.openxmlformats.org/officeDocument/2006/relationships/image" Target="../media/image20.png" /><ns0:Relationship Id="rId5" Type="http://schemas.openxmlformats.org/officeDocument/2006/relationships/image" Target="../media/image3.png" /><ns0:Relationship Id="rId6" Type="http://schemas.openxmlformats.org/officeDocument/2006/relationships/slide" Target="slide2.xml" /></ns0: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 Id="rId4" Type="http://schemas.openxmlformats.org/officeDocument/2006/relationships/image" Target="../media/image21.png"/><Relationship Id="rId5" Type="http://schemas.openxmlformats.org/officeDocument/2006/relationships/image" Target="../media/image3.png"/><Relationship Id="rId6" Type="http://schemas.openxmlformats.org/officeDocument/2006/relationships/slide" Target="slide2.xml"/></Relationships>
</file>

<file path=ppt/slides/_rels/slide19.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22.png" /><ns0:Relationship Id="rId3" Type="http://schemas.openxmlformats.org/officeDocument/2006/relationships/notesSlide" Target="../notesSlides/notesSlide19.xml" /><ns0:Relationship Id="rId4" Type="http://schemas.openxmlformats.org/officeDocument/2006/relationships/image" Target="../media/image3.png" /><ns0:Relationship Id="rId5" Type="http://schemas.openxmlformats.org/officeDocument/2006/relationships/slide" Target="slide2.xml" /></ns0: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 Id="rId4"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1.xml"/><Relationship Id="rId4" Type="http://schemas.openxmlformats.org/officeDocument/2006/relationships/image" Target="../media/image23.png"/><Relationship Id="rId5" Type="http://schemas.openxmlformats.org/officeDocument/2006/relationships/image" Target="../media/image3.png"/><Relationship Id="rId6" Type="http://schemas.openxmlformats.org/officeDocument/2006/relationships/slide" Target="slide2.xml"/></Relationships>
</file>

<file path=ppt/slides/_rels/slide22.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4.png" /><ns0:Relationship Id="rId3" Type="http://schemas.openxmlformats.org/officeDocument/2006/relationships/notesSlide" Target="../notesSlides/notesSlide22.xml" /><ns0:Relationship Id="rId4" Type="http://schemas.openxmlformats.org/officeDocument/2006/relationships/image" Target="../media/image24.png" /><ns0:Relationship Id="rId5" Type="http://schemas.openxmlformats.org/officeDocument/2006/relationships/image" Target="../media/image3.png" /><ns0:Relationship Id="rId6" Type="http://schemas.openxmlformats.org/officeDocument/2006/relationships/slide" Target="slide2.xml" /></ns0:Relationships>
</file>

<file path=ppt/slides/_rels/slide23.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1.png" /><ns0:Relationship Id="rId3" Type="http://schemas.openxmlformats.org/officeDocument/2006/relationships/notesSlide" Target="../notesSlides/notesSlide23.xml" /><ns0:Relationship Id="rId4" Type="http://schemas.openxmlformats.org/officeDocument/2006/relationships/image" Target="../media/image3.png" /><ns0:Relationship Id="rId5" Type="http://schemas.openxmlformats.org/officeDocument/2006/relationships/slide" Target="slide2.xml" /></ns0: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 Id="rId4" Type="http://schemas.openxmlformats.org/officeDocument/2006/relationships/image" Target="../media/image26.png"/><Relationship Id="rId5" Type="http://schemas.openxmlformats.org/officeDocument/2006/relationships/image" Target="../media/image3.png"/><Relationship Id="rId6" Type="http://schemas.openxmlformats.org/officeDocument/2006/relationships/slide" Target="slide2.xml"/></Relationships>
</file>

<file path=ppt/slides/_rels/slide25.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22.png" /><ns0:Relationship Id="rId3" Type="http://schemas.openxmlformats.org/officeDocument/2006/relationships/notesSlide" Target="../notesSlides/notesSlide25.xml" /><ns0:Relationship Id="rId4" Type="http://schemas.openxmlformats.org/officeDocument/2006/relationships/image" Target="../media/image3.png" /><ns0:Relationship Id="rId5" Type="http://schemas.openxmlformats.org/officeDocument/2006/relationships/slide" Target="slide2.xml" /></ns0:Relationships>
</file>

<file path=ppt/slides/_rels/slide26.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5.png" /><ns0:Relationship Id="rId3" Type="http://schemas.openxmlformats.org/officeDocument/2006/relationships/notesSlide" Target="../notesSlides/notesSlide26.xml" /><ns0:Relationship Id="rId4" Type="http://schemas.openxmlformats.org/officeDocument/2006/relationships/image" Target="../media/image27.png" /><ns0:Relationship Id="rId5" Type="http://schemas.openxmlformats.org/officeDocument/2006/relationships/image" Target="../media/image3.png" /><ns0:Relationship Id="rId6" Type="http://schemas.openxmlformats.org/officeDocument/2006/relationships/slide" Target="slide2.xml" /></ns0:Relationships>
</file>

<file path=ppt/slides/_rels/slide27.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9.png" /><ns0:Relationship Id="rId3" Type="http://schemas.openxmlformats.org/officeDocument/2006/relationships/notesSlide" Target="../notesSlides/notesSlide27.xml" /><ns0:Relationship Id="rId4" Type="http://schemas.openxmlformats.org/officeDocument/2006/relationships/image" Target="../media/image3.png" /><ns0:Relationship Id="rId5" Type="http://schemas.openxmlformats.org/officeDocument/2006/relationships/slide" Target="slide2.xml" /></ns0:Relationships>
</file>

<file path=ppt/slides/_rels/slide28.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7.png" /><ns0:Relationship Id="rId3" Type="http://schemas.openxmlformats.org/officeDocument/2006/relationships/notesSlide" Target="../notesSlides/notesSlide28.xml" /><ns0:Relationship Id="rId4" Type="http://schemas.openxmlformats.org/officeDocument/2006/relationships/image" Target="../media/image3.png" /><ns0:Relationship Id="rId5" Type="http://schemas.openxmlformats.org/officeDocument/2006/relationships/slide" Target="slide2.xml" /></ns0: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9.xml"/><Relationship Id="rId4" Type="http://schemas.openxmlformats.org/officeDocument/2006/relationships/image" Target="../media/image3.png"/><Relationship Id="rId5" Type="http://schemas.openxmlformats.org/officeDocument/2006/relationships/slide" Target="slide2.xml"/></Relationships>
</file>

<file path=ppt/slides/_rels/slide30.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1.png" /><ns0:Relationship Id="rId3" Type="http://schemas.openxmlformats.org/officeDocument/2006/relationships/notesSlide" Target="../notesSlides/notesSlide30.xml" /><ns0:Relationship Id="rId4" Type="http://schemas.openxmlformats.org/officeDocument/2006/relationships/image" Target="../media/image3.png" /><ns0:Relationship Id="rId5" Type="http://schemas.openxmlformats.org/officeDocument/2006/relationships/slide" Target="slide2.xml" /></ns0: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slide" Target="slid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image" Target="../media/image3.png"/><Relationship Id="rId5" Type="http://schemas.openxmlformats.org/officeDocument/2006/relationships/slide" Target="slide2.xml"/></Relationships>
</file>

<file path=ppt/slides/_rels/slide33.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22.png" /><ns0:Relationship Id="rId3" Type="http://schemas.openxmlformats.org/officeDocument/2006/relationships/notesSlide" Target="../notesSlides/notesSlide33.xml" /><ns0:Relationship Id="rId4" Type="http://schemas.openxmlformats.org/officeDocument/2006/relationships/image" Target="../media/image3.png" /><ns0:Relationship Id="rId5" Type="http://schemas.openxmlformats.org/officeDocument/2006/relationships/slide" Target="slide2.xml" /></ns0:Relationships>
</file>

<file path=ppt/slides/_rels/slide34.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0.png" /><ns0:Relationship Id="rId3" Type="http://schemas.openxmlformats.org/officeDocument/2006/relationships/notesSlide" Target="../notesSlides/notesSlide34.xml" /><ns0:Relationship Id="rId4" Type="http://schemas.openxmlformats.org/officeDocument/2006/relationships/image" Target="../media/image4.png" /><ns0:Relationship Id="rId5" Type="http://schemas.openxmlformats.org/officeDocument/2006/relationships/image" Target="../media/image7.png" /><ns0:Relationship Id="rId6" Type="http://schemas.openxmlformats.org/officeDocument/2006/relationships/image" Target="../media/image11.png" /><ns0:Relationship Id="rId7" Type="http://schemas.openxmlformats.org/officeDocument/2006/relationships/image" Target="../media/image3.png" /><ns0:Relationship Id="rId8" Type="http://schemas.openxmlformats.org/officeDocument/2006/relationships/slide" Target="slide2.xml" /></ns0:Relationships>
</file>

<file path=ppt/slides/_rels/slide35.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28.png" /><ns0:Relationship Id="rId3" Type="http://schemas.openxmlformats.org/officeDocument/2006/relationships/notesSlide" Target="../notesSlides/notesSlide35.xml" /><ns0:Relationship Id="rId4" Type="http://schemas.openxmlformats.org/officeDocument/2006/relationships/image" Target="../media/image5.png" /><ns0:Relationship Id="rId5" Type="http://schemas.openxmlformats.org/officeDocument/2006/relationships/image" Target="../media/image7.png" /><ns0:Relationship Id="rId6" Type="http://schemas.openxmlformats.org/officeDocument/2006/relationships/image" Target="../media/image9.png" /><ns0:Relationship Id="rId7" Type="http://schemas.openxmlformats.org/officeDocument/2006/relationships/image" Target="../media/image17.png" /><ns0:Relationship Id="rId8" Type="http://schemas.openxmlformats.org/officeDocument/2006/relationships/slide" Target="slide2.xml" /></ns0:Relationships>
</file>

<file path=ppt/slides/_rels/slide36.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8.png" /><ns0:Relationship Id="rId3" Type="http://schemas.openxmlformats.org/officeDocument/2006/relationships/notesSlide" Target="../notesSlides/notesSlide36.xml" /><ns0:Relationship Id="rId4" Type="http://schemas.openxmlformats.org/officeDocument/2006/relationships/image" Target="../media/image7.png" /><ns0:Relationship Id="rId5" Type="http://schemas.openxmlformats.org/officeDocument/2006/relationships/image" Target="../media/image3.png" /><ns0:Relationship Id="rId6" Type="http://schemas.openxmlformats.org/officeDocument/2006/relationships/slide" Target="slide2.xml" /><ns0:Relationship Id="rIdHandson9" Type="http://schemas.openxmlformats.org/officeDocument/2006/relationships/hyperlink" Target="https://education.github.com/pack" TargetMode="External" /></ns0: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7.xml"/><Relationship Id="rId4" Type="http://schemas.openxmlformats.org/officeDocument/2006/relationships/image" Target="../media/image3.png"/><Relationship Id="rId5" Type="http://schemas.openxmlformats.org/officeDocument/2006/relationships/slide" Target="slide2.xml"/></Relationships>
</file>

<file path=ppt/slides/slide1.xml><?xml version="1.0" encoding="utf-8"?>
<p:sld xmlns:a="http://schemas.openxmlformats.org/drawingml/2006/main" xmlns:ns3="http://schemas.microsoft.com/office/drawing/2014/main" xmlns:p="http://schemas.openxmlformats.org/presentationml/2006/main" xmlns:r="http://schemas.openxmlformats.org/officeDocument/2006/relationships" showMasterSp="0">
  <p:cSld>
    <p:bg>
      <p:bgPr>
        <a:solidFill>
          <a:srgbClr val="162C39"/>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older_A2D0D0.png"/>
          <p:cNvPicPr>
            <a:picLocks noChangeAspect="1"/>
          </p:cNvPicPr>
          <p:nvPr/>
        </p:nvPicPr>
        <p:blipFill>
          <a:blip r:embed="rId2"/>
          <a:stretch>
            <a:fillRect/>
          </a:stretch>
        </p:blipFill>
        <p:spPr>
          <a:xfrm>
            <a:off x="10424160" y="640080"/>
            <a:ext cx="841248" cy="841248"/>
          </a:xfrm>
          <a:prstGeom prst="rect">
            <a:avLst/>
          </a:prstGeom>
        </p:spPr>
      </p:pic>
      <p:sp>
        <p:nvSpPr>
          <p:cNvPr id="4" name="cover:はじめに"/>
          <p:cNvSpPr txBox="1"/>
          <p:nvPr/>
        </p:nvSpPr>
        <p:spPr>
          <a:xfrm>
            <a:off x="713232" y="585216"/>
            <a:ext cx="7315200" cy="457200"/>
          </a:xfrm>
          <a:prstGeom prst="rect">
            <a:avLst/>
          </a:prstGeom>
          <a:noFill/>
        </p:spPr>
        <p:txBody>
          <a:bodyPr wrap="none" lIns="0" rIns="0" tIns="0" bIns="0" anchor="t">
            <a:spAutoFit/>
          </a:bodyPr>
          <a:lstStyle/>
          <a:p>
            <a:pPr>
              <a:lnSpc>
                <a:spcPct val="114000"/>
              </a:lnSpc>
              <a:spcBef>
                <a:spcPts val="0"/>
              </a:spcBef>
              <a:spcAft>
                <a:spcPts val="0"/>
              </a:spcAft>
              <a:defRPr sz="2700" b="0">
                <a:solidFill>
                  <a:srgbClr val="A2D0D0"/>
                </a:solidFill>
                <a:latin typeface="Meiryo"/>
              </a:defRPr>
            </a:pPr>
            <a:r>
              <a:rPr sz="2700" b="0">
                <a:solidFill>
                  <a:srgbClr val="A2D0D0"/>
                </a:solidFill>
                <a:latin typeface="Meiryo"/>
                <a:ea typeface="Meiryo"/>
                <a:cs typeface="Meiryo"/>
              </a:rPr>
              <a:t>はじめに</a:t>
            </a:r>
          </a:p>
        </p:txBody>
      </p:sp>
      <p:sp>
        <p:nvSpPr>
          <p:cNvPr id="5" name="cover:AIとGitHubを&#10;使う準備をしよう"/>
          <p:cNvSpPr txBox="1"/>
          <p:nvPr/>
        </p:nvSpPr>
        <p:spPr>
          <a:xfrm>
            <a:off x="713232" y="1673352"/>
            <a:ext cx="10424160" cy="1719072"/>
          </a:xfrm>
          <a:prstGeom prst="rect">
            <a:avLst/>
          </a:prstGeom>
          <a:noFill/>
        </p:spPr>
        <p:txBody>
          <a:bodyPr wrap="none" lIns="0" rIns="0" tIns="0" bIns="0" anchor="t">
            <a:spAutoFit/>
          </a:bodyPr>
          <a:lstStyle/>
          <a:p>
            <a:pPr>
              <a:lnSpc>
                <a:spcPct val="114000"/>
              </a:lnSpc>
              <a:spcBef>
                <a:spcPts val="0"/>
              </a:spcBef>
              <a:spcAft>
                <a:spcPts val="0"/>
              </a:spcAft>
              <a:defRPr sz="4500" b="1">
                <a:solidFill>
                  <a:srgbClr val="FFFFFF"/>
                </a:solidFill>
                <a:latin typeface="Meiryo"/>
              </a:defRPr>
            </a:pPr>
            <a:r>
              <a:rPr sz="4500" b="1">
                <a:solidFill>
                  <a:srgbClr val="FFFFFF"/>
                </a:solidFill>
                <a:latin typeface="Meiryo"/>
                <a:ea typeface="Meiryo"/>
                <a:cs typeface="Meiryo"/>
              </a:rPr>
              <a:t>AIとGitHubを</a:t>
            </a:r>
          </a:p>
          <a:p>
            <a:pPr>
              <a:lnSpc>
                <a:spcPct val="114000"/>
              </a:lnSpc>
              <a:spcBef>
                <a:spcPts val="0"/>
              </a:spcBef>
              <a:spcAft>
                <a:spcPts val="0"/>
              </a:spcAft>
              <a:defRPr sz="4500" b="1">
                <a:solidFill>
                  <a:srgbClr val="FFFFFF"/>
                </a:solidFill>
                <a:latin typeface="Meiryo"/>
              </a:defRPr>
            </a:pPr>
            <a:r>
              <a:rPr sz="4500" b="1">
                <a:solidFill>
                  <a:srgbClr val="FFFFFF"/>
                </a:solidFill>
                <a:latin typeface="Meiryo"/>
                <a:ea typeface="Meiryo"/>
                <a:cs typeface="Meiryo"/>
              </a:rPr>
              <a:t>使う準備をしよう</a:t>
            </a:r>
          </a:p>
        </p:txBody>
      </p:sp>
      <p:sp>
        <p:nvSpPr>
          <p:cNvPr id="6" name="cover:画像を1枚保存し、教員を招待して、&#10;初回登録まで進めます。"/>
          <p:cNvSpPr txBox="1"/>
          <p:nvPr/>
        </p:nvSpPr>
        <p:spPr>
          <a:xfrm>
            <a:off x="731520" y="4160520"/>
            <a:ext cx="10424160" cy="914400"/>
          </a:xfrm>
          <a:prstGeom prst="rect">
            <a:avLst/>
          </a:prstGeom>
          <a:noFill/>
        </p:spPr>
        <p:txBody>
          <a:bodyPr wrap="none" lIns="0" rIns="0" tIns="0" bIns="0" anchor="t">
            <a:spAutoFit/>
          </a:bodyPr>
          <a:lstStyle/>
          <a:p>
            <a:pPr>
              <a:lnSpc>
                <a:spcPct val="114000"/>
              </a:lnSpc>
              <a:spcBef>
                <a:spcPts val="0"/>
              </a:spcBef>
              <a:spcAft>
                <a:spcPts val="0"/>
              </a:spcAft>
              <a:defRPr sz="2800" b="0">
                <a:solidFill>
                  <a:srgbClr val="FFFFFF"/>
                </a:solidFill>
                <a:latin typeface="Meiryo"/>
              </a:defRPr>
            </a:pPr>
            <a:r>
              <a:rPr sz="2800" b="0">
                <a:solidFill>
                  <a:srgbClr val="FFFFFF"/>
                </a:solidFill>
                <a:latin typeface="Meiryo"/>
                <a:ea typeface="Meiryo"/>
                <a:cs typeface="Meiryo"/>
              </a:rPr>
              <a:t>画像を1枚保存し、教員を招待して、</a:t>
            </a:r>
          </a:p>
          <a:p>
            <a:pPr>
              <a:lnSpc>
                <a:spcPct val="114000"/>
              </a:lnSpc>
              <a:spcBef>
                <a:spcPts val="0"/>
              </a:spcBef>
              <a:spcAft>
                <a:spcPts val="0"/>
              </a:spcAft>
              <a:defRPr sz="2800" b="0">
                <a:solidFill>
                  <a:srgbClr val="FFFFFF"/>
                </a:solidFill>
                <a:latin typeface="Meiryo"/>
              </a:defRPr>
            </a:pPr>
            <a:r>
              <a:rPr sz="2800" b="0">
                <a:solidFill>
                  <a:srgbClr val="FFFFFF"/>
                </a:solidFill>
                <a:latin typeface="Meiryo"/>
                <a:ea typeface="Meiryo"/>
                <a:cs typeface="Meiryo"/>
              </a:rPr>
              <a:t>初回登録まで進めます。</a:t>
            </a:r>
          </a:p>
        </p:txBody>
      </p:sp>
      <p:sp>
        <p:nvSpPr>
          <p:cNvPr id="7" name="cover:第2回以降に参加する人も、同じ手順で始められます。"/>
          <p:cNvSpPr txBox="1"/>
          <p:nvPr/>
        </p:nvSpPr>
        <p:spPr>
          <a:xfrm>
            <a:off x="731520" y="5294376"/>
            <a:ext cx="10515600"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A2D0D0"/>
                </a:solidFill>
                <a:latin typeface="Meiryo"/>
              </a:defRPr>
            </a:pPr>
            <a:r>
              <a:rPr sz="2200" b="0">
                <a:solidFill>
                  <a:srgbClr val="A2D0D0"/>
                </a:solidFill>
                <a:latin typeface="Meiryo"/>
                <a:ea typeface="Meiryo"/>
                <a:cs typeface="Meiryo"/>
              </a:rPr>
              <a:t>第2回以降に参加する人も、同じ手順で始められます。</a:t>
            </a:r>
          </a:p>
        </p:txBody>
      </p:sp>
      <p:sp>
        <p:nvSpPr>
          <p:cNvPr id="8" name="footer:大学生のためのAI・データリテラシー"/>
          <p:cNvSpPr txBox="1"/>
          <p:nvPr/>
        </p:nvSpPr>
        <p:spPr>
          <a:xfrm>
            <a:off x="731520" y="6355080"/>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FFFFFF"/>
                </a:solidFill>
                <a:latin typeface="Meiryo"/>
              </a:defRPr>
            </a:pPr>
            <a:r>
              <a:rPr sz="1800" b="0">
                <a:solidFill>
                  <a:srgbClr val="FFFFFF"/>
                </a:solidFill>
                <a:latin typeface="Meiryo"/>
                <a:ea typeface="Meiryo"/>
                <a:cs typeface="Meiryo"/>
              </a:rPr>
              <a:t>大学生のためのAI・データリテラシー</a:t>
            </a:r>
          </a:p>
        </p:txBody>
      </p:sp>
      <p:sp>
        <p:nvSpPr>
          <p:cNvPr id="9" name="footer:初回準備"/>
          <p:cNvSpPr txBox="1"/>
          <p:nvPr/>
        </p:nvSpPr>
        <p:spPr>
          <a:xfrm>
            <a:off x="10149840" y="6355080"/>
            <a:ext cx="132588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FFFFFF"/>
                </a:solidFill>
                <a:latin typeface="Meiryo"/>
                <a:ea typeface="Meiryo"/>
                <a:cs typeface="Meiryo"/>
              </a:defRPr>
            </a:pPr>
            <a:r>
              <a:rPr sz="1800" b="0">
                <a:solidFill>
                  <a:srgbClr val="FFFFFF"/>
                </a:solidFill>
                <a:latin typeface="Meiryo"/>
                <a:ea typeface="Meiryo"/>
                <a:cs typeface="Meiryo"/>
              </a:rPr>
              <a:t>初回準備</a:t>
            </a:r>
          </a:p>
        </p:txBody>
      </p:sp>
      <p:pic>
        <p:nvPicPr>
          <p:cNvPr id="11" name="" descr="TSUCHIYA TAKAHIRO white logo supplied in Brandeis cover; original bytes reused"/>
          <p:cNvPicPr>
            <a:picLocks noChangeAspect="1"/>
          </p:cNvPicPr>
          <p:nvPr/>
        </p:nvPicPr>
        <p:blipFill>
          <a:blip r:embed="rIdPersonalAuthorLogo"/>
          <a:stretch/>
        </p:blipFill>
        <p:spPr>
          <a:xfrm>
            <a:off x="3810000" y="109728"/>
            <a:ext cx="4572000" cy="561219"/>
          </a:xfrm>
          <a:prstGeom prst="rect">
            <a:avLst/>
          </a:prstGeom>
        </p:spPr>
      </p:pic>
      <p:sp>
        <p:nvSpPr>
          <p:cNvPr id="12" name="Personal author website">
            <a:extLst>
              <a:ext uri="{FF2B5EF4-FFF2-40B4-BE49-F238E27FC236}">
                <ns3:creationId id="{2B199CB2-0940-4D13-9CAC-E3F074FAA0ED}"/>
              </a:ext>
            </a:extLst>
          </p:cNvPr>
          <p:cNvSpPr>
            <a:spLocks noGrp="1"/>
          </p:cNvSpPr>
          <p:nvPr/>
        </p:nvSpPr>
        <p:spPr>
          <a:xfrm>
            <a:off x="6286500" y="6477000"/>
            <a:ext cx="4000500" cy="266700"/>
          </a:xfrm>
          <a:prstGeom prst="rect">
            <a:avLst/>
          </a:prstGeom>
          <a:noFill/>
          <a:ln w="0">
            <a:noFill/>
          </a:ln>
        </p:spPr>
        <p:txBody>
          <a:bodyPr>
            <a:noAutofit/>
          </a:bodyPr>
          <a:lstStyle/>
          <a:p>
            <a:pPr>
              <a:defRPr sz="1800">
                <a:solidFill>
                  <a:srgbClr val="AECFD2"/>
                </a:solidFill>
                <a:latin typeface="Meiryo"/>
                <a:ea typeface="Meiryo"/>
                <a:cs typeface="Meiryo"/>
              </a:defRPr>
            </a:pPr>
            <a:r>
              <a:rPr sz="1800">
                <a:solidFill>
                  <a:srgbClr val="AECFD2"/>
                </a:solidFill>
                <a:latin typeface="Meiryo"/>
                <a:ea typeface="Meiryo"/>
                <a:cs typeface="Meiryo"/>
              </a:rPr>
              <a:t>tsuchiyatakahiro.com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はじめに</a:t>
            </a:r>
          </a:p>
        </p:txBody>
      </p:sp>
      <p:sp>
        <p:nvSpPr>
          <p:cNvPr id="4" name="title:今日は、この順番で準備します"/>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今日は、この順番で準備します</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st-checks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a:hlinkClick action="ppaction://hlinksldjump" r:id="rId5"/>
          </p:cNvPr>
          <p:cNvSpPr/>
          <p:nvPr/>
        </p:nvSpPr>
        <p:spPr>
          <a:xfrm>
            <a:off x="594360" y="1673352"/>
            <a:ext cx="11000232" cy="621792"/>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1778508"/>
            <a:ext cx="384048" cy="384048"/>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umber:1"/>
          <p:cNvSpPr txBox="1"/>
          <p:nvPr/>
        </p:nvSpPr>
        <p:spPr>
          <a:xfrm>
            <a:off x="777240" y="1801368"/>
            <a:ext cx="384048" cy="384048"/>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0" name="body:アカウントを確かめる"/>
          <p:cNvSpPr txBox="1"/>
          <p:nvPr/>
        </p:nvSpPr>
        <p:spPr>
          <a:xfrm>
            <a:off x="1389888" y="1773936"/>
            <a:ext cx="4773168" cy="457200"/>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アカウントを確かめる</a:t>
            </a:r>
          </a:p>
        </p:txBody>
      </p:sp>
      <p:sp>
        <p:nvSpPr>
          <p:cNvPr id="11" name="body:授業ページとGitHubを開く。"/>
          <p:cNvSpPr txBox="1"/>
          <p:nvPr/>
        </p:nvSpPr>
        <p:spPr>
          <a:xfrm>
            <a:off x="6446520" y="1792224"/>
            <a:ext cx="4882896" cy="420624"/>
          </a:xfrm>
          <a:prstGeom prst="rect">
            <a:avLst/>
          </a:prstGeom>
          <a:noFill/>
        </p:spPr>
        <p:txBody>
          <a:bodyPr wrap="none" lIns="0" tIns="0" rIns="0" bIns="0" anchor="t">
            <a:spAutoFit/>
          </a:bodyPr>
          <a:lstStyle/>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授業ページとGitHubを開く。</a:t>
            </a:r>
          </a:p>
        </p:txBody>
      </p:sp>
      <p:sp>
        <p:nvSpPr>
          <p:cNvPr id="12" name="Rectangle 11">
            <a:hlinkClick action="ppaction://hlinksldjump" r:id="rId6"/>
          </p:cNvPr>
          <p:cNvSpPr/>
          <p:nvPr/>
        </p:nvSpPr>
        <p:spPr>
          <a:xfrm>
            <a:off x="594360" y="2404872"/>
            <a:ext cx="11000232" cy="621792"/>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7240" y="2510028"/>
            <a:ext cx="384048" cy="384048"/>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umber:2"/>
          <p:cNvSpPr txBox="1"/>
          <p:nvPr/>
        </p:nvSpPr>
        <p:spPr>
          <a:xfrm>
            <a:off x="777240" y="2532888"/>
            <a:ext cx="384048" cy="384048"/>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5" name="body:保存先を作る"/>
          <p:cNvSpPr txBox="1"/>
          <p:nvPr/>
        </p:nvSpPr>
        <p:spPr>
          <a:xfrm>
            <a:off x="1389888" y="2505456"/>
            <a:ext cx="4773168" cy="457200"/>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保存先を作る</a:t>
            </a:r>
          </a:p>
        </p:txBody>
      </p:sp>
      <p:sp>
        <p:nvSpPr>
          <p:cNvPr id="16" name="body:ひな形からPrivateで作る。"/>
          <p:cNvSpPr txBox="1"/>
          <p:nvPr/>
        </p:nvSpPr>
        <p:spPr>
          <a:xfrm>
            <a:off x="6446520" y="2523744"/>
            <a:ext cx="4882896" cy="420624"/>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ひな形からPrivateで作る。</a:t>
            </a:r>
          </a:p>
        </p:txBody>
      </p:sp>
      <p:sp>
        <p:nvSpPr>
          <p:cNvPr id="17" name="Rectangle 16">
            <a:hlinkClick action="ppaction://hlinksldjump" r:id="rId7"/>
          </p:cNvPr>
          <p:cNvSpPr/>
          <p:nvPr/>
        </p:nvSpPr>
        <p:spPr>
          <a:xfrm>
            <a:off x="594360" y="3136392"/>
            <a:ext cx="11000232" cy="621792"/>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77240" y="3241548"/>
            <a:ext cx="384048" cy="384048"/>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number:3"/>
          <p:cNvSpPr txBox="1"/>
          <p:nvPr/>
        </p:nvSpPr>
        <p:spPr>
          <a:xfrm>
            <a:off x="777240" y="3264408"/>
            <a:ext cx="384048" cy="384048"/>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0" name="body:画像と記録を保存する"/>
          <p:cNvSpPr txBox="1"/>
          <p:nvPr/>
        </p:nvSpPr>
        <p:spPr>
          <a:xfrm>
            <a:off x="1389888" y="3236976"/>
            <a:ext cx="4773168" cy="457200"/>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画像と記録を保存する</a:t>
            </a:r>
          </a:p>
        </p:txBody>
      </p:sp>
      <p:sp>
        <p:nvSpPr>
          <p:cNvPr id="21" name="body:画像と記録を保存します。"/>
          <p:cNvSpPr txBox="1"/>
          <p:nvPr/>
        </p:nvSpPr>
        <p:spPr>
          <a:xfrm>
            <a:off x="6446520" y="3255264"/>
            <a:ext cx="4882896" cy="420624"/>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画像1枚と、利用記録を残す。</a:t>
            </a:r>
          </a:p>
        </p:txBody>
      </p:sp>
      <p:sp>
        <p:nvSpPr>
          <p:cNvPr id="22" name="Rectangle 21">
            <a:hlinkClick action="ppaction://hlinksldjump" r:id="rId8"/>
          </p:cNvPr>
          <p:cNvSpPr/>
          <p:nvPr/>
        </p:nvSpPr>
        <p:spPr>
          <a:xfrm>
            <a:off x="594360" y="3867912"/>
            <a:ext cx="11000232" cy="621792"/>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77240" y="3973068"/>
            <a:ext cx="384048" cy="384048"/>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4"/>
          <p:cNvSpPr txBox="1"/>
          <p:nvPr/>
        </p:nvSpPr>
        <p:spPr>
          <a:xfrm>
            <a:off x="777240" y="3995928"/>
            <a:ext cx="384048" cy="384048"/>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4</a:t>
            </a:r>
          </a:p>
        </p:txBody>
      </p:sp>
      <p:sp>
        <p:nvSpPr>
          <p:cNvPr id="25" name="body:教員を招待する"/>
          <p:cNvSpPr txBox="1"/>
          <p:nvPr/>
        </p:nvSpPr>
        <p:spPr>
          <a:xfrm>
            <a:off x="1389888" y="3968496"/>
            <a:ext cx="4773168" cy="457200"/>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教員を招待する</a:t>
            </a:r>
          </a:p>
        </p:txBody>
      </p:sp>
      <p:sp>
        <p:nvSpPr>
          <p:cNvPr id="26" name="body:自分の保存先へ教員を招待する。"/>
          <p:cNvSpPr txBox="1"/>
          <p:nvPr/>
        </p:nvSpPr>
        <p:spPr>
          <a:xfrm>
            <a:off x="6446520" y="3986784"/>
            <a:ext cx="4882896" cy="420624"/>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自分の保存先へ教員を招待する。</a:t>
            </a:r>
          </a:p>
        </p:txBody>
      </p:sp>
      <p:sp>
        <p:nvSpPr>
          <p:cNvPr id="27" name="Rectangle 26">
            <a:hlinkClick action="ppaction://hlinksldjump" r:id="rId9"/>
          </p:cNvPr>
          <p:cNvSpPr/>
          <p:nvPr/>
        </p:nvSpPr>
        <p:spPr>
          <a:xfrm>
            <a:off x="594360" y="4599432"/>
            <a:ext cx="11000232" cy="621792"/>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77240" y="4704588"/>
            <a:ext cx="384048" cy="384048"/>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umber:5"/>
          <p:cNvSpPr txBox="1"/>
          <p:nvPr/>
        </p:nvSpPr>
        <p:spPr>
          <a:xfrm>
            <a:off x="777240" y="4727448"/>
            <a:ext cx="384048" cy="384048"/>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5</a:t>
            </a:r>
          </a:p>
        </p:txBody>
      </p:sp>
      <p:sp>
        <p:nvSpPr>
          <p:cNvPr id="30" name="body:初回登録を送る"/>
          <p:cNvSpPr txBox="1"/>
          <p:nvPr/>
        </p:nvSpPr>
        <p:spPr>
          <a:xfrm>
            <a:off x="1389888" y="4700016"/>
            <a:ext cx="4773168" cy="457200"/>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初回登録を送る</a:t>
            </a:r>
          </a:p>
        </p:txBody>
      </p:sp>
      <p:sp>
        <p:nvSpPr>
          <p:cNvPr id="31" name="body:学生情報とGitHubを登録する。"/>
          <p:cNvSpPr txBox="1"/>
          <p:nvPr/>
        </p:nvSpPr>
        <p:spPr>
          <a:xfrm>
            <a:off x="6446520" y="4718304"/>
            <a:ext cx="4882896" cy="420624"/>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学生情報とGitHubを登録する。</a:t>
            </a:r>
          </a:p>
        </p:txBody>
      </p:sp>
      <p:sp>
        <p:nvSpPr>
          <p:cNvPr id="32" name="Rectangle 31"/>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34" name="result:終わった手順は飛ばせます。途中参加の人も、同じ順番で進め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終わった手順は飛ばせます。途中参加の人も、同じ順番で進めます。</a:t>
            </a:r>
          </a:p>
        </p:txBody>
      </p:sp>
      <p:sp>
        <p:nvSpPr>
          <p:cNvPr id="35"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36" name="footer:02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02 / 37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はじめに</a:t>
            </a:r>
          </a:p>
        </p:txBody>
      </p:sp>
      <p:sp>
        <p:nvSpPr>
          <p:cNvPr id="4" name="title:準備するものは、この3つ"/>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準備するものは、この3つ</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yboar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3511296" cy="3648456"/>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eyboard_007F80.png"/>
          <p:cNvPicPr>
            <a:picLocks noChangeAspect="1"/>
          </p:cNvPicPr>
          <p:nvPr/>
        </p:nvPicPr>
        <p:blipFill>
          <a:blip r:embed="rId2"/>
          <a:stretch>
            <a:fillRect/>
          </a:stretch>
        </p:blipFill>
        <p:spPr>
          <a:xfrm>
            <a:off x="841248" y="1947672"/>
            <a:ext cx="438912" cy="438912"/>
          </a:xfrm>
          <a:prstGeom prst="rect">
            <a:avLst/>
          </a:prstGeom>
        </p:spPr>
      </p:pic>
      <p:sp>
        <p:nvSpPr>
          <p:cNvPr id="9" name="body:パソコン"/>
          <p:cNvSpPr txBox="1"/>
          <p:nvPr/>
        </p:nvSpPr>
        <p:spPr>
          <a:xfrm>
            <a:off x="841248" y="2642615"/>
            <a:ext cx="3017520"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パソコン</a:t>
            </a:r>
          </a:p>
        </p:txBody>
      </p:sp>
      <p:sp>
        <p:nvSpPr>
          <p:cNvPr id="10" name="body:ブラウザを開く。&#10;充電器を用意する。"/>
          <p:cNvSpPr txBox="1"/>
          <p:nvPr/>
        </p:nvSpPr>
        <p:spPr>
          <a:xfrm>
            <a:off x="841248" y="3321557"/>
            <a:ext cx="3017520" cy="792479"/>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ブラウザを開く。</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充電器を用意する。</a:t>
            </a:r>
          </a:p>
        </p:txBody>
      </p:sp>
      <p:sp>
        <p:nvSpPr>
          <p:cNvPr id="11" name="Rectangle 10"/>
          <p:cNvSpPr/>
          <p:nvPr/>
        </p:nvSpPr>
        <p:spPr>
          <a:xfrm>
            <a:off x="4343400" y="1700784"/>
            <a:ext cx="3511296" cy="364845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ock-keyhole_007F80.png"/>
          <p:cNvPicPr>
            <a:picLocks noChangeAspect="1"/>
          </p:cNvPicPr>
          <p:nvPr/>
        </p:nvPicPr>
        <p:blipFill>
          <a:blip r:embed="rId4"/>
          <a:stretch>
            <a:fillRect/>
          </a:stretch>
        </p:blipFill>
        <p:spPr>
          <a:xfrm>
            <a:off x="4590288" y="1947672"/>
            <a:ext cx="438912" cy="438912"/>
          </a:xfrm>
          <a:prstGeom prst="rect">
            <a:avLst/>
          </a:prstGeom>
        </p:spPr>
      </p:pic>
      <p:sp>
        <p:nvSpPr>
          <p:cNvPr id="13" name="body:授業用アカウント"/>
          <p:cNvSpPr txBox="1"/>
          <p:nvPr/>
        </p:nvSpPr>
        <p:spPr>
          <a:xfrm>
            <a:off x="4590288" y="2642615"/>
            <a:ext cx="3017520" cy="477773"/>
          </a:xfrm>
          <a:prstGeom prst="rect">
            <a:avLst/>
          </a:prstGeom>
          <a:noFill/>
        </p:spPr>
        <p:txBody>
          <a:bodyPr wrap="none" lIns="0" tIns="0" r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授業用アカウント</a:t>
            </a:r>
          </a:p>
        </p:txBody>
      </p:sp>
      <p:sp>
        <p:nvSpPr>
          <p:cNvPr id="14" name="body:授業ページと&#10;提出フォームを&#10;開くために使う。"/>
          <p:cNvSpPr txBox="1"/>
          <p:nvPr/>
        </p:nvSpPr>
        <p:spPr>
          <a:xfrm>
            <a:off x="4590288" y="3321557"/>
            <a:ext cx="3017520" cy="1152144"/>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授業ページと</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提出フォームを</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開くために使う。</a:t>
            </a:r>
          </a:p>
        </p:txBody>
      </p:sp>
      <p:sp>
        <p:nvSpPr>
          <p:cNvPr id="15" name="Rectangle 14"/>
          <p:cNvSpPr/>
          <p:nvPr/>
        </p:nvSpPr>
        <p:spPr>
          <a:xfrm>
            <a:off x="8092440" y="1700784"/>
            <a:ext cx="3502152" cy="3648456"/>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essage-circle_007F80.png"/>
          <p:cNvPicPr>
            <a:picLocks noChangeAspect="1"/>
          </p:cNvPicPr>
          <p:nvPr/>
        </p:nvPicPr>
        <p:blipFill>
          <a:blip r:embed="rId5"/>
          <a:stretch>
            <a:fillRect/>
          </a:stretch>
        </p:blipFill>
        <p:spPr>
          <a:xfrm>
            <a:off x="8339327" y="1947672"/>
            <a:ext cx="438912" cy="438912"/>
          </a:xfrm>
          <a:prstGeom prst="rect">
            <a:avLst/>
          </a:prstGeom>
        </p:spPr>
      </p:pic>
      <p:sp>
        <p:nvSpPr>
          <p:cNvPr id="17" name="body:利用できるAI"/>
          <p:cNvSpPr txBox="1"/>
          <p:nvPr/>
        </p:nvSpPr>
        <p:spPr>
          <a:xfrm>
            <a:off x="8339327" y="2642615"/>
            <a:ext cx="3008376"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利用できるAI</a:t>
            </a:r>
          </a:p>
        </p:txBody>
      </p:sp>
      <p:sp>
        <p:nvSpPr>
          <p:cNvPr id="18" name="body:授業で使えるAIか、&#10;普段のAIを開く。&#10;短い質問を&#10;1つ送ってみる。"/>
          <p:cNvSpPr txBox="1"/>
          <p:nvPr/>
        </p:nvSpPr>
        <p:spPr>
          <a:xfrm>
            <a:off x="8339327" y="3321557"/>
            <a:ext cx="3008376" cy="1511808"/>
          </a:xfrm>
          <a:prstGeom prst="rect">
            <a:avLst/>
          </a:prstGeom>
          <a:noFill/>
        </p:spPr>
        <p:txBody>
          <a:bodyPr wrap="none" lIns="0" tIns="0" rIns="0" bIns="0" anchor="t">
            <a:noAutofit/>
          </a:bodyPr>
          <a:lstStyle/>
          <a:p>
            <a:pPr>
              <a:lnSpc>
                <a:spcPct val="114000"/>
              </a:lnSpc>
              <a:spcBef>
                <a:spcPts val="0"/>
              </a:spcBef>
              <a:spcAft>
                <a:spcPts val="0"/>
              </a:spcAft>
              <a:buNone/>
              <a:defRPr sz="2400" b="0">
                <a:solidFill>
                  <a:srgbClr val="1D343E"/>
                </a:solidFill>
                <a:latin typeface="Meiryo"/>
                <a:ea typeface="Meiryo"/>
                <a:cs typeface="Meiryo"/>
              </a:defRPr>
            </a:pPr>
            <a:r>
              <a:rPr sz="2400" b="0">
                <a:solidFill>
                  <a:srgbClr val="1D343E"/>
                </a:solidFill>
                <a:latin typeface="Meiryo"/>
                <a:ea typeface="Meiryo"/>
                <a:cs typeface="Meiryo"/>
              </a:rPr>
              <a:t>授業で使えるAIか、</a:t>
            </a:r>
          </a:p>
          <a:p>
            <a:pPr>
              <a:lnSpc>
                <a:spcPct val="114000"/>
              </a:lnSpc>
              <a:spcBef>
                <a:spcPts val="0"/>
              </a:spcBef>
              <a:spcAft>
                <a:spcPts val="0"/>
              </a:spcAft>
              <a:buNone/>
              <a:defRPr sz="2400" b="0">
                <a:solidFill>
                  <a:srgbClr val="1D343E"/>
                </a:solidFill>
                <a:latin typeface="Meiryo"/>
                <a:ea typeface="Meiryo"/>
                <a:cs typeface="Meiryo"/>
              </a:defRPr>
            </a:pPr>
            <a:r>
              <a:rPr sz="2400" b="0">
                <a:solidFill>
                  <a:srgbClr val="1D343E"/>
                </a:solidFill>
                <a:latin typeface="Meiryo"/>
                <a:ea typeface="Meiryo"/>
                <a:cs typeface="Meiryo"/>
              </a:rPr>
              <a:t>普段のAIを開く。</a:t>
            </a:r>
          </a:p>
          <a:p>
            <a:pPr>
              <a:lnSpc>
                <a:spcPct val="114000"/>
              </a:lnSpc>
              <a:spcBef>
                <a:spcPts val="0"/>
              </a:spcBef>
              <a:spcAft>
                <a:spcPts val="0"/>
              </a:spcAft>
              <a:buNone/>
              <a:defRPr sz="2400" b="0">
                <a:solidFill>
                  <a:srgbClr val="1D343E"/>
                </a:solidFill>
                <a:latin typeface="Meiryo"/>
                <a:ea typeface="Meiryo"/>
                <a:cs typeface="Meiryo"/>
              </a:defRPr>
            </a:pPr>
            <a:r>
              <a:rPr sz="2400" b="0">
                <a:solidFill>
                  <a:srgbClr val="1D343E"/>
                </a:solidFill>
                <a:latin typeface="Meiryo"/>
                <a:ea typeface="Meiryo"/>
                <a:cs typeface="Meiryo"/>
              </a:rPr>
              <a:t>短い質問を</a:t>
            </a:r>
          </a:p>
          <a:p>
            <a:pPr>
              <a:lnSpc>
                <a:spcPct val="114000"/>
              </a:lnSpc>
              <a:spcBef>
                <a:spcPts val="0"/>
              </a:spcBef>
              <a:spcAft>
                <a:spcPts val="0"/>
              </a:spcAft>
              <a:buNone/>
              <a:defRPr sz="2400" b="0">
                <a:solidFill>
                  <a:srgbClr val="1D343E"/>
                </a:solidFill>
                <a:latin typeface="Meiryo"/>
                <a:ea typeface="Meiryo"/>
                <a:cs typeface="Meiryo"/>
              </a:defRPr>
            </a:pPr>
            <a:r>
              <a:rPr sz="2400" b="0">
                <a:solidFill>
                  <a:srgbClr val="1D343E"/>
                </a:solidFill>
                <a:latin typeface="Meiryo"/>
                <a:ea typeface="Meiryo"/>
                <a:cs typeface="Meiryo"/>
              </a:rPr>
              <a:t>1つ送ってみる。</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6"/>
          <a:stretch>
            <a:fillRect/>
          </a:stretch>
        </p:blipFill>
        <p:spPr>
          <a:xfrm>
            <a:off x="749808" y="5751576"/>
            <a:ext cx="283464" cy="283464"/>
          </a:xfrm>
          <a:prstGeom prst="rect">
            <a:avLst/>
          </a:prstGeom>
        </p:spPr>
      </p:pic>
      <p:sp>
        <p:nvSpPr>
          <p:cNvPr id="21" name="result:有料契約は不要です。画像生成が使えなくても、配布画像で進められ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有料契約は不要です。画像生成が使えなくても、配布画像で進められます。</a:t>
            </a:r>
          </a:p>
        </p:txBody>
      </p:sp>
      <p:sp>
        <p:nvSpPr>
          <p:cNvPr id="22" name="tag:手順一覧へ">
            <a:hlinkClick action="ppaction://hlinksldjump" r:id="rId7"/>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4" name="footer:03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03 / 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はじめに</a:t>
            </a:r>
          </a:p>
        </p:txBody>
      </p:sp>
      <p:sp>
        <p:nvSpPr>
          <p:cNvPr id="4" name="title:読む場所・保存する場所・提出する場所"/>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読む場所・保存する場所・提出する場所</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lder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91640"/>
            <a:ext cx="3511296" cy="33832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ook-open_007F80.png"/>
          <p:cNvPicPr>
            <a:picLocks noChangeAspect="1"/>
          </p:cNvPicPr>
          <p:nvPr/>
        </p:nvPicPr>
        <p:blipFill>
          <a:blip r:embed="rId4"/>
          <a:stretch>
            <a:fillRect/>
          </a:stretch>
        </p:blipFill>
        <p:spPr>
          <a:xfrm>
            <a:off x="841248" y="1938528"/>
            <a:ext cx="438912" cy="438912"/>
          </a:xfrm>
          <a:prstGeom prst="rect">
            <a:avLst/>
          </a:prstGeom>
        </p:spPr>
      </p:pic>
      <p:sp>
        <p:nvSpPr>
          <p:cNvPr id="9" name="body:① 課題を読む"/>
          <p:cNvSpPr txBox="1"/>
          <p:nvPr/>
        </p:nvSpPr>
        <p:spPr>
          <a:xfrm>
            <a:off x="841248" y="2633472"/>
            <a:ext cx="3017520"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① 課題を読む</a:t>
            </a:r>
          </a:p>
        </p:txBody>
      </p:sp>
      <p:sp>
        <p:nvSpPr>
          <p:cNvPr id="10" name="body:教員の公開教材で、&#10;演習の手順を読む。"/>
          <p:cNvSpPr txBox="1"/>
          <p:nvPr/>
        </p:nvSpPr>
        <p:spPr>
          <a:xfrm>
            <a:off x="841248" y="3312413"/>
            <a:ext cx="3017520" cy="792479"/>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教員の公開教材で、</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演習の手順を読む。</a:t>
            </a:r>
          </a:p>
        </p:txBody>
      </p:sp>
      <p:sp>
        <p:nvSpPr>
          <p:cNvPr id="11" name="Rectangle 10"/>
          <p:cNvSpPr/>
          <p:nvPr/>
        </p:nvSpPr>
        <p:spPr>
          <a:xfrm>
            <a:off x="4343400" y="1691640"/>
            <a:ext cx="3511296" cy="338328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older_007F80.png"/>
          <p:cNvPicPr>
            <a:picLocks noChangeAspect="1"/>
          </p:cNvPicPr>
          <p:nvPr/>
        </p:nvPicPr>
        <p:blipFill>
          <a:blip r:embed="rId2"/>
          <a:stretch>
            <a:fillRect/>
          </a:stretch>
        </p:blipFill>
        <p:spPr>
          <a:xfrm>
            <a:off x="4590288" y="1938528"/>
            <a:ext cx="438912" cy="438912"/>
          </a:xfrm>
          <a:prstGeom prst="rect">
            <a:avLst/>
          </a:prstGeom>
        </p:spPr>
      </p:pic>
      <p:sp>
        <p:nvSpPr>
          <p:cNvPr id="13" name="body:② 成果物を保存"/>
          <p:cNvSpPr txBox="1"/>
          <p:nvPr/>
        </p:nvSpPr>
        <p:spPr>
          <a:xfrm>
            <a:off x="4590288" y="2633472"/>
            <a:ext cx="3017520"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② 成果物を保存</a:t>
            </a:r>
          </a:p>
        </p:txBody>
      </p:sp>
      <p:sp>
        <p:nvSpPr>
          <p:cNvPr id="14" name="body:自分の保存先に、&#10;画像や文章を置く。"/>
          <p:cNvSpPr txBox="1"/>
          <p:nvPr/>
        </p:nvSpPr>
        <p:spPr>
          <a:xfrm>
            <a:off x="4590288" y="3312413"/>
            <a:ext cx="3017520" cy="792479"/>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自分の保存先に、</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画像や文章を置く。</a:t>
            </a:r>
          </a:p>
        </p:txBody>
      </p:sp>
      <p:sp>
        <p:nvSpPr>
          <p:cNvPr id="15" name="Rectangle 14"/>
          <p:cNvSpPr/>
          <p:nvPr/>
        </p:nvSpPr>
        <p:spPr>
          <a:xfrm>
            <a:off x="8092440" y="1691640"/>
            <a:ext cx="3502152" cy="33832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upload_007F80.png"/>
          <p:cNvPicPr>
            <a:picLocks noChangeAspect="1"/>
          </p:cNvPicPr>
          <p:nvPr/>
        </p:nvPicPr>
        <p:blipFill>
          <a:blip r:embed="rId5"/>
          <a:stretch>
            <a:fillRect/>
          </a:stretch>
        </p:blipFill>
        <p:spPr>
          <a:xfrm>
            <a:off x="8339327" y="1938528"/>
            <a:ext cx="438912" cy="438912"/>
          </a:xfrm>
          <a:prstGeom prst="rect">
            <a:avLst/>
          </a:prstGeom>
        </p:spPr>
      </p:pic>
      <p:sp>
        <p:nvSpPr>
          <p:cNvPr id="17" name="body:③ 提出を知らせる"/>
          <p:cNvSpPr txBox="1"/>
          <p:nvPr/>
        </p:nvSpPr>
        <p:spPr>
          <a:xfrm>
            <a:off x="8339327" y="2633472"/>
            <a:ext cx="3008376"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③ 提出を知らせる</a:t>
            </a:r>
          </a:p>
        </p:txBody>
      </p:sp>
      <p:sp>
        <p:nvSpPr>
          <p:cNvPr id="18" name="body:大学のフォームへ、&#10;指定されたURLを&#10;送信する。"/>
          <p:cNvSpPr txBox="1"/>
          <p:nvPr/>
        </p:nvSpPr>
        <p:spPr>
          <a:xfrm>
            <a:off x="8339327" y="3312413"/>
            <a:ext cx="3008376" cy="1152144"/>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大学のフォームへ、</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指定されたURLを</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送信する。</a:t>
            </a:r>
          </a:p>
        </p:txBody>
      </p:sp>
      <p:sp>
        <p:nvSpPr>
          <p:cNvPr id="19" name="body:初回は保存先の登録。毎週は、その回の課題を保存した版の提出です。"/>
          <p:cNvSpPr txBox="1"/>
          <p:nvPr/>
        </p:nvSpPr>
        <p:spPr>
          <a:xfrm>
            <a:off x="758952" y="5084064"/>
            <a:ext cx="10607040" cy="43891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初回は保存先の登録。毎週は、その回の課題を保存した版の提出です。</a:t>
            </a:r>
          </a:p>
        </p:txBody>
      </p:sp>
      <p:sp>
        <p:nvSpPr>
          <p:cNvPr id="20" name="Rectangle 19"/>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ircle-check_007F80.png"/>
          <p:cNvPicPr>
            <a:picLocks noChangeAspect="1"/>
          </p:cNvPicPr>
          <p:nvPr/>
        </p:nvPicPr>
        <p:blipFill>
          <a:blip r:embed="rId6"/>
          <a:stretch>
            <a:fillRect/>
          </a:stretch>
        </p:blipFill>
        <p:spPr>
          <a:xfrm>
            <a:off x="749808" y="5751576"/>
            <a:ext cx="283464" cy="283464"/>
          </a:xfrm>
          <a:prstGeom prst="rect">
            <a:avLst/>
          </a:prstGeom>
        </p:spPr>
      </p:pic>
      <p:sp>
        <p:nvSpPr>
          <p:cNvPr id="22" name="result:教員の教材と、自分の提出先を取り違えないように進め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教員の教材と、自分の提出先を取り違えないように進めます。</a:t>
            </a:r>
          </a:p>
        </p:txBody>
      </p:sp>
      <p:sp>
        <p:nvSpPr>
          <p:cNvPr id="23" name="tag:手順一覧へ">
            <a:hlinkClick action="ppaction://hlinksldjump" r:id="rId7"/>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4"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5" name="footer:04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04 / 37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1 / 5　アカウン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1 / 5　アカウント</a:t>
            </a:r>
          </a:p>
        </p:txBody>
      </p:sp>
      <p:sp>
        <p:nvSpPr>
          <p:cNvPr id="4" name="title:指定されたアカウントで授業ページを開く"/>
          <p:cNvSpPr txBox="1"/>
          <p:nvPr/>
        </p:nvSpPr>
        <p:spPr>
          <a:xfrm>
            <a:off x="594360" y="685800"/>
            <a:ext cx="10469880" cy="585216"/>
          </a:xfrm>
          <a:prstGeom prst="rect">
            <a:avLst/>
          </a:prstGeom>
          <a:noFill/>
        </p:spPr>
        <p:txBody>
          <a:bodyPr wrap="none" lIns="0" tIns="0" r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指定されたアカウントで授業ページを開く</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keyhole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授業ページを開き、右上のアカウントを見る。"/>
          <p:cNvSpPr txBox="1"/>
          <p:nvPr/>
        </p:nvSpPr>
        <p:spPr>
          <a:xfrm>
            <a:off x="1325880" y="1682496"/>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授業ページを開き、右上のアカウントを見る。</a:t>
            </a:r>
          </a:p>
        </p:txBody>
      </p:sp>
      <p:sp>
        <p:nvSpPr>
          <p:cNvPr id="10" name="body:授業で指定されたメールアドレスか確認します。"/>
          <p:cNvSpPr txBox="1"/>
          <p:nvPr/>
        </p:nvSpPr>
        <p:spPr>
          <a:xfrm>
            <a:off x="1325880" y="2205990"/>
            <a:ext cx="9893807" cy="399542"/>
          </a:xfrm>
          <a:prstGeom prst="rect">
            <a:avLst/>
          </a:prstGeom>
          <a:noFill/>
        </p:spPr>
        <p:txBody>
          <a:bodyPr wrap="none" lIns="0" tIns="0" rIns="0" bIns="0" anchor="t">
            <a:sp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授業で指定されたメールアドレスか確認します。</a:t>
            </a:r>
          </a:p>
        </p:txBody>
      </p:sp>
      <p:sp>
        <p:nvSpPr>
          <p:cNvPr id="11" name="Oval 10"/>
          <p:cNvSpPr/>
          <p:nvPr/>
        </p:nvSpPr>
        <p:spPr>
          <a:xfrm>
            <a:off x="749808" y="2953003"/>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75863"/>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別のアカウントなら、指定されたものへ切り替える。"/>
          <p:cNvSpPr txBox="1"/>
          <p:nvPr/>
        </p:nvSpPr>
        <p:spPr>
          <a:xfrm>
            <a:off x="1325880" y="2943859"/>
            <a:ext cx="9893807" cy="459485"/>
          </a:xfrm>
          <a:prstGeom prst="rect">
            <a:avLst/>
          </a:prstGeom>
          <a:noFill/>
        </p:spPr>
        <p:txBody>
          <a:bodyPr wrap="none" lIns="0" tIns="0" rIns="0" bIns="0" anchor="t">
            <a:sp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別のアカウントなら、指定されたものへ切り替える。</a:t>
            </a:r>
          </a:p>
        </p:txBody>
      </p:sp>
      <p:sp>
        <p:nvSpPr>
          <p:cNvPr id="14" name="body:私用Gmailのまま「アクセスをリクエスト」は送りません。"/>
          <p:cNvSpPr txBox="1"/>
          <p:nvPr/>
        </p:nvSpPr>
        <p:spPr>
          <a:xfrm>
            <a:off x="1325880" y="3467353"/>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私用Gmailのまま「アクセスをリクエスト」は送りません。</a:t>
            </a:r>
          </a:p>
        </p:txBody>
      </p:sp>
      <p:sp>
        <p:nvSpPr>
          <p:cNvPr id="15" name="Oval 14"/>
          <p:cNvSpPr/>
          <p:nvPr/>
        </p:nvSpPr>
        <p:spPr>
          <a:xfrm>
            <a:off x="749808" y="4214367"/>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237228"/>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授業ページをもう一度開く。"/>
          <p:cNvSpPr txBox="1"/>
          <p:nvPr/>
        </p:nvSpPr>
        <p:spPr>
          <a:xfrm>
            <a:off x="1325880" y="4205223"/>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授業ページをもう一度開く。</a:t>
            </a:r>
          </a:p>
        </p:txBody>
      </p:sp>
      <p:sp>
        <p:nvSpPr>
          <p:cNvPr id="18" name="body:まだ開けなければ、表示されたエラーを教員に見せます。"/>
          <p:cNvSpPr txBox="1"/>
          <p:nvPr/>
        </p:nvSpPr>
        <p:spPr>
          <a:xfrm>
            <a:off x="1325880" y="4728717"/>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まだ開けなければ、表示されたエラーを教員に見せます。</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1" name="result:授業ページと提出フォームを開けたら、GitHubへ進みます。"/>
          <p:cNvSpPr txBox="1"/>
          <p:nvPr/>
        </p:nvSpPr>
        <p:spPr>
          <a:xfrm>
            <a:off x="1179576" y="5710428"/>
            <a:ext cx="10168128" cy="438912"/>
          </a:xfrm>
          <a:prstGeom prst="rect">
            <a:avLst/>
          </a:prstGeom>
          <a:noFill/>
        </p:spPr>
        <p:txBody>
          <a:bodyPr wrap="none" lIns="0" tIns="0" rIns="0" bIns="0" anchor="t">
            <a:sp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授業ページと提出フォームを開けたら、GitHubへ進みます。</a:t>
            </a:r>
          </a:p>
        </p:txBody>
      </p:sp>
      <p:sp>
        <p:nvSpPr>
          <p:cNvPr id="22"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4" name="footer:05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05 / 37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1 / 5　アカウン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1 / 5　アカウント</a:t>
            </a:r>
          </a:p>
        </p:txBody>
      </p:sp>
      <p:sp>
        <p:nvSpPr>
          <p:cNvPr id="4" name="title:GitHubのアカウントは、授業用とは別に確認する"/>
          <p:cNvSpPr txBox="1"/>
          <p:nvPr/>
        </p:nvSpPr>
        <p:spPr>
          <a:xfrm>
            <a:off x="594360" y="685800"/>
            <a:ext cx="10469880" cy="585216"/>
          </a:xfrm>
          <a:prstGeom prst="rect">
            <a:avLst/>
          </a:prstGeom>
          <a:noFill/>
        </p:spPr>
        <p:txBody>
          <a:bodyPr wrap="none" lIns="0" tIns="0" r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GitHubのアカウントは、授業用とは別に確認する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branch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91640"/>
            <a:ext cx="5367528" cy="3493008"/>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eyboard_007F80.png"/>
          <p:cNvPicPr>
            <a:picLocks noChangeAspect="1"/>
          </p:cNvPicPr>
          <p:nvPr/>
        </p:nvPicPr>
        <p:blipFill>
          <a:blip r:embed="rId4"/>
          <a:stretch>
            <a:fillRect/>
          </a:stretch>
        </p:blipFill>
        <p:spPr>
          <a:xfrm>
            <a:off x="841248" y="1938528"/>
            <a:ext cx="438912" cy="438912"/>
          </a:xfrm>
          <a:prstGeom prst="rect">
            <a:avLst/>
          </a:prstGeom>
        </p:spPr>
      </p:pic>
      <p:sp>
        <p:nvSpPr>
          <p:cNvPr id="9" name="body:GitHubを初めて使う人"/>
          <p:cNvSpPr txBox="1"/>
          <p:nvPr/>
        </p:nvSpPr>
        <p:spPr>
          <a:xfrm>
            <a:off x="841248" y="2633472"/>
            <a:ext cx="4873752"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GitHubを初めて使う人</a:t>
            </a:r>
          </a:p>
        </p:txBody>
      </p:sp>
      <p:sp>
        <p:nvSpPr>
          <p:cNvPr id="10" name="body:次のページで登録します。&#10;大学メールを使い、&#10;確認メールを開きます。"/>
          <p:cNvSpPr txBox="1"/>
          <p:nvPr/>
        </p:nvSpPr>
        <p:spPr>
          <a:xfrm>
            <a:off x="841248" y="3312413"/>
            <a:ext cx="4873752" cy="1152144"/>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次のページで登録します。</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大学メールを使い、</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確認メールを開きます。</a:t>
            </a:r>
          </a:p>
        </p:txBody>
      </p:sp>
      <p:sp>
        <p:nvSpPr>
          <p:cNvPr id="11" name="Rectangle 10"/>
          <p:cNvSpPr/>
          <p:nvPr/>
        </p:nvSpPr>
        <p:spPr>
          <a:xfrm>
            <a:off x="6217920" y="1691640"/>
            <a:ext cx="5367528" cy="3493008"/>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ircle-check_007F80.png"/>
          <p:cNvPicPr>
            <a:picLocks noChangeAspect="1"/>
          </p:cNvPicPr>
          <p:nvPr/>
        </p:nvPicPr>
        <p:blipFill>
          <a:blip r:embed="rId5"/>
          <a:stretch>
            <a:fillRect/>
          </a:stretch>
        </p:blipFill>
        <p:spPr>
          <a:xfrm>
            <a:off x="6464808" y="1938528"/>
            <a:ext cx="438912" cy="438912"/>
          </a:xfrm>
          <a:prstGeom prst="rect">
            <a:avLst/>
          </a:prstGeom>
        </p:spPr>
      </p:pic>
      <p:sp>
        <p:nvSpPr>
          <p:cNvPr id="13" name="body:すでにアカウントがある人"/>
          <p:cNvSpPr txBox="1"/>
          <p:nvPr/>
        </p:nvSpPr>
        <p:spPr>
          <a:xfrm>
            <a:off x="6464808" y="2633472"/>
            <a:ext cx="4873752"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すでにアカウントがある人</a:t>
            </a:r>
          </a:p>
        </p:txBody>
      </p:sp>
      <p:sp>
        <p:nvSpPr>
          <p:cNvPr id="14" name="body:今のアカウントを開き、&#10;大学メールの追加と確認を&#10;済ませます。"/>
          <p:cNvSpPr txBox="1"/>
          <p:nvPr/>
        </p:nvSpPr>
        <p:spPr>
          <a:xfrm>
            <a:off x="6464808" y="3312413"/>
            <a:ext cx="4873752" cy="1152144"/>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今のアカウントを開き、</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大学メールの追加と確認を</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済ませます。</a:t>
            </a:r>
          </a:p>
        </p:txBody>
      </p:sp>
      <p:sp>
        <p:nvSpPr>
          <p:cNvPr id="15" name="Rectangle 14"/>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7" name="result:公開プロフィールに学籍番号や大学メールを書く必要はありません。"/>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公開プロフィールに学籍番号や大学メールを書く必要はありません。</a:t>
            </a:r>
          </a:p>
        </p:txBody>
      </p:sp>
      <p:sp>
        <p:nvSpPr>
          <p:cNvPr id="18"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19"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0" name="footer:06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06 / 37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1 / 5　アカウン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1 / 5　アカウント</a:t>
            </a:r>
          </a:p>
        </p:txBody>
      </p:sp>
      <p:sp>
        <p:nvSpPr>
          <p:cNvPr id="4" name="title:初めて使う人は、GitHubに登録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初めて使う人は、GitHubに登録する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yboar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47872"/>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GitHub / Sign up"/>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GitHub / Sign up</a:t>
            </a:r>
          </a:p>
        </p:txBody>
      </p:sp>
      <p:sp>
        <p:nvSpPr>
          <p:cNvPr id="10" name="tag:Email"/>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Email</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自分の大学メール"/>
          <p:cNvSpPr txBox="1"/>
          <p:nvPr/>
        </p:nvSpPr>
        <p:spPr>
          <a:xfrm>
            <a:off x="978408" y="285292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自分の大学メール</a:t>
            </a:r>
          </a:p>
        </p:txBody>
      </p:sp>
      <p:sp>
        <p:nvSpPr>
          <p:cNvPr id="13" name="tag:Username"/>
          <p:cNvSpPr txBox="1"/>
          <p:nvPr/>
        </p:nvSpPr>
        <p:spPr>
          <a:xfrm>
            <a:off x="841248" y="352044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Username</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自分で決めた名前"/>
          <p:cNvSpPr txBox="1"/>
          <p:nvPr/>
        </p:nvSpPr>
        <p:spPr>
          <a:xfrm>
            <a:off x="978408" y="395020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自分で決めた名前</a:t>
            </a:r>
          </a:p>
        </p:txBody>
      </p:sp>
      <p:sp>
        <p:nvSpPr>
          <p:cNvPr id="16" name="caption:操作する場所を示した模式図"/>
          <p:cNvSpPr txBox="1"/>
          <p:nvPr/>
        </p:nvSpPr>
        <p:spPr>
          <a:xfrm>
            <a:off x="731520" y="5303520"/>
            <a:ext cx="629107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操作する場所を示した模式図</a:t>
            </a:r>
          </a:p>
        </p:txBody>
      </p:sp>
      <p:sp>
        <p:nvSpPr>
          <p:cNvPr id="17" name="Oval 16"/>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登録リンクを開く。"/>
          <p:cNvSpPr txBox="1"/>
          <p:nvPr/>
        </p:nvSpPr>
        <p:spPr>
          <a:xfrm>
            <a:off x="7982712" y="1719072"/>
            <a:ext cx="3557015" cy="42951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u="sng">
                <a:solidFill>
                  <a:srgbClr val="007F83"/>
                </a:solidFill>
                <a:latin typeface="Meiryo"/>
                <a:ea typeface="Meiryo"/>
                <a:cs typeface="Meiryo"/>
                <a:hlinkClick r:id="rIdHandson19"/>
              </a:rPr>
              <a:t>GitHubの登録を開く。</a:t>
            </a:r>
          </a:p>
        </p:txBody>
      </p:sp>
      <p:sp>
        <p:nvSpPr>
          <p:cNvPr id="20" name="Oval 19"/>
          <p:cNvSpPr/>
          <p:nvPr/>
        </p:nvSpPr>
        <p:spPr>
          <a:xfrm>
            <a:off x="7406640" y="2432049"/>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45490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大学メールと&#10;usernameなどを入力&#10;する。"/>
          <p:cNvSpPr txBox="1"/>
          <p:nvPr/>
        </p:nvSpPr>
        <p:spPr>
          <a:xfrm>
            <a:off x="7982712" y="2422906"/>
            <a:ext cx="3557015" cy="117881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大学メール・username・</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パスワードを入力する。</a:t>
            </a:r>
          </a:p>
        </p:txBody>
      </p:sp>
      <p:sp>
        <p:nvSpPr>
          <p:cNvPr id="23" name="Oval 22"/>
          <p:cNvSpPr/>
          <p:nvPr/>
        </p:nvSpPr>
        <p:spPr>
          <a:xfrm>
            <a:off x="7406640" y="388518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90804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届いた確認メールを開&#10;き、登録を完了する。"/>
          <p:cNvSpPr txBox="1"/>
          <p:nvPr/>
        </p:nvSpPr>
        <p:spPr>
          <a:xfrm>
            <a:off x="7982712" y="3876040"/>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画面の案内で確認し、</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大学メールの確認も</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完了する。</a:t>
            </a:r>
          </a:p>
        </p:txBody>
      </p:sp>
      <p:sp>
        <p:nvSpPr>
          <p:cNvPr id="26" name="Rectangle 2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8" name="result:登録できたら、次のページでメールの公開設定も確かめ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登録済みの人は作り直さず、Sign inで今のアカウントを使います。</a:t>
            </a:r>
          </a:p>
        </p:txBody>
      </p:sp>
      <p:sp>
        <p:nvSpPr>
          <p:cNvPr id="29"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30"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31" name="footer:07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07 / 37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1 / 5　アカウン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1 / 5　アカウント</a:t>
            </a:r>
          </a:p>
        </p:txBody>
      </p:sp>
      <p:sp>
        <p:nvSpPr>
          <p:cNvPr id="4" name="title:大学メールと、メールの公開設定を確かめ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大学メールと、メールの公開設定を確かめる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keyhole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右上のプロフィールから Settings を開く。"/>
          <p:cNvSpPr txBox="1"/>
          <p:nvPr/>
        </p:nvSpPr>
        <p:spPr>
          <a:xfrm>
            <a:off x="1325880" y="1682496"/>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右上のプロフィールから Settings を開く。</a:t>
            </a:r>
          </a:p>
        </p:txBody>
      </p:sp>
      <p:sp>
        <p:nvSpPr>
          <p:cNvPr id="10" name="body:ここでは、アカウント全体の設定を開きます。"/>
          <p:cNvSpPr txBox="1"/>
          <p:nvPr/>
        </p:nvSpPr>
        <p:spPr>
          <a:xfrm>
            <a:off x="1325880" y="2205990"/>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ここでは、アカウント全体の設定を開きます。</a:t>
            </a:r>
          </a:p>
        </p:txBody>
      </p:sp>
      <p:sp>
        <p:nvSpPr>
          <p:cNvPr id="11" name="Oval 10"/>
          <p:cNvSpPr/>
          <p:nvPr/>
        </p:nvSpPr>
        <p:spPr>
          <a:xfrm>
            <a:off x="749808" y="2829337"/>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number:2"/>
          <p:cNvSpPr txBox="1"/>
          <p:nvPr/>
        </p:nvSpPr>
        <p:spPr>
          <a:xfrm>
            <a:off x="749808" y="2869615"/>
            <a:ext cx="374904" cy="374904"/>
          </a:xfrm>
          <a:prstGeom prst="rect">
            <a:avLst/>
          </a:prstGeom>
          <a:noFill/>
        </p:spPr>
        <p:txBody>
          <a:bodyPr wrap="none" lIns="0" tIns="0" rIns="0" bIns="0" anchor="t">
            <a:spAutoFit/>
          </a:bodyPr>
          <a:lstStyle/>
          <a:p>
            <a:pPr algn="ctr">
              <a:lnSpc>
                <a:spcPct val="114000"/>
              </a:lnSpc>
              <a:spcBef>
                <a:spcPts val="0"/>
              </a:spcBef>
              <a:spcAft>
                <a:spcPts val="0"/>
              </a:spcAft>
              <a:defRPr sz="1900" b="1">
                <a:solidFill>
                  <a:srgbClr val="FFFFFF"/>
                </a:solidFill>
                <a:latin typeface="Meiryo"/>
              </a:defRPr>
            </a:pPr>
            <a:r>
              <a:rPr sz="1900" b="1" dirty="0">
                <a:solidFill>
                  <a:srgbClr val="FFFFFF"/>
                </a:solidFill>
                <a:latin typeface="Meiryo"/>
                <a:ea typeface="Meiryo"/>
                <a:cs typeface="Meiryo"/>
              </a:rPr>
              <a:t>2</a:t>
            </a:r>
          </a:p>
        </p:txBody>
      </p:sp>
      <p:sp>
        <p:nvSpPr>
          <p:cNvPr id="13" name="body:Emails で大学メールを追加し、確認する。"/>
          <p:cNvSpPr txBox="1"/>
          <p:nvPr/>
        </p:nvSpPr>
        <p:spPr>
          <a:xfrm>
            <a:off x="1325880" y="2802775"/>
            <a:ext cx="9893807" cy="459485"/>
          </a:xfrm>
          <a:prstGeom prst="rect">
            <a:avLst/>
          </a:prstGeom>
          <a:noFill/>
        </p:spPr>
        <p:txBody>
          <a:bodyPr wrap="none" lIns="0" tIns="0" rIns="0" bIns="0" anchor="t">
            <a:spAutoFit/>
          </a:bodyPr>
          <a:lstStyle/>
          <a:p>
            <a:pPr>
              <a:lnSpc>
                <a:spcPct val="114000"/>
              </a:lnSpc>
              <a:spcBef>
                <a:spcPts val="0"/>
              </a:spcBef>
              <a:spcAft>
                <a:spcPts val="0"/>
              </a:spcAft>
              <a:defRPr sz="2700" b="1">
                <a:solidFill>
                  <a:srgbClr val="1D343E"/>
                </a:solidFill>
                <a:latin typeface="Meiryo"/>
              </a:defRPr>
            </a:pPr>
            <a:r>
              <a:rPr sz="2700" b="1" u="sng" dirty="0">
                <a:solidFill>
                  <a:srgbClr val="007F83"/>
                </a:solidFill>
                <a:latin typeface="Meiryo"/>
                <a:ea typeface="Meiryo"/>
                <a:cs typeface="Meiryo"/>
                <a:hlinkClick r:id="rIdHandson13"/>
              </a:rPr>
              <a:t>Emails </a:t>
            </a:r>
            <a:r>
              <a:rPr sz="2700" b="1" u="sng" dirty="0" err="1">
                <a:solidFill>
                  <a:srgbClr val="007F83"/>
                </a:solidFill>
                <a:latin typeface="Meiryo"/>
                <a:ea typeface="Meiryo"/>
                <a:cs typeface="Meiryo"/>
                <a:hlinkClick r:id="rIdHandson13"/>
              </a:rPr>
              <a:t>で大学メールを追加し、確認する</a:t>
            </a:r>
            <a:r>
              <a:rPr sz="2700" b="1" u="sng" dirty="0">
                <a:solidFill>
                  <a:srgbClr val="007F83"/>
                </a:solidFill>
                <a:latin typeface="Meiryo"/>
                <a:ea typeface="Meiryo"/>
                <a:cs typeface="Meiryo"/>
                <a:hlinkClick r:id="rIdHandson13"/>
              </a:rPr>
              <a:t>。</a:t>
            </a:r>
          </a:p>
        </p:txBody>
      </p:sp>
      <p:sp>
        <p:nvSpPr>
          <p:cNvPr id="14" name="body:Add email addressに大学メールを入力 → Add → 届いたメールで確認。※Primary email addressに大学メールが入っていれば追加の必要はなし。"/>
          <p:cNvSpPr txBox="1"/>
          <p:nvPr/>
        </p:nvSpPr>
        <p:spPr>
          <a:xfrm>
            <a:off x="1325880" y="3326269"/>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dirty="0">
                <a:solidFill>
                  <a:srgbClr val="53656D"/>
                </a:solidFill>
                <a:latin typeface="Meiryo"/>
                <a:ea typeface="Meiryo"/>
                <a:cs typeface="Meiryo"/>
              </a:rPr>
              <a:t>Add email </a:t>
            </a:r>
            <a:r>
              <a:rPr sz="2300" b="0" dirty="0" err="1">
                <a:solidFill>
                  <a:srgbClr val="53656D"/>
                </a:solidFill>
                <a:latin typeface="Meiryo"/>
                <a:ea typeface="Meiryo"/>
                <a:cs typeface="Meiryo"/>
              </a:rPr>
              <a:t>addressに大学メールを入力</a:t>
            </a:r>
            <a:r>
              <a:rPr sz="2300" b="0" dirty="0">
                <a:solidFill>
                  <a:srgbClr val="53656D"/>
                </a:solidFill>
                <a:latin typeface="Meiryo"/>
                <a:ea typeface="Meiryo"/>
                <a:cs typeface="Meiryo"/>
              </a:rPr>
              <a:t> → Add → </a:t>
            </a:r>
            <a:r>
              <a:rPr sz="2300" b="0" dirty="0" err="1">
                <a:solidFill>
                  <a:srgbClr val="53656D"/>
                </a:solidFill>
                <a:latin typeface="Meiryo"/>
                <a:ea typeface="Meiryo"/>
                <a:cs typeface="Meiryo"/>
              </a:rPr>
              <a:t>届いたメールで確認</a:t>
            </a:r>
            <a:r>
              <a:rPr sz="2300" b="0" dirty="0">
                <a:solidFill>
                  <a:srgbClr val="53656D"/>
                </a:solidFill>
                <a:latin typeface="Meiryo"/>
                <a:ea typeface="Meiryo"/>
                <a:cs typeface="Meiryo"/>
              </a:rPr>
              <a:t>。</a:t>
            </a:r>
            <a:endParaRPr lang="en-US" sz="2300" b="0" dirty="0">
              <a:solidFill>
                <a:srgbClr val="53656D"/>
              </a:solidFill>
              <a:latin typeface="Meiryo"/>
              <a:ea typeface="Meiryo"/>
              <a:cs typeface="Meiryo"/>
            </a:endParaRPr>
          </a:p>
          <a:p>
            <a:pPr>
              <a:lnSpc>
                <a:spcPct val="100000"/>
              </a:lnSpc>
              <a:spcBef>
                <a:spcPts val="0"/>
              </a:spcBef>
              <a:spcAft>
                <a:spcPts val="0"/>
              </a:spcAft>
              <a:buNone/>
              <a:defRPr sz="2300" b="0">
                <a:solidFill>
                  <a:srgbClr val="53656D"/>
                </a:solidFill>
                <a:latin typeface="Meiryo"/>
                <a:ea typeface="Meiryo"/>
                <a:cs typeface="Meiryo"/>
              </a:defRPr>
            </a:pPr>
            <a:r>
              <a:rPr lang="en-US" altLang="ja-JP" sz="2300" b="0" dirty="0">
                <a:solidFill>
                  <a:srgbClr val="53656D"/>
                </a:solidFill>
                <a:latin typeface="Meiryo"/>
                <a:ea typeface="Meiryo"/>
                <a:cs typeface="Meiryo"/>
              </a:rPr>
              <a:t>※</a:t>
            </a:r>
            <a:r>
              <a:rPr lang="en-US" sz="2300" b="0" dirty="0">
                <a:solidFill>
                  <a:srgbClr val="53656D"/>
                </a:solidFill>
                <a:latin typeface="Meiryo"/>
                <a:ea typeface="Meiryo"/>
                <a:cs typeface="Meiryo"/>
              </a:rPr>
              <a:t>Primary email address</a:t>
            </a:r>
            <a:r>
              <a:rPr lang="ja-JP" altLang="en-US" sz="2300" b="0" dirty="0">
                <a:solidFill>
                  <a:srgbClr val="53656D"/>
                </a:solidFill>
                <a:latin typeface="Meiryo"/>
                <a:ea typeface="Meiryo"/>
                <a:cs typeface="Meiryo"/>
              </a:rPr>
              <a:t>に大学メールが入っていれば追加の必要はなし。</a:t>
            </a:r>
            <a:endParaRPr sz="2300" b="0" dirty="0">
              <a:solidFill>
                <a:srgbClr val="53656D"/>
              </a:solidFill>
              <a:latin typeface="Meiryo"/>
              <a:ea typeface="Meiryo"/>
              <a:cs typeface="Meiryo"/>
            </a:endParaRPr>
          </a:p>
        </p:txBody>
      </p:sp>
      <p:sp>
        <p:nvSpPr>
          <p:cNvPr id="15" name="Oval 14"/>
          <p:cNvSpPr/>
          <p:nvPr/>
        </p:nvSpPr>
        <p:spPr>
          <a:xfrm>
            <a:off x="749808" y="4315395"/>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umber:3"/>
          <p:cNvSpPr txBox="1"/>
          <p:nvPr/>
        </p:nvSpPr>
        <p:spPr>
          <a:xfrm>
            <a:off x="749808" y="4346964"/>
            <a:ext cx="374904" cy="374904"/>
          </a:xfrm>
          <a:prstGeom prst="rect">
            <a:avLst/>
          </a:prstGeom>
          <a:noFill/>
        </p:spPr>
        <p:txBody>
          <a:bodyPr wrap="none" lIns="0" tIns="0" rIns="0" bIns="0" anchor="t">
            <a:spAutoFit/>
          </a:bodyPr>
          <a:lstStyle/>
          <a:p>
            <a:pPr algn="ctr">
              <a:lnSpc>
                <a:spcPct val="114000"/>
              </a:lnSpc>
              <a:spcBef>
                <a:spcPts val="0"/>
              </a:spcBef>
              <a:spcAft>
                <a:spcPts val="0"/>
              </a:spcAft>
              <a:defRPr sz="1900" b="1">
                <a:solidFill>
                  <a:srgbClr val="FFFFFF"/>
                </a:solidFill>
                <a:latin typeface="Meiryo"/>
              </a:defRPr>
            </a:pPr>
            <a:r>
              <a:rPr sz="1900" b="1" dirty="0">
                <a:solidFill>
                  <a:srgbClr val="FFFFFF"/>
                </a:solidFill>
                <a:latin typeface="Meiryo"/>
                <a:ea typeface="Meiryo"/>
                <a:cs typeface="Meiryo"/>
              </a:rPr>
              <a:t>3</a:t>
            </a:r>
          </a:p>
        </p:txBody>
      </p:sp>
      <p:sp>
        <p:nvSpPr>
          <p:cNvPr id="17" name="body:Keep my email addresses private を確認する。"/>
          <p:cNvSpPr txBox="1"/>
          <p:nvPr/>
        </p:nvSpPr>
        <p:spPr>
          <a:xfrm>
            <a:off x="1325880" y="4306251"/>
            <a:ext cx="9893807" cy="459485"/>
          </a:xfrm>
          <a:prstGeom prst="rect">
            <a:avLst/>
          </a:prstGeom>
          <a:noFill/>
        </p:spPr>
        <p:txBody>
          <a:bodyPr wrap="none" lIns="0" tIns="0" rIns="0" bIns="0" anchor="t">
            <a:spAutoFit/>
          </a:bodyPr>
          <a:lstStyle/>
          <a:p>
            <a:pPr>
              <a:lnSpc>
                <a:spcPct val="114000"/>
              </a:lnSpc>
              <a:spcBef>
                <a:spcPts val="0"/>
              </a:spcBef>
              <a:spcAft>
                <a:spcPts val="0"/>
              </a:spcAft>
              <a:defRPr sz="2700" b="1">
                <a:solidFill>
                  <a:srgbClr val="1D343E"/>
                </a:solidFill>
                <a:latin typeface="Meiryo"/>
              </a:defRPr>
            </a:pPr>
            <a:r>
              <a:rPr sz="2700" b="1" dirty="0">
                <a:solidFill>
                  <a:srgbClr val="1D343E"/>
                </a:solidFill>
                <a:latin typeface="Meiryo"/>
                <a:ea typeface="Meiryo"/>
                <a:cs typeface="Meiryo"/>
              </a:rPr>
              <a:t>Keep my email addresses private </a:t>
            </a:r>
            <a:r>
              <a:rPr sz="2700" b="1" dirty="0" err="1">
                <a:solidFill>
                  <a:srgbClr val="1D343E"/>
                </a:solidFill>
                <a:latin typeface="Meiryo"/>
                <a:ea typeface="Meiryo"/>
                <a:cs typeface="Meiryo"/>
              </a:rPr>
              <a:t>を確認する</a:t>
            </a:r>
            <a:r>
              <a:rPr sz="2700" b="1" dirty="0">
                <a:solidFill>
                  <a:srgbClr val="1D343E"/>
                </a:solidFill>
                <a:latin typeface="Meiryo"/>
                <a:ea typeface="Meiryo"/>
                <a:cs typeface="Meiryo"/>
              </a:rPr>
              <a:t>。</a:t>
            </a:r>
          </a:p>
        </p:txBody>
      </p:sp>
      <p:sp>
        <p:nvSpPr>
          <p:cNvPr id="18" name="body:チェックを入れます。大学メールがVerified（確認済み）かも見ます。"/>
          <p:cNvSpPr txBox="1"/>
          <p:nvPr/>
        </p:nvSpPr>
        <p:spPr>
          <a:xfrm>
            <a:off x="1325880" y="4829745"/>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チェックを入れます。大学メールがVerified（確認済み）かも見ます。</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1" name="result:普段使うメールを大学メールへ変更する必要はありません。"/>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普段使うメールを大学メールへ変更する必要はありません。</a:t>
            </a:r>
          </a:p>
        </p:txBody>
      </p:sp>
      <p:sp>
        <p:nvSpPr>
          <p:cNvPr id="22"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4" name="footer:08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08 / 37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1 / 5　アカウン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1 / 5　アカウント</a:t>
            </a:r>
          </a:p>
        </p:txBody>
      </p:sp>
      <p:sp>
        <p:nvSpPr>
          <p:cNvPr id="4" name="title:自分のusernameを控え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自分のusernameを控える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le-text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3872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Profile"/>
          <p:cNvSpPr txBox="1"/>
          <p:nvPr/>
        </p:nvSpPr>
        <p:spPr>
          <a:xfrm>
            <a:off x="795528" y="1787652"/>
            <a:ext cx="6163055" cy="387858"/>
          </a:xfrm>
          <a:prstGeom prst="rect">
            <a:avLst/>
          </a:prstGeom>
          <a:noFill/>
        </p:spPr>
        <p:txBody>
          <a:bodyPr wrap="none" lIns="0" tIns="0" rIns="0" bIns="0" anchor="t">
            <a:noAutofit/>
          </a:bodyPr>
          <a:lstStyle/>
          <a:p>
            <a:pPr>
              <a:lnSpc>
                <a:spcPct val="114000"/>
              </a:lnSpc>
              <a:spcBef>
                <a:spcPts val="0"/>
              </a:spcBef>
              <a:spcAft>
                <a:spcPts val="0"/>
              </a:spcAft>
              <a:buNone/>
              <a:defRPr sz="2100" b="0">
                <a:solidFill>
                  <a:srgbClr val="506772"/>
                </a:solidFill>
                <a:latin typeface="Meiryo"/>
                <a:ea typeface="Meiryo"/>
                <a:cs typeface="Meiryo"/>
              </a:defRPr>
            </a:pPr>
            <a:r>
              <a:rPr sz="2100" b="0">
                <a:solidFill>
                  <a:srgbClr val="506772"/>
                </a:solidFill>
                <a:latin typeface="Meiryo"/>
                <a:ea typeface="Meiryo"/>
                <a:cs typeface="Meiryo"/>
              </a:rPr>
              <a:t>Profile</a:t>
            </a:r>
          </a:p>
        </p:txBody>
      </p:sp>
      <p:sp>
        <p:nvSpPr>
          <p:cNvPr id="10" name="tag:プロフィールのURL"/>
          <p:cNvSpPr txBox="1"/>
          <p:nvPr/>
        </p:nvSpPr>
        <p:spPr>
          <a:xfrm>
            <a:off x="841248" y="2423160"/>
            <a:ext cx="6071616" cy="357886"/>
          </a:xfrm>
          <a:prstGeom prst="rect">
            <a:avLst/>
          </a:prstGeom>
          <a:noFill/>
        </p:spPr>
        <p:txBody>
          <a:bodyPr wrap="none" lIns="0" tIns="0" r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プロフィールのURL</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github.com/example-student"/>
          <p:cNvSpPr txBox="1"/>
          <p:nvPr/>
        </p:nvSpPr>
        <p:spPr>
          <a:xfrm>
            <a:off x="978408" y="2852928"/>
            <a:ext cx="5797296" cy="438912"/>
          </a:xfrm>
          <a:prstGeom prst="rect">
            <a:avLst/>
          </a:prstGeom>
          <a:noFill/>
        </p:spPr>
        <p:txBody>
          <a:bodyPr wrap="none" lIns="0" tIns="0" r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github.com/example-student</a:t>
            </a:r>
          </a:p>
        </p:txBody>
      </p:sp>
      <p:sp>
        <p:nvSpPr>
          <p:cNvPr id="13" name="tag:登録フォームに書く名前"/>
          <p:cNvSpPr txBox="1"/>
          <p:nvPr/>
        </p:nvSpPr>
        <p:spPr>
          <a:xfrm>
            <a:off x="841248" y="3520440"/>
            <a:ext cx="6071616" cy="357886"/>
          </a:xfrm>
          <a:prstGeom prst="rect">
            <a:avLst/>
          </a:prstGeom>
          <a:noFill/>
        </p:spPr>
        <p:txBody>
          <a:bodyPr wrap="none" lIns="0" tIns="0" r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登録フォームに書く名前</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example-student"/>
          <p:cNvSpPr txBox="1"/>
          <p:nvPr/>
        </p:nvSpPr>
        <p:spPr>
          <a:xfrm>
            <a:off x="978408" y="3950208"/>
            <a:ext cx="5797296" cy="438912"/>
          </a:xfrm>
          <a:prstGeom prst="rect">
            <a:avLst/>
          </a:prstGeom>
          <a:noFill/>
        </p:spPr>
        <p:txBody>
          <a:bodyPr wrap="none" lIns="0" tIns="0" r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example-student</a:t>
            </a:r>
          </a:p>
        </p:txBody>
      </p:sp>
      <p:sp>
        <p:nvSpPr>
          <p:cNvPr id="16" name="caption:操作する場所を示した模式図"/>
          <p:cNvSpPr txBox="1"/>
          <p:nvPr/>
        </p:nvSpPr>
        <p:spPr>
          <a:xfrm>
            <a:off x="731520" y="5294376"/>
            <a:ext cx="629107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操作する場所を示した模式図</a:t>
            </a:r>
          </a:p>
        </p:txBody>
      </p:sp>
      <p:sp>
        <p:nvSpPr>
          <p:cNvPr id="17" name="Oval 16"/>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右上からProfileを開く。"/>
          <p:cNvSpPr txBox="1"/>
          <p:nvPr/>
        </p:nvSpPr>
        <p:spPr>
          <a:xfrm>
            <a:off x="7982711" y="1719072"/>
            <a:ext cx="3678065" cy="438582"/>
          </a:xfrm>
          <a:prstGeom prst="rect">
            <a:avLst/>
          </a:prstGeom>
          <a:noFill/>
        </p:spPr>
        <p:txBody>
          <a:bodyPr wrap="square" lIns="0" tIns="0" rIns="0" bIns="0" anchor="t">
            <a:noAutofit/>
          </a:bodyPr>
          <a:lstStyle/>
          <a:p>
            <a:pPr>
              <a:lnSpc>
                <a:spcPct val="114000"/>
              </a:lnSpc>
              <a:spcBef>
                <a:spcPts val="0"/>
              </a:spcBef>
              <a:spcAft>
                <a:spcPts val="0"/>
              </a:spcAft>
              <a:buNone/>
              <a:defRPr sz="2500" b="1">
                <a:solidFill>
                  <a:srgbClr val="19313D"/>
                </a:solidFill>
                <a:latin typeface="Meiryo"/>
                <a:ea typeface="Meiryo"/>
                <a:cs typeface="Meiryo"/>
              </a:defRPr>
            </a:pPr>
            <a:r>
              <a:rPr sz="2500" b="1">
                <a:solidFill>
                  <a:srgbClr val="19313D"/>
                </a:solidFill>
                <a:latin typeface="Meiryo"/>
                <a:ea typeface="Meiryo"/>
                <a:cs typeface="Meiryo"/>
              </a:rPr>
              <a:t>右上からProfileを開く。</a:t>
            </a:r>
          </a:p>
        </p:txBody>
      </p:sp>
      <p:sp>
        <p:nvSpPr>
          <p:cNvPr id="20" name="Oval 19"/>
          <p:cNvSpPr/>
          <p:nvPr/>
        </p:nvSpPr>
        <p:spPr>
          <a:xfrm>
            <a:off x="7406640" y="2564653"/>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umber:2"/>
          <p:cNvSpPr txBox="1"/>
          <p:nvPr/>
        </p:nvSpPr>
        <p:spPr>
          <a:xfrm>
            <a:off x="7406640" y="2587512"/>
            <a:ext cx="374904" cy="374904"/>
          </a:xfrm>
          <a:prstGeom prst="rect">
            <a:avLst/>
          </a:prstGeom>
          <a:noFill/>
        </p:spPr>
        <p:txBody>
          <a:bodyPr wrap="none" lIns="0" tIns="0" r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URLの末尾がusernameであることを確認します。"/>
          <p:cNvSpPr txBox="1"/>
          <p:nvPr/>
        </p:nvSpPr>
        <p:spPr>
          <a:xfrm>
            <a:off x="7982712" y="2555509"/>
            <a:ext cx="3614772" cy="1315745"/>
          </a:xfrm>
          <a:prstGeom prst="rect">
            <a:avLst/>
          </a:prstGeom>
          <a:noFill/>
        </p:spPr>
        <p:txBody>
          <a:bodyPr wrap="none" lIns="0" tIns="0" rIns="0" bIns="0" anchor="t">
            <a:spAutoFit/>
          </a:bodyPr>
          <a:lstStyle/>
          <a:p>
            <a:pPr>
              <a:lnSpc>
                <a:spcPct val="114000"/>
              </a:lnSpc>
              <a:spcBef>
                <a:spcPts val="0"/>
              </a:spcBef>
              <a:spcAft>
                <a:spcPts val="0"/>
              </a:spcAft>
              <a:defRPr sz="2500" b="1">
                <a:solidFill>
                  <a:srgbClr val="1D343E"/>
                </a:solidFill>
                <a:latin typeface="Meiryo"/>
              </a:defRPr>
            </a:pPr>
            <a:r>
              <a:rPr sz="2500" b="1" dirty="0" err="1">
                <a:solidFill>
                  <a:srgbClr val="1D343E"/>
                </a:solidFill>
                <a:latin typeface="Meiryo"/>
                <a:ea typeface="Meiryo"/>
                <a:cs typeface="Meiryo"/>
              </a:rPr>
              <a:t>URLの末尾が</a:t>
            </a:r>
            <a:endParaRPr sz="2500" b="1" dirty="0">
              <a:solidFill>
                <a:srgbClr val="1D343E"/>
              </a:solidFill>
              <a:latin typeface="Meiryo"/>
              <a:ea typeface="Meiryo"/>
              <a:cs typeface="Meiryo"/>
            </a:endParaRPr>
          </a:p>
          <a:p>
            <a:pPr>
              <a:lnSpc>
                <a:spcPct val="114000"/>
              </a:lnSpc>
              <a:spcBef>
                <a:spcPts val="0"/>
              </a:spcBef>
              <a:spcAft>
                <a:spcPts val="0"/>
              </a:spcAft>
              <a:defRPr sz="2500" b="1">
                <a:solidFill>
                  <a:srgbClr val="1D343E"/>
                </a:solidFill>
                <a:latin typeface="Meiryo"/>
              </a:defRPr>
            </a:pPr>
            <a:r>
              <a:rPr sz="2500" b="1" dirty="0" err="1">
                <a:solidFill>
                  <a:srgbClr val="1D343E"/>
                </a:solidFill>
                <a:latin typeface="Meiryo"/>
                <a:ea typeface="Meiryo"/>
                <a:cs typeface="Meiryo"/>
              </a:rPr>
              <a:t>usernameで</a:t>
            </a:r>
            <a:r>
              <a:rPr lang="ja-JP" altLang="en-US" sz="2500" b="1" dirty="0">
                <a:solidFill>
                  <a:srgbClr val="1D343E"/>
                </a:solidFill>
                <a:latin typeface="Meiryo"/>
                <a:ea typeface="Meiryo"/>
                <a:cs typeface="Meiryo"/>
              </a:rPr>
              <a:t>あることを</a:t>
            </a:r>
            <a:endParaRPr lang="en-US" altLang="ja-JP" sz="2500" b="1" dirty="0">
              <a:solidFill>
                <a:srgbClr val="1D343E"/>
              </a:solidFill>
              <a:latin typeface="Meiryo"/>
              <a:ea typeface="Meiryo"/>
              <a:cs typeface="Meiryo"/>
            </a:endParaRPr>
          </a:p>
          <a:p>
            <a:pPr>
              <a:lnSpc>
                <a:spcPct val="114000"/>
              </a:lnSpc>
              <a:spcBef>
                <a:spcPts val="0"/>
              </a:spcBef>
              <a:spcAft>
                <a:spcPts val="0"/>
              </a:spcAft>
              <a:defRPr sz="2500" b="1">
                <a:solidFill>
                  <a:srgbClr val="1D343E"/>
                </a:solidFill>
                <a:latin typeface="Meiryo"/>
              </a:defRPr>
            </a:pPr>
            <a:r>
              <a:rPr lang="ja-JP" altLang="en-US" sz="2500" b="1" dirty="0">
                <a:solidFill>
                  <a:srgbClr val="1D343E"/>
                </a:solidFill>
                <a:latin typeface="Meiryo"/>
                <a:ea typeface="Meiryo"/>
                <a:cs typeface="Meiryo"/>
              </a:rPr>
              <a:t>確認します</a:t>
            </a:r>
            <a:r>
              <a:rPr sz="2500" b="1" dirty="0">
                <a:solidFill>
                  <a:srgbClr val="1D343E"/>
                </a:solidFill>
                <a:latin typeface="Meiryo"/>
                <a:ea typeface="Meiryo"/>
                <a:cs typeface="Meiryo"/>
              </a:rPr>
              <a:t>。</a:t>
            </a:r>
          </a:p>
        </p:txBody>
      </p:sp>
      <p:sp>
        <p:nvSpPr>
          <p:cNvPr id="23" name="Oval 22"/>
          <p:cNvSpPr/>
          <p:nvPr/>
        </p:nvSpPr>
        <p:spPr>
          <a:xfrm>
            <a:off x="7406640" y="388518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90804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自分のusernameを控&#10;える。初回登録で使い&#10;ます。"/>
          <p:cNvSpPr txBox="1"/>
          <p:nvPr/>
        </p:nvSpPr>
        <p:spPr>
          <a:xfrm>
            <a:off x="7982712" y="3876040"/>
            <a:ext cx="3557015" cy="11788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自分のusernameを控</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える。初回登録で使い</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ます。</a:t>
            </a:r>
          </a:p>
        </p:txBody>
      </p:sp>
      <p:sp>
        <p:nvSpPr>
          <p:cNvPr id="26" name="Rectangle 2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8" name="result:表示名やメールアドレスではなく、URLの最後の名前を使います。"/>
          <p:cNvSpPr txBox="1"/>
          <p:nvPr/>
        </p:nvSpPr>
        <p:spPr>
          <a:xfrm>
            <a:off x="1179576" y="5710428"/>
            <a:ext cx="10168128" cy="438912"/>
          </a:xfrm>
          <a:prstGeom prst="rect">
            <a:avLst/>
          </a:prstGeom>
          <a:noFill/>
        </p:spPr>
        <p:txBody>
          <a:bodyPr wrap="none" lIns="0" tIns="0" r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表示名やメールアドレスではなく、URLの最後の名前を使います。</a:t>
            </a:r>
          </a:p>
        </p:txBody>
      </p:sp>
      <p:sp>
        <p:nvSpPr>
          <p:cNvPr id="29"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30"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31" name="footer:09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09 / 37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2 / 5　保存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2 / 5　保存先</a:t>
            </a:r>
          </a:p>
        </p:txBody>
      </p:sp>
      <p:sp>
        <p:nvSpPr>
          <p:cNvPr id="4" name="title:授業ページから「学生用ひな形」を開く"/>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授業ページから「学生用ひな形」を開く</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lder_007F80.png"/>
          <p:cNvPicPr>
            <a:picLocks noChangeAspect="1"/>
          </p:cNvPicPr>
          <p:nvPr/>
        </p:nvPicPr>
        <p:blipFill>
          <a:blip r:embed="rId2"/>
          <a:stretch>
            <a:fillRect/>
          </a:stretch>
        </p:blipFill>
        <p:spPr>
          <a:xfrm>
            <a:off x="11064240" y="740664"/>
            <a:ext cx="420624" cy="420624"/>
          </a:xfrm>
          <a:prstGeom prst="rect">
            <a:avLst/>
          </a:prstGeom>
        </p:spPr>
      </p:pic>
      <p:sp>
        <p:nvSpPr>
          <p:cNvPr id="7" name="caption:教員の学生用ひな形の画面例。ログイン後に自分用へコピーします。"/>
          <p:cNvSpPr txBox="1"/>
          <p:nvPr/>
        </p:nvSpPr>
        <p:spPr>
          <a:xfrm>
            <a:off x="758952" y="1481328"/>
            <a:ext cx="1078992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教員の学生用ひな形の画面例。ログイン後に自分用へコピーします。</a:t>
            </a:r>
          </a:p>
        </p:txBody>
      </p:sp>
      <p:sp>
        <p:nvSpPr>
          <p:cNvPr id="8" name="Rectangle 7"/>
          <p:cNvSpPr/>
          <p:nvPr/>
        </p:nvSpPr>
        <p:spPr>
          <a:xfrm>
            <a:off x="594360" y="1847088"/>
            <a:ext cx="11000232" cy="299008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13_s07_img2.png"/>
          <p:cNvPicPr>
            <a:picLocks noChangeAspect="1"/>
          </p:cNvPicPr>
          <p:nvPr/>
        </p:nvPicPr>
        <p:blipFill>
          <a:blip r:embed="rId4"/>
          <a:stretch>
            <a:fillRect/>
          </a:stretch>
        </p:blipFill>
        <p:spPr>
          <a:xfrm>
            <a:off x="1272114" y="1947672"/>
            <a:ext cx="9644723" cy="2798064"/>
          </a:xfrm>
          <a:prstGeom prst="rect">
            <a:avLst/>
          </a:prstGeom>
        </p:spPr>
      </p:pic>
      <p:sp>
        <p:nvSpPr>
          <p:cNvPr id="10" name="Oval 9"/>
          <p:cNvSpPr/>
          <p:nvPr/>
        </p:nvSpPr>
        <p:spPr>
          <a:xfrm>
            <a:off x="75895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5895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学生用ひな形を開く。"/>
          <p:cNvSpPr txBox="1"/>
          <p:nvPr/>
        </p:nvSpPr>
        <p:spPr>
          <a:xfrm>
            <a:off x="1307592" y="5038344"/>
            <a:ext cx="4709160" cy="457200"/>
          </a:xfrm>
          <a:prstGeom prst="rect">
            <a:avLst/>
          </a:prstGeom>
          <a:noFill/>
        </p:spPr>
        <p:txBody>
          <a:bodyPr wrap="none" lIns="0" tIns="0" rIns="0" bIns="0" anchor="t">
            <a:noAutofit/>
          </a:bodyPr>
          <a:lstStyle/>
          <a:p>
            <a:pPr>
              <a:lnSpc>
                <a:spcPct val="114000"/>
              </a:lnSpc>
              <a:spcBef>
                <a:spcPts val="0"/>
              </a:spcBef>
              <a:spcAft>
                <a:spcPts val="0"/>
              </a:spcAft>
              <a:buNone/>
              <a:defRPr sz="2400" b="1">
                <a:solidFill>
                  <a:srgbClr val="1D343E"/>
                </a:solidFill>
                <a:latin typeface="Meiryo"/>
                <a:ea typeface="Meiryo"/>
                <a:cs typeface="Meiryo"/>
              </a:defRPr>
            </a:pPr>
            <a:r>
              <a:rPr sz="2400" b="1" u="sng">
                <a:solidFill>
                  <a:srgbClr val="007F83"/>
                </a:solidFill>
                <a:latin typeface="Meiryo"/>
                <a:ea typeface="Meiryo"/>
                <a:cs typeface="Meiryo"/>
                <a:hlinkClick r:id="rIdHandson12"/>
              </a:rPr>
              <a:t>学生用ひな形を開く（クリック）。</a:t>
            </a:r>
          </a:p>
        </p:txBody>
      </p:sp>
      <p:sp>
        <p:nvSpPr>
          <p:cNvPr id="13" name="Oval 12"/>
          <p:cNvSpPr/>
          <p:nvPr/>
        </p:nvSpPr>
        <p:spPr>
          <a:xfrm>
            <a:off x="638251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umber:2"/>
          <p:cNvSpPr txBox="1"/>
          <p:nvPr/>
        </p:nvSpPr>
        <p:spPr>
          <a:xfrm>
            <a:off x="638251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5" name="body:setupなどのフォルダを見る。"/>
          <p:cNvSpPr txBox="1"/>
          <p:nvPr/>
        </p:nvSpPr>
        <p:spPr>
          <a:xfrm>
            <a:off x="6931152" y="5038344"/>
            <a:ext cx="4709160" cy="457200"/>
          </a:xfrm>
          <a:prstGeom prst="rect">
            <a:avLst/>
          </a:prstGeom>
          <a:noFill/>
        </p:spPr>
        <p:txBody>
          <a:bodyPr wrap="none" lIns="0" rIns="0" tIns="0" bIns="0" anchor="t">
            <a:spAutoFit/>
          </a:bodyPr>
          <a:lstStyle/>
          <a:p>
            <a:pP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setupなどのフォルダを見る。</a:t>
            </a:r>
          </a:p>
        </p:txBody>
      </p:sp>
      <p:sp>
        <p:nvSpPr>
          <p:cNvPr id="16" name="Rectangle 1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8" name="result:このひな形を直接編集せず、次の手順で自分用の保存先を作り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このひな形を直接編集せず、次の手順で自分用の保存先を作ります。</a:t>
            </a:r>
          </a:p>
        </p:txBody>
      </p:sp>
      <p:sp>
        <p:nvSpPr>
          <p:cNvPr id="19"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0"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1" name="footer:10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10 / 37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2 / 5　保存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2 / 5　保存先</a:t>
            </a:r>
          </a:p>
        </p:txBody>
      </p:sp>
      <p:sp>
        <p:nvSpPr>
          <p:cNvPr id="4" name="title:Use this template から自分用にコピー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Use this template から自分用にコピーする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use-pointer-2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13_s08_img2.png"/>
          <p:cNvPicPr>
            <a:picLocks noChangeAspect="1"/>
          </p:cNvPicPr>
          <p:nvPr/>
        </p:nvPicPr>
        <p:blipFill>
          <a:blip r:embed="rId4"/>
          <a:stretch>
            <a:fillRect/>
          </a:stretch>
        </p:blipFill>
        <p:spPr>
          <a:xfrm>
            <a:off x="731520" y="2077151"/>
            <a:ext cx="6291072" cy="2657977"/>
          </a:xfrm>
          <a:prstGeom prst="rect">
            <a:avLst/>
          </a:prstGeom>
        </p:spPr>
      </p:pic>
      <p:sp>
        <p:nvSpPr>
          <p:cNvPr id="9" name="caption:GitHub公式文書の画面例。"/>
          <p:cNvSpPr txBox="1"/>
          <p:nvPr/>
        </p:nvSpPr>
        <p:spPr>
          <a:xfrm>
            <a:off x="740664" y="5221224"/>
            <a:ext cx="649224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GitHub公式文書の画面例。</a:t>
            </a:r>
          </a:p>
        </p:txBody>
      </p:sp>
      <p:sp>
        <p:nvSpPr>
          <p:cNvPr id="10" name="Oval 9"/>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Use this template を&#10;押す。"/>
          <p:cNvSpPr txBox="1"/>
          <p:nvPr/>
        </p:nvSpPr>
        <p:spPr>
          <a:xfrm>
            <a:off x="7982712" y="1719072"/>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Use this template を</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押す。</a:t>
            </a:r>
          </a:p>
        </p:txBody>
      </p:sp>
      <p:sp>
        <p:nvSpPr>
          <p:cNvPr id="13" name="body:GitHubへログインした状&#10;態で操作します。"/>
          <p:cNvSpPr txBox="1"/>
          <p:nvPr/>
        </p:nvSpPr>
        <p:spPr>
          <a:xfrm>
            <a:off x="7982712" y="2587243"/>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GitHubへログインした状</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態で操作します。</a:t>
            </a:r>
          </a:p>
        </p:txBody>
      </p:sp>
      <p:sp>
        <p:nvSpPr>
          <p:cNvPr id="14" name="Oval 13"/>
          <p:cNvSpPr/>
          <p:nvPr/>
        </p:nvSpPr>
        <p:spPr>
          <a:xfrm>
            <a:off x="7406640" y="368808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371094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Create a new&#10;repository を選ぶ。"/>
          <p:cNvSpPr txBox="1"/>
          <p:nvPr/>
        </p:nvSpPr>
        <p:spPr>
          <a:xfrm>
            <a:off x="7982712" y="3678936"/>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Create a new</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repository を選ぶ。</a:t>
            </a:r>
          </a:p>
        </p:txBody>
      </p:sp>
      <p:sp>
        <p:nvSpPr>
          <p:cNvPr id="17" name="body:自分の保存先を作る画面&#10;へ進みます。"/>
          <p:cNvSpPr txBox="1"/>
          <p:nvPr/>
        </p:nvSpPr>
        <p:spPr>
          <a:xfrm>
            <a:off x="7982712" y="4547108"/>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自分の保存先を作る画面</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へ進みます。</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20" name="result:作成済みのai-learningがある人は、同じものを使い続け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ai-learningが作成済みなら、作り直さず14ページへ進みます。</a:t>
            </a:r>
          </a:p>
        </p:txBody>
      </p:sp>
      <p:sp>
        <p:nvSpPr>
          <p:cNvPr id="21"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2"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3" name="footer:11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11 / 37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2 / 5　保存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2 / 5　保存先</a:t>
            </a:r>
          </a:p>
        </p:txBody>
      </p:sp>
      <p:sp>
        <p:nvSpPr>
          <p:cNvPr id="4" name="title:所有者とリポジトリ名を入力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所有者とリポジトリ名を入力する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yboar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09_55_70_510_235.png"/>
          <p:cNvPicPr>
            <a:picLocks noChangeAspect="1"/>
          </p:cNvPicPr>
          <p:nvPr/>
        </p:nvPicPr>
        <p:blipFill>
          <a:blip r:embed="rId4"/>
          <a:stretch>
            <a:fillRect/>
          </a:stretch>
        </p:blipFill>
        <p:spPr>
          <a:xfrm>
            <a:off x="1948087" y="1810512"/>
            <a:ext cx="3857936" cy="1399032"/>
          </a:xfrm>
          <a:prstGeom prst="rect">
            <a:avLst/>
          </a:prstGeom>
        </p:spPr>
      </p:pic>
      <p:pic>
        <p:nvPicPr>
          <p:cNvPr id="9" name="Picture 8" descr="crop_10_330_85_1425_245.png"/>
          <p:cNvPicPr>
            <a:picLocks noChangeAspect="1"/>
          </p:cNvPicPr>
          <p:nvPr/>
        </p:nvPicPr>
        <p:blipFill>
          <a:blip r:embed="rId5"/>
          <a:stretch>
            <a:fillRect/>
          </a:stretch>
        </p:blipFill>
        <p:spPr>
          <a:xfrm>
            <a:off x="758952" y="3741482"/>
            <a:ext cx="6236208" cy="911226"/>
          </a:xfrm>
          <a:prstGeom prst="rect">
            <a:avLst/>
          </a:prstGeom>
        </p:spPr>
      </p:pic>
      <p:sp>
        <p:nvSpPr>
          <p:cNvPr id="10" name="caption:公式画面例。入力する値は右側へ。"/>
          <p:cNvSpPr txBox="1"/>
          <p:nvPr/>
        </p:nvSpPr>
        <p:spPr>
          <a:xfrm>
            <a:off x="749808" y="5230368"/>
            <a:ext cx="649224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公式画面例。入力する値は右側へ。</a:t>
            </a:r>
          </a:p>
        </p:txBody>
      </p:sp>
      <p:sp>
        <p:nvSpPr>
          <p:cNvPr id="11" name="Oval 10"/>
          <p:cNvSpPr/>
          <p:nvPr/>
        </p:nvSpPr>
        <p:spPr>
          <a:xfrm>
            <a:off x="7406640" y="174650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1"/>
          <p:cNvSpPr txBox="1"/>
          <p:nvPr/>
        </p:nvSpPr>
        <p:spPr>
          <a:xfrm>
            <a:off x="7406640" y="1769363"/>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3" name="body:Ownerは自分のアカウ&#10;ントを選ぶ。"/>
          <p:cNvSpPr txBox="1"/>
          <p:nvPr/>
        </p:nvSpPr>
        <p:spPr>
          <a:xfrm>
            <a:off x="7982712" y="1737360"/>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Ownerは自分のアカウ</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ントを選ぶ。</a:t>
            </a:r>
          </a:p>
        </p:txBody>
      </p:sp>
      <p:sp>
        <p:nvSpPr>
          <p:cNvPr id="14" name="Oval 13"/>
          <p:cNvSpPr/>
          <p:nvPr/>
        </p:nvSpPr>
        <p:spPr>
          <a:xfrm>
            <a:off x="7406640" y="2834131"/>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2856991"/>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名前はai-learning。&#10;Repository nameへ&#10;入力し"/>
          <p:cNvSpPr txBox="1"/>
          <p:nvPr/>
        </p:nvSpPr>
        <p:spPr>
          <a:xfrm>
            <a:off x="7982712" y="2824988"/>
            <a:ext cx="3557015" cy="11788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名前はai-learning。</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Repository nameへ</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入力します。</a:t>
            </a:r>
          </a:p>
        </p:txBody>
      </p:sp>
      <p:sp>
        <p:nvSpPr>
          <p:cNvPr id="17" name="Oval 16"/>
          <p:cNvSpPr/>
          <p:nvPr/>
        </p:nvSpPr>
        <p:spPr>
          <a:xfrm>
            <a:off x="7406640" y="429641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3"/>
          <p:cNvSpPr txBox="1"/>
          <p:nvPr/>
        </p:nvSpPr>
        <p:spPr>
          <a:xfrm>
            <a:off x="7406640" y="431927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9" name="body:例のhelloや、学籍番号&#10;は使いません。"/>
          <p:cNvSpPr txBox="1"/>
          <p:nvPr/>
        </p:nvSpPr>
        <p:spPr>
          <a:xfrm>
            <a:off x="7982712" y="4287266"/>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例のhelloや、学籍番号</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は使いません。</a:t>
            </a:r>
          </a:p>
        </p:txBody>
      </p:sp>
      <p:sp>
        <p:nvSpPr>
          <p:cNvPr id="20" name="Rectangle 19"/>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ircle-check_007F80.png"/>
          <p:cNvPicPr>
            <a:picLocks noChangeAspect="1"/>
          </p:cNvPicPr>
          <p:nvPr/>
        </p:nvPicPr>
        <p:blipFill>
          <a:blip r:embed="rId6"/>
          <a:stretch>
            <a:fillRect/>
          </a:stretch>
        </p:blipFill>
        <p:spPr>
          <a:xfrm>
            <a:off x="749808" y="5751576"/>
            <a:ext cx="283464" cy="283464"/>
          </a:xfrm>
          <a:prstGeom prst="rect">
            <a:avLst/>
          </a:prstGeom>
        </p:spPr>
      </p:pic>
      <p:sp>
        <p:nvSpPr>
          <p:cNvPr id="22" name="result:リポジトリは、ファイルと変更履歴をまとめて保存する場所で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リポジトリは、ファイルと変更履歴をまとめて保存する場所です。</a:t>
            </a:r>
          </a:p>
        </p:txBody>
      </p:sp>
      <p:sp>
        <p:nvSpPr>
          <p:cNvPr id="23" name="tag:手順一覧へ">
            <a:hlinkClick action="ppaction://hlinksldjump" r:id="rId7"/>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4"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5" name="footer:12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12 / 37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2 / 5　保存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2 / 5　保存先</a:t>
            </a:r>
          </a:p>
        </p:txBody>
      </p:sp>
      <p:sp>
        <p:nvSpPr>
          <p:cNvPr id="4" name="title:Privateを選んで、保存先を作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Privateを選んで、保存先を作る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keyhole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3872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Create a new repository"/>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Create a new repository</a:t>
            </a:r>
          </a:p>
        </p:txBody>
      </p:sp>
      <p:sp>
        <p:nvSpPr>
          <p:cNvPr id="10" name="tag:Repository name"/>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Repository name</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ai-learning"/>
          <p:cNvSpPr txBox="1"/>
          <p:nvPr/>
        </p:nvSpPr>
        <p:spPr>
          <a:xfrm>
            <a:off x="978408" y="285292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ai-learning</a:t>
            </a:r>
          </a:p>
        </p:txBody>
      </p:sp>
      <p:sp>
        <p:nvSpPr>
          <p:cNvPr id="13" name="tag:Visibility"/>
          <p:cNvSpPr txBox="1"/>
          <p:nvPr/>
        </p:nvSpPr>
        <p:spPr>
          <a:xfrm>
            <a:off x="841248" y="352044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Visibility</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Private"/>
          <p:cNvSpPr txBox="1"/>
          <p:nvPr/>
        </p:nvSpPr>
        <p:spPr>
          <a:xfrm>
            <a:off x="978408" y="395020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Private</a:t>
            </a:r>
          </a:p>
        </p:txBody>
      </p:sp>
      <p:sp>
        <p:nvSpPr>
          <p:cNvPr id="16" name="caption:操作する場所を示した模式図"/>
          <p:cNvSpPr txBox="1"/>
          <p:nvPr/>
        </p:nvSpPr>
        <p:spPr>
          <a:xfrm>
            <a:off x="731520" y="5294376"/>
            <a:ext cx="629107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操作する場所を示した模式図</a:t>
            </a:r>
          </a:p>
        </p:txBody>
      </p:sp>
      <p:sp>
        <p:nvSpPr>
          <p:cNvPr id="17" name="Oval 16"/>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Privateを選ぶ。"/>
          <p:cNvSpPr txBox="1"/>
          <p:nvPr/>
        </p:nvSpPr>
        <p:spPr>
          <a:xfrm>
            <a:off x="7982712" y="1719072"/>
            <a:ext cx="3557015" cy="4295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Privateを選ぶ。</a:t>
            </a:r>
          </a:p>
        </p:txBody>
      </p:sp>
      <p:sp>
        <p:nvSpPr>
          <p:cNvPr id="20" name="Oval 19"/>
          <p:cNvSpPr/>
          <p:nvPr/>
        </p:nvSpPr>
        <p:spPr>
          <a:xfrm>
            <a:off x="7406640" y="2432049"/>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45490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Ownerと名前を&#10;確認する。"/>
          <p:cNvSpPr txBox="1"/>
          <p:nvPr/>
        </p:nvSpPr>
        <p:spPr>
          <a:xfrm>
            <a:off x="7982712" y="2422906"/>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Ownerと名前を</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確認する。</a:t>
            </a:r>
          </a:p>
        </p:txBody>
      </p:sp>
      <p:sp>
        <p:nvSpPr>
          <p:cNvPr id="23" name="Oval 22"/>
          <p:cNvSpPr/>
          <p:nvPr/>
        </p:nvSpPr>
        <p:spPr>
          <a:xfrm>
            <a:off x="7406640" y="3510533"/>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533393"/>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Create repositoryを押&#10;して作成する。"/>
          <p:cNvSpPr txBox="1"/>
          <p:nvPr/>
        </p:nvSpPr>
        <p:spPr>
          <a:xfrm>
            <a:off x="7982712" y="3501390"/>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Create repositoryを押</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して作成する。</a:t>
            </a:r>
          </a:p>
        </p:txBody>
      </p:sp>
      <p:sp>
        <p:nvSpPr>
          <p:cNvPr id="26" name="Rectangle 25"/>
          <p:cNvSpPr/>
          <p:nvPr/>
        </p:nvSpPr>
        <p:spPr>
          <a:xfrm>
            <a:off x="594360" y="5605272"/>
            <a:ext cx="11000232" cy="630936"/>
          </a:xfrm>
          <a:prstGeom prst="rect">
            <a:avLst/>
          </a:prstGeom>
          <a:solidFill>
            <a:srgbClr val="FF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triangle-alert_9A6113.png"/>
          <p:cNvPicPr>
            <a:picLocks noChangeAspect="1"/>
          </p:cNvPicPr>
          <p:nvPr/>
        </p:nvPicPr>
        <p:blipFill>
          <a:blip r:embed="rId4"/>
          <a:stretch>
            <a:fillRect/>
          </a:stretch>
        </p:blipFill>
        <p:spPr>
          <a:xfrm>
            <a:off x="749808" y="5751576"/>
            <a:ext cx="283464" cy="283464"/>
          </a:xfrm>
          <a:prstGeom prst="rect">
            <a:avLst/>
          </a:prstGeom>
        </p:spPr>
      </p:pic>
      <p:sp>
        <p:nvSpPr>
          <p:cNvPr id="28" name="result:Publicではなく、Privateになっていることを確かめてください。"/>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9A6113"/>
                </a:solidFill>
                <a:latin typeface="Meiryo"/>
              </a:defRPr>
            </a:pPr>
            <a:r>
              <a:rPr sz="2200" b="0">
                <a:solidFill>
                  <a:srgbClr val="9A6113"/>
                </a:solidFill>
                <a:latin typeface="Meiryo"/>
                <a:ea typeface="Meiryo"/>
                <a:cs typeface="Meiryo"/>
              </a:rPr>
              <a:t>Publicではなく、Privateになっていることを確かめてください。</a:t>
            </a:r>
          </a:p>
        </p:txBody>
      </p:sp>
      <p:sp>
        <p:nvSpPr>
          <p:cNvPr id="29"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30"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31" name="footer:13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13 / 37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2 / 5　保存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2 / 5　保存先</a:t>
            </a:r>
          </a:p>
        </p:txBody>
      </p:sp>
      <p:sp>
        <p:nvSpPr>
          <p:cNvPr id="4" name="title:自分の保存先ができたか確かめ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自分の保存先ができたか確かめる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ircle-check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603504" y="1728216"/>
            <a:ext cx="10981944" cy="100584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自分のusername / ai-learning"/>
          <p:cNvSpPr txBox="1"/>
          <p:nvPr/>
        </p:nvSpPr>
        <p:spPr>
          <a:xfrm>
            <a:off x="859536" y="1956816"/>
            <a:ext cx="8778240" cy="548640"/>
          </a:xfrm>
          <a:prstGeom prst="rect">
            <a:avLst/>
          </a:prstGeom>
          <a:noFill/>
        </p:spPr>
        <p:txBody>
          <a:bodyPr wrap="none" lIns="0" rIns="0" tIns="0" bIns="0" anchor="t">
            <a:spAutoFit/>
          </a:bodyPr>
          <a:lstStyle/>
          <a:p>
            <a:pPr>
              <a:lnSpc>
                <a:spcPct val="114000"/>
              </a:lnSpc>
              <a:spcBef>
                <a:spcPts val="0"/>
              </a:spcBef>
              <a:spcAft>
                <a:spcPts val="0"/>
              </a:spcAft>
              <a:defRPr sz="3200" b="1">
                <a:solidFill>
                  <a:srgbClr val="1D343E"/>
                </a:solidFill>
                <a:latin typeface="Meiryo"/>
              </a:defRPr>
            </a:pPr>
            <a:r>
              <a:rPr sz="3200" b="1">
                <a:solidFill>
                  <a:srgbClr val="1D343E"/>
                </a:solidFill>
                <a:latin typeface="Meiryo"/>
                <a:ea typeface="Meiryo"/>
                <a:cs typeface="Meiryo"/>
              </a:rPr>
              <a:t>自分のusername / ai-learning</a:t>
            </a:r>
          </a:p>
        </p:txBody>
      </p:sp>
      <p:sp>
        <p:nvSpPr>
          <p:cNvPr id="9" name="Rectangle 8"/>
          <p:cNvSpPr/>
          <p:nvPr/>
        </p:nvSpPr>
        <p:spPr>
          <a:xfrm>
            <a:off x="9564624" y="1911095"/>
            <a:ext cx="1719072" cy="612648"/>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ody:Private"/>
          <p:cNvSpPr txBox="1"/>
          <p:nvPr/>
        </p:nvSpPr>
        <p:spPr>
          <a:xfrm>
            <a:off x="9692640" y="2011680"/>
            <a:ext cx="1463040" cy="420624"/>
          </a:xfrm>
          <a:prstGeom prst="rect">
            <a:avLst/>
          </a:prstGeom>
          <a:noFill/>
        </p:spPr>
        <p:txBody>
          <a:bodyPr wrap="none" lIns="0" rIns="0" tIns="0" bIns="0" anchor="t">
            <a:spAutoFit/>
          </a:bodyPr>
          <a:lstStyle/>
          <a:p>
            <a:pPr algn="ct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Private</a:t>
            </a:r>
          </a:p>
        </p:txBody>
      </p:sp>
      <p:sp>
        <p:nvSpPr>
          <p:cNvPr id="11" name="caption:画面上部の模式図。usernameは自分のものを確かめます。"/>
          <p:cNvSpPr txBox="1"/>
          <p:nvPr/>
        </p:nvSpPr>
        <p:spPr>
          <a:xfrm>
            <a:off x="758952" y="2898648"/>
            <a:ext cx="10698480" cy="374904"/>
          </a:xfrm>
          <a:prstGeom prst="rect">
            <a:avLst/>
          </a:prstGeom>
          <a:noFill/>
        </p:spPr>
        <p:txBody>
          <a:bodyPr wrap="none" lIns="0" rIns="0" tIns="0" bIns="0" anchor="t">
            <a:spAutoFit/>
          </a:bodyPr>
          <a:lstStyle/>
          <a:p>
            <a:pPr>
              <a:lnSpc>
                <a:spcPct val="114000"/>
              </a:lnSpc>
              <a:spcBef>
                <a:spcPts val="0"/>
              </a:spcBef>
              <a:spcAft>
                <a:spcPts val="0"/>
              </a:spcAft>
              <a:defRPr sz="2000" b="0">
                <a:solidFill>
                  <a:srgbClr val="53656D"/>
                </a:solidFill>
                <a:latin typeface="Meiryo"/>
              </a:defRPr>
            </a:pPr>
            <a:r>
              <a:rPr sz="2000" b="0">
                <a:solidFill>
                  <a:srgbClr val="53656D"/>
                </a:solidFill>
                <a:latin typeface="Meiryo"/>
                <a:ea typeface="Meiryo"/>
                <a:cs typeface="Meiryo"/>
              </a:rPr>
              <a:t>画面上部の模式図。usernameは自分のものを確かめます。</a:t>
            </a:r>
          </a:p>
        </p:txBody>
      </p:sp>
      <p:sp>
        <p:nvSpPr>
          <p:cNvPr id="12" name="Oval 11"/>
          <p:cNvSpPr/>
          <p:nvPr/>
        </p:nvSpPr>
        <p:spPr>
          <a:xfrm>
            <a:off x="749808" y="342900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number:1"/>
          <p:cNvSpPr txBox="1"/>
          <p:nvPr/>
        </p:nvSpPr>
        <p:spPr>
          <a:xfrm>
            <a:off x="749808" y="345186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4" name="body:setup フォルダを探す。"/>
          <p:cNvSpPr txBox="1"/>
          <p:nvPr/>
        </p:nvSpPr>
        <p:spPr>
          <a:xfrm>
            <a:off x="1325880" y="3419856"/>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setup フォルダを探す。</a:t>
            </a:r>
          </a:p>
        </p:txBody>
      </p:sp>
      <p:sp>
        <p:nvSpPr>
          <p:cNvPr id="15" name="body:この後、練習画像と短い記録をここへ保存します。"/>
          <p:cNvSpPr txBox="1"/>
          <p:nvPr/>
        </p:nvSpPr>
        <p:spPr>
          <a:xfrm>
            <a:off x="1325880" y="3943350"/>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この後、練習画像と短い記録をここへ保存します。</a:t>
            </a:r>
          </a:p>
        </p:txBody>
      </p:sp>
      <p:sp>
        <p:nvSpPr>
          <p:cNvPr id="16" name="Oval 15"/>
          <p:cNvSpPr/>
          <p:nvPr/>
        </p:nvSpPr>
        <p:spPr>
          <a:xfrm>
            <a:off x="749808" y="4562348"/>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number:2"/>
          <p:cNvSpPr txBox="1"/>
          <p:nvPr/>
        </p:nvSpPr>
        <p:spPr>
          <a:xfrm>
            <a:off x="749808" y="4585208"/>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8" name="body:week01 以降のフォルダも見る。"/>
          <p:cNvSpPr txBox="1"/>
          <p:nvPr/>
        </p:nvSpPr>
        <p:spPr>
          <a:xfrm>
            <a:off x="1325880" y="4553204"/>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week01 以降のフォルダも見る。</a:t>
            </a:r>
          </a:p>
        </p:txBody>
      </p:sp>
      <p:sp>
        <p:nvSpPr>
          <p:cNvPr id="19" name="body:毎週の課題には、その週のフォルダを使います。"/>
          <p:cNvSpPr txBox="1"/>
          <p:nvPr/>
        </p:nvSpPr>
        <p:spPr>
          <a:xfrm>
            <a:off x="1325880" y="5076698"/>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毎週の課題には、その週のフォルダを使います。</a:t>
            </a:r>
          </a:p>
        </p:txBody>
      </p:sp>
      <p:sp>
        <p:nvSpPr>
          <p:cNvPr id="20" name="Rectangle 19"/>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ircle-check_007F80.png"/>
          <p:cNvPicPr>
            <a:picLocks noChangeAspect="1"/>
          </p:cNvPicPr>
          <p:nvPr/>
        </p:nvPicPr>
        <p:blipFill>
          <a:blip r:embed="rId2"/>
          <a:stretch>
            <a:fillRect/>
          </a:stretch>
        </p:blipFill>
        <p:spPr>
          <a:xfrm>
            <a:off x="749808" y="5751576"/>
            <a:ext cx="283464" cy="283464"/>
          </a:xfrm>
          <a:prstGeom prst="rect">
            <a:avLst/>
          </a:prstGeom>
        </p:spPr>
      </p:pic>
      <p:sp>
        <p:nvSpPr>
          <p:cNvPr id="22" name="result:自分のusername・ai-learning・Privateの3つを確"/>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自分のusername・ai-learning・Privateの3つを確認できたら次へ。</a:t>
            </a:r>
          </a:p>
        </p:txBody>
      </p:sp>
      <p:sp>
        <p:nvSpPr>
          <p:cNvPr id="23" name="tag:手順一覧へ">
            <a:hlinkClick action="ppaction://hlinksldjump" r:id="rId4"/>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4"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5" name="footer:14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14 / 37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練習用の画像を1枚用意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練習用の画像を1枚用意する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91640"/>
            <a:ext cx="4709160" cy="160020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画像生成を使う人"/>
          <p:cNvSpPr txBox="1"/>
          <p:nvPr/>
        </p:nvSpPr>
        <p:spPr>
          <a:xfrm>
            <a:off x="841248" y="1938528"/>
            <a:ext cx="4215384"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画像生成を使う人</a:t>
            </a:r>
          </a:p>
        </p:txBody>
      </p:sp>
      <p:sp>
        <p:nvSpPr>
          <p:cNvPr id="9" name="body:使えるAIで作り、画像を保存します。"/>
          <p:cNvSpPr txBox="1"/>
          <p:nvPr/>
        </p:nvSpPr>
        <p:spPr>
          <a:xfrm>
            <a:off x="841248" y="2617470"/>
            <a:ext cx="4215384" cy="762507"/>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AIで作り、画像を保存。</a:t>
            </a:r>
          </a:p>
        </p:txBody>
      </p:sp>
      <p:sp>
        <p:nvSpPr>
          <p:cNvPr id="10" name="Rectangle 9"/>
          <p:cNvSpPr/>
          <p:nvPr/>
        </p:nvSpPr>
        <p:spPr>
          <a:xfrm>
            <a:off x="594360" y="3483864"/>
            <a:ext cx="4709160" cy="1609344"/>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ody:配布画像を使う人"/>
          <p:cNvSpPr txBox="1"/>
          <p:nvPr/>
        </p:nvSpPr>
        <p:spPr>
          <a:xfrm>
            <a:off x="841248" y="3730752"/>
            <a:ext cx="4215384"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配布画像を使う人</a:t>
            </a:r>
          </a:p>
        </p:txBody>
      </p:sp>
      <p:sp>
        <p:nvSpPr>
          <p:cNvPr id="12" name="body:授業で配られた画像を保存します。"/>
          <p:cNvSpPr txBox="1"/>
          <p:nvPr/>
        </p:nvSpPr>
        <p:spPr>
          <a:xfrm>
            <a:off x="841248" y="4409694"/>
            <a:ext cx="4215384" cy="762507"/>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配布画像を保存する。</a:t>
            </a:r>
          </a:p>
        </p:txBody>
      </p:sp>
      <p:sp>
        <p:nvSpPr>
          <p:cNvPr id="13" name="Rectangle 12"/>
          <p:cNvSpPr/>
          <p:nvPr/>
        </p:nvSpPr>
        <p:spPr>
          <a:xfrm>
            <a:off x="5623560" y="1691640"/>
            <a:ext cx="5961888" cy="340156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13_s12_img2.png"/>
          <p:cNvPicPr>
            <a:picLocks noChangeAspect="1"/>
          </p:cNvPicPr>
          <p:nvPr/>
        </p:nvPicPr>
        <p:blipFill>
          <a:blip r:embed="rId4"/>
          <a:stretch>
            <a:fillRect/>
          </a:stretch>
        </p:blipFill>
        <p:spPr>
          <a:xfrm>
            <a:off x="6526530" y="1865376"/>
            <a:ext cx="4155948" cy="2770632"/>
          </a:xfrm>
          <a:prstGeom prst="rect">
            <a:avLst/>
          </a:prstGeom>
        </p:spPr>
      </p:pic>
      <p:sp>
        <p:nvSpPr>
          <p:cNvPr id="15" name="caption:授業の配布画像の例"/>
          <p:cNvSpPr txBox="1"/>
          <p:nvPr/>
        </p:nvSpPr>
        <p:spPr>
          <a:xfrm>
            <a:off x="5916168" y="4782312"/>
            <a:ext cx="530352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授業の配布画像の例</a:t>
            </a:r>
          </a:p>
        </p:txBody>
      </p:sp>
      <p:sp>
        <p:nvSpPr>
          <p:cNvPr id="16" name="Rectangle 1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8" name="result:画像生成が使えなくても大丈夫です。どちらも同じ手順で進め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画像生成が使えなくても大丈夫です。どちらも同じ手順で進めます。</a:t>
            </a:r>
          </a:p>
        </p:txBody>
      </p:sp>
      <p:sp>
        <p:nvSpPr>
          <p:cNvPr id="19"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0"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1" name="footer:15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15 / 37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画像そのものをパソコンへ保存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画像そのものをパソコンへ保存する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pload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配布画像なら、公開教材の画像ページを開く。"/>
          <p:cNvSpPr txBox="1"/>
          <p:nvPr/>
        </p:nvSpPr>
        <p:spPr>
          <a:xfrm>
            <a:off x="1325880" y="1682496"/>
            <a:ext cx="9893807" cy="459485"/>
          </a:xfrm>
          <a:prstGeom prst="rect">
            <a:avLst/>
          </a:prstGeom>
          <a:noFill/>
        </p:spPr>
        <p:txBody>
          <a:bodyPr wrap="none" lIns="0" tIns="0" rIns="0" bIns="0" anchor="t">
            <a:no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u="sng">
                <a:solidFill>
                  <a:srgbClr val="007F83"/>
                </a:solidFill>
                <a:latin typeface="Meiryo"/>
                <a:ea typeface="Meiryo"/>
                <a:cs typeface="Meiryo"/>
                <a:hlinkClick r:id="rIdHandson9"/>
              </a:rPr>
              <a:t>配布画像のページを開く（クリック）。</a:t>
            </a:r>
          </a:p>
        </p:txBody>
      </p:sp>
      <p:sp>
        <p:nvSpPr>
          <p:cNvPr id="10" name="body:assets/setup/practice.png を開きます。"/>
          <p:cNvSpPr txBox="1"/>
          <p:nvPr/>
        </p:nvSpPr>
        <p:spPr>
          <a:xfrm>
            <a:off x="1325880" y="2205990"/>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assets/setup/practice.png を開きます。</a:t>
            </a:r>
          </a:p>
        </p:txBody>
      </p:sp>
      <p:sp>
        <p:nvSpPr>
          <p:cNvPr id="11" name="Oval 10"/>
          <p:cNvSpPr/>
          <p:nvPr/>
        </p:nvSpPr>
        <p:spPr>
          <a:xfrm>
            <a:off x="749808" y="2879851"/>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02711"/>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Download raw file で画像を保存する。"/>
          <p:cNvSpPr txBox="1"/>
          <p:nvPr/>
        </p:nvSpPr>
        <p:spPr>
          <a:xfrm>
            <a:off x="1325880" y="2870707"/>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Download raw file で画像を保存する。</a:t>
            </a:r>
          </a:p>
        </p:txBody>
      </p:sp>
      <p:sp>
        <p:nvSpPr>
          <p:cNvPr id="14" name="body:AIで作った人は、そのAIの画像保存機能を使います。"/>
          <p:cNvSpPr txBox="1"/>
          <p:nvPr/>
        </p:nvSpPr>
        <p:spPr>
          <a:xfrm>
            <a:off x="1325880" y="3394201"/>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右上の下向き矢印を押します。AIで作った画像は、そのAIで保存します。</a:t>
            </a:r>
          </a:p>
        </p:txBody>
      </p:sp>
      <p:sp>
        <p:nvSpPr>
          <p:cNvPr id="15" name="Oval 14"/>
          <p:cNvSpPr/>
          <p:nvPr/>
        </p:nvSpPr>
        <p:spPr>
          <a:xfrm>
            <a:off x="749808" y="4068063"/>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090923"/>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保存したファイルをパソコンで開く。"/>
          <p:cNvSpPr txBox="1"/>
          <p:nvPr/>
        </p:nvSpPr>
        <p:spPr>
          <a:xfrm>
            <a:off x="1325880" y="4058919"/>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保存したファイルをパソコンで開く。</a:t>
            </a:r>
          </a:p>
        </p:txBody>
      </p:sp>
      <p:sp>
        <p:nvSpPr>
          <p:cNvPr id="18" name="body:画像が表示されることと、ファイル名を確かめます。"/>
          <p:cNvSpPr txBox="1"/>
          <p:nvPr/>
        </p:nvSpPr>
        <p:spPr>
          <a:xfrm>
            <a:off x="1325880" y="4582413"/>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「ダウンロード」フォルダなどを開き、PNG／JPEGの画像を確認します。</a:t>
            </a:r>
          </a:p>
        </p:txBody>
      </p:sp>
      <p:sp>
        <p:nvSpPr>
          <p:cNvPr id="19" name="Rectangle 18"/>
          <p:cNvSpPr/>
          <p:nvPr/>
        </p:nvSpPr>
        <p:spPr>
          <a:xfrm>
            <a:off x="594360" y="5605272"/>
            <a:ext cx="11000232" cy="630936"/>
          </a:xfrm>
          <a:prstGeom prst="rect">
            <a:avLst/>
          </a:prstGeom>
          <a:solidFill>
            <a:srgbClr val="FF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riangle-alert_9A6113.png"/>
          <p:cNvPicPr>
            <a:picLocks noChangeAspect="1"/>
          </p:cNvPicPr>
          <p:nvPr/>
        </p:nvPicPr>
        <p:blipFill>
          <a:blip r:embed="rId4"/>
          <a:stretch>
            <a:fillRect/>
          </a:stretch>
        </p:blipFill>
        <p:spPr>
          <a:xfrm>
            <a:off x="749808" y="5751576"/>
            <a:ext cx="283464" cy="283464"/>
          </a:xfrm>
          <a:prstGeom prst="rect">
            <a:avLst/>
          </a:prstGeom>
        </p:spPr>
      </p:pic>
      <p:sp>
        <p:nvSpPr>
          <p:cNvPr id="21" name="result:ページのURLをコピーするだけでは、画像ファイルの保存にはなりません。"/>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9A6113"/>
                </a:solidFill>
                <a:latin typeface="Meiryo"/>
              </a:defRPr>
            </a:pPr>
            <a:r>
              <a:rPr sz="2200" b="0">
                <a:solidFill>
                  <a:srgbClr val="9A6113"/>
                </a:solidFill>
                <a:latin typeface="Meiryo"/>
                <a:ea typeface="Meiryo"/>
                <a:cs typeface="Meiryo"/>
              </a:rPr>
              <a:t>ページのURLをコピーするだけでは、画像ファイルの保存にはなりません。</a:t>
            </a:r>
          </a:p>
        </p:txBody>
      </p:sp>
      <p:sp>
        <p:nvSpPr>
          <p:cNvPr id="22"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4" name="footer:16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16 / 37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自分のai-learningで、setupを開く"/>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自分のai-learningで、setupを開く</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lder_007F80.png"/>
          <p:cNvPicPr>
            <a:picLocks noChangeAspect="1"/>
          </p:cNvPicPr>
          <p:nvPr/>
        </p:nvPicPr>
        <p:blipFill>
          <a:blip r:embed="rId2"/>
          <a:stretch>
            <a:fillRect/>
          </a:stretch>
        </p:blipFill>
        <p:spPr>
          <a:xfrm>
            <a:off x="11064240" y="740664"/>
            <a:ext cx="420624" cy="420624"/>
          </a:xfrm>
          <a:prstGeom prst="rect">
            <a:avLst/>
          </a:prstGeom>
        </p:spPr>
      </p:pic>
      <p:sp>
        <p:nvSpPr>
          <p:cNvPr id="7" name="caption:画面例は教員のひな形。作業するのは自分のPrivateです。"/>
          <p:cNvSpPr txBox="1"/>
          <p:nvPr/>
        </p:nvSpPr>
        <p:spPr>
          <a:xfrm>
            <a:off x="758952" y="1481328"/>
            <a:ext cx="1078992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画面例は教員のひな形。作業するのは自分のPrivateです。</a:t>
            </a:r>
          </a:p>
        </p:txBody>
      </p:sp>
      <p:sp>
        <p:nvSpPr>
          <p:cNvPr id="8" name="Rectangle 7"/>
          <p:cNvSpPr/>
          <p:nvPr/>
        </p:nvSpPr>
        <p:spPr>
          <a:xfrm>
            <a:off x="594360" y="1847088"/>
            <a:ext cx="11000232" cy="299008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13_s14_img2.png"/>
          <p:cNvPicPr>
            <a:picLocks noChangeAspect="1"/>
          </p:cNvPicPr>
          <p:nvPr/>
        </p:nvPicPr>
        <p:blipFill>
          <a:blip r:embed="rId4"/>
          <a:stretch>
            <a:fillRect/>
          </a:stretch>
        </p:blipFill>
        <p:spPr>
          <a:xfrm>
            <a:off x="768096" y="2276248"/>
            <a:ext cx="10652760" cy="2140911"/>
          </a:xfrm>
          <a:prstGeom prst="rect">
            <a:avLst/>
          </a:prstGeom>
        </p:spPr>
      </p:pic>
      <p:sp>
        <p:nvSpPr>
          <p:cNvPr id="10" name="Oval 9"/>
          <p:cNvSpPr/>
          <p:nvPr/>
        </p:nvSpPr>
        <p:spPr>
          <a:xfrm>
            <a:off x="75895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5895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自分のai-learningを開く。"/>
          <p:cNvSpPr txBox="1"/>
          <p:nvPr/>
        </p:nvSpPr>
        <p:spPr>
          <a:xfrm>
            <a:off x="1307592" y="5038344"/>
            <a:ext cx="4709160" cy="457200"/>
          </a:xfrm>
          <a:prstGeom prst="rect">
            <a:avLst/>
          </a:prstGeom>
          <a:noFill/>
        </p:spPr>
        <p:txBody>
          <a:bodyPr wrap="none" lIns="0" tIns="0" rIns="0" bIns="0" anchor="t">
            <a:noAutofit/>
          </a:bodyPr>
          <a:lstStyle/>
          <a:p>
            <a:pPr>
              <a:lnSpc>
                <a:spcPct val="114000"/>
              </a:lnSpc>
              <a:spcBef>
                <a:spcPts val="0"/>
              </a:spcBef>
              <a:spcAft>
                <a:spcPts val="0"/>
              </a:spcAft>
              <a:buNone/>
              <a:defRPr sz="2400" b="1">
                <a:solidFill>
                  <a:srgbClr val="1D343E"/>
                </a:solidFill>
                <a:latin typeface="Meiryo"/>
                <a:ea typeface="Meiryo"/>
                <a:cs typeface="Meiryo"/>
              </a:defRPr>
            </a:pPr>
            <a:r>
              <a:rPr sz="2400" b="1">
                <a:solidFill>
                  <a:srgbClr val="1D343E"/>
                </a:solidFill>
                <a:latin typeface="Meiryo"/>
                <a:ea typeface="Meiryo"/>
                <a:cs typeface="Meiryo"/>
              </a:rPr>
              <a:t>自分のai-learningを開く。</a:t>
            </a:r>
          </a:p>
        </p:txBody>
      </p:sp>
      <p:sp>
        <p:nvSpPr>
          <p:cNvPr id="13" name="Oval 12"/>
          <p:cNvSpPr/>
          <p:nvPr/>
        </p:nvSpPr>
        <p:spPr>
          <a:xfrm>
            <a:off x="6051588"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number:2"/>
          <p:cNvSpPr txBox="1"/>
          <p:nvPr/>
        </p:nvSpPr>
        <p:spPr>
          <a:xfrm>
            <a:off x="6069002" y="5070348"/>
            <a:ext cx="365760" cy="365760"/>
          </a:xfrm>
          <a:prstGeom prst="rect">
            <a:avLst/>
          </a:prstGeom>
          <a:noFill/>
        </p:spPr>
        <p:txBody>
          <a:bodyPr wrap="none" lIns="0" tIns="0" rIns="0" bIns="0" anchor="t">
            <a:spAutoFit/>
          </a:bodyPr>
          <a:lstStyle/>
          <a:p>
            <a:pPr algn="ctr">
              <a:lnSpc>
                <a:spcPct val="114000"/>
              </a:lnSpc>
              <a:spcBef>
                <a:spcPts val="0"/>
              </a:spcBef>
              <a:spcAft>
                <a:spcPts val="0"/>
              </a:spcAft>
              <a:defRPr sz="1900" b="1">
                <a:solidFill>
                  <a:srgbClr val="FFFFFF"/>
                </a:solidFill>
                <a:latin typeface="Meiryo"/>
              </a:defRPr>
            </a:pPr>
            <a:r>
              <a:rPr sz="1900" b="1" dirty="0">
                <a:solidFill>
                  <a:srgbClr val="FFFFFF"/>
                </a:solidFill>
                <a:latin typeface="Meiryo"/>
                <a:ea typeface="Meiryo"/>
                <a:cs typeface="Meiryo"/>
              </a:rPr>
              <a:t>2</a:t>
            </a:r>
          </a:p>
        </p:txBody>
      </p:sp>
      <p:sp>
        <p:nvSpPr>
          <p:cNvPr id="15" name="body:setupのREADME.mdを確認する。"/>
          <p:cNvSpPr txBox="1"/>
          <p:nvPr/>
        </p:nvSpPr>
        <p:spPr>
          <a:xfrm>
            <a:off x="6617642" y="5038344"/>
            <a:ext cx="4709160" cy="457200"/>
          </a:xfrm>
          <a:prstGeom prst="rect">
            <a:avLst/>
          </a:prstGeom>
          <a:noFill/>
        </p:spPr>
        <p:txBody>
          <a:bodyPr wrap="none" lIns="0" tIns="0" rIns="0" bIns="0" anchor="t">
            <a:noAutofit/>
          </a:bodyPr>
          <a:lstStyle/>
          <a:p>
            <a:pPr>
              <a:lnSpc>
                <a:spcPct val="114000"/>
              </a:lnSpc>
              <a:spcBef>
                <a:spcPts val="0"/>
              </a:spcBef>
              <a:spcAft>
                <a:spcPts val="0"/>
              </a:spcAft>
              <a:buNone/>
              <a:defRPr sz="2400" b="1">
                <a:solidFill>
                  <a:srgbClr val="1D343E"/>
                </a:solidFill>
                <a:latin typeface="Meiryo"/>
                <a:ea typeface="Meiryo"/>
                <a:cs typeface="Meiryo"/>
              </a:defRPr>
            </a:pPr>
            <a:r>
              <a:rPr sz="2400" b="1" dirty="0" err="1">
                <a:solidFill>
                  <a:srgbClr val="1D343E"/>
                </a:solidFill>
                <a:latin typeface="Meiryo"/>
                <a:ea typeface="Meiryo"/>
                <a:cs typeface="Meiryo"/>
              </a:rPr>
              <a:t>setupのREADME.mdを</a:t>
            </a:r>
            <a:r>
              <a:rPr lang="ja-JP" altLang="en-US" sz="2400" b="1" dirty="0">
                <a:solidFill>
                  <a:srgbClr val="1D343E"/>
                </a:solidFill>
                <a:latin typeface="Meiryo"/>
                <a:ea typeface="Meiryo"/>
                <a:cs typeface="Meiryo"/>
              </a:rPr>
              <a:t>確認する</a:t>
            </a:r>
            <a:r>
              <a:rPr sz="2400" b="1" dirty="0">
                <a:solidFill>
                  <a:srgbClr val="1D343E"/>
                </a:solidFill>
                <a:latin typeface="Meiryo"/>
                <a:ea typeface="Meiryo"/>
                <a:cs typeface="Meiryo"/>
              </a:rPr>
              <a:t>。</a:t>
            </a:r>
          </a:p>
        </p:txBody>
      </p:sp>
      <p:sp>
        <p:nvSpPr>
          <p:cNvPr id="16" name="Rectangle 1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8" name="result:ここからの画像追加と文章編集は、すべて自分の保存先で行い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右上 → Your repositories → ai-learningで、自分の保存先へ戻ります。</a:t>
            </a:r>
          </a:p>
        </p:txBody>
      </p:sp>
      <p:sp>
        <p:nvSpPr>
          <p:cNvPr id="19"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0"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1" name="footer:17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17 / 37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Add fileから、画像をアップロード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Add fileから、画像をアップロードする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ploa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15_790_0_1440_252.png"/>
          <p:cNvPicPr>
            <a:picLocks noChangeAspect="1"/>
          </p:cNvPicPr>
          <p:nvPr/>
        </p:nvPicPr>
        <p:blipFill>
          <a:blip r:embed="rId4"/>
          <a:stretch>
            <a:fillRect/>
          </a:stretch>
        </p:blipFill>
        <p:spPr>
          <a:xfrm>
            <a:off x="731520" y="2186639"/>
            <a:ext cx="6291072" cy="2439000"/>
          </a:xfrm>
          <a:prstGeom prst="rect">
            <a:avLst/>
          </a:prstGeom>
        </p:spPr>
      </p:pic>
      <p:sp>
        <p:nvSpPr>
          <p:cNvPr id="9" name="caption:GitHub公式文書の画面例を切り抜き。"/>
          <p:cNvSpPr txBox="1"/>
          <p:nvPr/>
        </p:nvSpPr>
        <p:spPr>
          <a:xfrm>
            <a:off x="740664" y="5221224"/>
            <a:ext cx="649224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GitHub公式文書の画面例を切り抜き。</a:t>
            </a:r>
          </a:p>
        </p:txBody>
      </p:sp>
      <p:sp>
        <p:nvSpPr>
          <p:cNvPr id="10" name="Oval 9"/>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Add file を押す。"/>
          <p:cNvSpPr txBox="1"/>
          <p:nvPr/>
        </p:nvSpPr>
        <p:spPr>
          <a:xfrm>
            <a:off x="7982712" y="1719072"/>
            <a:ext cx="3557015" cy="4295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Add file を押す。</a:t>
            </a:r>
          </a:p>
        </p:txBody>
      </p:sp>
      <p:sp>
        <p:nvSpPr>
          <p:cNvPr id="13" name="body:自分のsetupフォルダで&#10;操作します。"/>
          <p:cNvSpPr txBox="1"/>
          <p:nvPr/>
        </p:nvSpPr>
        <p:spPr>
          <a:xfrm>
            <a:off x="7982712" y="2212594"/>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自分のsetupフォルダで</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操作します。</a:t>
            </a:r>
          </a:p>
        </p:txBody>
      </p:sp>
      <p:sp>
        <p:nvSpPr>
          <p:cNvPr id="14" name="Oval 13"/>
          <p:cNvSpPr/>
          <p:nvPr/>
        </p:nvSpPr>
        <p:spPr>
          <a:xfrm>
            <a:off x="7406640" y="331343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333628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Upload files を選ぶ。"/>
          <p:cNvSpPr txBox="1"/>
          <p:nvPr/>
        </p:nvSpPr>
        <p:spPr>
          <a:xfrm>
            <a:off x="7982712" y="3304286"/>
            <a:ext cx="3557015" cy="4295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Upload files を選ぶ。</a:t>
            </a:r>
          </a:p>
        </p:txBody>
      </p:sp>
      <p:sp>
        <p:nvSpPr>
          <p:cNvPr id="17" name="body:画像を選ぶ画面へ&#10;進みます。"/>
          <p:cNvSpPr txBox="1"/>
          <p:nvPr/>
        </p:nvSpPr>
        <p:spPr>
          <a:xfrm>
            <a:off x="7982712" y="3797808"/>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画像を選ぶ画面へ</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進みます。</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20" name="result:Upload filesを選べたら、パソコンに保存した画像を選び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Upload filesを選べたら、パソコンに保存した画像を選びます。</a:t>
            </a:r>
          </a:p>
        </p:txBody>
      </p:sp>
      <p:sp>
        <p:nvSpPr>
          <p:cNvPr id="21"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2"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3" name="footer:18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18 / 37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画像を選び、Commit changesで保存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画像を選び、Commit changesで保存する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commit-horizontal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3872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ai-learning / setup / Upload files"/>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ai-learning / setup / Upload files</a:t>
            </a:r>
          </a:p>
        </p:txBody>
      </p:sp>
      <p:sp>
        <p:nvSpPr>
          <p:cNvPr id="10" name="tag:選ぶファイル"/>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選ぶファイル</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保存した画像を1枚"/>
          <p:cNvSpPr txBox="1"/>
          <p:nvPr/>
        </p:nvSpPr>
        <p:spPr>
          <a:xfrm>
            <a:off x="978408" y="2852928"/>
            <a:ext cx="5797296" cy="438912"/>
          </a:xfrm>
          <a:prstGeom prst="rect">
            <a:avLst/>
          </a:prstGeom>
          <a:noFill/>
        </p:spPr>
        <p:txBody>
          <a:bodyPr wrap="none" lIns="0" tIns="0" rIns="0" bIns="0" anchor="t">
            <a:noAutofit/>
          </a:bodyPr>
          <a:lstStyle/>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PNG／JPEG画像を1枚</a:t>
            </a:r>
          </a:p>
        </p:txBody>
      </p:sp>
      <p:sp>
        <p:nvSpPr>
          <p:cNvPr id="13" name="tag:変更内容"/>
          <p:cNvSpPr txBox="1"/>
          <p:nvPr/>
        </p:nvSpPr>
        <p:spPr>
          <a:xfrm>
            <a:off x="841248" y="352044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変更内容</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練習用の画像を追加"/>
          <p:cNvSpPr txBox="1"/>
          <p:nvPr/>
        </p:nvSpPr>
        <p:spPr>
          <a:xfrm>
            <a:off x="978408" y="395020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練習用の画像を追加</a:t>
            </a:r>
          </a:p>
        </p:txBody>
      </p:sp>
      <p:sp>
        <p:nvSpPr>
          <p:cNvPr id="16" name="caption:操作する場所を示した模式図"/>
          <p:cNvSpPr txBox="1"/>
          <p:nvPr/>
        </p:nvSpPr>
        <p:spPr>
          <a:xfrm>
            <a:off x="731520" y="5294376"/>
            <a:ext cx="629107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操作する場所を示した模式図</a:t>
            </a:r>
          </a:p>
        </p:txBody>
      </p:sp>
      <p:sp>
        <p:nvSpPr>
          <p:cNvPr id="17" name="Oval 16"/>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choose your filesを&#10;押し、画像を選ぶ。"/>
          <p:cNvSpPr txBox="1"/>
          <p:nvPr/>
        </p:nvSpPr>
        <p:spPr>
          <a:xfrm>
            <a:off x="7982712" y="1719072"/>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choose your filesで</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画像を1枚選ぶ。</a:t>
            </a:r>
          </a:p>
        </p:txBody>
      </p:sp>
      <p:sp>
        <p:nvSpPr>
          <p:cNvPr id="20" name="Oval 19"/>
          <p:cNvSpPr/>
          <p:nvPr/>
        </p:nvSpPr>
        <p:spPr>
          <a:xfrm>
            <a:off x="7406640" y="281584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83870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変更内容に「練習用の&#10;画像を追加」と書く。"/>
          <p:cNvSpPr txBox="1"/>
          <p:nvPr/>
        </p:nvSpPr>
        <p:spPr>
          <a:xfrm>
            <a:off x="7982712" y="2806700"/>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変更内容に「練習用の</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画像を追加」と書く。</a:t>
            </a:r>
          </a:p>
        </p:txBody>
      </p:sp>
      <p:sp>
        <p:nvSpPr>
          <p:cNvPr id="23" name="Oval 22"/>
          <p:cNvSpPr/>
          <p:nvPr/>
        </p:nvSpPr>
        <p:spPr>
          <a:xfrm>
            <a:off x="7406640" y="3903472"/>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926332"/>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Commit changesで保&#10;存する。"/>
          <p:cNvSpPr txBox="1"/>
          <p:nvPr/>
        </p:nvSpPr>
        <p:spPr>
          <a:xfrm>
            <a:off x="7982712" y="3894328"/>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画面下のCommit</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changesを押して保存。</a:t>
            </a:r>
          </a:p>
        </p:txBody>
      </p:sp>
      <p:sp>
        <p:nvSpPr>
          <p:cNvPr id="26" name="Rectangle 2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8" name="result:setupのファイル一覧に、選んだ画像のファイル名が表示され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setupへ戻り、画像の名前が見えたら保存完了。次は画像を開きます。</a:t>
            </a:r>
          </a:p>
        </p:txBody>
      </p:sp>
      <p:sp>
        <p:nvSpPr>
          <p:cNvPr id="29"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30"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31" name="footer:19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19 / 37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保存した画像を、GitHubで開いてみ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保存した画像を、GitHubで開いてみる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ircle-check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setup の画像ファイル名を押す。"/>
          <p:cNvSpPr txBox="1"/>
          <p:nvPr/>
        </p:nvSpPr>
        <p:spPr>
          <a:xfrm>
            <a:off x="1325880" y="1682496"/>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setup の画像ファイル名を押す。</a:t>
            </a:r>
          </a:p>
        </p:txBody>
      </p:sp>
      <p:sp>
        <p:nvSpPr>
          <p:cNvPr id="10" name="body:自分が追加した画像を開きます。"/>
          <p:cNvSpPr txBox="1"/>
          <p:nvPr/>
        </p:nvSpPr>
        <p:spPr>
          <a:xfrm>
            <a:off x="1325880" y="2205990"/>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自分が追加した画像を開きます。</a:t>
            </a:r>
          </a:p>
        </p:txBody>
      </p:sp>
      <p:sp>
        <p:nvSpPr>
          <p:cNvPr id="11" name="Oval 10"/>
          <p:cNvSpPr/>
          <p:nvPr/>
        </p:nvSpPr>
        <p:spPr>
          <a:xfrm>
            <a:off x="749808" y="2925571"/>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48431"/>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パソコンに保存した画像と比べる。"/>
          <p:cNvSpPr txBox="1"/>
          <p:nvPr/>
        </p:nvSpPr>
        <p:spPr>
          <a:xfrm>
            <a:off x="1325880" y="2916428"/>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パソコンに保存した画像と比べる。</a:t>
            </a:r>
          </a:p>
        </p:txBody>
      </p:sp>
      <p:sp>
        <p:nvSpPr>
          <p:cNvPr id="14" name="body:同じ画像が表示されるか見ます。"/>
          <p:cNvSpPr txBox="1"/>
          <p:nvPr/>
        </p:nvSpPr>
        <p:spPr>
          <a:xfrm>
            <a:off x="1325880" y="3439921"/>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同じ画像が表示されるか見ます。</a:t>
            </a:r>
          </a:p>
        </p:txBody>
      </p:sp>
      <p:sp>
        <p:nvSpPr>
          <p:cNvPr id="15" name="Oval 14"/>
          <p:cNvSpPr/>
          <p:nvPr/>
        </p:nvSpPr>
        <p:spPr>
          <a:xfrm>
            <a:off x="749808" y="4159503"/>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18236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表示されなければ、元のファイルを見直す。"/>
          <p:cNvSpPr txBox="1"/>
          <p:nvPr/>
        </p:nvSpPr>
        <p:spPr>
          <a:xfrm>
            <a:off x="1325880" y="4150360"/>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表示されなければ、元のファイルを見直す。</a:t>
            </a:r>
          </a:p>
        </p:txBody>
      </p:sp>
      <p:sp>
        <p:nvSpPr>
          <p:cNvPr id="18" name="body:画像を開けるか確認してから、もう一度アップロードします。"/>
          <p:cNvSpPr txBox="1"/>
          <p:nvPr/>
        </p:nvSpPr>
        <p:spPr>
          <a:xfrm>
            <a:off x="1325880" y="4673854"/>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画像を開けるか確認してから、もう一度アップロードします。</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2"/>
          <a:stretch>
            <a:fillRect/>
          </a:stretch>
        </p:blipFill>
        <p:spPr>
          <a:xfrm>
            <a:off x="749808" y="5751576"/>
            <a:ext cx="283464" cy="283464"/>
          </a:xfrm>
          <a:prstGeom prst="rect">
            <a:avLst/>
          </a:prstGeom>
        </p:spPr>
      </p:pic>
      <p:sp>
        <p:nvSpPr>
          <p:cNvPr id="21" name="result:画像が表示されたら、次は同じsetupフォルダに利用記録を残し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画像が表示されたら、次は同じsetupフォルダに利用記録を残します。</a:t>
            </a:r>
          </a:p>
        </p:txBody>
      </p:sp>
      <p:sp>
        <p:nvSpPr>
          <p:cNvPr id="22" name="tag:手順一覧へ">
            <a:hlinkClick action="ppaction://hlinksldjump" r:id="rId4"/>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4" name="footer:20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20 / 37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setupのREADME.mdを開く"/>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setupのREADME.mdを開く</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le-text_007F80.png"/>
          <p:cNvPicPr>
            <a:picLocks noChangeAspect="1"/>
          </p:cNvPicPr>
          <p:nvPr/>
        </p:nvPicPr>
        <p:blipFill>
          <a:blip r:embed="rId2"/>
          <a:stretch>
            <a:fillRect/>
          </a:stretch>
        </p:blipFill>
        <p:spPr>
          <a:xfrm>
            <a:off x="11064240" y="740664"/>
            <a:ext cx="420624" cy="420624"/>
          </a:xfrm>
          <a:prstGeom prst="rect">
            <a:avLst/>
          </a:prstGeom>
        </p:spPr>
      </p:pic>
      <p:sp>
        <p:nvSpPr>
          <p:cNvPr id="7" name="caption:READMEは、利用記録を書く文章ファイルです。画面例は教員のひな形です"/>
          <p:cNvSpPr txBox="1"/>
          <p:nvPr/>
        </p:nvSpPr>
        <p:spPr>
          <a:xfrm>
            <a:off x="758952" y="1481328"/>
            <a:ext cx="1078992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READMEは、利用記録を書く文章ファイルです。画面例は教員のひな形です。</a:t>
            </a:r>
          </a:p>
        </p:txBody>
      </p:sp>
      <p:sp>
        <p:nvSpPr>
          <p:cNvPr id="8" name="Rectangle 7"/>
          <p:cNvSpPr/>
          <p:nvPr/>
        </p:nvSpPr>
        <p:spPr>
          <a:xfrm>
            <a:off x="594360" y="1847088"/>
            <a:ext cx="11000232" cy="299008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rop_18_245_75_1055_395.png"/>
          <p:cNvPicPr>
            <a:picLocks noChangeAspect="1"/>
          </p:cNvPicPr>
          <p:nvPr/>
        </p:nvPicPr>
        <p:blipFill>
          <a:blip r:embed="rId4"/>
          <a:stretch>
            <a:fillRect/>
          </a:stretch>
        </p:blipFill>
        <p:spPr>
          <a:xfrm>
            <a:off x="2553176" y="1947672"/>
            <a:ext cx="7082599" cy="2798064"/>
          </a:xfrm>
          <a:prstGeom prst="rect">
            <a:avLst/>
          </a:prstGeom>
        </p:spPr>
      </p:pic>
      <p:sp>
        <p:nvSpPr>
          <p:cNvPr id="10" name="Oval 9"/>
          <p:cNvSpPr/>
          <p:nvPr/>
        </p:nvSpPr>
        <p:spPr>
          <a:xfrm>
            <a:off x="75895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5895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自分のsetupに戻る。"/>
          <p:cNvSpPr txBox="1"/>
          <p:nvPr/>
        </p:nvSpPr>
        <p:spPr>
          <a:xfrm>
            <a:off x="1307592" y="5038344"/>
            <a:ext cx="4709160" cy="457200"/>
          </a:xfrm>
          <a:prstGeom prst="rect">
            <a:avLst/>
          </a:prstGeom>
          <a:noFill/>
        </p:spPr>
        <p:txBody>
          <a:bodyPr wrap="none" lIns="0" rIns="0" tIns="0" bIns="0" anchor="t">
            <a:spAutoFit/>
          </a:bodyPr>
          <a:lstStyle/>
          <a:p>
            <a:pP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自分のsetupに戻る。</a:t>
            </a:r>
          </a:p>
        </p:txBody>
      </p:sp>
      <p:sp>
        <p:nvSpPr>
          <p:cNvPr id="13" name="Oval 12"/>
          <p:cNvSpPr/>
          <p:nvPr/>
        </p:nvSpPr>
        <p:spPr>
          <a:xfrm>
            <a:off x="638251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umber:2"/>
          <p:cNvSpPr txBox="1"/>
          <p:nvPr/>
        </p:nvSpPr>
        <p:spPr>
          <a:xfrm>
            <a:off x="638251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5" name="body:README.mdを開く。"/>
          <p:cNvSpPr txBox="1"/>
          <p:nvPr/>
        </p:nvSpPr>
        <p:spPr>
          <a:xfrm>
            <a:off x="6931152" y="5038344"/>
            <a:ext cx="4709160" cy="457200"/>
          </a:xfrm>
          <a:prstGeom prst="rect">
            <a:avLst/>
          </a:prstGeom>
          <a:noFill/>
        </p:spPr>
        <p:txBody>
          <a:bodyPr wrap="none" lIns="0" rIns="0" tIns="0" bIns="0" anchor="t">
            <a:spAutoFit/>
          </a:bodyPr>
          <a:lstStyle/>
          <a:p>
            <a:pP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README.mdを開く。</a:t>
            </a:r>
          </a:p>
        </p:txBody>
      </p:sp>
      <p:sp>
        <p:nvSpPr>
          <p:cNvPr id="16" name="Rectangle 1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8" name="result:リポジトリの一番上ではなく、setupの中にあるREADME.mdを使い"/>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リポジトリの一番上ではなく、setupの中にあるREADME.mdを使います。</a:t>
            </a:r>
          </a:p>
        </p:txBody>
      </p:sp>
      <p:sp>
        <p:nvSpPr>
          <p:cNvPr id="19"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0"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1" name="footer:21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21 / 37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鉛筆ボタンを押して、記録を編集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鉛筆ボタンを押して、記録を編集する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yboar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19_960_0_1406_180.png"/>
          <p:cNvPicPr>
            <a:picLocks noChangeAspect="1"/>
          </p:cNvPicPr>
          <p:nvPr/>
        </p:nvPicPr>
        <p:blipFill>
          <a:blip r:embed="rId4"/>
          <a:stretch>
            <a:fillRect/>
          </a:stretch>
        </p:blipFill>
        <p:spPr>
          <a:xfrm>
            <a:off x="731520" y="2136641"/>
            <a:ext cx="6291072" cy="2538997"/>
          </a:xfrm>
          <a:prstGeom prst="rect">
            <a:avLst/>
          </a:prstGeom>
        </p:spPr>
      </p:pic>
      <p:sp>
        <p:nvSpPr>
          <p:cNvPr id="9" name="caption:GitHub公式文書の画面例を切り抜き。"/>
          <p:cNvSpPr txBox="1"/>
          <p:nvPr/>
        </p:nvSpPr>
        <p:spPr>
          <a:xfrm>
            <a:off x="740664" y="5221224"/>
            <a:ext cx="649224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GitHub公式文書の画面例を切り抜き。</a:t>
            </a:r>
          </a:p>
        </p:txBody>
      </p:sp>
      <p:sp>
        <p:nvSpPr>
          <p:cNvPr id="10" name="Oval 9"/>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鉛筆のボタンを押す。"/>
          <p:cNvSpPr txBox="1"/>
          <p:nvPr/>
        </p:nvSpPr>
        <p:spPr>
          <a:xfrm>
            <a:off x="7982712" y="1719072"/>
            <a:ext cx="3557015" cy="4295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鉛筆のボタンを押す。</a:t>
            </a:r>
          </a:p>
        </p:txBody>
      </p:sp>
      <p:sp>
        <p:nvSpPr>
          <p:cNvPr id="13" name="body:README.mdの編集画面&#10;を開きます。"/>
          <p:cNvSpPr txBox="1"/>
          <p:nvPr/>
        </p:nvSpPr>
        <p:spPr>
          <a:xfrm>
            <a:off x="7982712" y="2212594"/>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README.mdの編集画面</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を開きます。</a:t>
            </a:r>
          </a:p>
        </p:txBody>
      </p:sp>
      <p:sp>
        <p:nvSpPr>
          <p:cNvPr id="14" name="Oval 13"/>
          <p:cNvSpPr/>
          <p:nvPr/>
        </p:nvSpPr>
        <p:spPr>
          <a:xfrm>
            <a:off x="7406640" y="331343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333628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案内文を自分の記録に&#10;替える。"/>
          <p:cNvSpPr txBox="1"/>
          <p:nvPr/>
        </p:nvSpPr>
        <p:spPr>
          <a:xfrm>
            <a:off x="7982712" y="3304286"/>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案内文だけを</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自分の記録に替える。</a:t>
            </a:r>
          </a:p>
        </p:txBody>
      </p:sp>
      <p:sp>
        <p:nvSpPr>
          <p:cNvPr id="17" name="body:次のページの3つの欄に&#10;書きます。"/>
          <p:cNvSpPr txBox="1"/>
          <p:nvPr/>
        </p:nvSpPr>
        <p:spPr>
          <a:xfrm>
            <a:off x="7982712" y="4172458"/>
            <a:ext cx="3557015" cy="744220"/>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見出しは残します。</a:t>
            </a:r>
          </a:p>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次のページの3欄に記入。</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20" name="result:AIとの会話全文や、名前・学籍番号は、この記録に貼り付けません。"/>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AIとの会話全文や、名前・学籍番号は、この記録に貼り付けません。</a:t>
            </a:r>
          </a:p>
        </p:txBody>
      </p:sp>
      <p:sp>
        <p:nvSpPr>
          <p:cNvPr id="21"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2"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3" name="footer:22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22 / 37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3つの見出しの下に、実際に行ったことを書く"/>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3つの見出しの下に、実際に行ったことを書く</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le-text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73352"/>
            <a:ext cx="10991088" cy="10972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保存した画像の&#10;ファイル名"/>
          <p:cNvSpPr txBox="1"/>
          <p:nvPr/>
        </p:nvSpPr>
        <p:spPr>
          <a:xfrm>
            <a:off x="859536" y="1792224"/>
            <a:ext cx="3858768" cy="859536"/>
          </a:xfrm>
          <a:prstGeom prst="rect">
            <a:avLst/>
          </a:prstGeom>
          <a:noFill/>
        </p:spPr>
        <p:txBody>
          <a:bodyPr wrap="none" lIns="0" rIns="0" tIns="0" bIns="0" anchor="t">
            <a:spAutoFit/>
          </a:bodyPr>
          <a:lstStyle/>
          <a:p>
            <a:pP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保存した画像の</a:t>
            </a:r>
          </a:p>
          <a:p>
            <a:pP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ファイル名</a:t>
            </a:r>
          </a:p>
        </p:txBody>
      </p:sp>
      <p:sp>
        <p:nvSpPr>
          <p:cNvPr id="9" name="body:practice.png"/>
          <p:cNvSpPr txBox="1"/>
          <p:nvPr/>
        </p:nvSpPr>
        <p:spPr>
          <a:xfrm>
            <a:off x="4983480" y="1828800"/>
            <a:ext cx="6254496" cy="813816"/>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practice.png</a:t>
            </a:r>
          </a:p>
        </p:txBody>
      </p:sp>
      <p:sp>
        <p:nvSpPr>
          <p:cNvPr id="10" name="Rectangle 9"/>
          <p:cNvSpPr/>
          <p:nvPr/>
        </p:nvSpPr>
        <p:spPr>
          <a:xfrm>
            <a:off x="594360" y="2944368"/>
            <a:ext cx="10991088" cy="109728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ody:使ったAIまたは配布画像"/>
          <p:cNvSpPr txBox="1"/>
          <p:nvPr/>
        </p:nvSpPr>
        <p:spPr>
          <a:xfrm>
            <a:off x="859536" y="3063239"/>
            <a:ext cx="3858768" cy="859536"/>
          </a:xfrm>
          <a:prstGeom prst="rect">
            <a:avLst/>
          </a:prstGeom>
          <a:noFill/>
        </p:spPr>
        <p:txBody>
          <a:bodyPr wrap="none" lIns="0" rIns="0" tIns="0" bIns="0" anchor="t">
            <a:spAutoFit/>
          </a:bodyPr>
          <a:lstStyle/>
          <a:p>
            <a:pP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使ったAIまたは配布画像</a:t>
            </a:r>
          </a:p>
        </p:txBody>
      </p:sp>
      <p:sp>
        <p:nvSpPr>
          <p:cNvPr id="12" name="body:授業の配布画像を使用"/>
          <p:cNvSpPr txBox="1"/>
          <p:nvPr/>
        </p:nvSpPr>
        <p:spPr>
          <a:xfrm>
            <a:off x="4983480" y="3099815"/>
            <a:ext cx="6254496" cy="813816"/>
          </a:xfrm>
          <a:prstGeom prst="rect">
            <a:avLst/>
          </a:prstGeom>
          <a:noFill/>
        </p:spPr>
        <p:txBody>
          <a:bodyPr wrap="none" lIns="0" tIns="0" rIns="0" bIns="0" anchor="t">
            <a:noAutofit/>
          </a:bodyPr>
          <a:lstStyle/>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教員の配布画像を使用</a:t>
            </a:r>
          </a:p>
        </p:txBody>
      </p:sp>
      <p:sp>
        <p:nvSpPr>
          <p:cNvPr id="13" name="Rectangle 12"/>
          <p:cNvSpPr/>
          <p:nvPr/>
        </p:nvSpPr>
        <p:spPr>
          <a:xfrm>
            <a:off x="594360" y="4215383"/>
            <a:ext cx="10991088" cy="10972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ody:自分で確認したこと"/>
          <p:cNvSpPr txBox="1"/>
          <p:nvPr/>
        </p:nvSpPr>
        <p:spPr>
          <a:xfrm>
            <a:off x="859536" y="4334255"/>
            <a:ext cx="3858768" cy="859536"/>
          </a:xfrm>
          <a:prstGeom prst="rect">
            <a:avLst/>
          </a:prstGeom>
          <a:noFill/>
        </p:spPr>
        <p:txBody>
          <a:bodyPr wrap="none" lIns="0" rIns="0" tIns="0" bIns="0" anchor="t">
            <a:spAutoFit/>
          </a:bodyPr>
          <a:lstStyle/>
          <a:p>
            <a:pP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自分で確認したこと</a:t>
            </a:r>
          </a:p>
        </p:txBody>
      </p:sp>
      <p:sp>
        <p:nvSpPr>
          <p:cNvPr id="15" name="body:GitHubで画像を開き、パソコンの画像と同じだと確認した。"/>
          <p:cNvSpPr txBox="1"/>
          <p:nvPr/>
        </p:nvSpPr>
        <p:spPr>
          <a:xfrm>
            <a:off x="4983480" y="4370831"/>
            <a:ext cx="6254496" cy="813816"/>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GitHubで画像を開き、パソコンの画像と</a:t>
            </a:r>
          </a:p>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同じだと確認した。</a:t>
            </a:r>
          </a:p>
        </p:txBody>
      </p:sp>
      <p:sp>
        <p:nvSpPr>
          <p:cNvPr id="16" name="Rectangle 1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18" name="result:自分のファイル名・使ったAI・確認内容に替えてください。"/>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3つの見出しは残します。例を自分のファイル名・利用・確認に替えます。</a:t>
            </a:r>
          </a:p>
        </p:txBody>
      </p:sp>
      <p:sp>
        <p:nvSpPr>
          <p:cNvPr id="19"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0"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1" name="footer:23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23 / 37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Previewで、保存前の表示を確かめ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Previewで、保存前の表示を確かめる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arch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21_0_45_645_290.png"/>
          <p:cNvPicPr>
            <a:picLocks noChangeAspect="1"/>
          </p:cNvPicPr>
          <p:nvPr/>
        </p:nvPicPr>
        <p:blipFill>
          <a:blip r:embed="rId4"/>
          <a:stretch>
            <a:fillRect/>
          </a:stretch>
        </p:blipFill>
        <p:spPr>
          <a:xfrm>
            <a:off x="731520" y="2211323"/>
            <a:ext cx="6291072" cy="2389632"/>
          </a:xfrm>
          <a:prstGeom prst="rect">
            <a:avLst/>
          </a:prstGeom>
        </p:spPr>
      </p:pic>
      <p:sp>
        <p:nvSpPr>
          <p:cNvPr id="9" name="caption:GitHub公式文書の画面例を切り抜き。"/>
          <p:cNvSpPr txBox="1"/>
          <p:nvPr/>
        </p:nvSpPr>
        <p:spPr>
          <a:xfrm>
            <a:off x="740664" y="5221224"/>
            <a:ext cx="649224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GitHub公式文書の画面例を切り抜き。</a:t>
            </a:r>
          </a:p>
        </p:txBody>
      </p:sp>
      <p:sp>
        <p:nvSpPr>
          <p:cNvPr id="10" name="Oval 9"/>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Preview を押す。"/>
          <p:cNvSpPr txBox="1"/>
          <p:nvPr/>
        </p:nvSpPr>
        <p:spPr>
          <a:xfrm>
            <a:off x="7982712" y="1719072"/>
            <a:ext cx="3557015" cy="4295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Preview を押す。</a:t>
            </a:r>
          </a:p>
        </p:txBody>
      </p:sp>
      <p:sp>
        <p:nvSpPr>
          <p:cNvPr id="13" name="body:書いた文章の表示を確認&#10;します。"/>
          <p:cNvSpPr txBox="1"/>
          <p:nvPr/>
        </p:nvSpPr>
        <p:spPr>
          <a:xfrm>
            <a:off x="7982712" y="2212594"/>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書いた文章の表示を確認</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します。</a:t>
            </a:r>
          </a:p>
        </p:txBody>
      </p:sp>
      <p:sp>
        <p:nvSpPr>
          <p:cNvPr id="14" name="Oval 13"/>
          <p:cNvSpPr/>
          <p:nvPr/>
        </p:nvSpPr>
        <p:spPr>
          <a:xfrm>
            <a:off x="7406640" y="331343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333628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3つの欄を読み返す。"/>
          <p:cNvSpPr txBox="1"/>
          <p:nvPr/>
        </p:nvSpPr>
        <p:spPr>
          <a:xfrm>
            <a:off x="7982712" y="3304286"/>
            <a:ext cx="3557015" cy="4295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3つの欄を読み返す。</a:t>
            </a:r>
          </a:p>
        </p:txBody>
      </p:sp>
      <p:sp>
        <p:nvSpPr>
          <p:cNvPr id="17" name="body:ファイル名の誤りや、案&#10;内文が残っていないか見&#10;ます。"/>
          <p:cNvSpPr txBox="1"/>
          <p:nvPr/>
        </p:nvSpPr>
        <p:spPr>
          <a:xfrm>
            <a:off x="7982712" y="3797808"/>
            <a:ext cx="3557015" cy="1088898"/>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ファイル名の誤りや、案</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内文が残っていないか見</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ます。</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20" name="result:Previewを見るだけでは保存されません。次のページで変更を確定し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Previewを見るだけでは保存されません。次のページで変更を確定します。</a:t>
            </a:r>
          </a:p>
        </p:txBody>
      </p:sp>
      <p:sp>
        <p:nvSpPr>
          <p:cNvPr id="21"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2"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3" name="footer:24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24 / 37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Commit changesで、利用記録を保存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Commit changesで、利用記録を保存する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commit-horizontal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3872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Commit changes"/>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Commit changes</a:t>
            </a:r>
          </a:p>
        </p:txBody>
      </p:sp>
      <p:sp>
        <p:nvSpPr>
          <p:cNvPr id="10" name="tag:変更内容"/>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変更内容</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初回の利用記録を追加"/>
          <p:cNvSpPr txBox="1"/>
          <p:nvPr/>
        </p:nvSpPr>
        <p:spPr>
          <a:xfrm>
            <a:off x="978408" y="285292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初回の利用記録を追加</a:t>
            </a:r>
          </a:p>
        </p:txBody>
      </p:sp>
      <p:sp>
        <p:nvSpPr>
          <p:cNvPr id="13" name="tag:保存先"/>
          <p:cNvSpPr txBox="1"/>
          <p:nvPr/>
        </p:nvSpPr>
        <p:spPr>
          <a:xfrm>
            <a:off x="841248" y="352044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保存先</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最初の選択を変更しない"/>
          <p:cNvSpPr txBox="1"/>
          <p:nvPr/>
        </p:nvSpPr>
        <p:spPr>
          <a:xfrm>
            <a:off x="978408" y="3950208"/>
            <a:ext cx="5797296" cy="438912"/>
          </a:xfrm>
          <a:prstGeom prst="rect">
            <a:avLst/>
          </a:prstGeom>
          <a:noFill/>
        </p:spPr>
        <p:txBody>
          <a:bodyPr wrap="none" lIns="0" tIns="0" rIns="0" bIns="0" anchor="t">
            <a:noAutofit/>
          </a:bodyPr>
          <a:lstStyle/>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Commit directly to the main branch</a:t>
            </a:r>
          </a:p>
        </p:txBody>
      </p:sp>
      <p:sp>
        <p:nvSpPr>
          <p:cNvPr id="16" name="caption:操作する場所を示した模式図"/>
          <p:cNvSpPr txBox="1"/>
          <p:nvPr/>
        </p:nvSpPr>
        <p:spPr>
          <a:xfrm>
            <a:off x="731520" y="5294376"/>
            <a:ext cx="629107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操作する場所を示した模式図</a:t>
            </a:r>
          </a:p>
        </p:txBody>
      </p:sp>
      <p:sp>
        <p:nvSpPr>
          <p:cNvPr id="17" name="Oval 16"/>
          <p:cNvSpPr/>
          <p:nvPr/>
        </p:nvSpPr>
        <p:spPr>
          <a:xfrm>
            <a:off x="7406640" y="1719072"/>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41932"/>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Commit changesで&#10;保存に進む。"/>
          <p:cNvSpPr txBox="1"/>
          <p:nvPr/>
        </p:nvSpPr>
        <p:spPr>
          <a:xfrm>
            <a:off x="7982712" y="1709928"/>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Commit changesで</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保存に進む。</a:t>
            </a:r>
          </a:p>
        </p:txBody>
      </p:sp>
      <p:sp>
        <p:nvSpPr>
          <p:cNvPr id="20" name="Oval 19"/>
          <p:cNvSpPr/>
          <p:nvPr/>
        </p:nvSpPr>
        <p:spPr>
          <a:xfrm>
            <a:off x="7406640" y="2788411"/>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811271"/>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変更内容を書く。&#10;例は左側を見ます。"/>
          <p:cNvSpPr txBox="1"/>
          <p:nvPr/>
        </p:nvSpPr>
        <p:spPr>
          <a:xfrm>
            <a:off x="7982712" y="2779268"/>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変更内容を書く。</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mainへ直接保存を選ぶ。</a:t>
            </a:r>
          </a:p>
        </p:txBody>
      </p:sp>
      <p:sp>
        <p:nvSpPr>
          <p:cNvPr id="23" name="Oval 22"/>
          <p:cNvSpPr/>
          <p:nvPr/>
        </p:nvSpPr>
        <p:spPr>
          <a:xfrm>
            <a:off x="7406640" y="3857751"/>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880612"/>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保存を確定し、文章が&#10;反映されたか見る。"/>
          <p:cNvSpPr txBox="1"/>
          <p:nvPr/>
        </p:nvSpPr>
        <p:spPr>
          <a:xfrm>
            <a:off x="7982712" y="3848608"/>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もう一度Commit</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changesを押して</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保存を確定する。</a:t>
            </a:r>
          </a:p>
        </p:txBody>
      </p:sp>
      <p:sp>
        <p:nvSpPr>
          <p:cNvPr id="26" name="Rectangle 2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8" name="result:commitは変更の記録です。今日はブラウザだけで保存し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READMEの表示へ戻り、自分の記録が3欄に見えたら保存完了です。</a:t>
            </a:r>
          </a:p>
        </p:txBody>
      </p:sp>
      <p:sp>
        <p:nvSpPr>
          <p:cNvPr id="29"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30"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31" name="footer:25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25 / 37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4 / 5　教員を招待"/>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4 / 5　教員を招待</a:t>
            </a:r>
          </a:p>
        </p:txBody>
      </p:sp>
      <p:sp>
        <p:nvSpPr>
          <p:cNvPr id="4" name="title:自分のリポジトリのSettingsを開く"/>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自分のリポジトリのSettingsを開く</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keyhole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23_900_0_1440_142.png"/>
          <p:cNvPicPr>
            <a:picLocks noChangeAspect="1"/>
          </p:cNvPicPr>
          <p:nvPr/>
        </p:nvPicPr>
        <p:blipFill>
          <a:blip r:embed="rId4"/>
          <a:stretch>
            <a:fillRect/>
          </a:stretch>
        </p:blipFill>
        <p:spPr>
          <a:xfrm>
            <a:off x="731520" y="2578980"/>
            <a:ext cx="6291072" cy="1654318"/>
          </a:xfrm>
          <a:prstGeom prst="rect">
            <a:avLst/>
          </a:prstGeom>
        </p:spPr>
      </p:pic>
      <p:sp>
        <p:nvSpPr>
          <p:cNvPr id="9" name="caption:GitHub公式文書の画面例を切り抜き。"/>
          <p:cNvSpPr txBox="1"/>
          <p:nvPr/>
        </p:nvSpPr>
        <p:spPr>
          <a:xfrm>
            <a:off x="740664" y="5221224"/>
            <a:ext cx="649224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GitHub公式文書の画面例を切り抜き。</a:t>
            </a:r>
          </a:p>
        </p:txBody>
      </p:sp>
      <p:sp>
        <p:nvSpPr>
          <p:cNvPr id="10" name="Oval 9"/>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自分の ai-learning を&#10;開く。"/>
          <p:cNvSpPr txBox="1"/>
          <p:nvPr/>
        </p:nvSpPr>
        <p:spPr>
          <a:xfrm>
            <a:off x="7982712" y="1719072"/>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自分の ai-learning を</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開く。</a:t>
            </a:r>
          </a:p>
        </p:txBody>
      </p:sp>
      <p:sp>
        <p:nvSpPr>
          <p:cNvPr id="13" name="body:OwnerとPrivateを確認&#10;します。"/>
          <p:cNvSpPr txBox="1"/>
          <p:nvPr/>
        </p:nvSpPr>
        <p:spPr>
          <a:xfrm>
            <a:off x="7982712" y="2587243"/>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OwnerとPrivateを確認</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します。</a:t>
            </a:r>
          </a:p>
        </p:txBody>
      </p:sp>
      <p:sp>
        <p:nvSpPr>
          <p:cNvPr id="14" name="Oval 13"/>
          <p:cNvSpPr/>
          <p:nvPr/>
        </p:nvSpPr>
        <p:spPr>
          <a:xfrm>
            <a:off x="7406640" y="368808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371094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Settings を押す。"/>
          <p:cNvSpPr txBox="1"/>
          <p:nvPr/>
        </p:nvSpPr>
        <p:spPr>
          <a:xfrm>
            <a:off x="7982712" y="3678936"/>
            <a:ext cx="3557015" cy="4295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Settings を押す。</a:t>
            </a:r>
          </a:p>
        </p:txBody>
      </p:sp>
      <p:sp>
        <p:nvSpPr>
          <p:cNvPr id="17" name="body:一覧の上にある&#10;Settingsです。"/>
          <p:cNvSpPr txBox="1"/>
          <p:nvPr/>
        </p:nvSpPr>
        <p:spPr>
          <a:xfrm>
            <a:off x="7982712" y="4172458"/>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一覧の上にある</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Settingsです。</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20" name="result:右上のプロフィールではなく、保存先のSettingsを開き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Settingsが見えないときは、右端の「…」も確認します。</a:t>
            </a:r>
          </a:p>
        </p:txBody>
      </p:sp>
      <p:sp>
        <p:nvSpPr>
          <p:cNvPr id="21"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2"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3" name="footer:26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26 / 37</a:t>
            </a:r>
          </a:p>
        </p:txBody>
      </p:sp>
    </p:spTree>
  </p:cSld>
  <p:clrMapOvr>
    <a:masterClrMapping/>
  </p:clrMapOvr>
</p:sld>
</file>

<file path=ppt/slides/slide27.xml><?xml version="1.0" encoding="utf-8"?>
<p:sld xmlns:a="http://schemas.openxmlformats.org/drawingml/2006/main" xmlns:ns3="http://schemas.microsoft.com/office/drawing/2014/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4 / 5　教員を招待"/>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4 / 5　教員を招待</a:t>
            </a:r>
          </a:p>
        </p:txBody>
      </p:sp>
      <p:sp>
        <p:nvSpPr>
          <p:cNvPr id="4" name="title:教員のアカウントを招待する"/>
          <p:cNvSpPr txBox="1"/>
          <p:nvPr/>
        </p:nvSpPr>
        <p:spPr>
          <a:xfrm>
            <a:off x="594360" y="685800"/>
            <a:ext cx="10469880" cy="585216"/>
          </a:xfrm>
          <a:prstGeom prst="rect">
            <a:avLst/>
          </a:prstGeom>
          <a:noFill/>
        </p:spPr>
        <p:txBody>
          <a:bodyPr wrap="none" lIns="0" tIns="0" r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教員のアカウントを招待する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ploa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3872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ai-learning / Settings"/>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ai-learning / Settings</a:t>
            </a:r>
          </a:p>
        </p:txBody>
      </p:sp>
      <p:sp>
        <p:nvSpPr>
          <p:cNvPr id="10" name="tag:アクセス管理"/>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アクセス管理</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Collaborators → Add people"/>
          <p:cNvSpPr txBox="1"/>
          <p:nvPr/>
        </p:nvSpPr>
        <p:spPr>
          <a:xfrm>
            <a:off x="978408" y="285292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Collaborators → Add people</a:t>
            </a:r>
          </a:p>
        </p:txBody>
      </p:sp>
      <p:sp>
        <p:nvSpPr>
          <p:cNvPr id="13" name="tag:招待するusername（担当教員に確認）"/>
          <p:cNvSpPr txBox="1"/>
          <p:nvPr/>
        </p:nvSpPr>
        <p:spPr>
          <a:xfrm>
            <a:off x="841248" y="3520440"/>
            <a:ext cx="6071616" cy="357886"/>
          </a:xfrm>
          <a:prstGeom prst="rect">
            <a:avLst/>
          </a:prstGeom>
          <a:noFill/>
        </p:spPr>
        <p:txBody>
          <a:bodyPr wrap="none" lIns="0" tIns="0" rIns="0" bIns="0" anchor="t">
            <a:spAutoFit/>
          </a:bodyPr>
          <a:lstStyle/>
          <a:p>
            <a:pPr>
              <a:lnSpc>
                <a:spcPct val="114000"/>
              </a:lnSpc>
              <a:spcBef>
                <a:spcPts val="0"/>
              </a:spcBef>
              <a:spcAft>
                <a:spcPts val="0"/>
              </a:spcAft>
              <a:buNone/>
              <a:defRPr sz="1900" b="0">
                <a:solidFill>
                  <a:srgbClr val="53656D"/>
                </a:solidFill>
                <a:latin typeface="Meiryo"/>
                <a:ea typeface="Meiryo"/>
                <a:cs typeface="Meiryo"/>
              </a:defRPr>
            </a:pPr>
            <a:r>
              <a:rPr sz="1900" b="0">
                <a:solidFill>
                  <a:srgbClr val="53656D"/>
                </a:solidFill>
                <a:latin typeface="Meiryo"/>
                <a:ea typeface="Meiryo"/>
                <a:cs typeface="Meiryo"/>
              </a:rPr>
              <a:t>招待するusername（担当教員に確認）</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tsuchiyatakahirolab"/>
          <p:cNvSpPr txBox="1"/>
          <p:nvPr/>
        </p:nvSpPr>
        <p:spPr>
          <a:xfrm>
            <a:off x="978408" y="395020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tsuchiyatakahirolab</a:t>
            </a:r>
          </a:p>
        </p:txBody>
      </p:sp>
      <p:sp>
        <p:nvSpPr>
          <p:cNvPr id="16" name="caption:操作する場所を示した模式図"/>
          <p:cNvSpPr txBox="1"/>
          <p:nvPr/>
        </p:nvSpPr>
        <p:spPr>
          <a:xfrm>
            <a:off x="731520" y="5294376"/>
            <a:ext cx="629107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操作する場所を示した模式図</a:t>
            </a:r>
          </a:p>
        </p:txBody>
      </p:sp>
      <p:sp>
        <p:nvSpPr>
          <p:cNvPr id="17" name="Oval 16"/>
          <p:cNvSpPr/>
          <p:nvPr/>
        </p:nvSpPr>
        <p:spPr>
          <a:xfrm>
            <a:off x="7406640" y="170078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2364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Collaboratorsから&#10;Add peopleを押す。"/>
          <p:cNvSpPr txBox="1"/>
          <p:nvPr/>
        </p:nvSpPr>
        <p:spPr>
          <a:xfrm>
            <a:off x="7982712" y="1691640"/>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Collaboratorsから</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Add peopleを押す。</a:t>
            </a:r>
          </a:p>
        </p:txBody>
      </p:sp>
      <p:sp>
        <p:nvSpPr>
          <p:cNvPr id="20" name="Oval 19"/>
          <p:cNvSpPr/>
          <p:nvPr/>
        </p:nvSpPr>
        <p:spPr>
          <a:xfrm>
            <a:off x="7406640" y="277012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79298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左の教員名を検索し、&#10;候補を最後まで見る。"/>
          <p:cNvSpPr txBox="1"/>
          <p:nvPr/>
        </p:nvSpPr>
        <p:spPr>
          <a:xfrm>
            <a:off x="7982712" y="2760980"/>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同じusernameの候補を</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クリックして選ぶ。</a:t>
            </a:r>
          </a:p>
        </p:txBody>
      </p:sp>
      <p:sp>
        <p:nvSpPr>
          <p:cNvPr id="23" name="Oval 22"/>
          <p:cNvSpPr/>
          <p:nvPr/>
        </p:nvSpPr>
        <p:spPr>
          <a:xfrm>
            <a:off x="7406640" y="383946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86232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招待を送る。招待中の&#10;表示になれば次へ。"/>
          <p:cNvSpPr txBox="1"/>
          <p:nvPr/>
        </p:nvSpPr>
        <p:spPr>
          <a:xfrm>
            <a:off x="7982712" y="3830320"/>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Add … to ai-learning</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を押して招待を確定。</a:t>
            </a:r>
          </a:p>
        </p:txBody>
      </p:sp>
      <p:sp>
        <p:nvSpPr>
          <p:cNvPr id="26" name="Rectangle 2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8" name="result:招待中になれば次へ進めます。ログイン認証コードは渡しません。"/>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招待中、または教員名が登録済みなら次へ。認証コードは渡しません。</a:t>
            </a:r>
          </a:p>
        </p:txBody>
      </p:sp>
      <p:sp>
        <p:nvSpPr>
          <p:cNvPr id="29"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30"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31" name="footer:27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27 / 37</a:t>
            </a:r>
          </a:p>
        </p:txBody>
      </p:sp>
      <p:sp>
        <p:nvSpPr>
          <p:cNvPr id="32" name="teacher-username-reuse-note">
            <a:extLst>
              <a:ext uri="{FF2B5EF4-FFF2-40B4-BE49-F238E27FC236}">
                <ns3:creationId id="{7EF6D775-B802-492E-A8A0-045D7CDE2182}"/>
              </a:ext>
            </a:extLst>
          </p:cNvPr>
          <p:cNvSpPr>
            <a:spLocks noGrp="1"/>
          </p:cNvSpPr>
          <p:nvPr/>
        </p:nvSpPr>
        <p:spPr>
          <a:xfrm>
            <a:off x="841248" y="4552950"/>
            <a:ext cx="6071616" cy="628650"/>
          </a:xfrm>
          <a:prstGeom prst="rect">
            <a:avLst/>
          </a:prstGeom>
          <a:noFill/>
          <a:ln w="0">
            <a:noFill/>
          </a:ln>
        </p:spPr>
        <p:txBody>
          <a:bodyPr>
            <a:noAutofit/>
          </a:bodyPr>
          <a:lstStyle/>
          <a:p>
            <a:pPr>
              <a:defRPr sz="1800">
                <a:solidFill>
                  <a:srgbClr val="506772"/>
                </a:solidFill>
                <a:latin typeface="Meiryo"/>
                <a:ea typeface="Meiryo"/>
                <a:cs typeface="Meiryo"/>
              </a:defRPr>
            </a:pPr>
            <a:r>
              <a:rPr sz="1800">
                <a:solidFill>
                  <a:srgbClr val="506772"/>
                </a:solidFill>
                <a:latin typeface="Meiryo"/>
                <a:ea typeface="Meiryo"/>
                <a:cs typeface="Meiryo"/>
              </a:rPr>
              <a:t>別の授業では、招待先を担当教員の</a:t>
            </a:r>
          </a:p>
          <a:p>
            <a:pPr>
              <a:defRPr sz="1800">
                <a:solidFill>
                  <a:srgbClr val="506772"/>
                </a:solidFill>
                <a:latin typeface="Meiryo"/>
                <a:ea typeface="Meiryo"/>
                <a:cs typeface="Meiryo"/>
              </a:defRPr>
            </a:pPr>
            <a:r>
              <a:rPr sz="1800">
                <a:solidFill>
                  <a:srgbClr val="506772"/>
                </a:solidFill>
                <a:latin typeface="Meiryo"/>
                <a:ea typeface="Meiryo"/>
                <a:cs typeface="Meiryo"/>
              </a:rPr>
              <a:t>usernameに差し替えます。</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5 / 5　初回登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5 / 5　初回登録</a:t>
            </a:r>
          </a:p>
        </p:txBody>
      </p:sp>
      <p:sp>
        <p:nvSpPr>
          <p:cNvPr id="4" name="title:自分のリポジトリのURLをコピー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自分のリポジトリのURLをコピーする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lder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10991088" cy="1152144"/>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https://github.com/example-student/a"/>
          <p:cNvSpPr txBox="1"/>
          <p:nvPr/>
        </p:nvSpPr>
        <p:spPr>
          <a:xfrm>
            <a:off x="841248" y="1993392"/>
            <a:ext cx="10497312" cy="502920"/>
          </a:xfrm>
          <a:prstGeom prst="rect">
            <a:avLst/>
          </a:prstGeom>
          <a:noFill/>
        </p:spPr>
        <p:txBody>
          <a:bodyPr wrap="none" lIns="0" rIns="0" tIns="0" bIns="0" anchor="t">
            <a:spAutoFit/>
          </a:bodyPr>
          <a:lstStyle/>
          <a:p>
            <a:pPr>
              <a:lnSpc>
                <a:spcPct val="114000"/>
              </a:lnSpc>
              <a:spcBef>
                <a:spcPts val="0"/>
              </a:spcBef>
              <a:spcAft>
                <a:spcPts val="0"/>
              </a:spcAft>
              <a:defRPr sz="2800" b="1">
                <a:solidFill>
                  <a:srgbClr val="1D343E"/>
                </a:solidFill>
                <a:latin typeface="Meiryo"/>
              </a:defRPr>
            </a:pPr>
            <a:r>
              <a:rPr sz="2800" b="1">
                <a:solidFill>
                  <a:srgbClr val="1D343E"/>
                </a:solidFill>
                <a:latin typeface="Meiryo"/>
                <a:ea typeface="Meiryo"/>
                <a:cs typeface="Meiryo"/>
              </a:rPr>
              <a:t>https://github.com/example-student/ai-learning</a:t>
            </a:r>
          </a:p>
        </p:txBody>
      </p:sp>
      <p:sp>
        <p:nvSpPr>
          <p:cNvPr id="9" name="body:example-studentの部分が、自分のusernameか確かめま"/>
          <p:cNvSpPr txBox="1"/>
          <p:nvPr/>
        </p:nvSpPr>
        <p:spPr>
          <a:xfrm>
            <a:off x="786384" y="2971800"/>
            <a:ext cx="10607040" cy="45720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example-studentの部分が、自分のusernameか確かめます。</a:t>
            </a:r>
          </a:p>
        </p:txBody>
      </p:sp>
      <p:sp>
        <p:nvSpPr>
          <p:cNvPr id="10" name="Oval 9"/>
          <p:cNvSpPr/>
          <p:nvPr/>
        </p:nvSpPr>
        <p:spPr>
          <a:xfrm>
            <a:off x="749808" y="3557015"/>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9808" y="35798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自分の ai-learning の最上位を開く。"/>
          <p:cNvSpPr txBox="1"/>
          <p:nvPr/>
        </p:nvSpPr>
        <p:spPr>
          <a:xfrm>
            <a:off x="1325880" y="3547872"/>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自分の ai-learning の最上位を開く。</a:t>
            </a:r>
          </a:p>
        </p:txBody>
      </p:sp>
      <p:sp>
        <p:nvSpPr>
          <p:cNvPr id="13" name="body:setupなどのフォルダが並ぶ画面へ戻ります。"/>
          <p:cNvSpPr txBox="1"/>
          <p:nvPr/>
        </p:nvSpPr>
        <p:spPr>
          <a:xfrm>
            <a:off x="1325880" y="4071366"/>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上部のai-learningを押し、Codeのフォルダ一覧へ戻ります。</a:t>
            </a:r>
          </a:p>
        </p:txBody>
      </p:sp>
      <p:sp>
        <p:nvSpPr>
          <p:cNvPr id="14" name="Oval 13"/>
          <p:cNvSpPr/>
          <p:nvPr/>
        </p:nvSpPr>
        <p:spPr>
          <a:xfrm>
            <a:off x="749808" y="4617212"/>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9808" y="4640072"/>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ブラウザ上部のURLをコピーする。"/>
          <p:cNvSpPr txBox="1"/>
          <p:nvPr/>
        </p:nvSpPr>
        <p:spPr>
          <a:xfrm>
            <a:off x="1325880" y="4608068"/>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ブラウザ上部のURLをコピーする。</a:t>
            </a:r>
          </a:p>
        </p:txBody>
      </p:sp>
      <p:sp>
        <p:nvSpPr>
          <p:cNvPr id="17" name="body:初回登録フォームのリポジトリURL欄に貼り付けます。"/>
          <p:cNvSpPr txBox="1"/>
          <p:nvPr/>
        </p:nvSpPr>
        <p:spPr>
          <a:xfrm>
            <a:off x="1325880" y="5131562"/>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WindowsならCtrl+L → Ctrl+C。フォーム欄にCtrl+Vで貼り付けます。</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0" name="result:初回は保存先のURLです。commit URLは毎週の提出に使い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初回は末尾が /ai-learning のURL。/tree/・/blob/・/commit/ は使いません。</a:t>
            </a:r>
          </a:p>
        </p:txBody>
      </p:sp>
      <p:sp>
        <p:nvSpPr>
          <p:cNvPr id="21"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2"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3" name="footer:28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28 / 37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5 / 5　初回登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5 / 5　初回登録</a:t>
            </a:r>
          </a:p>
        </p:txBody>
      </p:sp>
      <p:sp>
        <p:nvSpPr>
          <p:cNvPr id="4" name="title:学籍番号は、大学の指定形式で省略せず入力する"/>
          <p:cNvSpPr txBox="1"/>
          <p:nvPr/>
        </p:nvSpPr>
        <p:spPr>
          <a:xfrm>
            <a:off x="594360" y="685800"/>
            <a:ext cx="10469880" cy="585216"/>
          </a:xfrm>
          <a:prstGeom prst="rect">
            <a:avLst/>
          </a:prstGeom>
          <a:noFill/>
        </p:spPr>
        <p:txBody>
          <a:bodyPr wrap="none" lIns="0" tIns="0" rIns="0" bIns="0" anchor="t">
            <a:spAutoFit/>
          </a:bodyPr>
          <a:lstStyle/>
          <a:p>
            <a:pPr>
              <a:lnSpc>
                <a:spcPct val="114000"/>
              </a:lnSpc>
              <a:spcBef>
                <a:spcPts val="0"/>
              </a:spcBef>
              <a:spcAft>
                <a:spcPts val="0"/>
              </a:spcAft>
              <a:buNone/>
              <a:defRPr sz="3400" b="1">
                <a:solidFill>
                  <a:srgbClr val="1D343E"/>
                </a:solidFill>
                <a:latin typeface="Meiryo"/>
                <a:ea typeface="Meiryo"/>
                <a:cs typeface="Meiryo"/>
              </a:defRPr>
            </a:pPr>
            <a:r>
              <a:rPr sz="3400" b="1">
                <a:solidFill>
                  <a:srgbClr val="1D343E"/>
                </a:solidFill>
                <a:latin typeface="Meiryo"/>
                <a:ea typeface="Meiryo"/>
                <a:cs typeface="Meiryo"/>
              </a:rPr>
              <a:t>学籍番号は、大学の指定形式で省略せず入力する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yboar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91640"/>
            <a:ext cx="5349240" cy="361188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ircle-check_007F80.png"/>
          <p:cNvPicPr>
            <a:picLocks noChangeAspect="1"/>
          </p:cNvPicPr>
          <p:nvPr/>
        </p:nvPicPr>
        <p:blipFill>
          <a:blip r:embed="rId4"/>
          <a:stretch>
            <a:fillRect/>
          </a:stretch>
        </p:blipFill>
        <p:spPr>
          <a:xfrm>
            <a:off x="886968" y="1965960"/>
            <a:ext cx="411480" cy="411480"/>
          </a:xfrm>
          <a:prstGeom prst="rect">
            <a:avLst/>
          </a:prstGeom>
        </p:spPr>
      </p:pic>
      <p:sp>
        <p:nvSpPr>
          <p:cNvPr id="9" name="body:入力形式の例"/>
          <p:cNvSpPr txBox="1"/>
          <p:nvPr/>
        </p:nvSpPr>
        <p:spPr>
          <a:xfrm>
            <a:off x="1417320" y="1975104"/>
            <a:ext cx="4114800" cy="484632"/>
          </a:xfrm>
          <a:prstGeom prst="rect">
            <a:avLst/>
          </a:prstGeom>
          <a:noFill/>
        </p:spPr>
        <p:txBody>
          <a:bodyPr wrap="none" lIns="0" tIns="0" rIns="0" bIns="0" anchor="t">
            <a:spAutoFit/>
          </a:bodyPr>
          <a:lstStyle/>
          <a:p>
            <a:pPr>
              <a:lnSpc>
                <a:spcPct val="114000"/>
              </a:lnSpc>
              <a:spcBef>
                <a:spcPts val="0"/>
              </a:spcBef>
              <a:spcAft>
                <a:spcPts val="0"/>
              </a:spcAft>
              <a:buNone/>
              <a:defRPr sz="2600" b="1">
                <a:solidFill>
                  <a:srgbClr val="1D343E"/>
                </a:solidFill>
                <a:latin typeface="Meiryo"/>
                <a:ea typeface="Meiryo"/>
                <a:cs typeface="Meiryo"/>
              </a:defRPr>
            </a:pPr>
            <a:r>
              <a:rPr sz="2600" b="1">
                <a:solidFill>
                  <a:srgbClr val="1D343E"/>
                </a:solidFill>
                <a:latin typeface="Meiryo"/>
                <a:ea typeface="Meiryo"/>
                <a:cs typeface="Meiryo"/>
              </a:rPr>
              <a:t>入力形式の例</a:t>
            </a:r>
          </a:p>
        </p:txBody>
      </p:sp>
      <p:sp>
        <p:nvSpPr>
          <p:cNvPr id="10" name="body:2026GT0001"/>
          <p:cNvSpPr txBox="1"/>
          <p:nvPr/>
        </p:nvSpPr>
        <p:spPr>
          <a:xfrm>
            <a:off x="868680" y="2770632"/>
            <a:ext cx="4782312" cy="694944"/>
          </a:xfrm>
          <a:prstGeom prst="rect">
            <a:avLst/>
          </a:prstGeom>
          <a:noFill/>
        </p:spPr>
        <p:txBody>
          <a:bodyPr wrap="none" lIns="0" rIns="0" tIns="0" bIns="0" anchor="t">
            <a:spAutoFit/>
          </a:bodyPr>
          <a:lstStyle/>
          <a:p>
            <a:pPr>
              <a:lnSpc>
                <a:spcPct val="114000"/>
              </a:lnSpc>
              <a:spcBef>
                <a:spcPts val="0"/>
              </a:spcBef>
              <a:spcAft>
                <a:spcPts val="0"/>
              </a:spcAft>
              <a:defRPr sz="3900" b="1">
                <a:solidFill>
                  <a:srgbClr val="1D343E"/>
                </a:solidFill>
                <a:latin typeface="Meiryo"/>
              </a:defRPr>
            </a:pPr>
            <a:r>
              <a:rPr sz="3900" b="1">
                <a:solidFill>
                  <a:srgbClr val="1D343E"/>
                </a:solidFill>
                <a:latin typeface="Meiryo"/>
                <a:ea typeface="Meiryo"/>
                <a:cs typeface="Meiryo"/>
              </a:rPr>
              <a:t>2026GT0001</a:t>
            </a:r>
          </a:p>
        </p:txBody>
      </p:sp>
      <p:sp>
        <p:nvSpPr>
          <p:cNvPr id="11" name="body:この例は半角10文字です。&#10;自分の大学で指定された&#10;形式の番号を使います。"/>
          <p:cNvSpPr txBox="1"/>
          <p:nvPr/>
        </p:nvSpPr>
        <p:spPr>
          <a:xfrm>
            <a:off x="896112" y="3822191"/>
            <a:ext cx="4718304" cy="1335024"/>
          </a:xfrm>
          <a:prstGeom prst="rect">
            <a:avLst/>
          </a:prstGeom>
          <a:noFill/>
        </p:spPr>
        <p:txBody>
          <a:bodyPr wrap="none" lIns="0" tIns="0" rIns="0" bIns="0" anchor="t">
            <a:noAutofit/>
          </a:bodyPr>
          <a:lstStyle/>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この例は半角10文字です。</a:t>
            </a:r>
          </a:p>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自分の大学で指定された</a:t>
            </a:r>
          </a:p>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形式の番号を使います。</a:t>
            </a:r>
          </a:p>
        </p:txBody>
      </p:sp>
      <p:sp>
        <p:nvSpPr>
          <p:cNvPr id="12" name="Rectangle 11"/>
          <p:cNvSpPr/>
          <p:nvPr/>
        </p:nvSpPr>
        <p:spPr>
          <a:xfrm>
            <a:off x="6217920" y="1691640"/>
            <a:ext cx="5367528" cy="36118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ody:この形式での入力ミス"/>
          <p:cNvSpPr txBox="1"/>
          <p:nvPr/>
        </p:nvSpPr>
        <p:spPr>
          <a:xfrm>
            <a:off x="6492240" y="1975104"/>
            <a:ext cx="4764024" cy="457200"/>
          </a:xfrm>
          <a:prstGeom prst="rect">
            <a:avLst/>
          </a:prstGeom>
          <a:noFill/>
        </p:spPr>
        <p:txBody>
          <a:bodyPr wrap="none" lIns="0" tIns="0" rIns="0" bIns="0" anchor="t">
            <a:spAutoFit/>
          </a:bodyPr>
          <a:lstStyle/>
          <a:p>
            <a:pPr>
              <a:lnSpc>
                <a:spcPct val="114000"/>
              </a:lnSpc>
              <a:spcBef>
                <a:spcPts val="0"/>
              </a:spcBef>
              <a:spcAft>
                <a:spcPts val="0"/>
              </a:spcAft>
              <a:buNone/>
              <a:defRPr sz="2600" b="1">
                <a:solidFill>
                  <a:srgbClr val="1D343E"/>
                </a:solidFill>
                <a:latin typeface="Meiryo"/>
                <a:ea typeface="Meiryo"/>
                <a:cs typeface="Meiryo"/>
              </a:defRPr>
            </a:pPr>
            <a:r>
              <a:rPr sz="2600" b="1">
                <a:solidFill>
                  <a:srgbClr val="1D343E"/>
                </a:solidFill>
                <a:latin typeface="Meiryo"/>
                <a:ea typeface="Meiryo"/>
                <a:cs typeface="Meiryo"/>
              </a:rPr>
              <a:t>この形式での入力ミス</a:t>
            </a:r>
          </a:p>
        </p:txBody>
      </p:sp>
      <p:sp>
        <p:nvSpPr>
          <p:cNvPr id="14" name="body:26GT0001"/>
          <p:cNvSpPr txBox="1"/>
          <p:nvPr/>
        </p:nvSpPr>
        <p:spPr>
          <a:xfrm>
            <a:off x="6510528" y="2816352"/>
            <a:ext cx="4718304" cy="438912"/>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AB3C32"/>
                </a:solidFill>
                <a:latin typeface="Meiryo"/>
              </a:defRPr>
            </a:pPr>
            <a:r>
              <a:rPr sz="2400" b="0">
                <a:solidFill>
                  <a:srgbClr val="AB3C32"/>
                </a:solidFill>
                <a:latin typeface="Meiryo"/>
                <a:ea typeface="Meiryo"/>
                <a:cs typeface="Meiryo"/>
              </a:rPr>
              <a:t>26GT0001</a:t>
            </a:r>
          </a:p>
        </p:txBody>
      </p:sp>
      <p:sp>
        <p:nvSpPr>
          <p:cNvPr id="15" name="caption:年を省略している"/>
          <p:cNvSpPr txBox="1"/>
          <p:nvPr/>
        </p:nvSpPr>
        <p:spPr>
          <a:xfrm>
            <a:off x="6510528" y="3218688"/>
            <a:ext cx="4718304"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年を省略している</a:t>
            </a:r>
          </a:p>
        </p:txBody>
      </p:sp>
      <p:sp>
        <p:nvSpPr>
          <p:cNvPr id="16" name="body:2026gt0001"/>
          <p:cNvSpPr txBox="1"/>
          <p:nvPr/>
        </p:nvSpPr>
        <p:spPr>
          <a:xfrm>
            <a:off x="6510528" y="3602736"/>
            <a:ext cx="4718304" cy="438912"/>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AB3C32"/>
                </a:solidFill>
                <a:latin typeface="Meiryo"/>
              </a:defRPr>
            </a:pPr>
            <a:r>
              <a:rPr sz="2400" b="0">
                <a:solidFill>
                  <a:srgbClr val="AB3C32"/>
                </a:solidFill>
                <a:latin typeface="Meiryo"/>
                <a:ea typeface="Meiryo"/>
                <a:cs typeface="Meiryo"/>
              </a:rPr>
              <a:t>2026gt0001</a:t>
            </a:r>
          </a:p>
        </p:txBody>
      </p:sp>
      <p:sp>
        <p:nvSpPr>
          <p:cNvPr id="17" name="caption:英字が小文字"/>
          <p:cNvSpPr txBox="1"/>
          <p:nvPr/>
        </p:nvSpPr>
        <p:spPr>
          <a:xfrm>
            <a:off x="6510528" y="4005072"/>
            <a:ext cx="4718304"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英字が小文字</a:t>
            </a:r>
          </a:p>
        </p:txBody>
      </p:sp>
      <p:sp>
        <p:nvSpPr>
          <p:cNvPr id="18" name="body:２０２６ＧＴ０００１"/>
          <p:cNvSpPr txBox="1"/>
          <p:nvPr/>
        </p:nvSpPr>
        <p:spPr>
          <a:xfrm>
            <a:off x="6510528" y="4389120"/>
            <a:ext cx="4718304" cy="438912"/>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AB3C32"/>
                </a:solidFill>
                <a:latin typeface="Meiryo"/>
              </a:defRPr>
            </a:pPr>
            <a:r>
              <a:rPr sz="2400" b="0">
                <a:solidFill>
                  <a:srgbClr val="AB3C32"/>
                </a:solidFill>
                <a:latin typeface="Meiryo"/>
                <a:ea typeface="Meiryo"/>
                <a:cs typeface="Meiryo"/>
              </a:rPr>
              <a:t>２０２６ＧＴ０００１</a:t>
            </a:r>
          </a:p>
        </p:txBody>
      </p:sp>
      <p:sp>
        <p:nvSpPr>
          <p:cNvPr id="19" name="caption:全角になっている"/>
          <p:cNvSpPr txBox="1"/>
          <p:nvPr/>
        </p:nvSpPr>
        <p:spPr>
          <a:xfrm>
            <a:off x="6510528" y="4791456"/>
            <a:ext cx="4718304"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全角になっている</a:t>
            </a:r>
          </a:p>
        </p:txBody>
      </p:sp>
      <p:sp>
        <p:nvSpPr>
          <p:cNvPr id="20" name="Rectangle 19"/>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2" name="result:学籍番号はフォームだけへ。GitHubの公開プロフィールには書きません。"/>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学籍番号はフォームだけへ。GitHubの公開プロフィールには書きません。</a:t>
            </a:r>
          </a:p>
        </p:txBody>
      </p:sp>
      <p:sp>
        <p:nvSpPr>
          <p:cNvPr id="23"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4"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5" name="footer:29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29 / 37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5 / 5　初回登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5 / 5　初回登録</a:t>
            </a:r>
          </a:p>
        </p:txBody>
      </p:sp>
      <p:sp>
        <p:nvSpPr>
          <p:cNvPr id="4" name="title:初回登録フォームで、自分の情報を結び付け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初回登録フォームで、自分の情報を結び付ける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le-text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大学アカウントで「初回登録」を開く。"/>
          <p:cNvSpPr txBox="1"/>
          <p:nvPr/>
        </p:nvSpPr>
        <p:spPr>
          <a:xfrm>
            <a:off x="1325880" y="1682496"/>
            <a:ext cx="9893807" cy="459485"/>
          </a:xfrm>
          <a:prstGeom prst="rect">
            <a:avLst/>
          </a:prstGeom>
          <a:noFill/>
        </p:spPr>
        <p:txBody>
          <a:bodyPr wrap="none" lIns="0" tIns="0" rIns="0" bIns="0" anchor="t">
            <a:no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大学の授業ページから「初回登録」を開く。</a:t>
            </a:r>
          </a:p>
        </p:txBody>
      </p:sp>
      <p:sp>
        <p:nvSpPr>
          <p:cNvPr id="10" name="body:指定されたアカウントか確認。フォームのメール欄も確認します。"/>
          <p:cNvSpPr txBox="1"/>
          <p:nvPr/>
        </p:nvSpPr>
        <p:spPr>
          <a:xfrm>
            <a:off x="1325880" y="2205990"/>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指定されたアカウントか確認。フォームのメール欄も確認します。</a:t>
            </a:r>
          </a:p>
        </p:txBody>
      </p:sp>
      <p:sp>
        <p:nvSpPr>
          <p:cNvPr id="11" name="Oval 10"/>
          <p:cNvSpPr/>
          <p:nvPr/>
        </p:nvSpPr>
        <p:spPr>
          <a:xfrm>
            <a:off x="749808" y="2916427"/>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39287"/>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学籍番号・username・自分のURLを入力する。"/>
          <p:cNvSpPr txBox="1"/>
          <p:nvPr/>
        </p:nvSpPr>
        <p:spPr>
          <a:xfrm>
            <a:off x="1325880" y="2907283"/>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学籍番号・username・自分のURLを入力する。</a:t>
            </a:r>
          </a:p>
        </p:txBody>
      </p:sp>
      <p:sp>
        <p:nvSpPr>
          <p:cNvPr id="14" name="body:その他の必須項目も、フォームの案内に沿って入力します。"/>
          <p:cNvSpPr txBox="1"/>
          <p:nvPr/>
        </p:nvSpPr>
        <p:spPr>
          <a:xfrm>
            <a:off x="1325880" y="3430777"/>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その他の必須項目も、フォームの案内に沿って入力します。</a:t>
            </a:r>
          </a:p>
        </p:txBody>
      </p:sp>
      <p:sp>
        <p:nvSpPr>
          <p:cNvPr id="15" name="Oval 14"/>
          <p:cNvSpPr/>
          <p:nvPr/>
        </p:nvSpPr>
        <p:spPr>
          <a:xfrm>
            <a:off x="749808" y="4141215"/>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164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送信し、完了画面を確かめる。"/>
          <p:cNvSpPr txBox="1"/>
          <p:nvPr/>
        </p:nvSpPr>
        <p:spPr>
          <a:xfrm>
            <a:off x="1325880" y="4132071"/>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送信し、完了画面を確かめる。</a:t>
            </a:r>
          </a:p>
        </p:txBody>
      </p:sp>
      <p:sp>
        <p:nvSpPr>
          <p:cNvPr id="18" name="body:この登録で、学生情報とGitHubの提出先を対応づけます。"/>
          <p:cNvSpPr txBox="1"/>
          <p:nvPr/>
        </p:nvSpPr>
        <p:spPr>
          <a:xfrm>
            <a:off x="1325880" y="4655565"/>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完了画面が出たら送信済みです。後で続きを進めるために保存先を控えます。</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1" name="result:初回登録では、AIの会話全文やcommit URLを提出しません。"/>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初回登録では、AIの会話全文やcommit URLを提出しません。</a:t>
            </a:r>
          </a:p>
        </p:txBody>
      </p:sp>
      <p:sp>
        <p:nvSpPr>
          <p:cNvPr id="22"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4" name="footer:30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30 / 37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5 / 5　初回登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5 / 5　初回登録</a:t>
            </a:r>
          </a:p>
        </p:txBody>
      </p:sp>
      <p:sp>
        <p:nvSpPr>
          <p:cNvPr id="4" name="title:学生の作業完了と、教員側の点検を分け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学生の作業完了と、教員側の点検を分ける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ircle-check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5358384" cy="3547872"/>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pload_007F80.png"/>
          <p:cNvPicPr>
            <a:picLocks noChangeAspect="1"/>
          </p:cNvPicPr>
          <p:nvPr/>
        </p:nvPicPr>
        <p:blipFill>
          <a:blip r:embed="rId4"/>
          <a:stretch>
            <a:fillRect/>
          </a:stretch>
        </p:blipFill>
        <p:spPr>
          <a:xfrm>
            <a:off x="841248" y="1947672"/>
            <a:ext cx="438912" cy="438912"/>
          </a:xfrm>
          <a:prstGeom prst="rect">
            <a:avLst/>
          </a:prstGeom>
        </p:spPr>
      </p:pic>
      <p:sp>
        <p:nvSpPr>
          <p:cNvPr id="9" name="body:学生が行うこと"/>
          <p:cNvSpPr txBox="1"/>
          <p:nvPr/>
        </p:nvSpPr>
        <p:spPr>
          <a:xfrm>
            <a:off x="841248" y="2642615"/>
            <a:ext cx="4864608"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学生が行うこと</a:t>
            </a:r>
          </a:p>
        </p:txBody>
      </p:sp>
      <p:sp>
        <p:nvSpPr>
          <p:cNvPr id="10" name="body:画像と利用記録を保存し、&#10;教員へ招待を送り、&#10;初回登録を送信します。"/>
          <p:cNvSpPr txBox="1"/>
          <p:nvPr/>
        </p:nvSpPr>
        <p:spPr>
          <a:xfrm>
            <a:off x="841248" y="3321557"/>
            <a:ext cx="4864608" cy="1152144"/>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画像と利用記録を保存し、</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教員へ招待を送り、</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初回登録を送信します。</a:t>
            </a:r>
          </a:p>
        </p:txBody>
      </p:sp>
      <p:sp>
        <p:nvSpPr>
          <p:cNvPr id="11" name="Rectangle 10"/>
          <p:cNvSpPr/>
          <p:nvPr/>
        </p:nvSpPr>
        <p:spPr>
          <a:xfrm>
            <a:off x="6217920" y="1700784"/>
            <a:ext cx="5367528" cy="3547872"/>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ist-checks_007F80.png"/>
          <p:cNvPicPr>
            <a:picLocks noChangeAspect="1"/>
          </p:cNvPicPr>
          <p:nvPr/>
        </p:nvPicPr>
        <p:blipFill>
          <a:blip r:embed="rId5"/>
          <a:stretch>
            <a:fillRect/>
          </a:stretch>
        </p:blipFill>
        <p:spPr>
          <a:xfrm>
            <a:off x="6464808" y="1947672"/>
            <a:ext cx="438912" cy="438912"/>
          </a:xfrm>
          <a:prstGeom prst="rect">
            <a:avLst/>
          </a:prstGeom>
        </p:spPr>
      </p:pic>
      <p:sp>
        <p:nvSpPr>
          <p:cNvPr id="13" name="body:その後の点検"/>
          <p:cNvSpPr txBox="1"/>
          <p:nvPr/>
        </p:nvSpPr>
        <p:spPr>
          <a:xfrm>
            <a:off x="6464808" y="2642615"/>
            <a:ext cx="4873752"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その後の点検</a:t>
            </a:r>
          </a:p>
        </p:txBody>
      </p:sp>
      <p:sp>
        <p:nvSpPr>
          <p:cNvPr id="14" name="body:教員側で登録と保存先を&#10;まとめて確認します。&#10;結果は授業ページの案内に&#10;"/>
          <p:cNvSpPr txBox="1"/>
          <p:nvPr/>
        </p:nvSpPr>
        <p:spPr>
          <a:xfrm>
            <a:off x="6464808" y="3321557"/>
            <a:ext cx="4873752" cy="1511808"/>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教員側で登録と保存先を</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まとめて確認します。</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結果は授業ページの案内に</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従って受け取ります。</a:t>
            </a:r>
          </a:p>
        </p:txBody>
      </p:sp>
      <p:sp>
        <p:nvSpPr>
          <p:cNvPr id="15" name="Rectangle 14"/>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ircle-check_007F80.png"/>
          <p:cNvPicPr>
            <a:picLocks noChangeAspect="1"/>
          </p:cNvPicPr>
          <p:nvPr/>
        </p:nvPicPr>
        <p:blipFill>
          <a:blip r:embed="rId2"/>
          <a:stretch>
            <a:fillRect/>
          </a:stretch>
        </p:blipFill>
        <p:spPr>
          <a:xfrm>
            <a:off x="749808" y="5751576"/>
            <a:ext cx="283464" cy="283464"/>
          </a:xfrm>
          <a:prstGeom prst="rect">
            <a:avLst/>
          </a:prstGeom>
        </p:spPr>
      </p:pic>
      <p:sp>
        <p:nvSpPr>
          <p:cNvPr id="17" name="result:結果がすぐ届かなくても、初回登録を何度も送らないでください。"/>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結果がすぐ届かなくても、初回登録を何度も送らないでください。</a:t>
            </a:r>
          </a:p>
        </p:txBody>
      </p:sp>
      <p:sp>
        <p:nvSpPr>
          <p:cNvPr id="18"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19"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0" name="footer:31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31 / 37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5 / 5　初回登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5 / 5　初回登録</a:t>
            </a:r>
          </a:p>
        </p:txBody>
      </p:sp>
      <p:sp>
        <p:nvSpPr>
          <p:cNvPr id="4" name="title:ここまでできたら、準備作業は完了です"/>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ここまでできたら、準備作業は完了です</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st-checks_007F80.png"/>
          <p:cNvPicPr>
            <a:picLocks noChangeAspect="1"/>
          </p:cNvPicPr>
          <p:nvPr/>
        </p:nvPicPr>
        <p:blipFill>
          <a:blip r:embed="rId2"/>
          <a:stretch>
            <a:fillRect/>
          </a:stretch>
        </p:blipFill>
        <p:spPr>
          <a:xfrm>
            <a:off x="11064240" y="740664"/>
            <a:ext cx="420624" cy="420624"/>
          </a:xfrm>
          <a:prstGeom prst="rect">
            <a:avLst/>
          </a:prstGeom>
        </p:spPr>
      </p:pic>
      <p:pic>
        <p:nvPicPr>
          <p:cNvPr id="7" name="Picture 6" descr="circle-check_007F80.png"/>
          <p:cNvPicPr>
            <a:picLocks noChangeAspect="1"/>
          </p:cNvPicPr>
          <p:nvPr/>
        </p:nvPicPr>
        <p:blipFill>
          <a:blip r:embed="rId4"/>
          <a:stretch>
            <a:fillRect/>
          </a:stretch>
        </p:blipFill>
        <p:spPr>
          <a:xfrm>
            <a:off x="768096" y="1732788"/>
            <a:ext cx="310896" cy="310896"/>
          </a:xfrm>
          <a:prstGeom prst="rect">
            <a:avLst/>
          </a:prstGeom>
        </p:spPr>
      </p:pic>
      <p:sp>
        <p:nvSpPr>
          <p:cNvPr id="8" name="body:自分の ai-learning が Private になっている。"/>
          <p:cNvSpPr txBox="1"/>
          <p:nvPr/>
        </p:nvSpPr>
        <p:spPr>
          <a:xfrm>
            <a:off x="1307592" y="1700784"/>
            <a:ext cx="10058400" cy="512064"/>
          </a:xfrm>
          <a:prstGeom prst="rect">
            <a:avLst/>
          </a:prstGeom>
          <a:noFill/>
        </p:spPr>
        <p:txBody>
          <a:bodyPr wrap="none" lIns="0" rIns="0" tIns="0" bIns="0" anchor="t">
            <a:spAutoFit/>
          </a:bodyPr>
          <a:lstStyle/>
          <a:p>
            <a:pPr>
              <a:lnSpc>
                <a:spcPct val="114000"/>
              </a:lnSpc>
              <a:spcBef>
                <a:spcPts val="0"/>
              </a:spcBef>
              <a:spcAft>
                <a:spcPts val="0"/>
              </a:spcAft>
              <a:defRPr sz="2600" b="0">
                <a:solidFill>
                  <a:srgbClr val="1D343E"/>
                </a:solidFill>
                <a:latin typeface="Meiryo"/>
              </a:defRPr>
            </a:pPr>
            <a:r>
              <a:rPr sz="2600" b="0">
                <a:solidFill>
                  <a:srgbClr val="1D343E"/>
                </a:solidFill>
                <a:latin typeface="Meiryo"/>
                <a:ea typeface="Meiryo"/>
                <a:cs typeface="Meiryo"/>
              </a:rPr>
              <a:t>自分の ai-learning が Private になっている。</a:t>
            </a:r>
          </a:p>
        </p:txBody>
      </p:sp>
      <p:pic>
        <p:nvPicPr>
          <p:cNvPr id="9" name="Picture 8" descr="circle-check_007F80.png"/>
          <p:cNvPicPr>
            <a:picLocks noChangeAspect="1"/>
          </p:cNvPicPr>
          <p:nvPr/>
        </p:nvPicPr>
        <p:blipFill>
          <a:blip r:embed="rId4"/>
          <a:stretch>
            <a:fillRect/>
          </a:stretch>
        </p:blipFill>
        <p:spPr>
          <a:xfrm>
            <a:off x="768096" y="2455164"/>
            <a:ext cx="310896" cy="310896"/>
          </a:xfrm>
          <a:prstGeom prst="rect">
            <a:avLst/>
          </a:prstGeom>
        </p:spPr>
      </p:pic>
      <p:sp>
        <p:nvSpPr>
          <p:cNvPr id="10" name="body:setup に画像があり、GitHubで開ける。"/>
          <p:cNvSpPr txBox="1"/>
          <p:nvPr/>
        </p:nvSpPr>
        <p:spPr>
          <a:xfrm>
            <a:off x="1307592" y="2423160"/>
            <a:ext cx="10058400" cy="512064"/>
          </a:xfrm>
          <a:prstGeom prst="rect">
            <a:avLst/>
          </a:prstGeom>
          <a:noFill/>
        </p:spPr>
        <p:txBody>
          <a:bodyPr wrap="none" lIns="0" rIns="0" tIns="0" bIns="0" anchor="t">
            <a:spAutoFit/>
          </a:bodyPr>
          <a:lstStyle/>
          <a:p>
            <a:pPr>
              <a:lnSpc>
                <a:spcPct val="114000"/>
              </a:lnSpc>
              <a:spcBef>
                <a:spcPts val="0"/>
              </a:spcBef>
              <a:spcAft>
                <a:spcPts val="0"/>
              </a:spcAft>
              <a:defRPr sz="2600" b="0">
                <a:solidFill>
                  <a:srgbClr val="1D343E"/>
                </a:solidFill>
                <a:latin typeface="Meiryo"/>
              </a:defRPr>
            </a:pPr>
            <a:r>
              <a:rPr sz="2600" b="0">
                <a:solidFill>
                  <a:srgbClr val="1D343E"/>
                </a:solidFill>
                <a:latin typeface="Meiryo"/>
                <a:ea typeface="Meiryo"/>
                <a:cs typeface="Meiryo"/>
              </a:rPr>
              <a:t>setup に画像があり、GitHubで開ける。</a:t>
            </a:r>
          </a:p>
        </p:txBody>
      </p:sp>
      <p:pic>
        <p:nvPicPr>
          <p:cNvPr id="11" name="Picture 10" descr="circle-check_007F80.png"/>
          <p:cNvPicPr>
            <a:picLocks noChangeAspect="1"/>
          </p:cNvPicPr>
          <p:nvPr/>
        </p:nvPicPr>
        <p:blipFill>
          <a:blip r:embed="rId4"/>
          <a:stretch>
            <a:fillRect/>
          </a:stretch>
        </p:blipFill>
        <p:spPr>
          <a:xfrm>
            <a:off x="768096" y="3177540"/>
            <a:ext cx="310896" cy="310896"/>
          </a:xfrm>
          <a:prstGeom prst="rect">
            <a:avLst/>
          </a:prstGeom>
        </p:spPr>
      </p:pic>
      <p:sp>
        <p:nvSpPr>
          <p:cNvPr id="12" name="body:setup/README.md に、自分の利用記録を保存した。"/>
          <p:cNvSpPr txBox="1"/>
          <p:nvPr/>
        </p:nvSpPr>
        <p:spPr>
          <a:xfrm>
            <a:off x="1307592" y="3145536"/>
            <a:ext cx="10058400" cy="512064"/>
          </a:xfrm>
          <a:prstGeom prst="rect">
            <a:avLst/>
          </a:prstGeom>
          <a:noFill/>
        </p:spPr>
        <p:txBody>
          <a:bodyPr wrap="none" lIns="0" rIns="0" tIns="0" bIns="0" anchor="t">
            <a:spAutoFit/>
          </a:bodyPr>
          <a:lstStyle/>
          <a:p>
            <a:pPr>
              <a:lnSpc>
                <a:spcPct val="114000"/>
              </a:lnSpc>
              <a:spcBef>
                <a:spcPts val="0"/>
              </a:spcBef>
              <a:spcAft>
                <a:spcPts val="0"/>
              </a:spcAft>
              <a:defRPr sz="2600" b="0">
                <a:solidFill>
                  <a:srgbClr val="1D343E"/>
                </a:solidFill>
                <a:latin typeface="Meiryo"/>
              </a:defRPr>
            </a:pPr>
            <a:r>
              <a:rPr sz="2600" b="0">
                <a:solidFill>
                  <a:srgbClr val="1D343E"/>
                </a:solidFill>
                <a:latin typeface="Meiryo"/>
                <a:ea typeface="Meiryo"/>
                <a:cs typeface="Meiryo"/>
              </a:rPr>
              <a:t>setup/README.md に、自分の利用記録を保存した。</a:t>
            </a:r>
          </a:p>
        </p:txBody>
      </p:sp>
      <p:pic>
        <p:nvPicPr>
          <p:cNvPr id="13" name="Picture 12" descr="circle-check_007F80.png"/>
          <p:cNvPicPr>
            <a:picLocks noChangeAspect="1"/>
          </p:cNvPicPr>
          <p:nvPr/>
        </p:nvPicPr>
        <p:blipFill>
          <a:blip r:embed="rId4"/>
          <a:stretch>
            <a:fillRect/>
          </a:stretch>
        </p:blipFill>
        <p:spPr>
          <a:xfrm>
            <a:off x="768096" y="3899916"/>
            <a:ext cx="310896" cy="310896"/>
          </a:xfrm>
          <a:prstGeom prst="rect">
            <a:avLst/>
          </a:prstGeom>
        </p:spPr>
      </p:pic>
      <p:sp>
        <p:nvSpPr>
          <p:cNvPr id="14" name="body:担当教員のアカウントへ招待を送った。"/>
          <p:cNvSpPr txBox="1"/>
          <p:nvPr/>
        </p:nvSpPr>
        <p:spPr>
          <a:xfrm>
            <a:off x="1307592" y="3867912"/>
            <a:ext cx="10058400" cy="512064"/>
          </a:xfrm>
          <a:prstGeom prst="rect">
            <a:avLst/>
          </a:prstGeom>
          <a:noFill/>
        </p:spPr>
        <p:txBody>
          <a:bodyPr wrap="none" lIns="0" tIns="0" rIns="0" bIns="0" anchor="t">
            <a:spAutoFit/>
          </a:bodyPr>
          <a:lstStyle/>
          <a:p>
            <a:pPr>
              <a:lnSpc>
                <a:spcPct val="114000"/>
              </a:lnSpc>
              <a:spcBef>
                <a:spcPts val="0"/>
              </a:spcBef>
              <a:spcAft>
                <a:spcPts val="0"/>
              </a:spcAft>
              <a:buNone/>
              <a:defRPr sz="2600" b="0">
                <a:solidFill>
                  <a:srgbClr val="1D343E"/>
                </a:solidFill>
                <a:latin typeface="Meiryo"/>
                <a:ea typeface="Meiryo"/>
                <a:cs typeface="Meiryo"/>
              </a:defRPr>
            </a:pPr>
            <a:r>
              <a:rPr sz="2600" b="0">
                <a:solidFill>
                  <a:srgbClr val="1D343E"/>
                </a:solidFill>
                <a:latin typeface="Meiryo"/>
                <a:ea typeface="Meiryo"/>
                <a:cs typeface="Meiryo"/>
              </a:rPr>
              <a:t>担当教員のアカウントへ招待を送った。</a:t>
            </a:r>
          </a:p>
        </p:txBody>
      </p:sp>
      <p:pic>
        <p:nvPicPr>
          <p:cNvPr id="15" name="Picture 14" descr="circle-check_007F80.png"/>
          <p:cNvPicPr>
            <a:picLocks noChangeAspect="1"/>
          </p:cNvPicPr>
          <p:nvPr/>
        </p:nvPicPr>
        <p:blipFill>
          <a:blip r:embed="rId4"/>
          <a:stretch>
            <a:fillRect/>
          </a:stretch>
        </p:blipFill>
        <p:spPr>
          <a:xfrm>
            <a:off x="768096" y="4622292"/>
            <a:ext cx="310896" cy="310896"/>
          </a:xfrm>
          <a:prstGeom prst="rect">
            <a:avLst/>
          </a:prstGeom>
        </p:spPr>
      </p:pic>
      <p:sp>
        <p:nvSpPr>
          <p:cNvPr id="16" name="body:授業の初回登録フォームへ回答し、完了画面を見た。"/>
          <p:cNvSpPr txBox="1"/>
          <p:nvPr/>
        </p:nvSpPr>
        <p:spPr>
          <a:xfrm>
            <a:off x="1307592" y="4590288"/>
            <a:ext cx="10946908" cy="456151"/>
          </a:xfrm>
          <a:prstGeom prst="rect">
            <a:avLst/>
          </a:prstGeom>
          <a:noFill/>
        </p:spPr>
        <p:txBody>
          <a:bodyPr wrap="none" lIns="0" tIns="0" rIns="0" bIns="0" anchor="t">
            <a:spAutoFit/>
          </a:bodyPr>
          <a:lstStyle/>
          <a:p>
            <a:pPr>
              <a:lnSpc>
                <a:spcPct val="114000"/>
              </a:lnSpc>
              <a:spcBef>
                <a:spcPts val="0"/>
              </a:spcBef>
              <a:spcAft>
                <a:spcPts val="0"/>
              </a:spcAft>
              <a:buNone/>
              <a:defRPr sz="2600" b="0">
                <a:solidFill>
                  <a:srgbClr val="1D343E"/>
                </a:solidFill>
                <a:latin typeface="Meiryo"/>
                <a:ea typeface="Meiryo"/>
                <a:cs typeface="Meiryo"/>
              </a:defRPr>
            </a:pPr>
            <a:r>
              <a:rPr sz="2600" b="0">
                <a:solidFill>
                  <a:srgbClr val="1D343E"/>
                </a:solidFill>
                <a:latin typeface="Meiryo"/>
                <a:ea typeface="Meiryo"/>
                <a:cs typeface="Meiryo"/>
              </a:rPr>
              <a:t>授業の初回登録フォームへ回答し、完了画面を見た。</a:t>
            </a:r>
          </a:p>
        </p:txBody>
      </p:sp>
      <p:sp>
        <p:nvSpPr>
          <p:cNvPr id="17" name="Rectangle 16"/>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19" name="result:この後は点検結果を確認し、修正の案内があれば該当する箇所を直し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この後は点検結果を確認し、修正の案内があれば該当する箇所を直します。</a:t>
            </a:r>
          </a:p>
        </p:txBody>
      </p:sp>
      <p:sp>
        <p:nvSpPr>
          <p:cNvPr id="20"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1"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2" name="footer:32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32 / 37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提出と再開</a:t>
            </a:r>
          </a:p>
        </p:txBody>
      </p:sp>
      <p:sp>
        <p:nvSpPr>
          <p:cNvPr id="4" name="title:毎週は、その回の成果物を保存して提出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毎週は、その回の成果物を保存して提出する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commit-horizontal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教員の演習シートを読む。"/>
          <p:cNvSpPr txBox="1"/>
          <p:nvPr/>
        </p:nvSpPr>
        <p:spPr>
          <a:xfrm>
            <a:off x="1325880" y="1682496"/>
            <a:ext cx="9893807" cy="459485"/>
          </a:xfrm>
          <a:prstGeom prst="rect">
            <a:avLst/>
          </a:prstGeom>
          <a:noFill/>
        </p:spPr>
        <p:txBody>
          <a:bodyPr wrap="none" lIns="0" tIns="0" rIns="0" bIns="0" anchor="t">
            <a:no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その回の成果物と短い利用記録を、自分の保存先へ保存する。</a:t>
            </a:r>
          </a:p>
        </p:txBody>
      </p:sp>
      <p:sp>
        <p:nvSpPr>
          <p:cNvPr id="10" name="body:例：handouts/week01.md で、その回の課題を確認します。"/>
          <p:cNvSpPr txBox="1"/>
          <p:nvPr/>
        </p:nvSpPr>
        <p:spPr>
          <a:xfrm>
            <a:off x="1325880" y="2205990"/>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読む：教員のhandouts/week01.md。書く：自分のweek01/README.md。</a:t>
            </a:r>
          </a:p>
        </p:txBody>
      </p:sp>
      <p:sp>
        <p:nvSpPr>
          <p:cNvPr id="11" name="Oval 10"/>
          <p:cNvSpPr/>
          <p:nvPr/>
        </p:nvSpPr>
        <p:spPr>
          <a:xfrm>
            <a:off x="749808" y="2916427"/>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39287"/>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自分のフォルダへ、成果物と短い利用記録を保存する。"/>
          <p:cNvSpPr txBox="1"/>
          <p:nvPr/>
        </p:nvSpPr>
        <p:spPr>
          <a:xfrm>
            <a:off x="1325880" y="2907283"/>
            <a:ext cx="9893807" cy="459485"/>
          </a:xfrm>
          <a:prstGeom prst="rect">
            <a:avLst/>
          </a:prstGeom>
          <a:noFill/>
        </p:spPr>
        <p:txBody>
          <a:bodyPr wrap="none" lIns="0" tIns="0" rIns="0" bIns="0" anchor="t">
            <a:no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Code →「○ commits」→ 一番上のcommitの説明を押す。</a:t>
            </a:r>
          </a:p>
        </p:txBody>
      </p:sp>
      <p:sp>
        <p:nvSpPr>
          <p:cNvPr id="14" name="body:例：week01/README.md と、必要な画像・文書などを保存しま"/>
          <p:cNvSpPr txBox="1"/>
          <p:nvPr/>
        </p:nvSpPr>
        <p:spPr>
          <a:xfrm>
            <a:off x="1325880" y="3430777"/>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自分のai-learningに戻り、ファイル一覧の右上にある履歴を開きます。</a:t>
            </a:r>
          </a:p>
        </p:txBody>
      </p:sp>
      <p:sp>
        <p:nvSpPr>
          <p:cNvPr id="15" name="Oval 14"/>
          <p:cNvSpPr/>
          <p:nvPr/>
        </p:nvSpPr>
        <p:spPr>
          <a:xfrm>
            <a:off x="749808" y="4141215"/>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164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全部保存した後のcommit URLを、週次フォームへ送る。"/>
          <p:cNvSpPr txBox="1"/>
          <p:nvPr/>
        </p:nvSpPr>
        <p:spPr>
          <a:xfrm>
            <a:off x="1325880" y="4132071"/>
            <a:ext cx="9893807" cy="459485"/>
          </a:xfrm>
          <a:prstGeom prst="rect">
            <a:avLst/>
          </a:prstGeom>
          <a:noFill/>
        </p:spPr>
        <p:txBody>
          <a:bodyPr wrap="none" lIns="0" tIns="0" rIns="0" bIns="0" anchor="t">
            <a:no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URLをコピーし、その回の週次フォームへ送る。</a:t>
            </a:r>
          </a:p>
        </p:txBody>
      </p:sp>
      <p:sp>
        <p:nvSpPr>
          <p:cNvPr id="18" name="body:最後のcommitを開き、/commit/ を含むURLをコピーします。"/>
          <p:cNvSpPr txBox="1"/>
          <p:nvPr/>
        </p:nvSpPr>
        <p:spPr>
          <a:xfrm>
            <a:off x="1325880" y="4655565"/>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URLに /commit/ と長い英数字があるか確認し、貼り付けます。</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1" name="result:毎週は、その回の成果物と短いAI利用記録を提出し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提出前にBrowse filesで、その回の必要な全ファイルが入っているか確認します。</a:t>
            </a:r>
          </a:p>
        </p:txBody>
      </p:sp>
      <p:sp>
        <p:nvSpPr>
          <p:cNvPr id="22"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4" name="footer:33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33 / 37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提出と再開</a:t>
            </a:r>
          </a:p>
        </p:txBody>
      </p:sp>
      <p:sp>
        <p:nvSpPr>
          <p:cNvPr id="4" name="title:第2回以降も、途中から続けられます"/>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第2回以降も、途中から続けられます</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branch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3511296" cy="36118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eyboard_007F80.png"/>
          <p:cNvPicPr>
            <a:picLocks noChangeAspect="1"/>
          </p:cNvPicPr>
          <p:nvPr/>
        </p:nvPicPr>
        <p:blipFill>
          <a:blip r:embed="rId4"/>
          <a:stretch>
            <a:fillRect/>
          </a:stretch>
        </p:blipFill>
        <p:spPr>
          <a:xfrm>
            <a:off x="841248" y="1947672"/>
            <a:ext cx="438912" cy="438912"/>
          </a:xfrm>
          <a:prstGeom prst="rect">
            <a:avLst/>
          </a:prstGeom>
        </p:spPr>
      </p:pic>
      <p:sp>
        <p:nvSpPr>
          <p:cNvPr id="9" name="body:初めての人"/>
          <p:cNvSpPr txBox="1"/>
          <p:nvPr/>
        </p:nvSpPr>
        <p:spPr>
          <a:xfrm>
            <a:off x="841248" y="2642615"/>
            <a:ext cx="3017520"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初めての人</a:t>
            </a:r>
          </a:p>
        </p:txBody>
      </p:sp>
      <p:sp>
        <p:nvSpPr>
          <p:cNvPr id="10" name="body:最初から進める。&#10;同じフォームで&#10;初回登録を送る。"/>
          <p:cNvSpPr txBox="1"/>
          <p:nvPr/>
        </p:nvSpPr>
        <p:spPr>
          <a:xfrm>
            <a:off x="841248" y="3321557"/>
            <a:ext cx="3017520" cy="1107186"/>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最初から進める。</a:t>
            </a:r>
          </a:p>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同じフォームで</a:t>
            </a:r>
          </a:p>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初回登録を送る。</a:t>
            </a:r>
          </a:p>
        </p:txBody>
      </p:sp>
      <p:sp>
        <p:nvSpPr>
          <p:cNvPr id="11" name="Rectangle 10"/>
          <p:cNvSpPr/>
          <p:nvPr/>
        </p:nvSpPr>
        <p:spPr>
          <a:xfrm>
            <a:off x="4343400" y="1700784"/>
            <a:ext cx="3511296" cy="361188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older_007F80.png"/>
          <p:cNvPicPr>
            <a:picLocks noChangeAspect="1"/>
          </p:cNvPicPr>
          <p:nvPr/>
        </p:nvPicPr>
        <p:blipFill>
          <a:blip r:embed="rId5"/>
          <a:stretch>
            <a:fillRect/>
          </a:stretch>
        </p:blipFill>
        <p:spPr>
          <a:xfrm>
            <a:off x="4590288" y="1947672"/>
            <a:ext cx="438912" cy="438912"/>
          </a:xfrm>
          <a:prstGeom prst="rect">
            <a:avLst/>
          </a:prstGeom>
        </p:spPr>
      </p:pic>
      <p:sp>
        <p:nvSpPr>
          <p:cNvPr id="13" name="body:続きからの人"/>
          <p:cNvSpPr txBox="1"/>
          <p:nvPr/>
        </p:nvSpPr>
        <p:spPr>
          <a:xfrm>
            <a:off x="4590288" y="2642615"/>
            <a:ext cx="3017520"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続きからの人</a:t>
            </a:r>
          </a:p>
        </p:txBody>
      </p:sp>
      <p:sp>
        <p:nvSpPr>
          <p:cNvPr id="14" name="body:今のai-learningで、&#10;未完了の手順から&#10;続きを進める。&#10;作り直"/>
          <p:cNvSpPr txBox="1"/>
          <p:nvPr/>
        </p:nvSpPr>
        <p:spPr>
          <a:xfrm>
            <a:off x="4590288" y="3321557"/>
            <a:ext cx="3017520" cy="1451864"/>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今のai-learningで、</a:t>
            </a:r>
          </a:p>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未完了の手順から</a:t>
            </a:r>
          </a:p>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続きを進める。</a:t>
            </a:r>
          </a:p>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作り直しは不要。</a:t>
            </a:r>
          </a:p>
        </p:txBody>
      </p:sp>
      <p:sp>
        <p:nvSpPr>
          <p:cNvPr id="15" name="Rectangle 14"/>
          <p:cNvSpPr/>
          <p:nvPr/>
        </p:nvSpPr>
        <p:spPr>
          <a:xfrm>
            <a:off x="8092440" y="1700784"/>
            <a:ext cx="3493008" cy="36118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ile-text_007F80.png"/>
          <p:cNvPicPr>
            <a:picLocks noChangeAspect="1"/>
          </p:cNvPicPr>
          <p:nvPr/>
        </p:nvPicPr>
        <p:blipFill>
          <a:blip r:embed="rId6"/>
          <a:stretch>
            <a:fillRect/>
          </a:stretch>
        </p:blipFill>
        <p:spPr>
          <a:xfrm>
            <a:off x="8339327" y="1947672"/>
            <a:ext cx="438912" cy="438912"/>
          </a:xfrm>
          <a:prstGeom prst="rect">
            <a:avLst/>
          </a:prstGeom>
        </p:spPr>
      </p:pic>
      <p:sp>
        <p:nvSpPr>
          <p:cNvPr id="17" name="body:修正する人"/>
          <p:cNvSpPr txBox="1"/>
          <p:nvPr/>
        </p:nvSpPr>
        <p:spPr>
          <a:xfrm>
            <a:off x="8339327" y="2642615"/>
            <a:ext cx="2999232"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修正する人</a:t>
            </a:r>
          </a:p>
        </p:txBody>
      </p:sp>
      <p:sp>
        <p:nvSpPr>
          <p:cNvPr id="18" name="body:指定箇所を直して&#10;保存する。&#10;URLの間違いは、&#10;登録情報も直す。"/>
          <p:cNvSpPr txBox="1"/>
          <p:nvPr/>
        </p:nvSpPr>
        <p:spPr>
          <a:xfrm>
            <a:off x="8339327" y="3321557"/>
            <a:ext cx="2999232" cy="1451864"/>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画像・記録を直し、</a:t>
            </a:r>
          </a:p>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保存する。</a:t>
            </a:r>
          </a:p>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usernameやURLの</a:t>
            </a:r>
          </a:p>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誤りは登録も直す。</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7"/>
          <a:stretch>
            <a:fillRect/>
          </a:stretch>
        </p:blipFill>
        <p:spPr>
          <a:xfrm>
            <a:off x="749808" y="5751576"/>
            <a:ext cx="283464" cy="283464"/>
          </a:xfrm>
          <a:prstGeom prst="rect">
            <a:avLst/>
          </a:prstGeom>
        </p:spPr>
      </p:pic>
      <p:sp>
        <p:nvSpPr>
          <p:cNvPr id="21" name="result:画像・記録だけの修正なら、初回登録の再送は不要で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画像・記録だけの修正は再送不要。過去の課題・締切は教員に確認します。</a:t>
            </a:r>
          </a:p>
        </p:txBody>
      </p:sp>
      <p:sp>
        <p:nvSpPr>
          <p:cNvPr id="22" name="tag:手順一覧へ">
            <a:hlinkClick action="ppaction://hlinksldjump" r:id="rId8"/>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4" name="footer:34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34 / 37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提出と再開</a:t>
            </a:r>
          </a:p>
        </p:txBody>
      </p:sp>
      <p:sp>
        <p:nvSpPr>
          <p:cNvPr id="4" name="title:困ったら、止まった画面を確かめ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困ったら、止まった画面を確かめる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3511296" cy="36118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ck-keyhole_007F80.png"/>
          <p:cNvPicPr>
            <a:picLocks noChangeAspect="1"/>
          </p:cNvPicPr>
          <p:nvPr/>
        </p:nvPicPr>
        <p:blipFill>
          <a:blip r:embed="rId4"/>
          <a:stretch>
            <a:fillRect/>
          </a:stretch>
        </p:blipFill>
        <p:spPr>
          <a:xfrm>
            <a:off x="841248" y="1947672"/>
            <a:ext cx="438912" cy="438912"/>
          </a:xfrm>
          <a:prstGeom prst="rect">
            <a:avLst/>
          </a:prstGeom>
        </p:spPr>
      </p:pic>
      <p:sp>
        <p:nvSpPr>
          <p:cNvPr id="9" name="body:ログインできない"/>
          <p:cNvSpPr txBox="1"/>
          <p:nvPr/>
        </p:nvSpPr>
        <p:spPr>
          <a:xfrm>
            <a:off x="841248" y="2642615"/>
            <a:ext cx="3017520"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ログインできない</a:t>
            </a:r>
          </a:p>
        </p:txBody>
      </p:sp>
      <p:sp>
        <p:nvSpPr>
          <p:cNvPr id="10" name="body:授業：指定アカウント&#10;GitHub：別アカウント。&#10;5〜8ページを確認。"/>
          <p:cNvSpPr txBox="1"/>
          <p:nvPr/>
        </p:nvSpPr>
        <p:spPr>
          <a:xfrm>
            <a:off x="841248" y="3321557"/>
            <a:ext cx="3017520" cy="1511808"/>
          </a:xfrm>
          <a:prstGeom prst="rect">
            <a:avLst/>
          </a:prstGeom>
          <a:noFill/>
        </p:spPr>
        <p:txBody>
          <a:bodyPr wrap="none" lIns="0" tIns="0" rIns="0" bIns="0" anchor="t">
            <a:noAutofit/>
          </a:bodyPr>
          <a:lstStyle/>
          <a:p>
            <a:pPr>
              <a:lnSpc>
                <a:spcPct val="114000"/>
              </a:lnSpc>
              <a:spcBef>
                <a:spcPts val="0"/>
              </a:spcBef>
              <a:spcAft>
                <a:spcPts val="0"/>
              </a:spcAft>
              <a:buNone/>
              <a:defRPr sz="2400" b="0">
                <a:solidFill>
                  <a:srgbClr val="1D343E"/>
                </a:solidFill>
                <a:latin typeface="Meiryo"/>
                <a:ea typeface="Meiryo"/>
                <a:cs typeface="Meiryo"/>
              </a:defRPr>
            </a:pPr>
            <a:r>
              <a:rPr sz="2400" b="0">
                <a:solidFill>
                  <a:srgbClr val="1D343E"/>
                </a:solidFill>
                <a:latin typeface="Meiryo"/>
                <a:ea typeface="Meiryo"/>
                <a:cs typeface="Meiryo"/>
              </a:rPr>
              <a:t>授業：指定アカウント</a:t>
            </a:r>
          </a:p>
          <a:p>
            <a:pPr>
              <a:lnSpc>
                <a:spcPct val="114000"/>
              </a:lnSpc>
              <a:spcBef>
                <a:spcPts val="0"/>
              </a:spcBef>
              <a:spcAft>
                <a:spcPts val="0"/>
              </a:spcAft>
              <a:buNone/>
              <a:defRPr sz="2400" b="0">
                <a:solidFill>
                  <a:srgbClr val="1D343E"/>
                </a:solidFill>
                <a:latin typeface="Meiryo"/>
                <a:ea typeface="Meiryo"/>
                <a:cs typeface="Meiryo"/>
              </a:defRPr>
            </a:pPr>
            <a:r>
              <a:rPr sz="2400" b="0">
                <a:solidFill>
                  <a:srgbClr val="1D343E"/>
                </a:solidFill>
                <a:latin typeface="Meiryo"/>
                <a:ea typeface="Meiryo"/>
                <a:cs typeface="Meiryo"/>
              </a:rPr>
              <a:t>GitHub：別アカウント。</a:t>
            </a:r>
          </a:p>
          <a:p>
            <a:pPr>
              <a:lnSpc>
                <a:spcPct val="114000"/>
              </a:lnSpc>
              <a:spcBef>
                <a:spcPts val="0"/>
              </a:spcBef>
              <a:spcAft>
                <a:spcPts val="0"/>
              </a:spcAft>
              <a:buNone/>
              <a:defRPr sz="2400" b="0">
                <a:solidFill>
                  <a:srgbClr val="1D343E"/>
                </a:solidFill>
                <a:latin typeface="Meiryo"/>
                <a:ea typeface="Meiryo"/>
                <a:cs typeface="Meiryo"/>
              </a:defRPr>
            </a:pPr>
            <a:r>
              <a:rPr sz="2400" b="0">
                <a:solidFill>
                  <a:srgbClr val="1D343E"/>
                </a:solidFill>
                <a:latin typeface="Meiryo"/>
                <a:ea typeface="Meiryo"/>
                <a:cs typeface="Meiryo"/>
              </a:rPr>
              <a:t>5〜8ページを確認。</a:t>
            </a:r>
          </a:p>
        </p:txBody>
      </p:sp>
      <p:sp>
        <p:nvSpPr>
          <p:cNvPr id="11" name="Rectangle 10"/>
          <p:cNvSpPr/>
          <p:nvPr/>
        </p:nvSpPr>
        <p:spPr>
          <a:xfrm>
            <a:off x="4343400" y="1700784"/>
            <a:ext cx="3511296" cy="361188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older_007F80.png"/>
          <p:cNvPicPr>
            <a:picLocks noChangeAspect="1"/>
          </p:cNvPicPr>
          <p:nvPr/>
        </p:nvPicPr>
        <p:blipFill>
          <a:blip r:embed="rId5"/>
          <a:stretch>
            <a:fillRect/>
          </a:stretch>
        </p:blipFill>
        <p:spPr>
          <a:xfrm>
            <a:off x="4590288" y="1947672"/>
            <a:ext cx="438912" cy="438912"/>
          </a:xfrm>
          <a:prstGeom prst="rect">
            <a:avLst/>
          </a:prstGeom>
        </p:spPr>
      </p:pic>
      <p:sp>
        <p:nvSpPr>
          <p:cNvPr id="13" name="body:編集できない"/>
          <p:cNvSpPr txBox="1"/>
          <p:nvPr/>
        </p:nvSpPr>
        <p:spPr>
          <a:xfrm>
            <a:off x="4590288" y="2642615"/>
            <a:ext cx="3017520"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編集できない</a:t>
            </a:r>
          </a:p>
        </p:txBody>
      </p:sp>
      <p:sp>
        <p:nvSpPr>
          <p:cNvPr id="14" name="body:自分の保存先か&#10;確かめる。&#10;教員のひな形では&#10;作業しない。"/>
          <p:cNvSpPr txBox="1"/>
          <p:nvPr/>
        </p:nvSpPr>
        <p:spPr>
          <a:xfrm>
            <a:off x="4590288" y="3321557"/>
            <a:ext cx="3017520" cy="1511808"/>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自分の保存先か</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確かめる。</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教員のひな形では</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作業しない。</a:t>
            </a:r>
          </a:p>
        </p:txBody>
      </p:sp>
      <p:sp>
        <p:nvSpPr>
          <p:cNvPr id="15" name="Rectangle 14"/>
          <p:cNvSpPr/>
          <p:nvPr/>
        </p:nvSpPr>
        <p:spPr>
          <a:xfrm>
            <a:off x="8092440" y="1700784"/>
            <a:ext cx="3493008" cy="36118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upload_007F80.png"/>
          <p:cNvPicPr>
            <a:picLocks noChangeAspect="1"/>
          </p:cNvPicPr>
          <p:nvPr/>
        </p:nvPicPr>
        <p:blipFill>
          <a:blip r:embed="rId6"/>
          <a:stretch>
            <a:fillRect/>
          </a:stretch>
        </p:blipFill>
        <p:spPr>
          <a:xfrm>
            <a:off x="8339327" y="1947672"/>
            <a:ext cx="438912" cy="438912"/>
          </a:xfrm>
          <a:prstGeom prst="rect">
            <a:avLst/>
          </a:prstGeom>
        </p:spPr>
      </p:pic>
      <p:sp>
        <p:nvSpPr>
          <p:cNvPr id="17" name="body:保存できない"/>
          <p:cNvSpPr txBox="1"/>
          <p:nvPr/>
        </p:nvSpPr>
        <p:spPr>
          <a:xfrm>
            <a:off x="8339327" y="2642615"/>
            <a:ext cx="2999232"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保存できない</a:t>
            </a:r>
          </a:p>
        </p:txBody>
      </p:sp>
      <p:sp>
        <p:nvSpPr>
          <p:cNvPr id="18" name="body:エラーの文と&#10;この資料の&#10;ページ番号を&#10;教員に伝える。"/>
          <p:cNvSpPr txBox="1"/>
          <p:nvPr/>
        </p:nvSpPr>
        <p:spPr>
          <a:xfrm>
            <a:off x="8339327" y="3321557"/>
            <a:ext cx="2999232" cy="1511808"/>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エラーの文と</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この資料の</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ページ番号を</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教員に伝える。</a:t>
            </a:r>
          </a:p>
        </p:txBody>
      </p:sp>
      <p:sp>
        <p:nvSpPr>
          <p:cNvPr id="19" name="Rectangle 18"/>
          <p:cNvSpPr/>
          <p:nvPr/>
        </p:nvSpPr>
        <p:spPr>
          <a:xfrm>
            <a:off x="594360" y="5605272"/>
            <a:ext cx="11000232" cy="630936"/>
          </a:xfrm>
          <a:prstGeom prst="rect">
            <a:avLst/>
          </a:prstGeom>
          <a:solidFill>
            <a:srgbClr val="FF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riangle-alert_9A6113.png"/>
          <p:cNvPicPr>
            <a:picLocks noChangeAspect="1"/>
          </p:cNvPicPr>
          <p:nvPr/>
        </p:nvPicPr>
        <p:blipFill>
          <a:blip r:embed="rId7"/>
          <a:stretch>
            <a:fillRect/>
          </a:stretch>
        </p:blipFill>
        <p:spPr>
          <a:xfrm>
            <a:off x="749808" y="5751576"/>
            <a:ext cx="283464" cy="283464"/>
          </a:xfrm>
          <a:prstGeom prst="rect">
            <a:avLst/>
          </a:prstGeom>
        </p:spPr>
      </p:pic>
      <p:sp>
        <p:nvSpPr>
          <p:cNvPr id="21" name="result:パスワード・ログイン認証コード・個人情報は、見せる画面から隠し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9A6113"/>
                </a:solidFill>
                <a:latin typeface="Meiryo"/>
              </a:defRPr>
            </a:pPr>
            <a:r>
              <a:rPr sz="2200" b="0">
                <a:solidFill>
                  <a:srgbClr val="9A6113"/>
                </a:solidFill>
                <a:latin typeface="Meiryo"/>
                <a:ea typeface="Meiryo"/>
                <a:cs typeface="Meiryo"/>
              </a:rPr>
              <a:t>パスワード・ログイン認証コード・個人情報は、見せる画面から隠します。</a:t>
            </a:r>
          </a:p>
        </p:txBody>
      </p:sp>
      <p:sp>
        <p:nvSpPr>
          <p:cNvPr id="22" name="tag:手順一覧へ">
            <a:hlinkClick action="ppaction://hlinksldjump" r:id="rId8"/>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4" name="footer:35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35 / 37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任意の操作</a:t>
            </a:r>
          </a:p>
        </p:txBody>
      </p:sp>
      <p:sp>
        <p:nvSpPr>
          <p:cNvPr id="4" name="title:特典の申請と、お気に入り登録は任意です"/>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特典の申請と、お気に入り登録は任意です</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ok-open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5358384" cy="3584448"/>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ook-open_007F80.png"/>
          <p:cNvPicPr>
            <a:picLocks noChangeAspect="1"/>
          </p:cNvPicPr>
          <p:nvPr/>
        </p:nvPicPr>
        <p:blipFill>
          <a:blip r:embed="rId2"/>
          <a:stretch>
            <a:fillRect/>
          </a:stretch>
        </p:blipFill>
        <p:spPr>
          <a:xfrm>
            <a:off x="841248" y="1947672"/>
            <a:ext cx="438912" cy="438912"/>
          </a:xfrm>
          <a:prstGeom prst="rect">
            <a:avLst/>
          </a:prstGeom>
        </p:spPr>
      </p:pic>
      <p:sp>
        <p:nvSpPr>
          <p:cNvPr id="9" name="body:学生向け特典を調べる"/>
          <p:cNvSpPr txBox="1"/>
          <p:nvPr/>
        </p:nvSpPr>
        <p:spPr>
          <a:xfrm>
            <a:off x="841248" y="2642615"/>
            <a:ext cx="4864608"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u="sng">
                <a:solidFill>
                  <a:srgbClr val="007F83"/>
                </a:solidFill>
                <a:latin typeface="Meiryo"/>
                <a:ea typeface="Meiryo"/>
                <a:cs typeface="Meiryo"/>
                <a:hlinkClick r:id="rIdHandson9"/>
              </a:rPr>
              <a:t>学生向け特典を調べる</a:t>
            </a:r>
          </a:p>
        </p:txBody>
      </p:sp>
      <p:sp>
        <p:nvSpPr>
          <p:cNvPr id="10" name="body:GitHub Educationの&#10;公式ページで、現在の特典を&#10;確認しま"/>
          <p:cNvSpPr txBox="1"/>
          <p:nvPr/>
        </p:nvSpPr>
        <p:spPr>
          <a:xfrm>
            <a:off x="841248" y="3321557"/>
            <a:ext cx="4864608" cy="1511808"/>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GitHub Educationの</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公式ページで、現在の特典を</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確認します。審査を待たずに</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授業へ参加できます。</a:t>
            </a:r>
          </a:p>
        </p:txBody>
      </p:sp>
      <p:sp>
        <p:nvSpPr>
          <p:cNvPr id="11" name="Rectangle 10"/>
          <p:cNvSpPr/>
          <p:nvPr/>
        </p:nvSpPr>
        <p:spPr>
          <a:xfrm>
            <a:off x="6217920" y="1700784"/>
            <a:ext cx="5367528" cy="3584448"/>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older_007F80.png"/>
          <p:cNvPicPr>
            <a:picLocks noChangeAspect="1"/>
          </p:cNvPicPr>
          <p:nvPr/>
        </p:nvPicPr>
        <p:blipFill>
          <a:blip r:embed="rId4"/>
          <a:stretch>
            <a:fillRect/>
          </a:stretch>
        </p:blipFill>
        <p:spPr>
          <a:xfrm>
            <a:off x="6464808" y="1947672"/>
            <a:ext cx="438912" cy="438912"/>
          </a:xfrm>
          <a:prstGeom prst="rect">
            <a:avLst/>
          </a:prstGeom>
        </p:spPr>
      </p:pic>
      <p:sp>
        <p:nvSpPr>
          <p:cNvPr id="13" name="body:教材を開きやすくする"/>
          <p:cNvSpPr txBox="1"/>
          <p:nvPr/>
        </p:nvSpPr>
        <p:spPr>
          <a:xfrm>
            <a:off x="6464808" y="2642615"/>
            <a:ext cx="4873752"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教材を開きやすくする</a:t>
            </a:r>
          </a:p>
        </p:txBody>
      </p:sp>
      <p:sp>
        <p:nvSpPr>
          <p:cNvPr id="14" name="body:教材をブラウザの&#10;お気に入りに登録すると、&#10;次の回も開きやすくなります。"/>
          <p:cNvSpPr txBox="1"/>
          <p:nvPr/>
        </p:nvSpPr>
        <p:spPr>
          <a:xfrm>
            <a:off x="6464808" y="3321557"/>
            <a:ext cx="4873752" cy="1511808"/>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教材をブラウザの</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お気に入りに登録すると、</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次の回も開きやすくなります。</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GitHubのStarも任意です。</a:t>
            </a:r>
          </a:p>
        </p:txBody>
      </p:sp>
      <p:sp>
        <p:nvSpPr>
          <p:cNvPr id="15" name="Rectangle 14"/>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7" name="result:特典の取得、Star、有料プランへの契約は、準備完了の条件に含めません。"/>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特典の取得、Star、有料プランへの契約は、準備完了の条件に含めません。</a:t>
            </a:r>
          </a:p>
        </p:txBody>
      </p:sp>
      <p:sp>
        <p:nvSpPr>
          <p:cNvPr id="18"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19"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0" name="footer:36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36 / 37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任意の操作</a:t>
            </a:r>
          </a:p>
        </p:txBody>
      </p:sp>
      <p:sp>
        <p:nvSpPr>
          <p:cNvPr id="4" name="title:余裕があれば、学習目標を2行書いてみ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余裕があれば、学習目標を2行書いてみる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le-text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19072"/>
            <a:ext cx="6565392" cy="356616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ai-learning / README.md"/>
          <p:cNvSpPr txBox="1"/>
          <p:nvPr/>
        </p:nvSpPr>
        <p:spPr>
          <a:xfrm>
            <a:off x="877824" y="1956816"/>
            <a:ext cx="5998464" cy="411480"/>
          </a:xfrm>
          <a:prstGeom prst="rect">
            <a:avLst/>
          </a:prstGeom>
          <a:noFill/>
        </p:spPr>
        <p:txBody>
          <a:bodyPr wrap="none" lIns="0" rIns="0" tIns="0" bIns="0" anchor="t">
            <a:spAutoFit/>
          </a:bodyPr>
          <a:lstStyle/>
          <a:p>
            <a:pPr>
              <a:lnSpc>
                <a:spcPct val="114000"/>
              </a:lnSpc>
              <a:spcBef>
                <a:spcPts val="0"/>
              </a:spcBef>
              <a:spcAft>
                <a:spcPts val="0"/>
              </a:spcAft>
              <a:defRPr sz="2300" b="1">
                <a:solidFill>
                  <a:srgbClr val="007F80"/>
                </a:solidFill>
                <a:latin typeface="Meiryo"/>
              </a:defRPr>
            </a:pPr>
            <a:r>
              <a:rPr sz="2300" b="1">
                <a:solidFill>
                  <a:srgbClr val="007F80"/>
                </a:solidFill>
                <a:latin typeface="Meiryo"/>
                <a:ea typeface="Meiryo"/>
                <a:cs typeface="Meiryo"/>
              </a:rPr>
              <a:t>ai-learning / README.md</a:t>
            </a:r>
          </a:p>
        </p:txBody>
      </p:sp>
      <p:sp>
        <p:nvSpPr>
          <p:cNvPr id="9" name="body:この授業で試したいこと"/>
          <p:cNvSpPr txBox="1"/>
          <p:nvPr/>
        </p:nvSpPr>
        <p:spPr>
          <a:xfrm>
            <a:off x="877824" y="2752344"/>
            <a:ext cx="5961888" cy="685800"/>
          </a:xfrm>
          <a:prstGeom prst="rect">
            <a:avLst/>
          </a:prstGeom>
          <a:noFill/>
        </p:spPr>
        <p:txBody>
          <a:bodyPr wrap="none" lIns="0" rIns="0" tIns="0" bIns="0" anchor="t">
            <a:spAutoFit/>
          </a:bodyPr>
          <a:lstStyle/>
          <a:p>
            <a:pPr>
              <a:lnSpc>
                <a:spcPct val="114000"/>
              </a:lnSpc>
              <a:spcBef>
                <a:spcPts val="0"/>
              </a:spcBef>
              <a:spcAft>
                <a:spcPts val="0"/>
              </a:spcAft>
              <a:defRPr sz="2800" b="1">
                <a:solidFill>
                  <a:srgbClr val="1D343E"/>
                </a:solidFill>
                <a:latin typeface="Meiryo"/>
              </a:defRPr>
            </a:pPr>
            <a:r>
              <a:rPr sz="2800" b="1">
                <a:solidFill>
                  <a:srgbClr val="1D343E"/>
                </a:solidFill>
                <a:latin typeface="Meiryo"/>
                <a:ea typeface="Meiryo"/>
                <a:cs typeface="Meiryo"/>
              </a:rPr>
              <a:t>この授業で試したいこと</a:t>
            </a:r>
          </a:p>
        </p:txBody>
      </p:sp>
      <p:sp>
        <p:nvSpPr>
          <p:cNvPr id="10" name="body:資料をAIに読ませてみたい。&#10;自分で確かめる方法を知りたい。"/>
          <p:cNvSpPr txBox="1"/>
          <p:nvPr/>
        </p:nvSpPr>
        <p:spPr>
          <a:xfrm>
            <a:off x="877824" y="3785615"/>
            <a:ext cx="5971032" cy="1014984"/>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資料をAIに読ませてみたい。</a:t>
            </a:r>
          </a:p>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自分で確かめる方法を知りたい。</a:t>
            </a:r>
          </a:p>
        </p:txBody>
      </p:sp>
      <p:sp>
        <p:nvSpPr>
          <p:cNvPr id="11" name="Oval 10"/>
          <p:cNvSpPr/>
          <p:nvPr/>
        </p:nvSpPr>
        <p:spPr>
          <a:xfrm>
            <a:off x="7406640" y="178308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1"/>
          <p:cNvSpPr txBox="1"/>
          <p:nvPr/>
        </p:nvSpPr>
        <p:spPr>
          <a:xfrm>
            <a:off x="7406640" y="180593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3" name="body:一番上のREADME.md&#10;を開く。"/>
          <p:cNvSpPr txBox="1"/>
          <p:nvPr/>
        </p:nvSpPr>
        <p:spPr>
          <a:xfrm>
            <a:off x="7982712" y="1773936"/>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一番上のREADME.md</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を開く。</a:t>
            </a:r>
          </a:p>
        </p:txBody>
      </p:sp>
      <p:sp>
        <p:nvSpPr>
          <p:cNvPr id="14" name="Oval 13"/>
          <p:cNvSpPr/>
          <p:nvPr/>
        </p:nvSpPr>
        <p:spPr>
          <a:xfrm>
            <a:off x="7406640" y="286156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2884423"/>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鉛筆ボタンから、自分&#10;の目標を2行書く。"/>
          <p:cNvSpPr txBox="1"/>
          <p:nvPr/>
        </p:nvSpPr>
        <p:spPr>
          <a:xfrm>
            <a:off x="7982712" y="2852420"/>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鉛筆ボタンから、自分</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の目標を2行書く。</a:t>
            </a:r>
          </a:p>
        </p:txBody>
      </p:sp>
      <p:sp>
        <p:nvSpPr>
          <p:cNvPr id="17" name="Oval 16"/>
          <p:cNvSpPr/>
          <p:nvPr/>
        </p:nvSpPr>
        <p:spPr>
          <a:xfrm>
            <a:off x="7406640" y="3940048"/>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3"/>
          <p:cNvSpPr txBox="1"/>
          <p:nvPr/>
        </p:nvSpPr>
        <p:spPr>
          <a:xfrm>
            <a:off x="7406640" y="3962908"/>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9" name="body:commitで保存する。&#10;登録の再送は不要。"/>
          <p:cNvSpPr txBox="1"/>
          <p:nvPr/>
        </p:nvSpPr>
        <p:spPr>
          <a:xfrm>
            <a:off x="7982712" y="3930904"/>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commitで保存する。</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登録の再送は不要。</a:t>
            </a:r>
          </a:p>
        </p:txBody>
      </p:sp>
      <p:sp>
        <p:nvSpPr>
          <p:cNvPr id="20" name="Rectangle 19"/>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2" name="result:任意の作業です。先に画像・記録・招待・初回登録を終え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任意の作業です。先に画像・記録・招待・初回登録を終えます。</a:t>
            </a:r>
          </a:p>
        </p:txBody>
      </p:sp>
      <p:sp>
        <p:nvSpPr>
          <p:cNvPr id="23"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4" name="footer:AI・データリテラシー　初回準備"/>
          <p:cNvSpPr txBox="1"/>
          <p:nvPr/>
        </p:nvSpPr>
        <p:spPr>
          <a:xfrm>
            <a:off x="594360" y="6455664"/>
            <a:ext cx="8229600" cy="342900"/>
          </a:xfrm>
          <a:prstGeom prst="rect">
            <a:avLst/>
          </a:prstGeom>
          <a:noFill/>
        </p:spPr>
        <p:txBody>
          <a:bodyPr wrap="none" lIns="0" tIns="0" rIns="0" bIns="0" anchor="t">
            <a:spAutoFit/>
          </a:bodyPr>
          <a:lstStyle/>
          <a:p>
            <a:pPr>
              <a:lnSpc>
                <a:spcPct val="114000"/>
              </a:lnSpc>
              <a:spcBef>
                <a:spcPts val="0"/>
              </a:spcBef>
              <a:spcAft>
                <a:spcPts val="0"/>
              </a:spcAft>
              <a:buNone/>
              <a:defRPr sz="1800" b="0">
                <a:solidFill>
                  <a:srgbClr val="53656D"/>
                </a:solidFill>
                <a:latin typeface="Meiryo"/>
                <a:ea typeface="Meiryo"/>
                <a:cs typeface="Meiryo"/>
              </a:defRPr>
            </a:pPr>
            <a:r>
              <a:rPr sz="1800" b="0">
                <a:solidFill>
                  <a:srgbClr val="53656D"/>
                </a:solidFill>
                <a:latin typeface="Meiryo"/>
                <a:ea typeface="Meiryo"/>
                <a:cs typeface="Meiryo"/>
              </a:rPr>
              <a:t>AI・データリテラシー　初回準備</a:t>
            </a:r>
          </a:p>
        </p:txBody>
      </p:sp>
      <p:sp>
        <p:nvSpPr>
          <p:cNvPr id="25" name="footer:37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37 / 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majorFont>
      <a:min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majorFont>
      <a:min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ns0:coreProperties xmlns:dc="http://purl.org/dc/elements/1.1/" xmlns:ns0="http://schemas.openxmlformats.org/package/2006/metadata/core-properties" xmlns:ns2="http://purl.org/dc/terms/" xmlns:xsi="http://www.w3.org/2001/XMLSchema-instance">
  <dc:title>AIとGitHubを使う準備</dc:title>
  <dc:subject>学生向けの初回準備と授業への提出</dc:subject>
  <dc:creator>Takahiro Tsuchiya</dc:creator>
  <ns0:keywords>AI, GitHub, 初回準備, 利用記録, 学生向け</ns0:keywords>
  <dc:description>画像保存、利用記録、教員への招待、初回登録をブラウザで進める教材</dc:description>
  <ns0:lastModifiedBy>Takahiro Tsuchiya</ns0:lastModifiedBy>
  <ns0:revision>1</ns0:revision>
  <ns2:created xsi:type="dcterms:W3CDTF">2013-01-27T09:14:16Z</ns2:created>
  <ns2:modified xsi:type="dcterms:W3CDTF">2013-01-27T09:15:58Z</ns2:modified>
  <ns0:category/>
  <dc:language>ja-JP</dc:language>
</ns0:coreProperties>
</file>