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1pPr>
    <a:lvl2pPr marL="4572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2pPr>
    <a:lvl3pPr marL="9144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3pPr>
    <a:lvl4pPr marL="13716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4pPr>
    <a:lvl5pPr marL="18288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5pPr>
    <a:lvl6pPr marL="22860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6pPr>
    <a:lvl7pPr marL="27432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7pPr>
    <a:lvl8pPr marL="32004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8pPr>
    <a:lvl9pPr marL="36576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lang="ja-JP">
                <a:latin typeface="Meiryo"/>
                <a:ea typeface="Meiryo"/>
                <a:cs typeface="Meiryo"/>
              </a:defRPr>
            </a:lvl1pPr>
          </a:lstStyle>
          <a:p>
            <a:endParaRPr lang="ja-JP">
              <a:latin typeface="Meiryo"/>
              <a:ea typeface="Meiryo"/>
              <a:cs typeface="Meiryo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lang="ja-JP">
                <a:latin typeface="Meiryo"/>
                <a:ea typeface="Meiryo"/>
                <a:cs typeface="Meiryo"/>
              </a:defRPr>
            </a:lvl1pPr>
          </a:lstStyle>
          <a:p>
            <a:fld id="{5282F153-3F37-0F45-9E97-73ACFA13230C}" type="datetimeFigureOut">
              <a:rPr lang="ja-JP">
                <a:latin typeface="Meiryo"/>
                <a:ea typeface="Meiryo"/>
                <a:cs typeface="Meiryo"/>
              </a:rPr>
              <a:t>7/23/19</a:t>
            </a:fld>
            <a:endParaRPr lang="ja-JP">
              <a:latin typeface="Meiryo"/>
              <a:ea typeface="Meiryo"/>
              <a:cs typeface="Meiryo"/>
            </a:endParaRP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>
              <a:latin typeface="Meiryo"/>
              <a:ea typeface="Meiryo"/>
              <a:cs typeface="Meiryo"/>
            </a:endParaRPr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ja-JP">
                <a:latin typeface="Meiryo"/>
                <a:ea typeface="Meiryo"/>
                <a:cs typeface="Meiryo"/>
              </a:rPr>
              <a:t>Click to edit Master text styles</a:t>
            </a:r>
          </a:p>
          <a:p>
            <a:pPr lvl="1"/>
            <a:r>
              <a:rPr lang="ja-JP">
                <a:latin typeface="Meiryo"/>
                <a:ea typeface="Meiryo"/>
                <a:cs typeface="Meiryo"/>
              </a:rPr>
              <a:t>Second level</a:t>
            </a:r>
          </a:p>
          <a:p>
            <a:pPr lvl="2"/>
            <a:r>
              <a:rPr lang="ja-JP">
                <a:latin typeface="Meiryo"/>
                <a:ea typeface="Meiryo"/>
                <a:cs typeface="Meiryo"/>
              </a:rPr>
              <a:t>Third level</a:t>
            </a:r>
          </a:p>
          <a:p>
            <a:pPr lvl="3"/>
            <a:r>
              <a:rPr lang="ja-JP">
                <a:latin typeface="Meiryo"/>
                <a:ea typeface="Meiryo"/>
                <a:cs typeface="Meiryo"/>
              </a:rPr>
              <a:t>Fourth level</a:t>
            </a:r>
          </a:p>
          <a:p>
            <a:pPr lvl="4"/>
            <a:r>
              <a:rPr lang="ja-JP">
                <a:latin typeface="Meiryo"/>
                <a:ea typeface="Meiryo"/>
                <a:cs typeface="Meiryo"/>
              </a:rP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lang="ja-JP">
                <a:latin typeface="Meiryo"/>
                <a:ea typeface="Meiryo"/>
                <a:cs typeface="Meiryo"/>
              </a:defRPr>
            </a:lvl1pPr>
          </a:lstStyle>
          <a:p>
            <a:endParaRPr lang="ja-JP">
              <a:latin typeface="Meiryo"/>
              <a:ea typeface="Meiryo"/>
              <a:cs typeface="Meiryo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lang="ja-JP">
                <a:latin typeface="Meiryo"/>
                <a:ea typeface="Meiryo"/>
                <a:cs typeface="Meiryo"/>
              </a:defRPr>
            </a:lvl1pPr>
          </a:lstStyle>
          <a:p>
            <a:fld id="{CE5E9CC1-C706-0F49-92D6-E571CC5EEA8F}" type="slidenum">
              <a:rPr lang="ja-JP">
                <a:latin typeface="Meiryo"/>
                <a:ea typeface="Meiryo"/>
                <a:cs typeface="Meiryo"/>
              </a:rPr>
              <a:t>‹#›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1pPr>
    <a:lvl2pPr marL="4572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2pPr>
    <a:lvl3pPr marL="9144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3pPr>
    <a:lvl4pPr marL="13716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4pPr>
    <a:lvl5pPr marL="18288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5pPr>
    <a:lvl6pPr marL="22860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6pPr>
    <a:lvl7pPr marL="27432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7pPr>
    <a:lvl8pPr marL="32004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8pPr>
    <a:lvl9pPr marL="36576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【進行】必要なことをAIに伝える / 1ページ
到達点：必要な材料と条件を伝え、同じ基準で出力を比較する。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【進行】必要なことをAIに伝える / 2ページ
到達点：必要な材料と条件を伝え、同じ基準で出力を比較する。
スライドの指示に沿って操作を待つ。学生の画面で結果を確認してから次へ進む。
操作に詰まった学生には、表示中の画面と止まった箇所を確認する。パスワードや認証コードは見せさせない。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2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【進行】必要なことをAIに伝える / 3ページ
到達点：必要な材料と条件を伝え、同じ基準で出力を比較する。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3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【進行】必要なことをAIに伝える / 4ページ
到達点：必要な材料と条件を伝え、同じ基準で出力を比較する。
出力が適切で、不明事項を尋ね返した場合はそれを良い応答として扱う。誤りが必ず出るとは説明しない。
操作に詰まった学生には、表示中の画面と止まった箇所を確認する。パスワードや認証コードは見せさせない。
コピー用の依頼文はhandouts/にある。指示文は例であり、長さや特定の語句を暗記させない。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4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【進行】必要なことをAIに伝える / 5ページ
到達点：必要な材料と条件を伝え、同じ基準で出力を比較する。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5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【進行】必要なことをAIに伝える / 6ページ
到達点：必要な材料と条件を伝え、同じ基準で出力を比較する。
スライドの指示に沿って操作を待つ。学生の画面で結果を確認してから次へ進む。
操作に詰まった学生には、表示中の画面と止まった箇所を確認する。パスワードや認証コードは見せさせない。
コピー用の依頼文はhandouts/にある。指示文は例であり、長さや特定の語句を暗記させない。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6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【進行】必要なことをAIに伝える / 7ページ
到達点：必要な材料と条件を伝え、同じ基準で出力を比較する。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7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【進行】必要なことをAIに伝える / 8ページ
到達点：必要な材料と条件を伝え、同じ基準で出力を比較する。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8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【進行】必要なことをAIに伝える / 9ページ
到達点：必要な材料と条件を伝え、同じ基準で出力を比較する。
スライドの指示に沿って操作を待つ。学生の画面で結果を確認してから次へ進む。
操作に詰まった学生には、表示中の画面と止まった箇所を確認する。パスワードや認証コードは見せさせない。
コピー用の依頼文はhandouts/にある。指示文は例であり、長さや特定の語句を暗記させない。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9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【進行】必要なことをAIに伝える / 10ページ
到達点：必要な材料と条件を伝え、同じ基準で出力を比較する。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10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【進行】必要なことをAIに伝える / 11ページ
到達点：必要な材料と条件を伝え、同じ基準で出力を比較する。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11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【進行】必要なことをAIに伝える / 12ページ
到達点：必要な材料と条件を伝え、同じ基準で出力を比較する。
AIとの会話全文、共有リンク、無意味な再試行回数は求めない。変更が不要だった場合も確認した対象と結果を書けばよい。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12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【進行】必要なことをAIに伝える / 13ページ
到達点：必要な材料と条件を伝え、同じ基準で出力を比較する。
Desktopを使った学生はPush origin後にGitHubで確認する。フォーム送信完了画面まで確認。教員の閲覧権限は別途必要。
操作に詰まった学生には、表示中の画面と止まった箇所を確認する。パスワードや認証コードは見せさせない。
【参考資料】
GitHub Docs「Editing files」
https://docs.github.com/en/repositories/working-with-files/managing-files/editing-files
確認日：2026-09-17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13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【進行】必要なことをAIに伝える / 14ページ
到達点：必要な材料と条件を伝え、同じ基準で出力を比較する。
このチェックは暗記テストではない。ファイルと画面を見ながら自己確認させる。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14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 lang="ja-JP">
          <a:solidFill>
            <a:schemeClr val="tx1"/>
          </a:solidFill>
          <a:latin typeface="Meiryo"/>
          <a:ea typeface="Meiryo"/>
          <a:cs typeface="Meiryo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Meiryo" pitchFamily="34" charset="0"/>
        <a:buChar char="•"/>
        <a:defRPr sz="3200" kern="1200" lang="ja-JP">
          <a:solidFill>
            <a:schemeClr val="tx1"/>
          </a:solidFill>
          <a:latin typeface="Meiryo"/>
          <a:ea typeface="Meiryo"/>
          <a:cs typeface="Meiryo"/>
        </a:defRPr>
      </a:lvl1pPr>
      <a:lvl2pPr marL="742950" indent="-285750" algn="l" defTabSz="914400" rtl="0" eaLnBrk="1" latinLnBrk="0" hangingPunct="1">
        <a:spcBef>
          <a:spcPct val="20000"/>
        </a:spcBef>
        <a:buFont typeface="Meiryo" pitchFamily="34" charset="0"/>
        <a:buChar char="–"/>
        <a:defRPr sz="2800" kern="1200" lang="ja-JP">
          <a:solidFill>
            <a:schemeClr val="tx1"/>
          </a:solidFill>
          <a:latin typeface="Meiryo"/>
          <a:ea typeface="Meiryo"/>
          <a:cs typeface="Meiryo"/>
        </a:defRPr>
      </a:lvl2pPr>
      <a:lvl3pPr marL="11430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400" kern="1200" lang="ja-JP">
          <a:solidFill>
            <a:schemeClr val="tx1"/>
          </a:solidFill>
          <a:latin typeface="Meiryo"/>
          <a:ea typeface="Meiryo"/>
          <a:cs typeface="Meiryo"/>
        </a:defRPr>
      </a:lvl3pPr>
      <a:lvl4pPr marL="1600200" indent="-228600" algn="l" defTabSz="914400" rtl="0" eaLnBrk="1" latinLnBrk="0" hangingPunct="1">
        <a:spcBef>
          <a:spcPct val="20000"/>
        </a:spcBef>
        <a:buFont typeface="Meiryo" pitchFamily="34" charset="0"/>
        <a:buChar char="–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4pPr>
      <a:lvl5pPr marL="2057400" indent="-228600" algn="l" defTabSz="914400" rtl="0" eaLnBrk="1" latinLnBrk="0" hangingPunct="1">
        <a:spcBef>
          <a:spcPct val="20000"/>
        </a:spcBef>
        <a:buFont typeface="Meiryo" pitchFamily="34" charset="0"/>
        <a:buChar char="»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5pPr>
      <a:lvl6pPr marL="25146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6pPr>
      <a:lvl7pPr marL="29718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7pPr>
      <a:lvl8pPr marL="34290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8pPr>
      <a:lvl9pPr marL="38862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9pPr>
    </p:bodyStyle>
    <p:otherStyle>
      <a:defPPr>
        <a:defRPr lang="ja-JP">
          <a:latin typeface="Meiryo"/>
          <a:ea typeface="Meiryo"/>
          <a:cs typeface="Meiryo"/>
        </a:defRPr>
      </a:defPPr>
      <a:lvl1pPr marL="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1pPr>
      <a:lvl2pPr marL="4572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2pPr>
      <a:lvl3pPr marL="9144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3pPr>
      <a:lvl4pPr marL="13716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4pPr>
      <a:lvl5pPr marL="18288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5pPr>
      <a:lvl6pPr marL="22860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6pPr>
      <a:lvl7pPr marL="27432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7pPr>
      <a:lvl8pPr marL="32004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8pPr>
      <a:lvl9pPr marL="36576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1.png"/><Relationship Id="rId3" Type="http://schemas.openxmlformats.org/officeDocument/2006/relationships/image" Target="../media/image-11-1.png"/><Relationship Id="rId4" Type="http://schemas.openxmlformats.org/officeDocument/2006/relationships/image" Target="../media/image-11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1.png"/><Relationship Id="rId3" Type="http://schemas.openxmlformats.org/officeDocument/2006/relationships/image" Target="../media/image-14-1.png"/><Relationship Id="rId4" Type="http://schemas.openxmlformats.org/officeDocument/2006/relationships/image" Target="../media/image-14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2B39"/>
          </a:solidFill>
          <a:ln w="12700">
            <a:solidFill>
              <a:srgbClr val="132B3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007F82"/>
          </a:solidFill>
          <a:ln w="12700">
            <a:solidFill>
              <a:srgbClr val="007F8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13232" y="557784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B1D6D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第02回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713232" y="1554480"/>
            <a:ext cx="941832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4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同じ課題を、</a:t>
            </a:r>
            <a:endParaRPr lang="ja-JP" sz="42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4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どう頼めばよい？</a:t>
            </a:r>
            <a:endParaRPr lang="ja-JP" sz="42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749808" y="4169664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D9E7E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第2回｜必要な条件を足して、</a:t>
            </a:r>
            <a:endParaRPr lang="ja-JP" sz="26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D9E7E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返ってきた文章を比べます。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7" name="Image 0" descr="Lucide key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97312" y="566928"/>
            <a:ext cx="841248" cy="84124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49808" y="6281928"/>
            <a:ext cx="9144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D9E7E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大学生のためのAI・データリテラシー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今日は、依頼を2通り比べる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04088" y="1572768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1737360" y="1508760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短い依頼を送る。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1737360" y="2212848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AIがどのような内容を補うかを見る。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Shape 5"/>
          <p:cNvSpPr/>
          <p:nvPr/>
        </p:nvSpPr>
        <p:spPr>
          <a:xfrm>
            <a:off x="1737360" y="2752344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04088" y="2926080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1737360" y="2862072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条件を足して、もう一度頼む。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1737360" y="3566160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相手・材料・完成形を伝える。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1737360" y="4105656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04088" y="4279392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1737360" y="4215384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結果を比べる。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1737360" y="4919472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条件に合った点と、まだ足りない点を書く。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6" name="Text 14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第2回  02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今回作るのは、参加者への案内文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17904"/>
            <a:ext cx="10908792" cy="405079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pic>
        <p:nvPicPr>
          <p:cNvPr id="5" name="Image 0" descr="Lucide file-tex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" y="1801368"/>
            <a:ext cx="438912" cy="43891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27632" y="1810512"/>
            <a:ext cx="9546336" cy="3639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教育用の架空イベント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日時：2026年10月15日 13:30〜15:00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会場：4号館402教室　定員：40人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費用：無料　申込締切：10月10日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持ち物：ノートパソコン・大学アカウント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667512" y="5779008"/>
            <a:ext cx="10844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出典：assets/week04/sample_event_notice.md（架空資料）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Text 5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6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第2回  03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まずは短く頼んでみる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pic>
        <p:nvPicPr>
          <p:cNvPr id="4" name="Image 0" descr="Lucide key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499616"/>
            <a:ext cx="384048" cy="38404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280160" y="1490472"/>
            <a:ext cx="7315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AIに送ってみよう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Shape 3"/>
          <p:cNvSpPr/>
          <p:nvPr/>
        </p:nvSpPr>
        <p:spPr>
          <a:xfrm>
            <a:off x="640080" y="2084832"/>
            <a:ext cx="10908792" cy="2871216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0976" y="2350008"/>
            <a:ext cx="1028700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大学のAI講習会の案内を書いてください。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pic>
        <p:nvPicPr>
          <p:cNvPr id="8" name="Image 1" descr="Lucide circle-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5230368"/>
            <a:ext cx="338328" cy="33832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25296" y="516636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日時・場所・費用を、AIが勝手に補っていないか確認する。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6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7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第2回  04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AIが知っているとは限らない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54480"/>
            <a:ext cx="5358384" cy="3986784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05256" y="1847088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依頼文にないこと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905256" y="2944368"/>
            <a:ext cx="482803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誰に向けた案内か。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実施する日時と会場。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参加者が持ってくる物。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Shape 5"/>
          <p:cNvSpPr/>
          <p:nvPr/>
        </p:nvSpPr>
        <p:spPr>
          <a:xfrm>
            <a:off x="6190488" y="1554480"/>
            <a:ext cx="5358384" cy="3986784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55664" y="1847088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追加する材料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6455664" y="2944368"/>
            <a:ext cx="482803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新入生に読んでほしい。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配布資料の情報を使う。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180字程度にまとめたい。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9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第2回  05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資料と条件を付けて頼む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pic>
        <p:nvPicPr>
          <p:cNvPr id="4" name="Image 0" descr="Lucide key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499616"/>
            <a:ext cx="384048" cy="38404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280160" y="1490472"/>
            <a:ext cx="7315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AIに送ってみよう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Shape 3"/>
          <p:cNvSpPr/>
          <p:nvPr/>
        </p:nvSpPr>
        <p:spPr>
          <a:xfrm>
            <a:off x="640080" y="2084832"/>
            <a:ext cx="10908792" cy="2871216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0976" y="2350008"/>
            <a:ext cx="1028700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配布資料を使い、新入生向けの案内を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180字程度で書いてください。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日時・会場・持ち物・申込締切を入れ、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資料にない情報は補わないでください。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pic>
        <p:nvPicPr>
          <p:cNvPr id="8" name="Image 1" descr="Lucide circle-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5230368"/>
            <a:ext cx="338328" cy="33832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25296" y="516636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この依頼の後に、配布資料の本文を貼り付ける。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6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7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第2回  06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条件は、必要なものだけでよい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36192"/>
            <a:ext cx="3496056" cy="3977640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pic>
        <p:nvPicPr>
          <p:cNvPr id="5" name="Image 0" descr="Lucide targe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1819656"/>
            <a:ext cx="530352" cy="53035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96112" y="2660904"/>
            <a:ext cx="2983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何のため？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896112" y="3639312"/>
            <a:ext cx="298399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誰に何を伝える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文章なのか。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Shape 5"/>
          <p:cNvSpPr/>
          <p:nvPr/>
        </p:nvSpPr>
        <p:spPr>
          <a:xfrm>
            <a:off x="4346448" y="1536192"/>
            <a:ext cx="3496056" cy="3977640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pic>
        <p:nvPicPr>
          <p:cNvPr id="9" name="Image 1" descr="Lucide file-tex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2480" y="1819656"/>
            <a:ext cx="530352" cy="53035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02480" y="2660904"/>
            <a:ext cx="2983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何を使う？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7"/>
          <p:cNvSpPr txBox="1"/>
          <p:nvPr/>
        </p:nvSpPr>
        <p:spPr>
          <a:xfrm>
            <a:off x="4602480" y="3639312"/>
            <a:ext cx="298399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元資料と、変えては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いけない情報。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2" name="Shape 8"/>
          <p:cNvSpPr/>
          <p:nvPr/>
        </p:nvSpPr>
        <p:spPr>
          <a:xfrm>
            <a:off x="8052816" y="1536192"/>
            <a:ext cx="3496056" cy="3977640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pic>
        <p:nvPicPr>
          <p:cNvPr id="13" name="Image 2" descr="Lucide list-check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8848" y="1819656"/>
            <a:ext cx="530352" cy="53035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308848" y="2660904"/>
            <a:ext cx="2983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どんな形？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15" name="Text 10"/>
          <p:cNvSpPr txBox="1"/>
          <p:nvPr/>
        </p:nvSpPr>
        <p:spPr>
          <a:xfrm>
            <a:off x="8308848" y="3639312"/>
            <a:ext cx="298399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長さ、入れる項目、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完成の条件。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6" name="Text 11"/>
          <p:cNvSpPr txBox="1"/>
          <p:nvPr/>
        </p:nvSpPr>
        <p:spPr>
          <a:xfrm>
            <a:off x="667512" y="5779008"/>
            <a:ext cx="10844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長い定型文や、決まった5要素を暗記する必要はない。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7" name="Text 12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8" name="Text 13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第2回  07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2つの出力を、同じ項目で比べる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54480"/>
            <a:ext cx="3474720" cy="704088"/>
          </a:xfrm>
          <a:prstGeom prst="rect">
            <a:avLst/>
          </a:prstGeom>
          <a:solidFill>
            <a:srgbClr val="132B39"/>
          </a:solidFill>
          <a:ln w="12700">
            <a:solidFill>
              <a:srgbClr val="132B3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86384" y="1709928"/>
            <a:ext cx="31821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確認すること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114800" y="1554480"/>
            <a:ext cx="3794760" cy="704088"/>
          </a:xfrm>
          <a:prstGeom prst="rect">
            <a:avLst/>
          </a:prstGeom>
          <a:solidFill>
            <a:srgbClr val="132B39"/>
          </a:solidFill>
          <a:ln w="12700">
            <a:solidFill>
              <a:srgbClr val="132B3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261104" y="1709928"/>
            <a:ext cx="35021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短い依頼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Shape 6"/>
          <p:cNvSpPr/>
          <p:nvPr/>
        </p:nvSpPr>
        <p:spPr>
          <a:xfrm>
            <a:off x="7909560" y="1554480"/>
            <a:ext cx="3639312" cy="704088"/>
          </a:xfrm>
          <a:prstGeom prst="rect">
            <a:avLst/>
          </a:prstGeom>
          <a:solidFill>
            <a:srgbClr val="132B39"/>
          </a:solidFill>
          <a:ln w="12700">
            <a:solidFill>
              <a:srgbClr val="132B3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055864" y="1709928"/>
            <a:ext cx="33467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条件を付けた依頼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40080" y="2258568"/>
            <a:ext cx="3474720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86384" y="2386584"/>
            <a:ext cx="3182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日時と会場は正しいか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4114800" y="2258568"/>
            <a:ext cx="3794760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261104" y="2386584"/>
            <a:ext cx="35021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自分で記入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909560" y="2258568"/>
            <a:ext cx="3639312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055864" y="2386584"/>
            <a:ext cx="33467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自分で記入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640080" y="3017520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" y="3017520"/>
            <a:ext cx="3474720" cy="7589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86384" y="3145536"/>
            <a:ext cx="3182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持ち物が書いてあるか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4114800" y="3017520"/>
            <a:ext cx="3794760" cy="7589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261104" y="3145536"/>
            <a:ext cx="35021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自分で記入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7909560" y="3017520"/>
            <a:ext cx="3639312" cy="7589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055864" y="3145536"/>
            <a:ext cx="33467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自分で記入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640080" y="3776472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0080" y="3776472"/>
            <a:ext cx="3474720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86384" y="3904488"/>
            <a:ext cx="3182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余計な情報はないか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4114800" y="3776472"/>
            <a:ext cx="3794760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261104" y="3904488"/>
            <a:ext cx="35021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自分で記入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7909560" y="3776472"/>
            <a:ext cx="3639312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055864" y="3904488"/>
            <a:ext cx="33467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自分で記入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640080" y="453542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67512" y="5779008"/>
            <a:ext cx="10844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うまくいった点も記録する。「悪い例」を無理に作らない。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32" name="Text 30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33" name="Text 31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第2回  08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必要なところだけ、修正を頼む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pic>
        <p:nvPicPr>
          <p:cNvPr id="4" name="Image 0" descr="Lucide key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499616"/>
            <a:ext cx="384048" cy="38404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280160" y="1490472"/>
            <a:ext cx="7315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AIに送ってみよう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Shape 3"/>
          <p:cNvSpPr/>
          <p:nvPr/>
        </p:nvSpPr>
        <p:spPr>
          <a:xfrm>
            <a:off x="640080" y="2084832"/>
            <a:ext cx="10908792" cy="2871216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0976" y="2350008"/>
            <a:ext cx="1028700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会場と日時はそのままにして、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持ち物の「大学アカウント」を追加してください。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ほかの情報は変えないでください。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pic>
        <p:nvPicPr>
          <p:cNvPr id="8" name="Image 1" descr="Lucide circle-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5230368"/>
            <a:ext cx="338328" cy="33832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25296" y="516636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1回で条件を満たしたら、修正回数を増やす必要はない。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6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7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第2回  09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長い依頼より、必要な材料を渡す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54480"/>
            <a:ext cx="5358384" cy="3986784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05256" y="1847088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効果を判断しにくい依頼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905256" y="2944368"/>
            <a:ext cx="482803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完璧な案内を書いて。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プロらしく、最高の文章に。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Shape 5"/>
          <p:cNvSpPr/>
          <p:nvPr/>
        </p:nvSpPr>
        <p:spPr>
          <a:xfrm>
            <a:off x="6190488" y="1554480"/>
            <a:ext cx="5358384" cy="3986784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55664" y="1847088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確かめられる依頼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6455664" y="2944368"/>
            <a:ext cx="482803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新入生向けに180字で。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日時・会場・持ち物を入れる。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資料にない内容は足さない。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9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第2回  10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どちらを採用するか決める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pic>
        <p:nvPicPr>
          <p:cNvPr id="4" name="Image 0" descr="Lucide circle-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682496"/>
            <a:ext cx="402336" cy="40233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435608" y="1645920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配布資料の日時と一致している。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6" name="Image 1" descr="Lucide circle-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633472"/>
            <a:ext cx="402336" cy="40233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435608" y="2596896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必要な項目が欠けていない。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8" name="Image 2" descr="Lucide circle-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584448"/>
            <a:ext cx="402336" cy="402336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435608" y="3547872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対象の学生が読める表現になっている。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10" name="Image 3" descr="Lucide circle-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4535424"/>
            <a:ext cx="402336" cy="402336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435608" y="4498848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採用する理由を1〜2文で説明できる。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12" name="Text 6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3" name="Text 7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第2回  11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成果物と確認したことを残す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54480"/>
            <a:ext cx="5257800" cy="4041648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pic>
        <p:nvPicPr>
          <p:cNvPr id="5" name="Image 0" descr="Lucide fold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3544" y="1828800"/>
            <a:ext cx="448056" cy="44805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72768" y="181965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week02/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950976" y="2660904"/>
            <a:ext cx="45902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README.md：</a:t>
            </a:r>
            <a:endParaRPr lang="ja-JP" sz="22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依頼2通り・比較・採用案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Text 5"/>
          <p:cNvSpPr txBox="1"/>
          <p:nvPr/>
        </p:nvSpPr>
        <p:spPr>
          <a:xfrm>
            <a:off x="6391656" y="1801368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READMEの利用記録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6"/>
          <p:cNvSpPr txBox="1"/>
          <p:nvPr/>
        </p:nvSpPr>
        <p:spPr>
          <a:xfrm>
            <a:off x="6400800" y="2779776"/>
            <a:ext cx="4809744" cy="2432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AIに任せたこと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自分で確かめたこと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確認できなかったこと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7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8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第2回  12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保存した版のURLを提出する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04088" y="1572768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1737360" y="1508760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GitHubで変更を確定する。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1737360" y="2212848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更新したファイルを確認し、commitする。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Shape 5"/>
          <p:cNvSpPr/>
          <p:nvPr/>
        </p:nvSpPr>
        <p:spPr>
          <a:xfrm>
            <a:off x="1737360" y="2752344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04088" y="2926080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1737360" y="2862072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そのcommitのページを開く。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1737360" y="3566160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URLに /commit/ があることを確認する。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1737360" y="4105656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04088" y="4279392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1737360" y="4215384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授業の提出フォームを送る。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1737360" y="4919472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大学アカウントで開き、Week 02を選ぶ。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667512" y="5779008"/>
            <a:ext cx="10844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ブラウザでcommitした場合、別のpush操作は不要。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6" name="Text 14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7" name="Text 15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第2回  13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提出する前に、ここを確認する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pic>
        <p:nvPicPr>
          <p:cNvPr id="4" name="Image 0" descr="Lucide circle-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682496"/>
            <a:ext cx="402336" cy="40233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435608" y="1645920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2つの依頼と、出力の違いを示した。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6" name="Image 1" descr="Lucide circle-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633472"/>
            <a:ext cx="402336" cy="40233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435608" y="2596896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元資料と照合した点を書いた。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8" name="Image 2" descr="Lucide circle-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584448"/>
            <a:ext cx="402336" cy="402336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435608" y="3547872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不要な試行回数を増やしていない。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10" name="Image 3" descr="Lucide circle-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4535424"/>
            <a:ext cx="402336" cy="402336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435608" y="4498848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成果物のあるcommit URLを送った。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12" name="Text 6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3" name="Text 7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第2回  14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eiryo"/>
        <a:ea typeface="Meiryo"/>
        <a:cs typeface="Meiryo"/>
        <a:font script="Jpan" typeface="Meiryo"/>
        <a:font script="Hang" typeface="Meiryo"/>
        <a:font script="Hans" typeface="Meiryo"/>
        <a:font script="Hant" typeface="Meiryo"/>
        <a:font script="Arab" typeface="Meiryo"/>
        <a:font script="Hebr" typeface="Meiryo"/>
        <a:font script="Thai" typeface="Meiryo"/>
        <a:font script="Ethi" typeface="Meiryo"/>
        <a:font script="Beng" typeface="Meiryo"/>
        <a:font script="Gujr" typeface="Meiryo"/>
        <a:font script="Khmr" typeface="Meiryo"/>
        <a:font script="Knda" typeface="Meiryo"/>
        <a:font script="Guru" typeface="Meiryo"/>
        <a:font script="Cans" typeface="Meiryo"/>
        <a:font script="Cher" typeface="Meiryo"/>
        <a:font script="Yiii" typeface="Meiryo"/>
        <a:font script="Tibt" typeface="Meiryo"/>
        <a:font script="Thaa" typeface="Meiryo"/>
        <a:font script="Deva" typeface="Meiryo"/>
        <a:font script="Telu" typeface="Meiryo"/>
        <a:font script="Taml" typeface="Meiryo"/>
        <a:font script="Syrc" typeface="Meiryo"/>
        <a:font script="Orya" typeface="Meiryo"/>
        <a:font script="Mlym" typeface="Meiryo"/>
        <a:font script="Laoo" typeface="Meiryo"/>
        <a:font script="Sinh" typeface="Meiryo"/>
        <a:font script="Mong" typeface="Meiryo"/>
        <a:font script="Viet" typeface="Meiryo"/>
        <a:font script="Uigh" typeface="Meiryo"/>
        <a:font script="Geor" typeface="Meiryo"/>
        <a:font script="Armn" typeface="Meiryo"/>
        <a:font script="Bugi" typeface="Meiryo"/>
        <a:font script="Bopo" typeface="Meiryo"/>
        <a:font script="Java" typeface="Meiryo"/>
        <a:font script="Lisu" typeface="Meiryo"/>
        <a:font script="Mymr" typeface="Meiryo"/>
        <a:font script="Nkoo" typeface="Meiryo"/>
        <a:font script="Olck" typeface="Meiryo"/>
        <a:font script="Osma" typeface="Meiryo"/>
        <a:font script="Phag" typeface="Meiryo"/>
        <a:font script="Syrn" typeface="Meiryo"/>
        <a:font script="Syrj" typeface="Meiryo"/>
        <a:font script="Syre" typeface="Meiryo"/>
        <a:font script="Sora" typeface="Meiryo"/>
        <a:font script="Tale" typeface="Meiryo"/>
        <a:font script="Talu" typeface="Meiryo"/>
        <a:font script="Tfng" typeface="Meiryo"/>
      </a:majorFont>
      <a:minorFont>
        <a:latin typeface="Meiryo"/>
        <a:ea typeface="Meiryo"/>
        <a:cs typeface="Meiryo"/>
        <a:font script="Jpan" typeface="Meiryo"/>
        <a:font script="Hang" typeface="Meiryo"/>
        <a:font script="Hans" typeface="Meiryo"/>
        <a:font script="Hant" typeface="Meiryo"/>
        <a:font script="Arab" typeface="Meiryo"/>
        <a:font script="Hebr" typeface="Meiryo"/>
        <a:font script="Thai" typeface="Meiryo"/>
        <a:font script="Ethi" typeface="Meiryo"/>
        <a:font script="Beng" typeface="Meiryo"/>
        <a:font script="Gujr" typeface="Meiryo"/>
        <a:font script="Khmr" typeface="Meiryo"/>
        <a:font script="Knda" typeface="Meiryo"/>
        <a:font script="Guru" typeface="Meiryo"/>
        <a:font script="Cans" typeface="Meiryo"/>
        <a:font script="Cher" typeface="Meiryo"/>
        <a:font script="Yiii" typeface="Meiryo"/>
        <a:font script="Tibt" typeface="Meiryo"/>
        <a:font script="Thaa" typeface="Meiryo"/>
        <a:font script="Deva" typeface="Meiryo"/>
        <a:font script="Telu" typeface="Meiryo"/>
        <a:font script="Taml" typeface="Meiryo"/>
        <a:font script="Syrc" typeface="Meiryo"/>
        <a:font script="Orya" typeface="Meiryo"/>
        <a:font script="Mlym" typeface="Meiryo"/>
        <a:font script="Laoo" typeface="Meiryo"/>
        <a:font script="Sinh" typeface="Meiryo"/>
        <a:font script="Mong" typeface="Meiryo"/>
        <a:font script="Viet" typeface="Meiryo"/>
        <a:font script="Uigh" typeface="Meiryo"/>
        <a:font script="Geor" typeface="Meiryo"/>
        <a:font script="Armn" typeface="Meiryo"/>
        <a:font script="Bugi" typeface="Meiryo"/>
        <a:font script="Bopo" typeface="Meiryo"/>
        <a:font script="Java" typeface="Meiryo"/>
        <a:font script="Lisu" typeface="Meiryo"/>
        <a:font script="Mymr" typeface="Meiryo"/>
        <a:font script="Nkoo" typeface="Meiryo"/>
        <a:font script="Olck" typeface="Meiryo"/>
        <a:font script="Osma" typeface="Meiryo"/>
        <a:font script="Phag" typeface="Meiryo"/>
        <a:font script="Syrn" typeface="Meiryo"/>
        <a:font script="Syrj" typeface="Meiryo"/>
        <a:font script="Syre" typeface="Meiryo"/>
        <a:font script="Sora" typeface="Meiryo"/>
        <a:font script="Tale" typeface="Meiryo"/>
        <a:font script="Talu" typeface="Meiryo"/>
        <a:font script="Tfng" typeface="Meiryo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Tsuchiya Lab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必要なことをAIに伝える</dc:title>
  <dc:subject>AI・データリテラシー／学生向け演習</dc:subject>
  <dc:creator>Takahiro Tsuchiya</dc:creator>
  <cp:lastModifiedBy>Takahiro Tsuchiya</cp:lastModifiedBy>
  <cp:revision>1</cp:revision>
  <dcterms:created xsi:type="dcterms:W3CDTF">2026-09-17T11:31:39Z</dcterms:created>
  <dcterms:modified xsi:type="dcterms:W3CDTF">2026-09-17T11:31:39Z</dcterms:modified>
</cp:coreProperties>
</file>