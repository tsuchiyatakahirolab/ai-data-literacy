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5282F153-3F37-0F45-9E97-73ACFA13230C}" type="datetimeFigureOut">
              <a:rPr lang="ja-JP">
                <a:latin typeface="Meiryo"/>
                <a:ea typeface="Meiryo"/>
                <a:cs typeface="Meiryo"/>
              </a:rPr>
              <a:t>7/23/19</a:t>
            </a:fld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ja-JP">
                <a:latin typeface="Meiryo"/>
                <a:ea typeface="Meiryo"/>
                <a:cs typeface="Meiryo"/>
              </a:rPr>
              <a:t>Click to edit Master text styles</a:t>
            </a:r>
          </a:p>
          <a:p>
            <a:pPr lvl="1"/>
            <a:r>
              <a:rPr lang="ja-JP">
                <a:latin typeface="Meiryo"/>
                <a:ea typeface="Meiryo"/>
                <a:cs typeface="Meiryo"/>
              </a:rPr>
              <a:t>Second level</a:t>
            </a:r>
          </a:p>
          <a:p>
            <a:pPr lvl="2"/>
            <a:r>
              <a:rPr lang="ja-JP">
                <a:latin typeface="Meiryo"/>
                <a:ea typeface="Meiryo"/>
                <a:cs typeface="Meiryo"/>
              </a:rPr>
              <a:t>Third level</a:t>
            </a:r>
          </a:p>
          <a:p>
            <a:pPr lvl="3"/>
            <a:r>
              <a:rPr lang="ja-JP">
                <a:latin typeface="Meiryo"/>
                <a:ea typeface="Meiryo"/>
                <a:cs typeface="Meiryo"/>
              </a:rPr>
              <a:t>Fourth level</a:t>
            </a:r>
          </a:p>
          <a:p>
            <a:pPr lvl="4"/>
            <a:r>
              <a:rPr lang="ja-JP">
                <a:latin typeface="Meiryo"/>
                <a:ea typeface="Meiryo"/>
                <a:cs typeface="Meiryo"/>
              </a:rP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CE5E9CC1-C706-0F49-92D6-E571CC5EEA8F}" type="slidenum">
              <a:rPr lang="ja-JP">
                <a:latin typeface="Meiryo"/>
                <a:ea typeface="Meiryo"/>
                <a:cs typeface="Meiryo"/>
              </a:rPr>
              <a:t>‹#›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【進行】割合の分母を確かめる / 1ページ
到達点：分母・分子・単位を確かめ、割合の意味を説明する。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【進行】割合の分母を確かめる / 2ページ
到達点：分母・分子・単位を確かめ、割合の意味を説明する。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【進行】割合の分母を確かめる / 3ページ
到達点：分母・分子・単位を確かめ、割合の意味を説明する。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【進行】割合の分母を確かめる / 4ページ
到達点：分母・分子・単位を確かめ、割合の意味を説明する。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4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【進行】割合の分母を確かめる / 5ページ
到達点：分母・分子・単位を確かめ、割合の意味を説明する。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5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【進行】割合の分母を確かめる / 6ページ
到達点：分母・分子・単位を確かめ、割合の意味を説明する。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6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【進行】割合の分母を確かめる / 7ページ
到達点：分母・分子・単位を確かめ、割合の意味を説明する。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7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【進行】割合の分母を確かめる / 8ページ
到達点：分母・分子・単位を確かめ、割合の意味を説明する。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8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【進行】割合の分母を確かめる / 9ページ
到達点：分母・分子・単位を確かめ、割合の意味を説明する。
スライドの指示に沿って操作を待つ。学生の画面で結果を確認してから次へ進む。
操作に詰まった学生には、表示中の画面と止まった箇所を確認する。パスワードや認証コードは見せさせない。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9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【進行】割合の分母を確かめる / 10ページ
到達点：分母・分子・単位を確かめ、割合の意味を説明する。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10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【進行】割合の分母を確かめる / 11ページ
到達点：分母・分子・単位を確かめ、割合の意味を説明する。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【進行】割合の分母を確かめる / 12ページ
到達点：分母・分子・単位を確かめ、割合の意味を説明する。
AIとの会話全文、共有リンク、無意味な再試行回数は求めない。変更が不要だった場合も確認した対象と結果を書けばよい。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【進行】割合の分母を確かめる / 13ページ
到達点：分母・分子・単位を確かめ、割合の意味を説明する。
Desktopを使った学生はPush origin後にGitHubで確認する。フォーム送信完了画面まで確認。教員の閲覧権限は別途必要。
操作に詰まった学生には、表示中の画面と止まった箇所を確認する。パスワードや認証コードは見せさせない。
【参考資料】
GitHub Docs「Editing files」
https://docs.github.com/en/repositories/working-with-files/managing-files/editing-files
確認日：2026-09-17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【進行】割合の分母を確かめる / 14ページ
到達点：分母・分子・単位を確かめ、割合の意味を説明する。
このチェックは暗記テストではない。ファイルと画面を見ながら自己確認させる。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14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.xml" /><ns0:Relationship Id="rId2" Type="http://schemas.openxmlformats.org/officeDocument/2006/relationships/theme" Target="../theme/theme1.xml" /><ns0:Relationship Id="rIdPersonalAuthorLogo" Type="http://schemas.openxmlformats.org/officeDocument/2006/relationships/image" Target="../media/personal-author-logo.png" /></ns0:Relationships>
</file>

<file path=ppt/slideMasters/slideMaster1.xml><?xml version="1.0" encoding="utf-8"?>
<p:sldMaster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/>
          <p:cNvPicPr>
            <a:picLocks noChangeAspect="1"/>
          </p:cNvPicPr>
          <p:nvPr/>
        </p:nvPicPr>
        <p:blipFill>
          <a:blip r:embed="rIdPersonalAuthorLogo"/>
          <a:stretch/>
        </p:blipFill>
        <p:spPr>
          <a:xfrm>
            <a:off x="685800" y="85748"/>
            <a:ext cx="1714500" cy="210457"/>
          </a:xfrm>
          <a:prstGeom prst="rect">
            <a:avLst/>
          </a:prstGeom>
        </p:spPr>
      </p:pic>
      <p:sp>
        <p:nvSpPr>
          <p:cNvPr id="3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60748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60748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 lang="ja-JP">
          <a:solidFill>
            <a:schemeClr val="tx1"/>
          </a:solidFill>
          <a:latin typeface="Meiryo"/>
          <a:ea typeface="Meiryo"/>
          <a:cs typeface="Meiryo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Meiryo" pitchFamily="34" charset="0"/>
        <a:buChar char="•"/>
        <a:defRPr sz="32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742950" indent="-285750" algn="l" defTabSz="914400" rtl="0" eaLnBrk="1" latinLnBrk="0" hangingPunct="1">
        <a:spcBef>
          <a:spcPct val="20000"/>
        </a:spcBef>
        <a:buFont typeface="Meiryo" pitchFamily="34" charset="0"/>
        <a:buChar char="–"/>
        <a:defRPr sz="2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1143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4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600200" indent="-228600" algn="l" defTabSz="914400" rtl="0" eaLnBrk="1" latinLnBrk="0" hangingPunct="1">
        <a:spcBef>
          <a:spcPct val="20000"/>
        </a:spcBef>
        <a:buFont typeface="Meiryo" pitchFamily="34" charset="0"/>
        <a:buChar char="–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2057400" indent="-228600" algn="l" defTabSz="914400" rtl="0" eaLnBrk="1" latinLnBrk="0" hangingPunct="1">
        <a:spcBef>
          <a:spcPct val="20000"/>
        </a:spcBef>
        <a:buFont typeface="Meiryo" pitchFamily="34" charset="0"/>
        <a:buChar char="»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5146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9718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429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8862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9pPr>
    </p:bodyStyle>
    <p:otherStyle>
      <a:defPPr>
        <a:defRPr lang="ja-JP">
          <a:latin typeface="Meiryo"/>
          <a:ea typeface="Meiryo"/>
          <a:cs typeface="Meiryo"/>
        </a:defRPr>
      </a:defPPr>
      <a:lvl1pPr marL="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457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914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371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18288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2860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743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200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657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9pPr>
    </p:otherStyle>
  </p:txStyles>
</p:sldMaster>
</file>

<file path=ppt/slides/_rels/slide1.xml.rels><?xml version='1.0' encoding='utf-8'?>
<ns0:Relationships xmlns:ns0="http://schemas.openxmlformats.org/package/2006/relationships"><ns0:Relationship Id="rId1" Type="http://schemas.openxmlformats.org/officeDocument/2006/relationships/image" Target="../media/image-1-1.png" /><ns0:Relationship Id="rId2" Type="http://schemas.openxmlformats.org/officeDocument/2006/relationships/slideLayout" Target="../slideLayouts/slideLayout1.xml" /><ns0:Relationship Id="rId3" Type="http://schemas.openxmlformats.org/officeDocument/2006/relationships/notesSlide" Target="../notesSlides/notesSlide1.xml" /><ns0:Relationship Id="rIdPersonalAuthorLogo" Type="http://schemas.openxmlformats.org/officeDocument/2006/relationships/image" Target="../media/personal-author-logo.png" /></ns0: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1.png"/><Relationship Id="rId3" Type="http://schemas.openxmlformats.org/officeDocument/2006/relationships/image" Target="../media/image-11-1.png"/><Relationship Id="rId4" Type="http://schemas.openxmlformats.org/officeDocument/2006/relationships/image" Target="../media/image-11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1.png"/><Relationship Id="rId3" Type="http://schemas.openxmlformats.org/officeDocument/2006/relationships/image" Target="../media/image-14-1.png"/><Relationship Id="rId4" Type="http://schemas.openxmlformats.org/officeDocument/2006/relationships/image" Target="../media/image-14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07F82"/>
          </a:solidFill>
          <a:ln w="12700">
            <a:solidFill>
              <a:srgbClr val="007F8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55778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B1D6D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第09回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713232" y="1554480"/>
            <a:ext cx="94183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「何％」の前に、</a:t>
            </a:r>
            <a:endParaRPr lang="ja-JP" sz="4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何人中の何人？</a:t>
            </a:r>
            <a:endParaRPr lang="ja-JP" sz="4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749808" y="4169664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第9回｜割合を自分で計算し、</a:t>
            </a:r>
            <a:endParaRPr lang="ja-JP" sz="26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AIの数字と説明を確かめます。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7" name="Image 0" descr="Lucide tab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7312" y="566928"/>
            <a:ext cx="841248" cy="8412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49808" y="6281928"/>
            <a:ext cx="9144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大学生のためのAI・データリテラシー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"/>
          <p:cNvPicPr>
            <a:picLocks noChangeAspect="1"/>
          </p:cNvPicPr>
          <p:nvPr/>
        </p:nvPicPr>
        <p:blipFill>
          <a:blip r:embed="rIdPersonalAuthorLogo">
            <a:duotone>
              <a:srgbClr val="FFFFFF"/>
              <a:srgbClr val="FFFFFF"/>
            </a:duotone>
          </a:blip>
          <a:stretch/>
        </p:blipFill>
        <p:spPr>
          <a:xfrm>
            <a:off x="685800" y="85748"/>
            <a:ext cx="1714500" cy="210457"/>
          </a:xfrm>
          <a:prstGeom prst="rect">
            <a:avLst/>
          </a:prstGeom>
        </p:spPr>
      </p:pic>
      <p:sp>
        <p:nvSpPr>
          <p:cNvPr id="11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AECFD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AECFD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今回使うのは、4グループの架空データ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1033272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709928"/>
            <a:ext cx="7406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組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673352" y="1554480"/>
            <a:ext cx="205740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819656" y="1709928"/>
            <a:ext cx="1764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学生数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6"/>
          <p:cNvSpPr/>
          <p:nvPr/>
        </p:nvSpPr>
        <p:spPr>
          <a:xfrm>
            <a:off x="3730752" y="1554480"/>
            <a:ext cx="228600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877056" y="1709928"/>
            <a:ext cx="19933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提出者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016752" y="1554480"/>
            <a:ext cx="265176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63056" y="1709928"/>
            <a:ext cx="23591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AI利用者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668512" y="1554480"/>
            <a:ext cx="288036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814816" y="1709928"/>
            <a:ext cx="25877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出典確認者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258568"/>
            <a:ext cx="103327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86384" y="2386584"/>
            <a:ext cx="7406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1673352" y="2258568"/>
            <a:ext cx="205740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819656" y="2386584"/>
            <a:ext cx="17647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32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3730752" y="2258568"/>
            <a:ext cx="228600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877056" y="2386584"/>
            <a:ext cx="1993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016752" y="2258568"/>
            <a:ext cx="265176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163056" y="2386584"/>
            <a:ext cx="2359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668512" y="2258568"/>
            <a:ext cx="288036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814816" y="2386584"/>
            <a:ext cx="25877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40080" y="3017520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3017520"/>
            <a:ext cx="1033272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86384" y="3145536"/>
            <a:ext cx="7406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1673352" y="3017520"/>
            <a:ext cx="205740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819656" y="3145536"/>
            <a:ext cx="17647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3730752" y="3017520"/>
            <a:ext cx="228600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877056" y="3145536"/>
            <a:ext cx="1993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24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016752" y="3017520"/>
            <a:ext cx="265176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163056" y="3145536"/>
            <a:ext cx="2359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8668512" y="3017520"/>
            <a:ext cx="288036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814816" y="3145536"/>
            <a:ext cx="25877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640080" y="3776472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" y="3776472"/>
            <a:ext cx="103327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86384" y="3904488"/>
            <a:ext cx="7406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1673352" y="3776472"/>
            <a:ext cx="205740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819656" y="3904488"/>
            <a:ext cx="17647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35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3730752" y="3776472"/>
            <a:ext cx="228600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877056" y="3904488"/>
            <a:ext cx="1993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31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6016752" y="3776472"/>
            <a:ext cx="265176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163056" y="3904488"/>
            <a:ext cx="2359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29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8668512" y="3776472"/>
            <a:ext cx="288036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814816" y="3904488"/>
            <a:ext cx="25877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640080" y="453542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40080" y="4535424"/>
            <a:ext cx="1033272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86384" y="4663440"/>
            <a:ext cx="7406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49" name="Shape 47"/>
          <p:cNvSpPr/>
          <p:nvPr/>
        </p:nvSpPr>
        <p:spPr>
          <a:xfrm>
            <a:off x="1673352" y="4535424"/>
            <a:ext cx="205740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1819656" y="4663440"/>
            <a:ext cx="17647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29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51" name="Shape 49"/>
          <p:cNvSpPr/>
          <p:nvPr/>
        </p:nvSpPr>
        <p:spPr>
          <a:xfrm>
            <a:off x="3730752" y="4535424"/>
            <a:ext cx="228600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877056" y="4663440"/>
            <a:ext cx="1993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53" name="Shape 51"/>
          <p:cNvSpPr/>
          <p:nvPr/>
        </p:nvSpPr>
        <p:spPr>
          <a:xfrm>
            <a:off x="6016752" y="4535424"/>
            <a:ext cx="265176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163056" y="4663440"/>
            <a:ext cx="2359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55" name="Shape 53"/>
          <p:cNvSpPr/>
          <p:nvPr/>
        </p:nvSpPr>
        <p:spPr>
          <a:xfrm>
            <a:off x="8668512" y="4535424"/>
            <a:ext cx="288036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8814816" y="4663440"/>
            <a:ext cx="25877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57" name="Shape 55"/>
          <p:cNvSpPr/>
          <p:nvPr/>
        </p:nvSpPr>
        <p:spPr>
          <a:xfrm>
            <a:off x="640080" y="5294376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numbers_exercise.csvの教育用架空データ。実在の学生ではない。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59" name="Text 57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60" name="Text 58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第9回  02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提出率をAIに計算させる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この表を使い、グループ別の提出率と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全体の提出率を出してください。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提出率＝提出者数÷学生数×100とし、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分子・分母・計算式も示してください。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CSVを添付できなければ、4行の表をそのまま貼る。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第9回  03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Aグループを、電卓でも確かめる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9344"/>
            <a:ext cx="10607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提出者28人 ／ 学生32人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40080" y="2596896"/>
            <a:ext cx="10908792" cy="1417320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95351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3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 ÷ 32 × 100 = 87.5％</a:t>
            </a:r>
            <a:endParaRPr lang="ja-JP" sz="36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822960" y="4590288"/>
            <a:ext cx="10607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AIの式と答えを、電卓の結果と比べる。</a:t>
            </a:r>
            <a:endParaRPr lang="ja-JP" sz="25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5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一致したことも、確認の記録として残す。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第9回  04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同じ18人でも、割合は変わる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358384" cy="3986784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学生全体を分母にする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05256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出典確認者18人 ÷ 学生32人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56.25％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488" y="1554480"/>
            <a:ext cx="5358384" cy="3986784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AI利用者を分母にしたい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55664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18人全員がAI利用者か、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この表だけでは分からない。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 ÷ 25とは決められない。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集計表だけでは、同じ人がどの項目に当てはまるか分からない。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第9回  05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全体は、人数を先に合計する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9344"/>
            <a:ext cx="10607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提出者：28＋24＋31＋20＝103人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40080" y="2596896"/>
            <a:ext cx="10908792" cy="1417320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95351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ja-JP" altLang="en-US" sz="3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103 ÷ 126 × 100 ≈ 81.7％</a:t>
            </a:r>
            <a:endParaRPr lang="ja-JP" sz="36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822960" y="4590288"/>
            <a:ext cx="10607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学生数：32＋30＋35＋29＝126人</a:t>
            </a:r>
            <a:endParaRPr lang="ja-JP" sz="25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5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各グループの割合を、そのまま平均しない。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第9回  06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グループごとの計算結果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347472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709928"/>
            <a:ext cx="31821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組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114800" y="1554480"/>
            <a:ext cx="379476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61104" y="1709928"/>
            <a:ext cx="35021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分子／分母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909560" y="1554480"/>
            <a:ext cx="3639312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055864" y="1709928"/>
            <a:ext cx="33467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提出率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40080" y="2258568"/>
            <a:ext cx="347472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2386584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114800" y="2258568"/>
            <a:ext cx="379476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61104" y="2386584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28／32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909560" y="2258568"/>
            <a:ext cx="36393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55864" y="2386584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87.5％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40080" y="3017520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017520"/>
            <a:ext cx="347472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6384" y="3145536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114800" y="3017520"/>
            <a:ext cx="379476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261104" y="3145536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24／30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7909560" y="3017520"/>
            <a:ext cx="3639312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55864" y="3145536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80.0％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40080" y="3776472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3776472"/>
            <a:ext cx="347472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86384" y="3904488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4114800" y="3776472"/>
            <a:ext cx="379476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261104" y="3904488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31／35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7909560" y="3776472"/>
            <a:ext cx="36393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55864" y="3904488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88.6％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40080" y="453542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080" y="4535424"/>
            <a:ext cx="347472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86384" y="4663440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4114800" y="4535424"/>
            <a:ext cx="379476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261104" y="4663440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20／29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7909560" y="4535424"/>
            <a:ext cx="3639312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055864" y="4663440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69.0％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640080" y="5294376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小数第2位を四捨五入。表示値だけで再計算すると丸め誤差が出る。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39" name="Text 37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40" name="Text 38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第9回  07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差と増加率も、別の数字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358384" cy="3986784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割合の差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05256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60％から75％へ。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75−60＝15ポイント増。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488" y="1554480"/>
            <a:ext cx="5358384" cy="3986784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相対的な増加率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55664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同じ60％から75％へ。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（75−60）÷60＝25％増。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何の差か、何を基準にした増加かを説明する。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第9回  08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計算と説明を確認する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1グループを電卓で計算する。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分子と分母を元表で確認する。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全体も合計から計算する。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人数を足した後で割る。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AIの説明を読む。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「誰の何の割合か」が分かる表現に直す。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第9回  09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数字の意味を、短く説明する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全体の提出率は約81.7％でした。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この数字を、分子と分母が分かるように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1文で説明してください。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理由や原因は推測しないでください。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提出率が高い理由や、AIの効果は、この表だけでは分からない。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第9回  10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説明の範囲を確かめる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人数と割合を取り違えていない。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何を分母にしたか書いた。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小数の丸め方をそろえた。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数字だけで原因を断定していない。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第9回  11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成果物と確認したことを残す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257800" cy="4041648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ol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828800"/>
            <a:ext cx="448056" cy="4480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72768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week09/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950976" y="2660904"/>
            <a:ext cx="4590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README.md：</a:t>
            </a:r>
            <a:endParaRPr lang="ja-JP" sz="2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計算表・式・1文の説明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391656" y="180136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READMEの利用記録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6400800" y="2779776"/>
            <a:ext cx="480974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AIに任せたこと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自分で確かめたこと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確認できなかったこと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第9回  12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保存した版のURLを提出する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GitHubで変更を確定する。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更新したファイルを確認し、commitする。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そのcommitのページを開く。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URLに /commit/ があることを確認する。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授業の提出フォームを送る。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大学アカウントで開き、Week 09を選ぶ。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ブラウザでcommitした場合、別のpush操作は不要。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第9回  13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提出する前に、ここを確認する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1グループと全体を自分でも計算した。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分母を明記した。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実在の学生の調査と誤解させていない。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成果物のあるcommit URLを送った。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第9回  14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ajorFont>
      <a:min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Tsuchiya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割合の分母を確かめる</dc:title>
  <dc:subject>AI・データリテラシー／学生向け演習</dc:subject>
  <dc:creator>Takahiro Tsuchiya</dc:creator>
  <cp:lastModifiedBy>Takahiro Tsuchiya</cp:lastModifiedBy>
  <cp:revision>1</cp:revision>
  <dcterms:created xsi:type="dcterms:W3CDTF">2026-09-17T11:31:39Z</dcterms:created>
  <dcterms:modified xsi:type="dcterms:W3CDTF">2026-09-17T11:31:39Z</dcterms:modified>
</cp:coreProperties>
</file>