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1pPr>
    <a:lvl2pPr marL="4572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2pPr>
    <a:lvl3pPr marL="9144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3pPr>
    <a:lvl4pPr marL="13716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4pPr>
    <a:lvl5pPr marL="18288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5pPr>
    <a:lvl6pPr marL="22860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6pPr>
    <a:lvl7pPr marL="27432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7pPr>
    <a:lvl8pPr marL="32004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8pPr>
    <a:lvl9pPr marL="36576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lang="ja-JP">
                <a:latin typeface="Meiryo"/>
                <a:ea typeface="Meiryo"/>
                <a:cs typeface="Meiryo"/>
              </a:defRPr>
            </a:lvl1pPr>
          </a:lstStyle>
          <a:p>
            <a:endParaRPr lang="ja-JP">
              <a:latin typeface="Meiryo"/>
              <a:ea typeface="Meiryo"/>
              <a:cs typeface="Meiryo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lang="ja-JP">
                <a:latin typeface="Meiryo"/>
                <a:ea typeface="Meiryo"/>
                <a:cs typeface="Meiryo"/>
              </a:defRPr>
            </a:lvl1pPr>
          </a:lstStyle>
          <a:p>
            <a:fld id="{5282F153-3F37-0F45-9E97-73ACFA13230C}" type="datetimeFigureOut">
              <a:rPr lang="ja-JP">
                <a:latin typeface="Meiryo"/>
                <a:ea typeface="Meiryo"/>
                <a:cs typeface="Meiryo"/>
              </a:rPr>
              <a:t>7/23/19</a:t>
            </a:fld>
            <a:endParaRPr lang="ja-JP">
              <a:latin typeface="Meiryo"/>
              <a:ea typeface="Meiryo"/>
              <a:cs typeface="Meiryo"/>
            </a:endParaRP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>
              <a:latin typeface="Meiryo"/>
              <a:ea typeface="Meiryo"/>
              <a:cs typeface="Meiryo"/>
            </a:endParaRPr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ja-JP">
                <a:latin typeface="Meiryo"/>
                <a:ea typeface="Meiryo"/>
                <a:cs typeface="Meiryo"/>
              </a:rPr>
              <a:t>Click to edit Master text styles</a:t>
            </a:r>
          </a:p>
          <a:p>
            <a:pPr lvl="1"/>
            <a:r>
              <a:rPr lang="ja-JP">
                <a:latin typeface="Meiryo"/>
                <a:ea typeface="Meiryo"/>
                <a:cs typeface="Meiryo"/>
              </a:rPr>
              <a:t>Second level</a:t>
            </a:r>
          </a:p>
          <a:p>
            <a:pPr lvl="2"/>
            <a:r>
              <a:rPr lang="ja-JP">
                <a:latin typeface="Meiryo"/>
                <a:ea typeface="Meiryo"/>
                <a:cs typeface="Meiryo"/>
              </a:rPr>
              <a:t>Third level</a:t>
            </a:r>
          </a:p>
          <a:p>
            <a:pPr lvl="3"/>
            <a:r>
              <a:rPr lang="ja-JP">
                <a:latin typeface="Meiryo"/>
                <a:ea typeface="Meiryo"/>
                <a:cs typeface="Meiryo"/>
              </a:rPr>
              <a:t>Fourth level</a:t>
            </a:r>
          </a:p>
          <a:p>
            <a:pPr lvl="4"/>
            <a:r>
              <a:rPr lang="ja-JP">
                <a:latin typeface="Meiryo"/>
                <a:ea typeface="Meiryo"/>
                <a:cs typeface="Meiryo"/>
              </a:rP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lang="ja-JP">
                <a:latin typeface="Meiryo"/>
                <a:ea typeface="Meiryo"/>
                <a:cs typeface="Meiryo"/>
              </a:defRPr>
            </a:lvl1pPr>
          </a:lstStyle>
          <a:p>
            <a:endParaRPr lang="ja-JP">
              <a:latin typeface="Meiryo"/>
              <a:ea typeface="Meiryo"/>
              <a:cs typeface="Meiryo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lang="ja-JP">
                <a:latin typeface="Meiryo"/>
                <a:ea typeface="Meiryo"/>
                <a:cs typeface="Meiryo"/>
              </a:defRPr>
            </a:lvl1pPr>
          </a:lstStyle>
          <a:p>
            <a:fld id="{CE5E9CC1-C706-0F49-92D6-E571CC5EEA8F}" type="slidenum">
              <a:rPr lang="ja-JP">
                <a:latin typeface="Meiryo"/>
                <a:ea typeface="Meiryo"/>
                <a:cs typeface="Meiryo"/>
              </a:rPr>
              <a:t>‹#›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1pPr>
    <a:lvl2pPr marL="4572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2pPr>
    <a:lvl3pPr marL="9144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3pPr>
    <a:lvl4pPr marL="13716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4pPr>
    <a:lvl5pPr marL="18288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5pPr>
    <a:lvl6pPr marL="22860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6pPr>
    <a:lvl7pPr marL="27432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7pPr>
    <a:lvl8pPr marL="32004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8pPr>
    <a:lvl9pPr marL="36576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【進行】最終課題 / 1ページ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到達点：問い・根拠・成果物を対応させ、最終提出を完了する。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スライドの指示に沿って操作を待つ。学生の画面で結果を確認してから次へ進む。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【アイコンの利用条件】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Lucideアイコンのライセンスはassets/icons/lucide/LICENSE.txtを参照。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【進行】最終課題 / 2ページ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到達点：問い・根拠・成果物を対応させ、最終提出を完了する。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スライドの指示に沿って操作を待つ。学生の画面で結果を確認してから次へ進む。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【アイコンの利用条件】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Lucideアイコンのライセンスはassets/icons/lucide/LICENSE.txtを参照。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2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【進行】最終課題 / 3ページ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到達点：問い・根拠・成果物を対応させ、最終提出を完了する。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スライドの指示に沿って操作を待つ。学生の画面で結果を確認してから次へ進む。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【アイコンの利用条件】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Lucideアイコンのライセンスはassets/icons/lucide/LICENSE.txtを参照。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3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【進行】最終課題 / 4ページ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到達点：問い・根拠・成果物を対応させ、最終提出を完了する。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スライドの指示に沿って操作を待つ。学生の画面で結果を確認してから次へ進む。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【アイコンの利用条件】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Lucideアイコンのライセンスはassets/icons/lucide/LICENSE.txtを参照。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4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【進行】最終課題 / 5ページ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到達点：問い・根拠・成果物を対応させ、最終提出を完了する。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スライドの指示に沿って操作を待つ。学生の画面で結果を確認してから次へ進む。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操作に詰まった学生には、表示中の画面と止まった箇所を確認する。パスワードや認証コードは見せさせない。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【アイコンの利用条件】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Lucideアイコンのライセンスはassets/icons/lucide/LICENSE.txtを参照。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5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【進行】最終課題 / 6ページ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到達点：問い・根拠・成果物を対応させ、最終提出を完了する。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スライドの指示に沿って操作を待つ。学生の画面で結果を確認してから次へ進む。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【アイコンの利用条件】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Lucideアイコンのライセンスはassets/icons/lucide/LICENSE.txtを参照。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6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【進行】最終課題 / 7ページ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到達点：問い・根拠・成果物を対応させ、最終提出を完了する。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スライドの指示に沿って操作を待つ。学生の画面で結果を確認してから次へ進む。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【アイコンの利用条件】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Lucideアイコンのライセンスはassets/icons/lucide/LICENSE.txtを参照。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7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【進行】最終課題 / 8ページ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到達点：問い・根拠・成果物を対応させ、最終提出を完了する。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スライドの指示に沿って操作を待つ。学生の画面で結果を確認してから次へ進む。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【アイコンの利用条件】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Lucideアイコンのライセンスはassets/icons/lucide/LICENSE.txtを参照。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8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【進行】最終課題 / 9ページ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到達点：問い・根拠・成果物を対応させ、最終提出を完了する。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スライドの指示に沿って操作を待つ。学生の画面で結果を確認してから次へ進む。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【アイコンの利用条件】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Lucideアイコンのライセンスはassets/icons/lucide/LICENSE.txtを参照。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9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【進行】最終課題 / 10ページ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到達点：問い・根拠・成果物を対応させ、最終提出を完了する。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スライドの指示に沿って操作を待つ。学生の画面で結果を確認してから次へ進む。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操作に詰まった学生には、表示中の画面と止まった箇所を確認する。パスワードや認証コードは見せさせない。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【アイコンの利用条件】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Lucideアイコンのライセンスはassets/icons/lucide/LICENSE.txtを参照。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10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【進行】最終課題 / 11ページ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到達点：問い・根拠・成果物を対応させ、最終提出を完了する。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スライドの指示に沿って操作を待つ。学生の画面で結果を確認してから次へ進む。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【アイコンの利用条件】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Lucideアイコンのライセンスはassets/icons/lucide/LICENSE.txtを参照。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11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【進行】最終課題 / 12ページ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到達点：問い・根拠・成果物を対応させ、最終提出を完了する。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スライドの指示に沿って操作を待つ。学生の画面で結果を確認してから次へ進む。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【アイコンの利用条件】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Lucideアイコンのライセンスはassets/icons/lucide/LICENSE.txtを参照。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12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ns0:Relationship Id="rId2" Type="http://schemas.openxmlformats.org/officeDocument/2006/relationships/theme" Target="../theme/theme1.xml" /><ns0:Relationship Id="rIdPersonalAuthorLogo" Type="http://schemas.openxmlformats.org/officeDocument/2006/relationships/image" Target="../media/personal-author-logo.png" /></ns0:Relationships>
</file>

<file path=ppt/slideMasters/slideMaster1.xml><?xml version="1.0" encoding="utf-8"?>
<p:sldMaster xmlns:a="http://schemas.openxmlformats.org/drawingml/2006/main" xmlns:ns3="http://schemas.microsoft.com/office/drawing/2014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/>
          <p:cNvPicPr>
            <a:picLocks noChangeAspect="1"/>
          </p:cNvPicPr>
          <p:nvPr/>
        </p:nvPicPr>
        <p:blipFill>
          <a:blip r:embed="rIdPersonalAuthorLogo"/>
          <a:stretch/>
        </p:blipFill>
        <p:spPr>
          <a:xfrm>
            <a:off x="685800" y="85748"/>
            <a:ext cx="1714500" cy="210457"/>
          </a:xfrm>
          <a:prstGeom prst="rect">
            <a:avLst/>
          </a:prstGeom>
        </p:spPr>
      </p:pic>
      <p:sp>
        <p:nvSpPr>
          <p:cNvPr id="3" name="Personal author website">
            <a:extLst>
              <a:ext uri="{FF2B5EF4-FFF2-40B4-BE49-F238E27FC236}">
                <ns3:creationId id="{2B199CB2-0940-4D13-9CAC-E3F074FAA0ED}"/>
              </a:ext>
            </a:extLst>
          </p:cNvPr>
          <p:cNvSpPr>
            <a:spLocks noGrp="1"/>
          </p:cNvSpPr>
          <p:nvPr/>
        </p:nvSpPr>
        <p:spPr>
          <a:xfrm>
            <a:off x="6286500" y="6477000"/>
            <a:ext cx="4000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>
                <a:solidFill>
                  <a:srgbClr val="607482"/>
                </a:solidFill>
                <a:latin typeface="Meiryo"/>
                <a:ea typeface="Meiryo"/>
                <a:cs typeface="Meiryo"/>
              </a:defRPr>
            </a:pPr>
            <a:r>
              <a:rPr sz="1800">
                <a:solidFill>
                  <a:srgbClr val="607482"/>
                </a:solidFill>
                <a:latin typeface="Meiryo"/>
                <a:ea typeface="Meiryo"/>
                <a:cs typeface="Meiryo"/>
              </a:rPr>
              <a:t>tsuchiyatakahiro.com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 lang="ja-JP">
          <a:solidFill>
            <a:schemeClr val="tx1"/>
          </a:solidFill>
          <a:latin typeface="Meiryo"/>
          <a:ea typeface="Meiryo"/>
          <a:cs typeface="Meiryo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Meiryo" pitchFamily="34" charset="0"/>
        <a:buChar char="•"/>
        <a:defRPr sz="3200" kern="1200" lang="ja-JP">
          <a:solidFill>
            <a:schemeClr val="tx1"/>
          </a:solidFill>
          <a:latin typeface="Meiryo"/>
          <a:ea typeface="Meiryo"/>
          <a:cs typeface="Meiryo"/>
        </a:defRPr>
      </a:lvl1pPr>
      <a:lvl2pPr marL="742950" indent="-285750" algn="l" defTabSz="914400" rtl="0" eaLnBrk="1" latinLnBrk="0" hangingPunct="1">
        <a:spcBef>
          <a:spcPct val="20000"/>
        </a:spcBef>
        <a:buFont typeface="Meiryo" pitchFamily="34" charset="0"/>
        <a:buChar char="–"/>
        <a:defRPr sz="2800" kern="1200" lang="ja-JP">
          <a:solidFill>
            <a:schemeClr val="tx1"/>
          </a:solidFill>
          <a:latin typeface="Meiryo"/>
          <a:ea typeface="Meiryo"/>
          <a:cs typeface="Meiryo"/>
        </a:defRPr>
      </a:lvl2pPr>
      <a:lvl3pPr marL="1143000" indent="-228600" algn="l" defTabSz="914400" rtl="0" eaLnBrk="1" latinLnBrk="0" hangingPunct="1">
        <a:spcBef>
          <a:spcPct val="20000"/>
        </a:spcBef>
        <a:buFont typeface="Meiryo" pitchFamily="34" charset="0"/>
        <a:buChar char="•"/>
        <a:defRPr sz="2400" kern="1200" lang="ja-JP">
          <a:solidFill>
            <a:schemeClr val="tx1"/>
          </a:solidFill>
          <a:latin typeface="Meiryo"/>
          <a:ea typeface="Meiryo"/>
          <a:cs typeface="Meiryo"/>
        </a:defRPr>
      </a:lvl3pPr>
      <a:lvl4pPr marL="1600200" indent="-228600" algn="l" defTabSz="914400" rtl="0" eaLnBrk="1" latinLnBrk="0" hangingPunct="1">
        <a:spcBef>
          <a:spcPct val="20000"/>
        </a:spcBef>
        <a:buFont typeface="Meiryo" pitchFamily="34" charset="0"/>
        <a:buChar char="–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4pPr>
      <a:lvl5pPr marL="2057400" indent="-228600" algn="l" defTabSz="914400" rtl="0" eaLnBrk="1" latinLnBrk="0" hangingPunct="1">
        <a:spcBef>
          <a:spcPct val="20000"/>
        </a:spcBef>
        <a:buFont typeface="Meiryo" pitchFamily="34" charset="0"/>
        <a:buChar char="»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5pPr>
      <a:lvl6pPr marL="2514600" indent="-228600" algn="l" defTabSz="914400" rtl="0" eaLnBrk="1" latinLnBrk="0" hangingPunct="1">
        <a:spcBef>
          <a:spcPct val="20000"/>
        </a:spcBef>
        <a:buFont typeface="Meiryo" pitchFamily="34" charset="0"/>
        <a:buChar char="•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6pPr>
      <a:lvl7pPr marL="2971800" indent="-228600" algn="l" defTabSz="914400" rtl="0" eaLnBrk="1" latinLnBrk="0" hangingPunct="1">
        <a:spcBef>
          <a:spcPct val="20000"/>
        </a:spcBef>
        <a:buFont typeface="Meiryo" pitchFamily="34" charset="0"/>
        <a:buChar char="•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7pPr>
      <a:lvl8pPr marL="3429000" indent="-228600" algn="l" defTabSz="914400" rtl="0" eaLnBrk="1" latinLnBrk="0" hangingPunct="1">
        <a:spcBef>
          <a:spcPct val="20000"/>
        </a:spcBef>
        <a:buFont typeface="Meiryo" pitchFamily="34" charset="0"/>
        <a:buChar char="•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8pPr>
      <a:lvl9pPr marL="3886200" indent="-228600" algn="l" defTabSz="914400" rtl="0" eaLnBrk="1" latinLnBrk="0" hangingPunct="1">
        <a:spcBef>
          <a:spcPct val="20000"/>
        </a:spcBef>
        <a:buFont typeface="Meiryo" pitchFamily="34" charset="0"/>
        <a:buChar char="•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9pPr>
    </p:bodyStyle>
    <p:otherStyle>
      <a:defPPr>
        <a:defRPr lang="ja-JP">
          <a:latin typeface="Meiryo"/>
          <a:ea typeface="Meiryo"/>
          <a:cs typeface="Meiryo"/>
        </a:defRPr>
      </a:defPPr>
      <a:lvl1pPr marL="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1pPr>
      <a:lvl2pPr marL="4572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2pPr>
      <a:lvl3pPr marL="9144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3pPr>
      <a:lvl4pPr marL="13716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4pPr>
      <a:lvl5pPr marL="18288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5pPr>
      <a:lvl6pPr marL="22860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6pPr>
      <a:lvl7pPr marL="27432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7pPr>
      <a:lvl8pPr marL="32004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8pPr>
      <a:lvl9pPr marL="36576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9pPr>
    </p:otherStyle>
  </p:txStyles>
</p:sldMaster>
</file>

<file path=ppt/slides/_rels/slide1.xml.rels><?xml version='1.0' encoding='utf-8'?>
<ns0:Relationships xmlns:ns0="http://schemas.openxmlformats.org/package/2006/relationships"><ns0:Relationship Id="rId1" Type="http://schemas.openxmlformats.org/officeDocument/2006/relationships/image" Target="../media/image-1-1.png" /><ns0:Relationship Id="rId2" Type="http://schemas.openxmlformats.org/officeDocument/2006/relationships/slideLayout" Target="../slideLayouts/slideLayout1.xml" /><ns0:Relationship Id="rId3" Type="http://schemas.openxmlformats.org/officeDocument/2006/relationships/notesSlide" Target="../notesSlides/notesSlide1.xml" /><ns0:Relationship Id="rIdPersonalAuthorLogo" Type="http://schemas.openxmlformats.org/officeDocument/2006/relationships/image" Target="../media/personal-author-logo-white.png" /></ns0: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1.png"/><Relationship Id="rId3" Type="http://schemas.openxmlformats.org/officeDocument/2006/relationships/image" Target="../media/image-11-1.png"/><Relationship Id="rId4" Type="http://schemas.openxmlformats.org/officeDocument/2006/relationships/image" Target="../media/image-11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ns3="http://schemas.microsoft.com/office/drawing/2014/main" xmlns:p="http://schemas.openxmlformats.org/presentationml/2006/main" xmlns:r="http://schemas.openxmlformats.org/officeDocument/2006/relationships" showMasterSp="0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2B39"/>
          </a:solidFill>
          <a:ln w="12700">
            <a:solidFill>
              <a:srgbClr val="132B3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07F82"/>
          </a:solidFill>
          <a:ln w="12700">
            <a:solidFill>
              <a:srgbClr val="007F8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13232" y="557784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B1D6D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最終課題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713232" y="1554480"/>
            <a:ext cx="94183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4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根拠を確かめて、</a:t>
            </a:r>
            <a:endParaRPr lang="ja-JP" sz="42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4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自分の成果物にする。</a:t>
            </a:r>
            <a:endParaRPr lang="ja-JP" sz="4200" dirty="0">
              <a:latin typeface="Meiryo"/>
              <a:ea typeface="Meiryo"/>
              <a:cs typeface="Meiryo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749808" y="4169664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D9E7E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最終課題｜AIと作った内容を確認し、</a:t>
            </a:r>
            <a:endParaRPr lang="ja-JP" sz="26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D9E7E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初めて読む人へ伝えます。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pic>
        <p:nvPicPr>
          <p:cNvPr id="7" name="Image 0" descr="Lucide circle-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97312" y="566928"/>
            <a:ext cx="841248" cy="84124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49808" y="6281928"/>
            <a:ext cx="9144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D9E7E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大学生のためのAI・データリテラシー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pic>
        <p:nvPicPr>
          <p:cNvPr id="10" name="" descr="TSUCHIYA TAKAHIRO white logo supplied in Brandeis cover; original bytes reused"/>
          <p:cNvPicPr>
            <a:picLocks noChangeAspect="1"/>
          </p:cNvPicPr>
          <p:nvPr/>
        </p:nvPicPr>
        <p:blipFill>
          <a:blip r:embed="rIdPersonalAuthorLogo"/>
          <a:stretch/>
        </p:blipFill>
        <p:spPr>
          <a:xfrm>
            <a:off x="3810000" y="109728"/>
            <a:ext cx="4572000" cy="561219"/>
          </a:xfrm>
          <a:prstGeom prst="rect">
            <a:avLst/>
          </a:prstGeom>
        </p:spPr>
      </p:pic>
      <p:sp>
        <p:nvSpPr>
          <p:cNvPr id="11" name="Personal author website">
            <a:extLst>
              <a:ext uri="{FF2B5EF4-FFF2-40B4-BE49-F238E27FC236}">
                <ns3:creationId id="{2B199CB2-0940-4D13-9CAC-E3F074FAA0ED}"/>
              </a:ext>
            </a:extLst>
          </p:cNvPr>
          <p:cNvSpPr>
            <a:spLocks noGrp="1"/>
          </p:cNvSpPr>
          <p:nvPr/>
        </p:nvSpPr>
        <p:spPr>
          <a:xfrm>
            <a:off x="6286500" y="6477000"/>
            <a:ext cx="4000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>
                <a:solidFill>
                  <a:srgbClr val="AECFD2"/>
                </a:solidFill>
                <a:latin typeface="Meiryo"/>
                <a:ea typeface="Meiryo"/>
                <a:cs typeface="Meiryo"/>
              </a:defRPr>
            </a:pPr>
            <a:r>
              <a:rPr sz="1800">
                <a:solidFill>
                  <a:srgbClr val="AECFD2"/>
                </a:solidFill>
                <a:latin typeface="Meiryo"/>
                <a:ea typeface="Meiryo"/>
                <a:cs typeface="Meiryo"/>
              </a:rPr>
              <a:t>tsuchiyatakahiro.com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問いを1つ選び、完成させる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17904"/>
            <a:ext cx="10908792" cy="4050792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pic>
        <p:nvPicPr>
          <p:cNvPr id="5" name="Image 0" descr="Lucide targe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1801368"/>
            <a:ext cx="438912" cy="43891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27632" y="1810512"/>
            <a:ext cx="9546336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第14回で決めた問いに、資料を使って答える。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AIに任せたことと、確認したことを残す。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評価するのは、道具の豪華さではなく、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問い・根拠・成果物が対応しているかです。</a:t>
            </a:r>
            <a:endParaRPr lang="ja-JP" sz="27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最終課題  02 / 12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3つの進め方から選べる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36192"/>
            <a:ext cx="3496056" cy="397764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pic>
        <p:nvPicPr>
          <p:cNvPr id="5" name="Image 0" descr="Lucide file-tex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1819656"/>
            <a:ext cx="530352" cy="53035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96112" y="2660904"/>
            <a:ext cx="2983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7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A：資料読解</a:t>
            </a:r>
            <a:endParaRPr lang="ja-JP" sz="27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896112" y="3639312"/>
            <a:ext cx="298399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読み手に合わせて、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資料の内容を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伝える。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8" name="Shape 5"/>
          <p:cNvSpPr/>
          <p:nvPr/>
        </p:nvSpPr>
        <p:spPr>
          <a:xfrm>
            <a:off x="4346448" y="1536192"/>
            <a:ext cx="3496056" cy="3977640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pic>
        <p:nvPicPr>
          <p:cNvPr id="9" name="Image 1" descr="Lucide searc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2480" y="1819656"/>
            <a:ext cx="530352" cy="53035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602480" y="2660904"/>
            <a:ext cx="2983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7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B：出典確認</a:t>
            </a:r>
            <a:endParaRPr lang="ja-JP" sz="2700" dirty="0">
              <a:latin typeface="Meiryo"/>
              <a:ea typeface="Meiryo"/>
              <a:cs typeface="Meiryo"/>
            </a:endParaRPr>
          </a:p>
        </p:txBody>
      </p:sp>
      <p:sp>
        <p:nvSpPr>
          <p:cNvPr id="11" name="Text 7"/>
          <p:cNvSpPr txBox="1"/>
          <p:nvPr/>
        </p:nvSpPr>
        <p:spPr>
          <a:xfrm>
            <a:off x="4602480" y="3639312"/>
            <a:ext cx="298399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出典を照合して、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確認結果を伝える。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8052816" y="1536192"/>
            <a:ext cx="3496056" cy="397764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pic>
        <p:nvPicPr>
          <p:cNvPr id="13" name="Image 2" descr="Lucide chart-colum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8848" y="1819656"/>
            <a:ext cx="530352" cy="53035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8308848" y="2660904"/>
            <a:ext cx="2983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7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C：データ分析</a:t>
            </a:r>
            <a:endParaRPr lang="ja-JP" sz="2700" dirty="0">
              <a:latin typeface="Meiryo"/>
              <a:ea typeface="Meiryo"/>
              <a:cs typeface="Meiryo"/>
            </a:endParaRPr>
          </a:p>
        </p:txBody>
      </p:sp>
      <p:sp>
        <p:nvSpPr>
          <p:cNvPr id="15" name="Text 10"/>
          <p:cNvSpPr txBox="1"/>
          <p:nvPr/>
        </p:nvSpPr>
        <p:spPr>
          <a:xfrm>
            <a:off x="8308848" y="3639312"/>
            <a:ext cx="298399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集計を確かめて、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結果と限界を書く。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16" name="Text 11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7" name="Text 12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最終課題  03 / 12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形式は、伝えたい内容に合わせる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17904"/>
            <a:ext cx="10908792" cy="4050792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pic>
        <p:nvPicPr>
          <p:cNvPr id="5" name="Image 0" descr="Lucide file-tex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1801368"/>
            <a:ext cx="438912" cy="43891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27632" y="1810512"/>
            <a:ext cx="9546336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800〜1,200字の説明文、または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同程度の内容を含む1枚資料・表・グラフ等。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図表だけにせず、何を示すのか、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何が言えないのかを説明します。</a:t>
            </a:r>
            <a:endParaRPr lang="ja-JP" sz="27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667512" y="5779008"/>
            <a:ext cx="10844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締切と提出フォームは、授業ページで確認する。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9" name="Text 6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最終課題  04 / 12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完成まで、3つを確かめる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04088" y="1572768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01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1737360" y="1508760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8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問いに答えているか。</a:t>
            </a:r>
            <a:endParaRPr lang="ja-JP" sz="2800" dirty="0">
              <a:latin typeface="Meiryo"/>
              <a:ea typeface="Meiryo"/>
              <a:cs typeface="Meiryo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1737360" y="2212848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3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別の話題に広がっていないか。</a:t>
            </a:r>
            <a:endParaRPr lang="ja-JP" sz="23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737360" y="2752344"/>
            <a:ext cx="9738360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04088" y="2926080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02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1737360" y="2862072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8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主張や数字に根拠があるか。</a:t>
            </a:r>
            <a:endParaRPr lang="ja-JP" sz="2800" dirty="0">
              <a:latin typeface="Meiryo"/>
              <a:ea typeface="Meiryo"/>
              <a:cs typeface="Meiryo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1737360" y="3566160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3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自分で確認した箇所を示せるか。</a:t>
            </a:r>
            <a:endParaRPr lang="ja-JP" sz="2300" dirty="0">
              <a:latin typeface="Meiryo"/>
              <a:ea typeface="Meiryo"/>
              <a:cs typeface="Meiryo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737360" y="4105656"/>
            <a:ext cx="9738360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04088" y="4279392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03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1737360" y="4215384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8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初めて読む人に伝わるか。</a:t>
            </a:r>
            <a:endParaRPr lang="ja-JP" sz="2800" dirty="0">
              <a:latin typeface="Meiryo"/>
              <a:ea typeface="Meiryo"/>
              <a:cs typeface="Meiryo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1737360" y="4919472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3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用語・図表・出典の対応が分かるか。</a:t>
            </a:r>
            <a:endParaRPr lang="ja-JP" sz="2300" dirty="0">
              <a:latin typeface="Meiryo"/>
              <a:ea typeface="Meiryo"/>
              <a:cs typeface="Meiryo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最終課題  05 / 12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根拠ログを成果物と対応させる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54480"/>
            <a:ext cx="3154680" cy="704088"/>
          </a:xfrm>
          <a:prstGeom prst="rect">
            <a:avLst/>
          </a:prstGeom>
          <a:solidFill>
            <a:srgbClr val="132B39"/>
          </a:solidFill>
          <a:ln w="12700">
            <a:solidFill>
              <a:srgbClr val="132B3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86384" y="1709928"/>
            <a:ext cx="28620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主張・数字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794760" y="1554480"/>
            <a:ext cx="3657600" cy="704088"/>
          </a:xfrm>
          <a:prstGeom prst="rect">
            <a:avLst/>
          </a:prstGeom>
          <a:solidFill>
            <a:srgbClr val="132B39"/>
          </a:solidFill>
          <a:ln w="12700">
            <a:solidFill>
              <a:srgbClr val="132B3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941064" y="1709928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根拠となる資料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452360" y="1554480"/>
            <a:ext cx="4096512" cy="704088"/>
          </a:xfrm>
          <a:prstGeom prst="rect">
            <a:avLst/>
          </a:prstGeom>
          <a:solidFill>
            <a:srgbClr val="132B39"/>
          </a:solidFill>
          <a:ln w="12700">
            <a:solidFill>
              <a:srgbClr val="132B3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598664" y="1709928"/>
            <a:ext cx="38039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自分が確認した点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40080" y="2258568"/>
            <a:ext cx="3154680" cy="75895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86384" y="2386584"/>
            <a:ext cx="28620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成果物で使った内容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794760" y="2258568"/>
            <a:ext cx="3657600" cy="75895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941064" y="2386584"/>
            <a:ext cx="33649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URL・ファイル名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7452360" y="2258568"/>
            <a:ext cx="4096512" cy="75895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598664" y="2386584"/>
            <a:ext cx="38039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箇所・値・日付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40080" y="3017520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3017520"/>
            <a:ext cx="315468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86384" y="3145536"/>
            <a:ext cx="28620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一致しなかった点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3794760" y="3017520"/>
            <a:ext cx="365760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941064" y="3145536"/>
            <a:ext cx="33649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照合した資料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7452360" y="3017520"/>
            <a:ext cx="4096512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598664" y="3145536"/>
            <a:ext cx="38039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修正した点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40080" y="3776472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" y="3776472"/>
            <a:ext cx="3154680" cy="75895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86384" y="3904488"/>
            <a:ext cx="28620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確認できない内容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3794760" y="3776472"/>
            <a:ext cx="3657600" cy="75895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941064" y="3904488"/>
            <a:ext cx="33649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不足する資料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7452360" y="3776472"/>
            <a:ext cx="4096512" cy="75895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598664" y="3904488"/>
            <a:ext cx="38039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断定しないと判断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640080" y="453542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32" name="Text 30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最終課題  06 / 12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AI利用記録は、会話全文ではない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54480"/>
            <a:ext cx="5358384" cy="3986784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05256" y="1847088"/>
            <a:ext cx="4828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提出しなくてよいもの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905256" y="2944368"/>
            <a:ext cx="482803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チャットの共有URL。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会話の全文。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有料プランの証明。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190488" y="1554480"/>
            <a:ext cx="5358384" cy="3986784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55664" y="1847088"/>
            <a:ext cx="4828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記録するもの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6455664" y="2944368"/>
            <a:ext cx="482803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使ったAIと用途。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AIに任せた作業。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自分で確認・修正した点。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最終課題  07 / 12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評価は、4つの観点で見る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527048"/>
            <a:ext cx="155448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0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50％</a:t>
            </a:r>
            <a:endParaRPr lang="ja-JP" sz="3000" dirty="0">
              <a:latin typeface="Meiryo"/>
              <a:ea typeface="Meiryo"/>
              <a:cs typeface="Meiryo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2761488" y="1527048"/>
            <a:ext cx="32461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成果物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6400800" y="1527048"/>
            <a:ext cx="50292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問いへの答えが伝わるか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822960" y="2514600"/>
            <a:ext cx="155448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0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25％</a:t>
            </a:r>
            <a:endParaRPr lang="ja-JP" sz="3000" dirty="0">
              <a:latin typeface="Meiryo"/>
              <a:ea typeface="Meiryo"/>
              <a:cs typeface="Meiryo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2761488" y="2514600"/>
            <a:ext cx="32461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根拠確認・修正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6400800" y="2514600"/>
            <a:ext cx="50292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資料と照合しているか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822960" y="3502152"/>
            <a:ext cx="155448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0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15％</a:t>
            </a:r>
            <a:endParaRPr lang="ja-JP" sz="3000" dirty="0">
              <a:latin typeface="Meiryo"/>
              <a:ea typeface="Meiryo"/>
              <a:cs typeface="Meiryo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2761488" y="3502152"/>
            <a:ext cx="32461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AI利用記録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6400800" y="3502152"/>
            <a:ext cx="50292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任せた範囲を説明できるか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822960" y="4489704"/>
            <a:ext cx="155448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0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10％</a:t>
            </a:r>
            <a:endParaRPr lang="ja-JP" sz="3000" dirty="0">
              <a:latin typeface="Meiryo"/>
              <a:ea typeface="Meiryo"/>
              <a:cs typeface="Meiryo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2761488" y="4489704"/>
            <a:ext cx="32461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GitHub提出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6400800" y="4489704"/>
            <a:ext cx="50292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指定の版と場所を示せるか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667512" y="5779008"/>
            <a:ext cx="10844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暗記量、サービス名、課金の有無、プロンプトの長さは採点しない。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最終課題  08 / 12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finalフォルダへ、まとめて保存する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54480"/>
            <a:ext cx="5257800" cy="4041648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pic>
        <p:nvPicPr>
          <p:cNvPr id="5" name="Image 0" descr="Lucide fold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" y="1828800"/>
            <a:ext cx="448056" cy="44805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72768" y="1819656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7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final/</a:t>
            </a:r>
            <a:endParaRPr lang="ja-JP" sz="27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950976" y="2660904"/>
            <a:ext cx="45902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README.md：</a:t>
            </a:r>
            <a:endParaRPr lang="ja-JP" sz="22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問い・利用記録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950976" y="3483864"/>
            <a:ext cx="45902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成果物：説明文・1枚資料・表など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9" name="Text 6"/>
          <p:cNvSpPr txBox="1"/>
          <p:nvPr/>
        </p:nvSpPr>
        <p:spPr>
          <a:xfrm>
            <a:off x="950976" y="4306824"/>
            <a:ext cx="45902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evidence_log.md：根拠ログ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10" name="Text 7"/>
          <p:cNvSpPr txBox="1"/>
          <p:nvPr/>
        </p:nvSpPr>
        <p:spPr>
          <a:xfrm>
            <a:off x="6391656" y="1801368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READMEの利用記録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sp>
        <p:nvSpPr>
          <p:cNvPr id="11" name="Text 8"/>
          <p:cNvSpPr txBox="1"/>
          <p:nvPr/>
        </p:nvSpPr>
        <p:spPr>
          <a:xfrm>
            <a:off x="6400800" y="2779776"/>
            <a:ext cx="4809744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根拠ログはREADME内に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書いてもよい。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画像やCSVは、リンクから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開けるようにする。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12" name="Text 9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3" name="Text 10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最終課題  09 / 12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最終課題フォームへ提出する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04088" y="1572768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01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1737360" y="1508760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8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finalの全ファイルをcommitする。</a:t>
            </a:r>
            <a:endParaRPr lang="ja-JP" sz="2800" dirty="0">
              <a:latin typeface="Meiryo"/>
              <a:ea typeface="Meiryo"/>
              <a:cs typeface="Meiryo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1737360" y="2212848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3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Desktopの場合はpushも行う。</a:t>
            </a:r>
            <a:endParaRPr lang="ja-JP" sz="23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737360" y="2752344"/>
            <a:ext cx="9738360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04088" y="2926080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02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1737360" y="2862072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8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そのcommitで成果物を開く。</a:t>
            </a:r>
            <a:endParaRPr lang="ja-JP" sz="2800" dirty="0">
              <a:latin typeface="Meiryo"/>
              <a:ea typeface="Meiryo"/>
              <a:cs typeface="Meiryo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1737360" y="3566160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3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表・画像・根拠ログがそろっているか確認する。</a:t>
            </a:r>
            <a:endParaRPr lang="ja-JP" sz="2300" dirty="0">
              <a:latin typeface="Meiryo"/>
              <a:ea typeface="Meiryo"/>
              <a:cs typeface="Meiryo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737360" y="4105656"/>
            <a:ext cx="9738360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04088" y="4279392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03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1737360" y="4215384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8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最終課題フォームを送信する。</a:t>
            </a:r>
            <a:endParaRPr lang="ja-JP" sz="2800" dirty="0">
              <a:latin typeface="Meiryo"/>
              <a:ea typeface="Meiryo"/>
              <a:cs typeface="Meiryo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1737360" y="4919472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3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大学アカウントで、commit URLを提出する。</a:t>
            </a:r>
            <a:endParaRPr lang="ja-JP" sz="2300" dirty="0">
              <a:latin typeface="Meiryo"/>
              <a:ea typeface="Meiryo"/>
              <a:cs typeface="Meiryo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667512" y="5779008"/>
            <a:ext cx="10844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Week 14の提出だけでは、最終課題の提出にはならない。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最終課題  10 / 12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提出直前に、実物を開いて確認する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pic>
        <p:nvPicPr>
          <p:cNvPr id="4" name="Image 0" descr="Lucide circle-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82496"/>
            <a:ext cx="402336" cy="40233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435608" y="1645920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問いと答え、根拠ログが対応している。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pic>
        <p:nvPicPr>
          <p:cNvPr id="6" name="Image 1" descr="Lucide circle-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633472"/>
            <a:ext cx="402336" cy="40233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435608" y="2596896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数字・日付・固有名詞を確認した。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pic>
        <p:nvPicPr>
          <p:cNvPr id="8" name="Image 2" descr="Lucide circle-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584448"/>
            <a:ext cx="402336" cy="402336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435608" y="3547872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個人情報や非公開資料を含めていない。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pic>
        <p:nvPicPr>
          <p:cNvPr id="10" name="Image 3" descr="Lucide circle-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535424"/>
            <a:ext cx="402336" cy="402336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1435608" y="4498848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提出するcommitを開き、全ファイルを確認した。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sp>
        <p:nvSpPr>
          <p:cNvPr id="12" name="Text 6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3" name="Text 7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最終課題  11 / 12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最後に、自分の判断を説明する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17904"/>
            <a:ext cx="10908792" cy="4050792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pic>
        <p:nvPicPr>
          <p:cNvPr id="5" name="Image 0" descr="Lucide circle-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1801368"/>
            <a:ext cx="438912" cy="43891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27632" y="1810512"/>
            <a:ext cx="9546336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AIに任せたのは、どの作業か。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その出力の、何を確認したか。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どこを採用し、どこを直したか。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この3点が、成果物から分かるようにしよう。</a:t>
            </a:r>
            <a:endParaRPr lang="ja-JP" sz="27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最終課題  12 / 12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eiryo"/>
        <a:ea typeface="Meiryo"/>
        <a:cs typeface="Meiryo"/>
        <a:font script="Jpan" typeface="Meiryo"/>
        <a:font script="Hang" typeface="Meiryo"/>
        <a:font script="Hans" typeface="Meiryo"/>
        <a:font script="Hant" typeface="Meiryo"/>
        <a:font script="Arab" typeface="Meiryo"/>
        <a:font script="Hebr" typeface="Meiryo"/>
        <a:font script="Thai" typeface="Meiryo"/>
        <a:font script="Ethi" typeface="Meiryo"/>
        <a:font script="Beng" typeface="Meiryo"/>
        <a:font script="Gujr" typeface="Meiryo"/>
        <a:font script="Khmr" typeface="Meiryo"/>
        <a:font script="Knda" typeface="Meiryo"/>
        <a:font script="Guru" typeface="Meiryo"/>
        <a:font script="Cans" typeface="Meiryo"/>
        <a:font script="Cher" typeface="Meiryo"/>
        <a:font script="Yiii" typeface="Meiryo"/>
        <a:font script="Tibt" typeface="Meiryo"/>
        <a:font script="Thaa" typeface="Meiryo"/>
        <a:font script="Deva" typeface="Meiryo"/>
        <a:font script="Telu" typeface="Meiryo"/>
        <a:font script="Taml" typeface="Meiryo"/>
        <a:font script="Syrc" typeface="Meiryo"/>
        <a:font script="Orya" typeface="Meiryo"/>
        <a:font script="Mlym" typeface="Meiryo"/>
        <a:font script="Laoo" typeface="Meiryo"/>
        <a:font script="Sinh" typeface="Meiryo"/>
        <a:font script="Mong" typeface="Meiryo"/>
        <a:font script="Viet" typeface="Meiryo"/>
        <a:font script="Uigh" typeface="Meiryo"/>
        <a:font script="Geor" typeface="Meiryo"/>
        <a:font script="Armn" typeface="Meiryo"/>
        <a:font script="Bugi" typeface="Meiryo"/>
        <a:font script="Bopo" typeface="Meiryo"/>
        <a:font script="Java" typeface="Meiryo"/>
        <a:font script="Lisu" typeface="Meiryo"/>
        <a:font script="Mymr" typeface="Meiryo"/>
        <a:font script="Nkoo" typeface="Meiryo"/>
        <a:font script="Olck" typeface="Meiryo"/>
        <a:font script="Osma" typeface="Meiryo"/>
        <a:font script="Phag" typeface="Meiryo"/>
        <a:font script="Syrn" typeface="Meiryo"/>
        <a:font script="Syrj" typeface="Meiryo"/>
        <a:font script="Syre" typeface="Meiryo"/>
        <a:font script="Sora" typeface="Meiryo"/>
        <a:font script="Tale" typeface="Meiryo"/>
        <a:font script="Talu" typeface="Meiryo"/>
        <a:font script="Tfng" typeface="Meiryo"/>
      </a:majorFont>
      <a:minorFont>
        <a:latin typeface="Meiryo"/>
        <a:ea typeface="Meiryo"/>
        <a:cs typeface="Meiryo"/>
        <a:font script="Jpan" typeface="Meiryo"/>
        <a:font script="Hang" typeface="Meiryo"/>
        <a:font script="Hans" typeface="Meiryo"/>
        <a:font script="Hant" typeface="Meiryo"/>
        <a:font script="Arab" typeface="Meiryo"/>
        <a:font script="Hebr" typeface="Meiryo"/>
        <a:font script="Thai" typeface="Meiryo"/>
        <a:font script="Ethi" typeface="Meiryo"/>
        <a:font script="Beng" typeface="Meiryo"/>
        <a:font script="Gujr" typeface="Meiryo"/>
        <a:font script="Khmr" typeface="Meiryo"/>
        <a:font script="Knda" typeface="Meiryo"/>
        <a:font script="Guru" typeface="Meiryo"/>
        <a:font script="Cans" typeface="Meiryo"/>
        <a:font script="Cher" typeface="Meiryo"/>
        <a:font script="Yiii" typeface="Meiryo"/>
        <a:font script="Tibt" typeface="Meiryo"/>
        <a:font script="Thaa" typeface="Meiryo"/>
        <a:font script="Deva" typeface="Meiryo"/>
        <a:font script="Telu" typeface="Meiryo"/>
        <a:font script="Taml" typeface="Meiryo"/>
        <a:font script="Syrc" typeface="Meiryo"/>
        <a:font script="Orya" typeface="Meiryo"/>
        <a:font script="Mlym" typeface="Meiryo"/>
        <a:font script="Laoo" typeface="Meiryo"/>
        <a:font script="Sinh" typeface="Meiryo"/>
        <a:font script="Mong" typeface="Meiryo"/>
        <a:font script="Viet" typeface="Meiryo"/>
        <a:font script="Uigh" typeface="Meiryo"/>
        <a:font script="Geor" typeface="Meiryo"/>
        <a:font script="Armn" typeface="Meiryo"/>
        <a:font script="Bugi" typeface="Meiryo"/>
        <a:font script="Bopo" typeface="Meiryo"/>
        <a:font script="Java" typeface="Meiryo"/>
        <a:font script="Lisu" typeface="Meiryo"/>
        <a:font script="Mymr" typeface="Meiryo"/>
        <a:font script="Nkoo" typeface="Meiryo"/>
        <a:font script="Olck" typeface="Meiryo"/>
        <a:font script="Osma" typeface="Meiryo"/>
        <a:font script="Phag" typeface="Meiryo"/>
        <a:font script="Syrn" typeface="Meiryo"/>
        <a:font script="Syrj" typeface="Meiryo"/>
        <a:font script="Syre" typeface="Meiryo"/>
        <a:font script="Sora" typeface="Meiryo"/>
        <a:font script="Tale" typeface="Meiryo"/>
        <a:font script="Talu" typeface="Meiryo"/>
        <a:font script="Tfng" typeface="Meiryo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Tsuchiya 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最終課題</dc:title>
  <dc:subject>AI・データリテラシー／学生向け演習</dc:subject>
  <dc:creator>Takahiro Tsuchiya</dc:creator>
  <cp:lastModifiedBy>Takahiro Tsuchiya</cp:lastModifiedBy>
  <cp:revision>1</cp:revision>
  <dcterms:created xsi:type="dcterms:W3CDTF">2026-09-17T11:31:39Z</dcterms:created>
  <dcterms:modified xsi:type="dcterms:W3CDTF">2026-09-17T11:31:39Z</dcterms:modified>
</cp:coreProperties>
</file>