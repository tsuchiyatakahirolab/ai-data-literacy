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lang="ja-JP">
        <a:solidFill>
          <a:schemeClr val="tx1"/>
        </a:solidFill>
        <a:latin typeface="Meiryo"/>
        <a:ea typeface="Meiryo"/>
        <a:cs typeface="Meiryo"/>
      </a:defRPr>
    </a:lvl1pPr>
    <a:lvl2pPr marL="457200" algn="l" defTabSz="914400" rtl="0" eaLnBrk="1" latinLnBrk="0" hangingPunct="1">
      <a:defRPr sz="1800" kern="1200" lang="ja-JP">
        <a:solidFill>
          <a:schemeClr val="tx1"/>
        </a:solidFill>
        <a:latin typeface="Meiryo"/>
        <a:ea typeface="Meiryo"/>
        <a:cs typeface="Meiryo"/>
      </a:defRPr>
    </a:lvl2pPr>
    <a:lvl3pPr marL="914400" algn="l" defTabSz="914400" rtl="0" eaLnBrk="1" latinLnBrk="0" hangingPunct="1">
      <a:defRPr sz="1800" kern="1200" lang="ja-JP">
        <a:solidFill>
          <a:schemeClr val="tx1"/>
        </a:solidFill>
        <a:latin typeface="Meiryo"/>
        <a:ea typeface="Meiryo"/>
        <a:cs typeface="Meiryo"/>
      </a:defRPr>
    </a:lvl3pPr>
    <a:lvl4pPr marL="1371600" algn="l" defTabSz="914400" rtl="0" eaLnBrk="1" latinLnBrk="0" hangingPunct="1">
      <a:defRPr sz="1800" kern="1200" lang="ja-JP">
        <a:solidFill>
          <a:schemeClr val="tx1"/>
        </a:solidFill>
        <a:latin typeface="Meiryo"/>
        <a:ea typeface="Meiryo"/>
        <a:cs typeface="Meiryo"/>
      </a:defRPr>
    </a:lvl4pPr>
    <a:lvl5pPr marL="1828800" algn="l" defTabSz="914400" rtl="0" eaLnBrk="1" latinLnBrk="0" hangingPunct="1">
      <a:defRPr sz="1800" kern="1200" lang="ja-JP">
        <a:solidFill>
          <a:schemeClr val="tx1"/>
        </a:solidFill>
        <a:latin typeface="Meiryo"/>
        <a:ea typeface="Meiryo"/>
        <a:cs typeface="Meiryo"/>
      </a:defRPr>
    </a:lvl5pPr>
    <a:lvl6pPr marL="2286000" algn="l" defTabSz="914400" rtl="0" eaLnBrk="1" latinLnBrk="0" hangingPunct="1">
      <a:defRPr sz="1800" kern="1200" lang="ja-JP">
        <a:solidFill>
          <a:schemeClr val="tx1"/>
        </a:solidFill>
        <a:latin typeface="Meiryo"/>
        <a:ea typeface="Meiryo"/>
        <a:cs typeface="Meiryo"/>
      </a:defRPr>
    </a:lvl6pPr>
    <a:lvl7pPr marL="2743200" algn="l" defTabSz="914400" rtl="0" eaLnBrk="1" latinLnBrk="0" hangingPunct="1">
      <a:defRPr sz="1800" kern="1200" lang="ja-JP">
        <a:solidFill>
          <a:schemeClr val="tx1"/>
        </a:solidFill>
        <a:latin typeface="Meiryo"/>
        <a:ea typeface="Meiryo"/>
        <a:cs typeface="Meiryo"/>
      </a:defRPr>
    </a:lvl7pPr>
    <a:lvl8pPr marL="3200400" algn="l" defTabSz="914400" rtl="0" eaLnBrk="1" latinLnBrk="0" hangingPunct="1">
      <a:defRPr sz="1800" kern="1200" lang="ja-JP">
        <a:solidFill>
          <a:schemeClr val="tx1"/>
        </a:solidFill>
        <a:latin typeface="Meiryo"/>
        <a:ea typeface="Meiryo"/>
        <a:cs typeface="Meiryo"/>
      </a:defRPr>
    </a:lvl8pPr>
    <a:lvl9pPr marL="3657600" algn="l" defTabSz="914400" rtl="0" eaLnBrk="1" latinLnBrk="0" hangingPunct="1">
      <a:defRPr sz="1800" kern="1200" lang="ja-JP">
        <a:solidFill>
          <a:schemeClr val="tx1"/>
        </a:solidFill>
        <a:latin typeface="Meiryo"/>
        <a:ea typeface="Meiryo"/>
        <a:cs typeface="Meiryo"/>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lang="ja-JP">
                <a:latin typeface="Meiryo"/>
                <a:ea typeface="Meiryo"/>
                <a:cs typeface="Meiryo"/>
              </a:defRPr>
            </a:lvl1pPr>
          </a:lstStyle>
          <a:p>
            <a:endParaRPr lang="ja-JP">
              <a:latin typeface="Meiryo"/>
              <a:ea typeface="Meiryo"/>
              <a:cs typeface="Meiryo"/>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lang="ja-JP">
                <a:latin typeface="Meiryo"/>
                <a:ea typeface="Meiryo"/>
                <a:cs typeface="Meiryo"/>
              </a:defRPr>
            </a:lvl1pPr>
          </a:lstStyle>
          <a:p>
            <a:fld id="{5282F153-3F37-0F45-9E97-73ACFA13230C}" type="datetimeFigureOut">
              <a:rPr lang="ja-JP">
                <a:latin typeface="Meiryo"/>
                <a:ea typeface="Meiryo"/>
                <a:cs typeface="Meiryo"/>
              </a:rPr>
              <a:t>7/23/19</a:t>
            </a:fld>
            <a:endParaRPr lang="ja-JP">
              <a:latin typeface="Meiryo"/>
              <a:ea typeface="Meiryo"/>
              <a:cs typeface="Meiryo"/>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atin typeface="Meiryo"/>
              <a:ea typeface="Meiryo"/>
              <a:cs typeface="Meiryo"/>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atin typeface="Meiryo"/>
                <a:ea typeface="Meiryo"/>
                <a:cs typeface="Meiryo"/>
              </a:rPr>
              <a:t>Click to edit Master text styles</a:t>
            </a:r>
          </a:p>
          <a:p>
            <a:pPr lvl="1"/>
            <a:r>
              <a:rPr lang="ja-JP">
                <a:latin typeface="Meiryo"/>
                <a:ea typeface="Meiryo"/>
                <a:cs typeface="Meiryo"/>
              </a:rPr>
              <a:t>Second level</a:t>
            </a:r>
          </a:p>
          <a:p>
            <a:pPr lvl="2"/>
            <a:r>
              <a:rPr lang="ja-JP">
                <a:latin typeface="Meiryo"/>
                <a:ea typeface="Meiryo"/>
                <a:cs typeface="Meiryo"/>
              </a:rPr>
              <a:t>Third level</a:t>
            </a:r>
          </a:p>
          <a:p>
            <a:pPr lvl="3"/>
            <a:r>
              <a:rPr lang="ja-JP">
                <a:latin typeface="Meiryo"/>
                <a:ea typeface="Meiryo"/>
                <a:cs typeface="Meiryo"/>
              </a:rPr>
              <a:t>Fourth level</a:t>
            </a:r>
          </a:p>
          <a:p>
            <a:pPr lvl="4"/>
            <a:r>
              <a:rPr lang="ja-JP">
                <a:latin typeface="Meiryo"/>
                <a:ea typeface="Meiryo"/>
                <a:cs typeface="Meiryo"/>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lang="ja-JP">
                <a:latin typeface="Meiryo"/>
                <a:ea typeface="Meiryo"/>
                <a:cs typeface="Meiryo"/>
              </a:defRPr>
            </a:lvl1pPr>
          </a:lstStyle>
          <a:p>
            <a:endParaRPr lang="ja-JP">
              <a:latin typeface="Meiryo"/>
              <a:ea typeface="Meiryo"/>
              <a:cs typeface="Meiryo"/>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lang="ja-JP">
                <a:latin typeface="Meiryo"/>
                <a:ea typeface="Meiryo"/>
                <a:cs typeface="Meiryo"/>
              </a:defRPr>
            </a:lvl1pPr>
          </a:lstStyle>
          <a:p>
            <a:fld id="{CE5E9CC1-C706-0F49-92D6-E571CC5EEA8F}" type="slidenum">
              <a:rPr lang="ja-JP">
                <a:latin typeface="Meiryo"/>
                <a:ea typeface="Meiryo"/>
                <a:cs typeface="Meiryo"/>
              </a:rPr>
              <a:t>‹#›</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lang="ja-JP">
        <a:solidFill>
          <a:schemeClr val="tx1"/>
        </a:solidFill>
        <a:latin typeface="Meiryo"/>
        <a:ea typeface="Meiryo"/>
        <a:cs typeface="Meiryo"/>
      </a:defRPr>
    </a:lvl1pPr>
    <a:lvl2pPr marL="457200" algn="l" defTabSz="914400" rtl="0" eaLnBrk="1" latinLnBrk="0" hangingPunct="1">
      <a:defRPr sz="1200" kern="1200" lang="ja-JP">
        <a:solidFill>
          <a:schemeClr val="tx1"/>
        </a:solidFill>
        <a:latin typeface="Meiryo"/>
        <a:ea typeface="Meiryo"/>
        <a:cs typeface="Meiryo"/>
      </a:defRPr>
    </a:lvl2pPr>
    <a:lvl3pPr marL="914400" algn="l" defTabSz="914400" rtl="0" eaLnBrk="1" latinLnBrk="0" hangingPunct="1">
      <a:defRPr sz="1200" kern="1200" lang="ja-JP">
        <a:solidFill>
          <a:schemeClr val="tx1"/>
        </a:solidFill>
        <a:latin typeface="Meiryo"/>
        <a:ea typeface="Meiryo"/>
        <a:cs typeface="Meiryo"/>
      </a:defRPr>
    </a:lvl3pPr>
    <a:lvl4pPr marL="1371600" algn="l" defTabSz="914400" rtl="0" eaLnBrk="1" latinLnBrk="0" hangingPunct="1">
      <a:defRPr sz="1200" kern="1200" lang="ja-JP">
        <a:solidFill>
          <a:schemeClr val="tx1"/>
        </a:solidFill>
        <a:latin typeface="Meiryo"/>
        <a:ea typeface="Meiryo"/>
        <a:cs typeface="Meiryo"/>
      </a:defRPr>
    </a:lvl4pPr>
    <a:lvl5pPr marL="1828800" algn="l" defTabSz="914400" rtl="0" eaLnBrk="1" latinLnBrk="0" hangingPunct="1">
      <a:defRPr sz="1200" kern="1200" lang="ja-JP">
        <a:solidFill>
          <a:schemeClr val="tx1"/>
        </a:solidFill>
        <a:latin typeface="Meiryo"/>
        <a:ea typeface="Meiryo"/>
        <a:cs typeface="Meiryo"/>
      </a:defRPr>
    </a:lvl5pPr>
    <a:lvl6pPr marL="2286000" algn="l" defTabSz="914400" rtl="0" eaLnBrk="1" latinLnBrk="0" hangingPunct="1">
      <a:defRPr sz="1200" kern="1200" lang="ja-JP">
        <a:solidFill>
          <a:schemeClr val="tx1"/>
        </a:solidFill>
        <a:latin typeface="Meiryo"/>
        <a:ea typeface="Meiryo"/>
        <a:cs typeface="Meiryo"/>
      </a:defRPr>
    </a:lvl6pPr>
    <a:lvl7pPr marL="2743200" algn="l" defTabSz="914400" rtl="0" eaLnBrk="1" latinLnBrk="0" hangingPunct="1">
      <a:defRPr sz="1200" kern="1200" lang="ja-JP">
        <a:solidFill>
          <a:schemeClr val="tx1"/>
        </a:solidFill>
        <a:latin typeface="Meiryo"/>
        <a:ea typeface="Meiryo"/>
        <a:cs typeface="Meiryo"/>
      </a:defRPr>
    </a:lvl7pPr>
    <a:lvl8pPr marL="3200400" algn="l" defTabSz="914400" rtl="0" eaLnBrk="1" latinLnBrk="0" hangingPunct="1">
      <a:defRPr sz="1200" kern="1200" lang="ja-JP">
        <a:solidFill>
          <a:schemeClr val="tx1"/>
        </a:solidFill>
        <a:latin typeface="Meiryo"/>
        <a:ea typeface="Meiryo"/>
        <a:cs typeface="Meiryo"/>
      </a:defRPr>
    </a:lvl8pPr>
    <a:lvl9pPr marL="3657600" algn="l" defTabSz="914400" rtl="0" eaLnBrk="1" latinLnBrk="0" hangingPunct="1">
      <a:defRPr sz="1200" kern="1200" lang="ja-JP">
        <a:solidFill>
          <a:schemeClr val="tx1"/>
        </a:solidFill>
        <a:latin typeface="Meiryo"/>
        <a:ea typeface="Meiryo"/>
        <a:cs typeface="Meiryo"/>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latin typeface="Meiryo"/>
                <a:ea typeface="Meiryo"/>
                <a:cs typeface="Meiryo"/>
              </a:rPr>
              <a:t>【進行】小さなCSVをAIと分析する / 1ページ
到達点：CSVの構造を確認し、集計と可視化を検算する。
スライドの指示に沿って操作を待つ。学生の画面で結果を確認してから次へ進む。
【作成】本文・図形・表・数値表示はメイリオ指定。Lucideアイコンのライセンスはassets/icons/lucide/LICENSE.txtを参照。</a:t>
            </a:r>
            <a:endParaRPr lang="ja-JP" dirty="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latin typeface="Meiryo"/>
                <a:ea typeface="Meiryo"/>
                <a:cs typeface="Meiryo"/>
              </a:rPr>
              <a:t>【進行】小さなCSVをAIと分析する / 2ページ
到達点：CSVの構造を確認し、集計と可視化を検算する。
スライドの指示に沿って操作を待つ。学生の画面で結果を確認してから次へ進む。
【参考資料】
OpenAI「ChatGPT capabilities overview」
https://help.openai.com/en/articles/9260256-chatgpt-capabilities-overview
確認日：2026-09-17
Google「Upload &amp; analyze files in Gemini Apps」
https://support.google.com/gemini/answer/14903178?co=GENIE.Platform%3DDesktop&amp;hl=en
確認日：2026-09-17
【作成】本文・図形・表・数値表示はメイリオ指定。Lucideアイコンのライセンスはassets/icons/lucide/LICENSE.txtを参照。</a:t>
            </a:r>
            <a:endParaRPr lang="ja-JP" dirty="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2</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latin typeface="Meiryo"/>
                <a:ea typeface="Meiryo"/>
                <a:cs typeface="Meiryo"/>
              </a:rPr>
              <a:t>【進行】小さなCSVをAIと分析する / 3ページ
到達点：CSVの構造を確認し、集計と可視化を検算する。
スライドの指示に沿って操作を待つ。学生の画面で結果を確認してから次へ進む。
【作成】本文・図形・表・数値表示はメイリオ指定。Lucideアイコンのライセンスはassets/icons/lucide/LICENSE.txtを参照。</a:t>
            </a:r>
            <a:endParaRPr lang="ja-JP" dirty="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3</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latin typeface="Meiryo"/>
                <a:ea typeface="Meiryo"/>
                <a:cs typeface="Meiryo"/>
              </a:rPr>
              <a:t>【進行】小さなCSVをAIと分析する / 4ページ
到達点：CSVの構造を確認し、集計と可視化を検算する。
教育用架空データを効果研究の結果や大学の実績として扱わない。配布CSVとデータ辞書の2つを開かせる。
【作成】本文・図形・表・数値表示はメイリオ指定。Lucideアイコンのライセンスはassets/icons/lucide/LICENSE.txtを参照。</a:t>
            </a:r>
            <a:endParaRPr lang="ja-JP" dirty="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4</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latin typeface="Meiryo"/>
                <a:ea typeface="Meiryo"/>
                <a:cs typeface="Meiryo"/>
              </a:rPr>
              <a:t>【進行】小さなCSVをAIと分析する / 5ページ
到達点：CSVの構造を確認し、集計と可視化を検算する。
スライドの指示に沿って操作を待つ。学生の画面で結果を確認してから次へ進む。
操作に詰まった学生には、表示中の画面と止まった箇所を確認する。パスワードや認証コードは見せさせない。
【参考資料】
OpenAI「ChatGPT capabilities overview」
https://help.openai.com/en/articles/9260256-chatgpt-capabilities-overview
確認日：2026-09-17
Google「Upload &amp; analyze files in Gemini Apps」
https://support.google.com/gemini/answer/14903178?co=GENIE.Platform%3DDesktop&amp;hl=en
確認日：2026-09-17
【作成】本文・図形・表・数値表示はメイリオ指定。Lucideアイコンのライセンスはassets/icons/lucide/LICENSE.txtを参照。</a:t>
            </a:r>
            <a:endParaRPr lang="ja-JP" dirty="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5</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latin typeface="Meiryo"/>
                <a:ea typeface="Meiryo"/>
                <a:cs typeface="Meiryo"/>
              </a:rPr>
              <a:t>【進行】小さなCSVをAIと分析する / 6ページ
到達点：CSVの構造を確認し、集計と可視化を検算する。
スライドの指示に沿って操作を待つ。学生の画面で結果を確認してから次へ進む。
操作に詰まった学生には、表示中の画面と止まった箇所を確認する。パスワードや認証コードは見せさせない。
コピー用の依頼文はhandouts/にある。指示文は例であり、長さや特定の語句を暗記させない。
【作成】本文・図形・表・数値表示はメイリオ指定。Lucideアイコンのライセンスはassets/icons/lucide/LICENSE.txtを参照。</a:t>
            </a:r>
            <a:endParaRPr lang="ja-JP" dirty="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6</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latin typeface="Meiryo"/>
                <a:ea typeface="Meiryo"/>
                <a:cs typeface="Meiryo"/>
              </a:rPr>
              <a:t>【進行】小さなCSVをAIと分析する / 7ページ
到達点：CSVの構造を確認し、集計と可視化を検算する。
スライドの指示に沿って操作を待つ。学生の画面で結果を確認してから次へ進む。
【作成】本文・図形・表・数値表示はメイリオ指定。Lucideアイコンのライセンスはassets/icons/lucide/LICENSE.txtを参照。</a:t>
            </a:r>
            <a:endParaRPr lang="ja-JP" dirty="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7</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latin typeface="Meiryo"/>
                <a:ea typeface="Meiryo"/>
                <a:cs typeface="Meiryo"/>
              </a:rPr>
              <a:t>【進行】小さなCSVをAIと分析する / 8ページ
到達点：CSVの構造を確認し、集計と可視化を検算する。
スライドの指示に沿って操作を待つ。学生の画面で結果を確認してから次へ進む。
操作に詰まった学生には、表示中の画面と止まった箇所を確認する。パスワードや認証コードは見せさせない。
コピー用の依頼文はhandouts/にある。指示文は例であり、長さや特定の語句を暗記させない。
【作成】本文・図形・表・数値表示はメイリオ指定。Lucideアイコンのライセンスはassets/icons/lucide/LICENSE.txtを参照。</a:t>
            </a:r>
            <a:endParaRPr lang="ja-JP" dirty="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8</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latin typeface="Meiryo"/>
                <a:ea typeface="Meiryo"/>
                <a:cs typeface="Meiryo"/>
              </a:rPr>
              <a:t>【進行】小さなCSVをAIと分析する / 9ページ
到達点：CSVの構造を確認し、集計と可視化を検算する。
実際のCSVでPython集計して検証済みの値。AIの結果が違えば列選択・欠損扱い・別ファイルを点検。答えを先に見せたくなければこのスライドを非表示にして使用できる。
【作成】本文・図形・表・数値表示はメイリオ指定。Lucideアイコンのライセンスはassets/icons/lucide/LICENSE.txtを参照。</a:t>
            </a:r>
            <a:endParaRPr lang="ja-JP" dirty="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9</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latin typeface="Meiryo"/>
                <a:ea typeface="Meiryo"/>
                <a:cs typeface="Meiryo"/>
              </a:rPr>
              <a:t>【進行】小さなCSVをAIと分析する / 10ページ
到達点：CSVの構造を確認し、集計と可視化を検算する。
スライドの指示に沿って操作を待つ。学生の画面で結果を確認してから次へ進む。
【作成】本文・図形・表・数値表示はメイリオ指定。Lucideアイコンのライセンスはassets/icons/lucide/LICENSE.txtを参照。</a:t>
            </a:r>
            <a:endParaRPr lang="ja-JP" dirty="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10</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latin typeface="Meiryo"/>
                <a:ea typeface="Meiryo"/>
                <a:cs typeface="Meiryo"/>
              </a:rPr>
              <a:t>【進行】小さなCSVをAIと分析する / 11ページ
到達点：CSVの構造を確認し、集計と可視化を検算する。
スライドの指示に沿って操作を待つ。学生の画面で結果を確認してから次へ進む。
操作に詰まった学生には、表示中の画面と止まった箇所を確認する。パスワードや認証コードは見せさせない。
コピー用の依頼文はhandouts/にある。指示文は例であり、長さや特定の語句を暗記させない。
【作成】本文・図形・表・数値表示はメイリオ指定。Lucideアイコンのライセンスはassets/icons/lucide/LICENSE.txtを参照。</a:t>
            </a:r>
            <a:endParaRPr lang="ja-JP" dirty="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11</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latin typeface="Meiryo"/>
                <a:ea typeface="Meiryo"/>
                <a:cs typeface="Meiryo"/>
              </a:rPr>
              <a:t>【進行】小さなCSVをAIと分析する / 12ページ
到達点：CSVの構造を確認し、集計と可視化を検算する。
スライドの指示に沿って操作を待つ。学生の画面で結果を確認してから次へ進む。
【作成】本文・図形・表・数値表示はメイリオ指定。Lucideアイコンのライセンスはassets/icons/lucide/LICENSE.txtを参照。</a:t>
            </a:r>
            <a:endParaRPr lang="ja-JP" dirty="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12</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latin typeface="Meiryo"/>
                <a:ea typeface="Meiryo"/>
                <a:cs typeface="Meiryo"/>
              </a:rPr>
              <a:t>【進行】小さなCSVをAIと分析する / 13ページ
到達点：CSVの構造を確認し、集計と可視化を検算する。
スライドの指示に沿って操作を待つ。学生の画面で結果を確認してから次へ進む。
【作成】本文・図形・表・数値表示はメイリオ指定。Lucideアイコンのライセンスはassets/icons/lucide/LICENSE.txtを参照。</a:t>
            </a:r>
            <a:endParaRPr lang="ja-JP" dirty="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13</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latin typeface="Meiryo"/>
                <a:ea typeface="Meiryo"/>
                <a:cs typeface="Meiryo"/>
              </a:rPr>
              <a:t>【進行】小さなCSVをAIと分析する / 14ページ
到達点：CSVの構造を確認し、集計と可視化を検算する。
スライドの指示に沿って操作を待つ。学生の画面で結果を確認してから次へ進む。
操作に詰まった学生には、表示中の画面と止まった箇所を確認する。パスワードや認証コードは見せさせない。
【作成】本文・図形・表・数値表示はメイリオ指定。Lucideアイコンのライセンスはassets/icons/lucide/LICENSE.txtを参照。</a:t>
            </a:r>
            <a:endParaRPr lang="ja-JP" dirty="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14</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latin typeface="Meiryo"/>
                <a:ea typeface="Meiryo"/>
                <a:cs typeface="Meiryo"/>
              </a:rPr>
              <a:t>【進行】小さなCSVをAIと分析する / 15ページ
到達点：CSVの構造を確認し、集計と可視化を検算する。
AIとの会話全文、共有リンク、無意味な再試行回数は求めない。変更が不要だった場合も確認した対象と結果を書けばよい。
【作成】本文・図形・表・数値表示はメイリオ指定。Lucideアイコンのライセンスはassets/icons/lucide/LICENSE.txtを参照。</a:t>
            </a:r>
            <a:endParaRPr lang="ja-JP" dirty="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15</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latin typeface="Meiryo"/>
                <a:ea typeface="Meiryo"/>
                <a:cs typeface="Meiryo"/>
              </a:rPr>
              <a:t>【進行】小さなCSVをAIと分析する / 16ページ
到達点：CSVの構造を確認し、集計と可視化を検算する。
Desktopを使った学生はPush origin後にGitHubで確認する。フォーム送信完了画面まで確認。教員の閲覧権限は別途必要。
操作に詰まった学生には、表示中の画面と止まった箇所を確認する。パスワードや認証コードは見せさせない。
【参考資料】
GitHub Docs「Editing files」
https://docs.github.com/en/repositories/working-with-files/managing-files/editing-files
確認日：2026-09-17
【作成】本文・図形・表・数値表示はメイリオ指定。Lucideアイコンのライセンスはassets/icons/lucide/LICENSE.txtを参照。</a:t>
            </a:r>
            <a:endParaRPr lang="ja-JP" dirty="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16</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latin typeface="Meiryo"/>
                <a:ea typeface="Meiryo"/>
                <a:cs typeface="Meiryo"/>
              </a:rPr>
              <a:t>【進行】小さなCSVをAIと分析する / 17ページ
到達点：CSVの構造を確認し、集計と可視化を検算する。
このチェックは暗記テストではない。ファイルと画面を見ながら自己確認させる。
【作成】本文・図形・表・数値表示はメイリオ指定。Lucideアイコンのライセンスはassets/icons/lucide/LICENSE.txtを参照。</a:t>
            </a:r>
            <a:endParaRPr lang="ja-JP" dirty="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17</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theme" Target="../theme/theme1.xml" /><ns0:Relationship Id="rIdPersonalAuthorLogo" Type="http://schemas.openxmlformats.org/officeDocument/2006/relationships/image" Target="../media/personal-author-logo.png" /></ns0:Relationships>
</file>

<file path=ppt/slideMasters/slideMaster1.xml><?xml version="1.0" encoding="utf-8"?>
<p:sldMaster xmlns:a="http://schemas.openxmlformats.org/drawingml/2006/main" xmlns:ns3="http://schemas.microsoft.com/office/drawing/2014/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
          <p:cNvPicPr>
            <a:picLocks noChangeAspect="1"/>
          </p:cNvPicPr>
          <p:nvPr/>
        </p:nvPicPr>
        <p:blipFill>
          <a:blip r:embed="rIdPersonalAuthorLogo"/>
          <a:stretch/>
        </p:blipFill>
        <p:spPr>
          <a:xfrm>
            <a:off x="685800" y="85748"/>
            <a:ext cx="1714500" cy="210457"/>
          </a:xfrm>
          <a:prstGeom prst="rect">
            <a:avLst/>
          </a:prstGeom>
        </p:spPr>
      </p:pic>
      <p:sp>
        <p:nvSpPr>
          <p:cNvPr id="3" name="Personal author website">
            <a:extLst>
              <a:ext uri="{FF2B5EF4-FFF2-40B4-BE49-F238E27FC236}">
                <ns3:creationId id="{2B199CB2-0940-4D13-9CAC-E3F074FAA0ED}"/>
              </a:ext>
            </a:extLst>
          </p:cNvPr>
          <p:cNvSpPr>
            <a:spLocks noGrp="1"/>
          </p:cNvSpPr>
          <p:nvPr/>
        </p:nvSpPr>
        <p:spPr>
          <a:xfrm>
            <a:off x="6286500" y="6477000"/>
            <a:ext cx="4000500" cy="266700"/>
          </a:xfrm>
          <a:prstGeom prst="rect">
            <a:avLst/>
          </a:prstGeom>
          <a:noFill/>
          <a:ln w="0">
            <a:noFill/>
          </a:ln>
        </p:spPr>
        <p:txBody>
          <a:bodyPr>
            <a:noAutofit/>
          </a:bodyPr>
          <a:lstStyle/>
          <a:p>
            <a:pPr>
              <a:defRPr sz="1800">
                <a:solidFill>
                  <a:srgbClr val="607482"/>
                </a:solidFill>
                <a:latin typeface="Meiryo"/>
                <a:ea typeface="Meiryo"/>
                <a:cs typeface="Meiryo"/>
              </a:defRPr>
            </a:pPr>
            <a:r>
              <a:rPr sz="1800">
                <a:solidFill>
                  <a:srgbClr val="607482"/>
                </a:solidFill>
                <a:latin typeface="Meiryo"/>
                <a:ea typeface="Meiryo"/>
                <a:cs typeface="Meiryo"/>
              </a:rPr>
              <a:t>tsuchiyatakahiro.com</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lang="ja-JP">
          <a:solidFill>
            <a:schemeClr val="tx1"/>
          </a:solidFill>
          <a:latin typeface="Meiryo"/>
          <a:ea typeface="Meiryo"/>
          <a:cs typeface="Meiryo"/>
        </a:defRPr>
      </a:lvl1pPr>
    </p:titleStyle>
    <p:bodyStyle>
      <a:lvl1pPr marL="342900" indent="-342900" algn="l" defTabSz="914400" rtl="0" eaLnBrk="1" latinLnBrk="0" hangingPunct="1">
        <a:spcBef>
          <a:spcPct val="20000"/>
        </a:spcBef>
        <a:buFont typeface="Meiryo" pitchFamily="34" charset="0"/>
        <a:buChar char="•"/>
        <a:defRPr sz="3200" kern="1200" lang="ja-JP">
          <a:solidFill>
            <a:schemeClr val="tx1"/>
          </a:solidFill>
          <a:latin typeface="Meiryo"/>
          <a:ea typeface="Meiryo"/>
          <a:cs typeface="Meiryo"/>
        </a:defRPr>
      </a:lvl1pPr>
      <a:lvl2pPr marL="742950" indent="-285750" algn="l" defTabSz="914400" rtl="0" eaLnBrk="1" latinLnBrk="0" hangingPunct="1">
        <a:spcBef>
          <a:spcPct val="20000"/>
        </a:spcBef>
        <a:buFont typeface="Meiryo" pitchFamily="34" charset="0"/>
        <a:buChar char="–"/>
        <a:defRPr sz="2800" kern="1200" lang="ja-JP">
          <a:solidFill>
            <a:schemeClr val="tx1"/>
          </a:solidFill>
          <a:latin typeface="Meiryo"/>
          <a:ea typeface="Meiryo"/>
          <a:cs typeface="Meiryo"/>
        </a:defRPr>
      </a:lvl2pPr>
      <a:lvl3pPr marL="1143000" indent="-228600" algn="l" defTabSz="914400" rtl="0" eaLnBrk="1" latinLnBrk="0" hangingPunct="1">
        <a:spcBef>
          <a:spcPct val="20000"/>
        </a:spcBef>
        <a:buFont typeface="Meiryo" pitchFamily="34" charset="0"/>
        <a:buChar char="•"/>
        <a:defRPr sz="2400" kern="1200" lang="ja-JP">
          <a:solidFill>
            <a:schemeClr val="tx1"/>
          </a:solidFill>
          <a:latin typeface="Meiryo"/>
          <a:ea typeface="Meiryo"/>
          <a:cs typeface="Meiryo"/>
        </a:defRPr>
      </a:lvl3pPr>
      <a:lvl4pPr marL="1600200" indent="-228600" algn="l" defTabSz="914400" rtl="0" eaLnBrk="1" latinLnBrk="0" hangingPunct="1">
        <a:spcBef>
          <a:spcPct val="20000"/>
        </a:spcBef>
        <a:buFont typeface="Meiryo" pitchFamily="34" charset="0"/>
        <a:buChar char="–"/>
        <a:defRPr sz="2000" kern="1200" lang="ja-JP">
          <a:solidFill>
            <a:schemeClr val="tx1"/>
          </a:solidFill>
          <a:latin typeface="Meiryo"/>
          <a:ea typeface="Meiryo"/>
          <a:cs typeface="Meiryo"/>
        </a:defRPr>
      </a:lvl4pPr>
      <a:lvl5pPr marL="2057400" indent="-228600" algn="l" defTabSz="914400" rtl="0" eaLnBrk="1" latinLnBrk="0" hangingPunct="1">
        <a:spcBef>
          <a:spcPct val="20000"/>
        </a:spcBef>
        <a:buFont typeface="Meiryo" pitchFamily="34" charset="0"/>
        <a:buChar char="»"/>
        <a:defRPr sz="2000" kern="1200" lang="ja-JP">
          <a:solidFill>
            <a:schemeClr val="tx1"/>
          </a:solidFill>
          <a:latin typeface="Meiryo"/>
          <a:ea typeface="Meiryo"/>
          <a:cs typeface="Meiryo"/>
        </a:defRPr>
      </a:lvl5pPr>
      <a:lvl6pPr marL="2514600" indent="-228600" algn="l" defTabSz="914400" rtl="0" eaLnBrk="1" latinLnBrk="0" hangingPunct="1">
        <a:spcBef>
          <a:spcPct val="20000"/>
        </a:spcBef>
        <a:buFont typeface="Meiryo" pitchFamily="34" charset="0"/>
        <a:buChar char="•"/>
        <a:defRPr sz="2000" kern="1200" lang="ja-JP">
          <a:solidFill>
            <a:schemeClr val="tx1"/>
          </a:solidFill>
          <a:latin typeface="Meiryo"/>
          <a:ea typeface="Meiryo"/>
          <a:cs typeface="Meiryo"/>
        </a:defRPr>
      </a:lvl6pPr>
      <a:lvl7pPr marL="2971800" indent="-228600" algn="l" defTabSz="914400" rtl="0" eaLnBrk="1" latinLnBrk="0" hangingPunct="1">
        <a:spcBef>
          <a:spcPct val="20000"/>
        </a:spcBef>
        <a:buFont typeface="Meiryo" pitchFamily="34" charset="0"/>
        <a:buChar char="•"/>
        <a:defRPr sz="2000" kern="1200" lang="ja-JP">
          <a:solidFill>
            <a:schemeClr val="tx1"/>
          </a:solidFill>
          <a:latin typeface="Meiryo"/>
          <a:ea typeface="Meiryo"/>
          <a:cs typeface="Meiryo"/>
        </a:defRPr>
      </a:lvl7pPr>
      <a:lvl8pPr marL="3429000" indent="-228600" algn="l" defTabSz="914400" rtl="0" eaLnBrk="1" latinLnBrk="0" hangingPunct="1">
        <a:spcBef>
          <a:spcPct val="20000"/>
        </a:spcBef>
        <a:buFont typeface="Meiryo" pitchFamily="34" charset="0"/>
        <a:buChar char="•"/>
        <a:defRPr sz="2000" kern="1200" lang="ja-JP">
          <a:solidFill>
            <a:schemeClr val="tx1"/>
          </a:solidFill>
          <a:latin typeface="Meiryo"/>
          <a:ea typeface="Meiryo"/>
          <a:cs typeface="Meiryo"/>
        </a:defRPr>
      </a:lvl8pPr>
      <a:lvl9pPr marL="3886200" indent="-228600" algn="l" defTabSz="914400" rtl="0" eaLnBrk="1" latinLnBrk="0" hangingPunct="1">
        <a:spcBef>
          <a:spcPct val="20000"/>
        </a:spcBef>
        <a:buFont typeface="Meiryo" pitchFamily="34" charset="0"/>
        <a:buChar char="•"/>
        <a:defRPr sz="2000" kern="1200" lang="ja-JP">
          <a:solidFill>
            <a:schemeClr val="tx1"/>
          </a:solidFill>
          <a:latin typeface="Meiryo"/>
          <a:ea typeface="Meiryo"/>
          <a:cs typeface="Meiryo"/>
        </a:defRPr>
      </a:lvl9pPr>
    </p:bodyStyle>
    <p:otherStyle>
      <a:defPPr>
        <a:defRPr lang="ja-JP">
          <a:latin typeface="Meiryo"/>
          <a:ea typeface="Meiryo"/>
          <a:cs typeface="Meiryo"/>
        </a:defRPr>
      </a:defPPr>
      <a:lvl1pPr marL="0" algn="l" defTabSz="914400" rtl="0" eaLnBrk="1" latinLnBrk="0" hangingPunct="1">
        <a:defRPr sz="1800" kern="1200" lang="ja-JP">
          <a:solidFill>
            <a:schemeClr val="tx1"/>
          </a:solidFill>
          <a:latin typeface="Meiryo"/>
          <a:ea typeface="Meiryo"/>
          <a:cs typeface="Meiryo"/>
        </a:defRPr>
      </a:lvl1pPr>
      <a:lvl2pPr marL="457200" algn="l" defTabSz="914400" rtl="0" eaLnBrk="1" latinLnBrk="0" hangingPunct="1">
        <a:defRPr sz="1800" kern="1200" lang="ja-JP">
          <a:solidFill>
            <a:schemeClr val="tx1"/>
          </a:solidFill>
          <a:latin typeface="Meiryo"/>
          <a:ea typeface="Meiryo"/>
          <a:cs typeface="Meiryo"/>
        </a:defRPr>
      </a:lvl2pPr>
      <a:lvl3pPr marL="914400" algn="l" defTabSz="914400" rtl="0" eaLnBrk="1" latinLnBrk="0" hangingPunct="1">
        <a:defRPr sz="1800" kern="1200" lang="ja-JP">
          <a:solidFill>
            <a:schemeClr val="tx1"/>
          </a:solidFill>
          <a:latin typeface="Meiryo"/>
          <a:ea typeface="Meiryo"/>
          <a:cs typeface="Meiryo"/>
        </a:defRPr>
      </a:lvl3pPr>
      <a:lvl4pPr marL="1371600" algn="l" defTabSz="914400" rtl="0" eaLnBrk="1" latinLnBrk="0" hangingPunct="1">
        <a:defRPr sz="1800" kern="1200" lang="ja-JP">
          <a:solidFill>
            <a:schemeClr val="tx1"/>
          </a:solidFill>
          <a:latin typeface="Meiryo"/>
          <a:ea typeface="Meiryo"/>
          <a:cs typeface="Meiryo"/>
        </a:defRPr>
      </a:lvl4pPr>
      <a:lvl5pPr marL="1828800" algn="l" defTabSz="914400" rtl="0" eaLnBrk="1" latinLnBrk="0" hangingPunct="1">
        <a:defRPr sz="1800" kern="1200" lang="ja-JP">
          <a:solidFill>
            <a:schemeClr val="tx1"/>
          </a:solidFill>
          <a:latin typeface="Meiryo"/>
          <a:ea typeface="Meiryo"/>
          <a:cs typeface="Meiryo"/>
        </a:defRPr>
      </a:lvl5pPr>
      <a:lvl6pPr marL="2286000" algn="l" defTabSz="914400" rtl="0" eaLnBrk="1" latinLnBrk="0" hangingPunct="1">
        <a:defRPr sz="1800" kern="1200" lang="ja-JP">
          <a:solidFill>
            <a:schemeClr val="tx1"/>
          </a:solidFill>
          <a:latin typeface="Meiryo"/>
          <a:ea typeface="Meiryo"/>
          <a:cs typeface="Meiryo"/>
        </a:defRPr>
      </a:lvl6pPr>
      <a:lvl7pPr marL="2743200" algn="l" defTabSz="914400" rtl="0" eaLnBrk="1" latinLnBrk="0" hangingPunct="1">
        <a:defRPr sz="1800" kern="1200" lang="ja-JP">
          <a:solidFill>
            <a:schemeClr val="tx1"/>
          </a:solidFill>
          <a:latin typeface="Meiryo"/>
          <a:ea typeface="Meiryo"/>
          <a:cs typeface="Meiryo"/>
        </a:defRPr>
      </a:lvl7pPr>
      <a:lvl8pPr marL="3200400" algn="l" defTabSz="914400" rtl="0" eaLnBrk="1" latinLnBrk="0" hangingPunct="1">
        <a:defRPr sz="1800" kern="1200" lang="ja-JP">
          <a:solidFill>
            <a:schemeClr val="tx1"/>
          </a:solidFill>
          <a:latin typeface="Meiryo"/>
          <a:ea typeface="Meiryo"/>
          <a:cs typeface="Meiryo"/>
        </a:defRPr>
      </a:lvl8pPr>
      <a:lvl9pPr marL="3657600" algn="l" defTabSz="914400" rtl="0" eaLnBrk="1" latinLnBrk="0" hangingPunct="1">
        <a:defRPr sz="1800" kern="1200" lang="ja-JP">
          <a:solidFill>
            <a:schemeClr val="tx1"/>
          </a:solidFill>
          <a:latin typeface="Meiryo"/>
          <a:ea typeface="Meiryo"/>
          <a:cs typeface="Meiryo"/>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image" Target="../media/image-1-1.png" /><ns0:Relationship Id="rId2" Type="http://schemas.openxmlformats.org/officeDocument/2006/relationships/slideLayout" Target="../slideLayouts/slideLayout1.xml" /><ns0:Relationship Id="rId3" Type="http://schemas.openxmlformats.org/officeDocument/2006/relationships/notesSlide" Target="../notesSlides/notesSlide1.xml" /><ns0:Relationship Id="rIdPersonalAuthorLogo" Type="http://schemas.openxmlformats.org/officeDocument/2006/relationships/image" Target="../media/personal-author-logo-white.png" /></ns0: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1.png"/><Relationship Id="rId3" Type="http://schemas.openxmlformats.org/officeDocument/2006/relationships/image" Target="../media/image-17-1.png"/><Relationship Id="rId4" Type="http://schemas.openxmlformats.org/officeDocument/2006/relationships/image" Target="../media/image-17-1.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slide1.xml><?xml version="1.0" encoding="utf-8"?>
<p:sld xmlns:a="http://schemas.openxmlformats.org/drawingml/2006/main" xmlns:ns3="http://schemas.microsoft.com/office/drawing/2014/main" xmlns:p="http://schemas.openxmlformats.org/presentationml/2006/main" xmlns:r="http://schemas.openxmlformats.org/officeDocument/2006/relationships" showMasterSp="0">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32B39"/>
          </a:solidFill>
          <a:ln w="12700">
            <a:solidFill>
              <a:srgbClr val="132B39"/>
            </a:solidFill>
            <a:prstDash val="solid"/>
          </a:ln>
        </p:spPr>
      </p:sp>
      <p:sp>
        <p:nvSpPr>
          <p:cNvPr id="3" name="Shape 1"/>
          <p:cNvSpPr/>
          <p:nvPr/>
        </p:nvSpPr>
        <p:spPr>
          <a:xfrm>
            <a:off x="0" y="0"/>
            <a:ext cx="182880" cy="6858000"/>
          </a:xfrm>
          <a:prstGeom prst="rect">
            <a:avLst/>
          </a:prstGeom>
          <a:solidFill>
            <a:srgbClr val="007F82"/>
          </a:solidFill>
          <a:ln w="12700">
            <a:solidFill>
              <a:srgbClr val="007F82"/>
            </a:solidFill>
            <a:prstDash val="solid"/>
          </a:ln>
        </p:spPr>
      </p:sp>
      <p:sp>
        <p:nvSpPr>
          <p:cNvPr id="4" name="Text 2"/>
          <p:cNvSpPr txBox="1"/>
          <p:nvPr/>
        </p:nvSpPr>
        <p:spPr>
          <a:xfrm>
            <a:off x="713232" y="557784"/>
            <a:ext cx="5486400" cy="502920"/>
          </a:xfrm>
          <a:prstGeom prst="rect">
            <a:avLst/>
          </a:prstGeom>
          <a:noFill/>
          <a:ln/>
        </p:spPr>
        <p:txBody>
          <a:bodyPr wrap="square" lIns="0" tIns="0" rIns="0" bIns="0" rtlCol="0" anchor="t"/>
          <a:lstStyle/>
          <a:p>
            <a:pPr indent="0" marL="0">
              <a:lnSpc>
                <a:spcPct val="106000"/>
              </a:lnSpc>
              <a:buNone/>
            </a:pPr>
            <a:r>
              <a:rPr lang="ja-JP" altLang="en-US" sz="2600" dirty="0">
                <a:solidFill>
                  <a:srgbClr val="B1D6D5"/>
                </a:solidFill>
                <a:latin typeface="Meiryo" pitchFamily="34" charset="0"/>
                <a:ea typeface="Meiryo" pitchFamily="34" charset="-122"/>
                <a:cs typeface="Meiryo" pitchFamily="34" charset="-120"/>
              </a:rPr>
              <a:t>第11回</a:t>
            </a:r>
            <a:endParaRPr lang="ja-JP" sz="2600" dirty="0">
              <a:latin typeface="Meiryo"/>
              <a:ea typeface="Meiryo"/>
              <a:cs typeface="Meiryo"/>
            </a:endParaRPr>
          </a:p>
        </p:txBody>
      </p:sp>
      <p:sp>
        <p:nvSpPr>
          <p:cNvPr id="5" name="Text 3"/>
          <p:cNvSpPr txBox="1"/>
          <p:nvPr/>
        </p:nvSpPr>
        <p:spPr>
          <a:xfrm>
            <a:off x="713232" y="1554480"/>
            <a:ext cx="9418320" cy="2240280"/>
          </a:xfrm>
          <a:prstGeom prst="rect">
            <a:avLst/>
          </a:prstGeom>
          <a:noFill/>
          <a:ln/>
        </p:spPr>
        <p:txBody>
          <a:bodyPr wrap="square" lIns="0" tIns="0" rIns="0" bIns="0" rtlCol="0" anchor="t"/>
          <a:lstStyle/>
          <a:p>
            <a:pPr indent="0" marL="0">
              <a:lnSpc>
                <a:spcPct val="106000"/>
              </a:lnSpc>
              <a:buNone/>
            </a:pPr>
            <a:r>
              <a:rPr lang="ja-JP" altLang="en-US" sz="4200" b="1" dirty="0">
                <a:solidFill>
                  <a:srgbClr val="FFFFFF"/>
                </a:solidFill>
                <a:latin typeface="Meiryo" pitchFamily="34" charset="0"/>
                <a:ea typeface="Meiryo" pitchFamily="34" charset="-122"/>
                <a:cs typeface="Meiryo" pitchFamily="34" charset="-120"/>
              </a:rPr>
              <a:t>データを渡したら、</a:t>
            </a:r>
            <a:endParaRPr lang="ja-JP" sz="4200" dirty="0">
              <a:latin typeface="Meiryo"/>
              <a:ea typeface="Meiryo"/>
              <a:cs typeface="Meiryo"/>
            </a:endParaRPr>
          </a:p>
          <a:p>
            <a:pPr indent="0" marL="0">
              <a:lnSpc>
                <a:spcPct val="106000"/>
              </a:lnSpc>
              <a:buNone/>
            </a:pPr>
            <a:r>
              <a:rPr lang="ja-JP" altLang="en-US" sz="4200" b="1" dirty="0">
                <a:solidFill>
                  <a:srgbClr val="FFFFFF"/>
                </a:solidFill>
                <a:latin typeface="Meiryo" pitchFamily="34" charset="0"/>
                <a:ea typeface="Meiryo" pitchFamily="34" charset="-122"/>
                <a:cs typeface="Meiryo" pitchFamily="34" charset="-120"/>
              </a:rPr>
              <a:t>まず何を見る？</a:t>
            </a:r>
            <a:endParaRPr lang="ja-JP" sz="4200" dirty="0">
              <a:latin typeface="Meiryo"/>
              <a:ea typeface="Meiryo"/>
              <a:cs typeface="Meiryo"/>
            </a:endParaRPr>
          </a:p>
        </p:txBody>
      </p:sp>
      <p:sp>
        <p:nvSpPr>
          <p:cNvPr id="6" name="Text 4"/>
          <p:cNvSpPr txBox="1"/>
          <p:nvPr/>
        </p:nvSpPr>
        <p:spPr>
          <a:xfrm>
            <a:off x="749808" y="4169664"/>
            <a:ext cx="9692640" cy="1188720"/>
          </a:xfrm>
          <a:prstGeom prst="rect">
            <a:avLst/>
          </a:prstGeom>
          <a:noFill/>
          <a:ln/>
        </p:spPr>
        <p:txBody>
          <a:bodyPr wrap="square" lIns="0" tIns="0" rIns="0" bIns="0" rtlCol="0" anchor="t"/>
          <a:lstStyle/>
          <a:p>
            <a:pPr indent="0" marL="0">
              <a:lnSpc>
                <a:spcPct val="106000"/>
              </a:lnSpc>
              <a:buNone/>
            </a:pPr>
            <a:r>
              <a:rPr lang="ja-JP" altLang="en-US" sz="2600" dirty="0">
                <a:solidFill>
                  <a:srgbClr val="D9E7EC"/>
                </a:solidFill>
                <a:latin typeface="Meiryo" pitchFamily="34" charset="0"/>
                <a:ea typeface="Meiryo" pitchFamily="34" charset="-122"/>
                <a:cs typeface="Meiryo" pitchFamily="34" charset="-120"/>
              </a:rPr>
              <a:t>第11回｜60行の架空データを使い、</a:t>
            </a:r>
            <a:endParaRPr lang="ja-JP" sz="2600" dirty="0">
              <a:latin typeface="Meiryo"/>
              <a:ea typeface="Meiryo"/>
              <a:cs typeface="Meiryo"/>
            </a:endParaRPr>
          </a:p>
          <a:p>
            <a:pPr indent="0" marL="0">
              <a:lnSpc>
                <a:spcPct val="106000"/>
              </a:lnSpc>
              <a:buNone/>
            </a:pPr>
            <a:r>
              <a:rPr lang="ja-JP" altLang="en-US" sz="2600" dirty="0">
                <a:solidFill>
                  <a:srgbClr val="D9E7EC"/>
                </a:solidFill>
                <a:latin typeface="Meiryo" pitchFamily="34" charset="0"/>
                <a:ea typeface="Meiryo" pitchFamily="34" charset="-122"/>
                <a:cs typeface="Meiryo" pitchFamily="34" charset="-120"/>
              </a:rPr>
              <a:t>表・集計・グラフを確かめます。</a:t>
            </a:r>
            <a:endParaRPr lang="ja-JP" sz="2600" dirty="0">
              <a:latin typeface="Meiryo"/>
              <a:ea typeface="Meiryo"/>
              <a:cs typeface="Meiryo"/>
            </a:endParaRPr>
          </a:p>
        </p:txBody>
      </p:sp>
      <p:pic>
        <p:nvPicPr>
          <p:cNvPr id="7" name="Image 0" descr="Lucide table">    </p:cNvPr>
          <p:cNvPicPr>
            <a:picLocks noChangeAspect="1"/>
          </p:cNvPicPr>
          <p:nvPr/>
        </p:nvPicPr>
        <p:blipFill>
          <a:blip r:embed="rId1"/>
          <a:stretch>
            <a:fillRect/>
          </a:stretch>
        </p:blipFill>
        <p:spPr>
          <a:xfrm>
            <a:off x="10497312" y="566928"/>
            <a:ext cx="841248" cy="841248"/>
          </a:xfrm>
          <a:prstGeom prst="rect">
            <a:avLst/>
          </a:prstGeom>
        </p:spPr>
      </p:pic>
      <p:sp>
        <p:nvSpPr>
          <p:cNvPr id="8" name="Text 5"/>
          <p:cNvSpPr txBox="1"/>
          <p:nvPr/>
        </p:nvSpPr>
        <p:spPr>
          <a:xfrm>
            <a:off x="749808" y="6281928"/>
            <a:ext cx="9144000" cy="338328"/>
          </a:xfrm>
          <a:prstGeom prst="rect">
            <a:avLst/>
          </a:prstGeom>
          <a:noFill/>
          <a:ln/>
        </p:spPr>
        <p:txBody>
          <a:bodyPr wrap="square" lIns="0" tIns="0" rIns="0" bIns="0" rtlCol="0" anchor="t"/>
          <a:lstStyle/>
          <a:p>
            <a:pPr indent="0" marL="0">
              <a:lnSpc>
                <a:spcPct val="106000"/>
              </a:lnSpc>
              <a:buNone/>
            </a:pPr>
            <a:r>
              <a:rPr lang="ja-JP" altLang="en-US" sz="1800" dirty="0">
                <a:solidFill>
                  <a:srgbClr val="D9E7EC"/>
                </a:solidFill>
                <a:latin typeface="Meiryo" pitchFamily="34" charset="0"/>
                <a:ea typeface="Meiryo" pitchFamily="34" charset="-122"/>
                <a:cs typeface="Meiryo" pitchFamily="34" charset="-120"/>
              </a:rPr>
              <a:t>大学生のためのAI・データリテラシー</a:t>
            </a:r>
            <a:endParaRPr lang="ja-JP" sz="1800" dirty="0">
              <a:latin typeface="Meiryo"/>
              <a:ea typeface="Meiryo"/>
              <a:cs typeface="Meiryo"/>
            </a:endParaRPr>
          </a:p>
        </p:txBody>
      </p:sp>
      <p:pic>
        <p:nvPicPr>
          <p:cNvPr id="10" name="" descr="TSUCHIYA TAKAHIRO white logo supplied in Brandeis cover; original bytes reused"/>
          <p:cNvPicPr>
            <a:picLocks noChangeAspect="1"/>
          </p:cNvPicPr>
          <p:nvPr/>
        </p:nvPicPr>
        <p:blipFill>
          <a:blip r:embed="rIdPersonalAuthorLogo"/>
          <a:stretch/>
        </p:blipFill>
        <p:spPr>
          <a:xfrm>
            <a:off x="3810000" y="109728"/>
            <a:ext cx="4572000" cy="561219"/>
          </a:xfrm>
          <a:prstGeom prst="rect">
            <a:avLst/>
          </a:prstGeom>
        </p:spPr>
      </p:pic>
      <p:sp>
        <p:nvSpPr>
          <p:cNvPr id="11" name="Personal author website">
            <a:extLst>
              <a:ext uri="{FF2B5EF4-FFF2-40B4-BE49-F238E27FC236}">
                <ns3:creationId id="{2B199CB2-0940-4D13-9CAC-E3F074FAA0ED}"/>
              </a:ext>
            </a:extLst>
          </p:cNvPr>
          <p:cNvSpPr>
            <a:spLocks noGrp="1"/>
          </p:cNvSpPr>
          <p:nvPr/>
        </p:nvSpPr>
        <p:spPr>
          <a:xfrm>
            <a:off x="6286500" y="6477000"/>
            <a:ext cx="4000500" cy="266700"/>
          </a:xfrm>
          <a:prstGeom prst="rect">
            <a:avLst/>
          </a:prstGeom>
          <a:noFill/>
          <a:ln w="0">
            <a:noFill/>
          </a:ln>
        </p:spPr>
        <p:txBody>
          <a:bodyPr>
            <a:noAutofit/>
          </a:bodyPr>
          <a:lstStyle/>
          <a:p>
            <a:pPr>
              <a:defRPr sz="1800">
                <a:solidFill>
                  <a:srgbClr val="AECFD2"/>
                </a:solidFill>
                <a:latin typeface="Meiryo"/>
                <a:ea typeface="Meiryo"/>
                <a:cs typeface="Meiryo"/>
              </a:defRPr>
            </a:pPr>
            <a:r>
              <a:rPr sz="1800">
                <a:solidFill>
                  <a:srgbClr val="AECFD2"/>
                </a:solidFill>
                <a:latin typeface="Meiryo"/>
                <a:ea typeface="Meiryo"/>
                <a:cs typeface="Meiryo"/>
              </a:rPr>
              <a:t>tsuchiyatakahiro.com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今日はコードを書かなくてよい</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17904"/>
            <a:ext cx="10908792" cy="4050792"/>
          </a:xfrm>
          <a:prstGeom prst="rect">
            <a:avLst/>
          </a:prstGeom>
          <a:solidFill>
            <a:srgbClr val="EAF4F3"/>
          </a:solidFill>
          <a:ln w="12700">
            <a:solidFill>
              <a:srgbClr val="EAF4F3"/>
            </a:solidFill>
            <a:prstDash val="solid"/>
          </a:ln>
        </p:spPr>
      </p:sp>
      <p:pic>
        <p:nvPicPr>
          <p:cNvPr id="5" name="Image 0" descr="Lucide keyboard">    </p:cNvPr>
          <p:cNvPicPr>
            <a:picLocks noChangeAspect="1"/>
          </p:cNvPicPr>
          <p:nvPr/>
        </p:nvPicPr>
        <p:blipFill>
          <a:blip r:embed="rId1"/>
          <a:stretch>
            <a:fillRect/>
          </a:stretch>
        </p:blipFill>
        <p:spPr>
          <a:xfrm>
            <a:off x="941832" y="1801368"/>
            <a:ext cx="438912" cy="438912"/>
          </a:xfrm>
          <a:prstGeom prst="rect">
            <a:avLst/>
          </a:prstGeom>
        </p:spPr>
      </p:pic>
      <p:sp>
        <p:nvSpPr>
          <p:cNvPr id="6" name="Text 3"/>
          <p:cNvSpPr txBox="1"/>
          <p:nvPr/>
        </p:nvSpPr>
        <p:spPr>
          <a:xfrm>
            <a:off x="1627632" y="1810512"/>
            <a:ext cx="9546336" cy="3639312"/>
          </a:xfrm>
          <a:prstGeom prst="rect">
            <a:avLst/>
          </a:prstGeom>
          <a:noFill/>
          <a:ln/>
        </p:spPr>
        <p:txBody>
          <a:bodyPr wrap="square" lIns="0" tIns="0" rIns="0" bIns="0" rtlCol="0" anchor="t"/>
          <a:lstStyle/>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配布CSVをAIに渡し、</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質問しながら集計します。</a:t>
            </a:r>
            <a:endParaRPr lang="ja-JP" sz="2700" dirty="0">
              <a:latin typeface="Meiryo"/>
              <a:ea typeface="Meiryo"/>
              <a:cs typeface="Meiryo"/>
            </a:endParaRPr>
          </a:p>
          <a:p>
            <a:pPr indent="0" marL="0">
              <a:lnSpc>
                <a:spcPct val="106000"/>
              </a:lnSpc>
              <a:buNone/>
            </a:pP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計算結果は、元データや表計算でも確認します。</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AIの出力だけを根拠にはしません。</a:t>
            </a:r>
            <a:endParaRPr lang="ja-JP" sz="2700" dirty="0">
              <a:latin typeface="Meiryo"/>
              <a:ea typeface="Meiryo"/>
              <a:cs typeface="Meiryo"/>
            </a:endParaRPr>
          </a:p>
        </p:txBody>
      </p:sp>
      <p:sp>
        <p:nvSpPr>
          <p:cNvPr id="7" name="Text 4"/>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8" name="Text 5"/>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02 / 17</a:t>
            </a:r>
            <a:endParaRPr lang="ja-JP" sz="1800" dirty="0">
              <a:latin typeface="Meiryo"/>
              <a:ea typeface="Meiryo"/>
              <a:cs typeface="Meiry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この順番で進める</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36192"/>
            <a:ext cx="3496056" cy="3977640"/>
          </a:xfrm>
          <a:prstGeom prst="rect">
            <a:avLst/>
          </a:prstGeom>
          <a:solidFill>
            <a:srgbClr val="F7F8FA"/>
          </a:solidFill>
          <a:ln w="12700">
            <a:solidFill>
              <a:srgbClr val="F7F8FA"/>
            </a:solidFill>
            <a:prstDash val="solid"/>
          </a:ln>
        </p:spPr>
      </p:sp>
      <p:pic>
        <p:nvPicPr>
          <p:cNvPr id="5" name="Image 0" descr="Lucide table">    </p:cNvPr>
          <p:cNvPicPr>
            <a:picLocks noChangeAspect="1"/>
          </p:cNvPicPr>
          <p:nvPr/>
        </p:nvPicPr>
        <p:blipFill>
          <a:blip r:embed="rId1"/>
          <a:stretch>
            <a:fillRect/>
          </a:stretch>
        </p:blipFill>
        <p:spPr>
          <a:xfrm>
            <a:off x="896112" y="1819656"/>
            <a:ext cx="530352" cy="530352"/>
          </a:xfrm>
          <a:prstGeom prst="rect">
            <a:avLst/>
          </a:prstGeom>
        </p:spPr>
      </p:pic>
      <p:sp>
        <p:nvSpPr>
          <p:cNvPr id="6" name="Text 3"/>
          <p:cNvSpPr txBox="1"/>
          <p:nvPr/>
        </p:nvSpPr>
        <p:spPr>
          <a:xfrm>
            <a:off x="896112" y="2660904"/>
            <a:ext cx="2983992" cy="731520"/>
          </a:xfrm>
          <a:prstGeom prst="rect">
            <a:avLst/>
          </a:prstGeom>
          <a:noFill/>
          <a:ln/>
        </p:spPr>
        <p:txBody>
          <a:bodyPr wrap="square" lIns="0" tIns="0" rIns="0" bIns="0" rtlCol="0" anchor="t"/>
          <a:lstStyle/>
          <a:p>
            <a:pPr indent="0" marL="0">
              <a:lnSpc>
                <a:spcPct val="106000"/>
              </a:lnSpc>
              <a:buNone/>
            </a:pPr>
            <a:r>
              <a:rPr lang="ja-JP" altLang="en-US" sz="2700" b="1" dirty="0">
                <a:solidFill>
                  <a:srgbClr val="1B2D3B"/>
                </a:solidFill>
                <a:latin typeface="Meiryo" pitchFamily="34" charset="0"/>
                <a:ea typeface="Meiryo" pitchFamily="34" charset="-122"/>
                <a:cs typeface="Meiryo" pitchFamily="34" charset="-120"/>
              </a:rPr>
              <a:t>中身を知る</a:t>
            </a:r>
            <a:endParaRPr lang="ja-JP" sz="2700" dirty="0">
              <a:latin typeface="Meiryo"/>
              <a:ea typeface="Meiryo"/>
              <a:cs typeface="Meiryo"/>
            </a:endParaRPr>
          </a:p>
        </p:txBody>
      </p:sp>
      <p:sp>
        <p:nvSpPr>
          <p:cNvPr id="7" name="Text 4"/>
          <p:cNvSpPr txBox="1"/>
          <p:nvPr/>
        </p:nvSpPr>
        <p:spPr>
          <a:xfrm>
            <a:off x="896112" y="3639312"/>
            <a:ext cx="2983992" cy="1600200"/>
          </a:xfrm>
          <a:prstGeom prst="rect">
            <a:avLst/>
          </a:prstGeom>
          <a:noFill/>
          <a:ln/>
        </p:spPr>
        <p:txBody>
          <a:bodyPr wrap="square" lIns="0" tIns="0" rIns="0" bIns="0" rtlCol="0" anchor="t"/>
          <a:lstStyle/>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行数・列名・欠損を</a:t>
            </a:r>
            <a:endParaRPr lang="ja-JP" sz="2400" dirty="0">
              <a:latin typeface="Meiryo"/>
              <a:ea typeface="Meiryo"/>
              <a:cs typeface="Meiryo"/>
            </a:endParaRPr>
          </a:p>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確認する。</a:t>
            </a:r>
            <a:endParaRPr lang="ja-JP" sz="2400" dirty="0">
              <a:latin typeface="Meiryo"/>
              <a:ea typeface="Meiryo"/>
              <a:cs typeface="Meiryo"/>
            </a:endParaRPr>
          </a:p>
        </p:txBody>
      </p:sp>
      <p:sp>
        <p:nvSpPr>
          <p:cNvPr id="8" name="Shape 5"/>
          <p:cNvSpPr/>
          <p:nvPr/>
        </p:nvSpPr>
        <p:spPr>
          <a:xfrm>
            <a:off x="4346448" y="1536192"/>
            <a:ext cx="3496056" cy="3977640"/>
          </a:xfrm>
          <a:prstGeom prst="rect">
            <a:avLst/>
          </a:prstGeom>
          <a:solidFill>
            <a:srgbClr val="EAF4F3"/>
          </a:solidFill>
          <a:ln w="12700">
            <a:solidFill>
              <a:srgbClr val="EAF4F3"/>
            </a:solidFill>
            <a:prstDash val="solid"/>
          </a:ln>
        </p:spPr>
      </p:sp>
      <p:pic>
        <p:nvPicPr>
          <p:cNvPr id="9" name="Image 1" descr="Lucide chart-column">    </p:cNvPr>
          <p:cNvPicPr>
            <a:picLocks noChangeAspect="1"/>
          </p:cNvPicPr>
          <p:nvPr/>
        </p:nvPicPr>
        <p:blipFill>
          <a:blip r:embed="rId2"/>
          <a:stretch>
            <a:fillRect/>
          </a:stretch>
        </p:blipFill>
        <p:spPr>
          <a:xfrm>
            <a:off x="4602480" y="1819656"/>
            <a:ext cx="530352" cy="530352"/>
          </a:xfrm>
          <a:prstGeom prst="rect">
            <a:avLst/>
          </a:prstGeom>
        </p:spPr>
      </p:pic>
      <p:sp>
        <p:nvSpPr>
          <p:cNvPr id="10" name="Text 6"/>
          <p:cNvSpPr txBox="1"/>
          <p:nvPr/>
        </p:nvSpPr>
        <p:spPr>
          <a:xfrm>
            <a:off x="4602480" y="2660904"/>
            <a:ext cx="2983992" cy="731520"/>
          </a:xfrm>
          <a:prstGeom prst="rect">
            <a:avLst/>
          </a:prstGeom>
          <a:noFill/>
          <a:ln/>
        </p:spPr>
        <p:txBody>
          <a:bodyPr wrap="square" lIns="0" tIns="0" rIns="0" bIns="0" rtlCol="0" anchor="t"/>
          <a:lstStyle/>
          <a:p>
            <a:pPr indent="0" marL="0">
              <a:lnSpc>
                <a:spcPct val="106000"/>
              </a:lnSpc>
              <a:buNone/>
            </a:pPr>
            <a:r>
              <a:rPr lang="ja-JP" altLang="en-US" sz="2700" b="1" dirty="0">
                <a:solidFill>
                  <a:srgbClr val="1B2D3B"/>
                </a:solidFill>
                <a:latin typeface="Meiryo" pitchFamily="34" charset="0"/>
                <a:ea typeface="Meiryo" pitchFamily="34" charset="-122"/>
                <a:cs typeface="Meiryo" pitchFamily="34" charset="-120"/>
              </a:rPr>
              <a:t>まとめる</a:t>
            </a:r>
            <a:endParaRPr lang="ja-JP" sz="2700" dirty="0">
              <a:latin typeface="Meiryo"/>
              <a:ea typeface="Meiryo"/>
              <a:cs typeface="Meiryo"/>
            </a:endParaRPr>
          </a:p>
        </p:txBody>
      </p:sp>
      <p:sp>
        <p:nvSpPr>
          <p:cNvPr id="11" name="Text 7"/>
          <p:cNvSpPr txBox="1"/>
          <p:nvPr/>
        </p:nvSpPr>
        <p:spPr>
          <a:xfrm>
            <a:off x="4602480" y="3639312"/>
            <a:ext cx="2983992" cy="1600200"/>
          </a:xfrm>
          <a:prstGeom prst="rect">
            <a:avLst/>
          </a:prstGeom>
          <a:noFill/>
          <a:ln/>
        </p:spPr>
        <p:txBody>
          <a:bodyPr wrap="square" lIns="0" tIns="0" rIns="0" bIns="0" rtlCol="0" anchor="t"/>
          <a:lstStyle/>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グループ別の平均を</a:t>
            </a:r>
            <a:endParaRPr lang="ja-JP" sz="2400" dirty="0">
              <a:latin typeface="Meiryo"/>
              <a:ea typeface="Meiryo"/>
              <a:cs typeface="Meiryo"/>
            </a:endParaRPr>
          </a:p>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表と図にする。</a:t>
            </a:r>
            <a:endParaRPr lang="ja-JP" sz="2400" dirty="0">
              <a:latin typeface="Meiryo"/>
              <a:ea typeface="Meiryo"/>
              <a:cs typeface="Meiryo"/>
            </a:endParaRPr>
          </a:p>
        </p:txBody>
      </p:sp>
      <p:sp>
        <p:nvSpPr>
          <p:cNvPr id="12" name="Shape 8"/>
          <p:cNvSpPr/>
          <p:nvPr/>
        </p:nvSpPr>
        <p:spPr>
          <a:xfrm>
            <a:off x="8052816" y="1536192"/>
            <a:ext cx="3496056" cy="3977640"/>
          </a:xfrm>
          <a:prstGeom prst="rect">
            <a:avLst/>
          </a:prstGeom>
          <a:solidFill>
            <a:srgbClr val="F7F8FA"/>
          </a:solidFill>
          <a:ln w="12700">
            <a:solidFill>
              <a:srgbClr val="F7F8FA"/>
            </a:solidFill>
            <a:prstDash val="solid"/>
          </a:ln>
        </p:spPr>
      </p:sp>
      <p:pic>
        <p:nvPicPr>
          <p:cNvPr id="13" name="Image 2" descr="Lucide circle-check">    </p:cNvPr>
          <p:cNvPicPr>
            <a:picLocks noChangeAspect="1"/>
          </p:cNvPicPr>
          <p:nvPr/>
        </p:nvPicPr>
        <p:blipFill>
          <a:blip r:embed="rId3"/>
          <a:stretch>
            <a:fillRect/>
          </a:stretch>
        </p:blipFill>
        <p:spPr>
          <a:xfrm>
            <a:off x="8308848" y="1819656"/>
            <a:ext cx="530352" cy="530352"/>
          </a:xfrm>
          <a:prstGeom prst="rect">
            <a:avLst/>
          </a:prstGeom>
        </p:spPr>
      </p:pic>
      <p:sp>
        <p:nvSpPr>
          <p:cNvPr id="14" name="Text 9"/>
          <p:cNvSpPr txBox="1"/>
          <p:nvPr/>
        </p:nvSpPr>
        <p:spPr>
          <a:xfrm>
            <a:off x="8308848" y="2660904"/>
            <a:ext cx="2983992" cy="731520"/>
          </a:xfrm>
          <a:prstGeom prst="rect">
            <a:avLst/>
          </a:prstGeom>
          <a:noFill/>
          <a:ln/>
        </p:spPr>
        <p:txBody>
          <a:bodyPr wrap="square" lIns="0" tIns="0" rIns="0" bIns="0" rtlCol="0" anchor="t"/>
          <a:lstStyle/>
          <a:p>
            <a:pPr indent="0" marL="0">
              <a:lnSpc>
                <a:spcPct val="106000"/>
              </a:lnSpc>
              <a:buNone/>
            </a:pPr>
            <a:r>
              <a:rPr lang="ja-JP" altLang="en-US" sz="2700" b="1" dirty="0">
                <a:solidFill>
                  <a:srgbClr val="1B2D3B"/>
                </a:solidFill>
                <a:latin typeface="Meiryo" pitchFamily="34" charset="0"/>
                <a:ea typeface="Meiryo" pitchFamily="34" charset="-122"/>
                <a:cs typeface="Meiryo" pitchFamily="34" charset="-120"/>
              </a:rPr>
              <a:t>確かめる</a:t>
            </a:r>
            <a:endParaRPr lang="ja-JP" sz="2700" dirty="0">
              <a:latin typeface="Meiryo"/>
              <a:ea typeface="Meiryo"/>
              <a:cs typeface="Meiryo"/>
            </a:endParaRPr>
          </a:p>
        </p:txBody>
      </p:sp>
      <p:sp>
        <p:nvSpPr>
          <p:cNvPr id="15" name="Text 10"/>
          <p:cNvSpPr txBox="1"/>
          <p:nvPr/>
        </p:nvSpPr>
        <p:spPr>
          <a:xfrm>
            <a:off x="8308848" y="3639312"/>
            <a:ext cx="2983992" cy="1600200"/>
          </a:xfrm>
          <a:prstGeom prst="rect">
            <a:avLst/>
          </a:prstGeom>
          <a:noFill/>
          <a:ln/>
        </p:spPr>
        <p:txBody>
          <a:bodyPr wrap="square" lIns="0" tIns="0" rIns="0" bIns="0" rtlCol="0" anchor="t"/>
          <a:lstStyle/>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計算を確かめる。</a:t>
            </a:r>
            <a:endParaRPr lang="ja-JP" sz="2400" dirty="0">
              <a:latin typeface="Meiryo"/>
              <a:ea typeface="Meiryo"/>
              <a:cs typeface="Meiryo"/>
            </a:endParaRPr>
          </a:p>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言える範囲を書く。</a:t>
            </a:r>
            <a:endParaRPr lang="ja-JP" sz="2400" dirty="0">
              <a:latin typeface="Meiryo"/>
              <a:ea typeface="Meiryo"/>
              <a:cs typeface="Meiryo"/>
            </a:endParaRPr>
          </a:p>
        </p:txBody>
      </p:sp>
      <p:sp>
        <p:nvSpPr>
          <p:cNvPr id="16" name="Text 11"/>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7" name="Text 12"/>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03 / 17</a:t>
            </a:r>
            <a:endParaRPr lang="ja-JP" sz="1800" dirty="0">
              <a:latin typeface="Meiryo"/>
              <a:ea typeface="Meiryo"/>
              <a:cs typeface="Meiry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このCSVは、実際の学生データではない</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17904"/>
            <a:ext cx="10908792" cy="4050792"/>
          </a:xfrm>
          <a:prstGeom prst="rect">
            <a:avLst/>
          </a:prstGeom>
          <a:solidFill>
            <a:srgbClr val="F7F8FA"/>
          </a:solidFill>
          <a:ln w="12700">
            <a:solidFill>
              <a:srgbClr val="F7F8FA"/>
            </a:solidFill>
            <a:prstDash val="solid"/>
          </a:ln>
        </p:spPr>
      </p:sp>
      <p:pic>
        <p:nvPicPr>
          <p:cNvPr id="5" name="Image 0" descr="Lucide file-text">    </p:cNvPr>
          <p:cNvPicPr>
            <a:picLocks noChangeAspect="1"/>
          </p:cNvPicPr>
          <p:nvPr/>
        </p:nvPicPr>
        <p:blipFill>
          <a:blip r:embed="rId1"/>
          <a:stretch>
            <a:fillRect/>
          </a:stretch>
        </p:blipFill>
        <p:spPr>
          <a:xfrm>
            <a:off x="941832" y="1801368"/>
            <a:ext cx="438912" cy="438912"/>
          </a:xfrm>
          <a:prstGeom prst="rect">
            <a:avLst/>
          </a:prstGeom>
        </p:spPr>
      </p:pic>
      <p:sp>
        <p:nvSpPr>
          <p:cNvPr id="6" name="Text 3"/>
          <p:cNvSpPr txBox="1"/>
          <p:nvPr/>
        </p:nvSpPr>
        <p:spPr>
          <a:xfrm>
            <a:off x="1627632" y="1810512"/>
            <a:ext cx="9546336" cy="3639312"/>
          </a:xfrm>
          <a:prstGeom prst="rect">
            <a:avLst/>
          </a:prstGeom>
          <a:noFill/>
          <a:ln/>
        </p:spPr>
        <p:txBody>
          <a:bodyPr wrap="square" lIns="0" tIns="0" rIns="0" bIns="0" rtlCol="0" anchor="t"/>
          <a:lstStyle/>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教育用に作った架空データです。</a:t>
            </a:r>
            <a:endParaRPr lang="ja-JP" sz="2700" dirty="0">
              <a:latin typeface="Meiryo"/>
              <a:ea typeface="Meiryo"/>
              <a:cs typeface="Meiryo"/>
            </a:endParaRPr>
          </a:p>
          <a:p>
            <a:pPr indent="0" marL="0">
              <a:lnSpc>
                <a:spcPct val="106000"/>
              </a:lnSpc>
              <a:buNone/>
            </a:pP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60行、6列。グループ、AI利用時間、</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前後の自己評価、出典確認の有無、</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期限内提出の有無を含みます。</a:t>
            </a:r>
            <a:endParaRPr lang="ja-JP" sz="2700" dirty="0">
              <a:latin typeface="Meiryo"/>
              <a:ea typeface="Meiryo"/>
              <a:cs typeface="Meiryo"/>
            </a:endParaRPr>
          </a:p>
        </p:txBody>
      </p:sp>
      <p:sp>
        <p:nvSpPr>
          <p:cNvPr id="7" name="Text 4"/>
          <p:cNvSpPr txBox="1"/>
          <p:nvPr/>
        </p:nvSpPr>
        <p:spPr>
          <a:xfrm>
            <a:off x="667512" y="5779008"/>
            <a:ext cx="10844784" cy="548640"/>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assets/week11/ai_study_data.csvとdata_dictionary.mdを使用。</a:t>
            </a:r>
            <a:endParaRPr lang="ja-JP" sz="1800" dirty="0">
              <a:latin typeface="Meiryo"/>
              <a:ea typeface="Meiryo"/>
              <a:cs typeface="Meiryo"/>
            </a:endParaRPr>
          </a:p>
        </p:txBody>
      </p:sp>
      <p:sp>
        <p:nvSpPr>
          <p:cNvPr id="8" name="Text 5"/>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9" name="Text 6"/>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04 / 17</a:t>
            </a:r>
            <a:endParaRPr lang="ja-JP" sz="1800" dirty="0">
              <a:latin typeface="Meiryo"/>
              <a:ea typeface="Meiryo"/>
              <a:cs typeface="Meiry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① CSVを渡す</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Text 2"/>
          <p:cNvSpPr txBox="1"/>
          <p:nvPr/>
        </p:nvSpPr>
        <p:spPr>
          <a:xfrm>
            <a:off x="704088" y="1572768"/>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01</a:t>
            </a:r>
            <a:endParaRPr lang="ja-JP" sz="3200" dirty="0">
              <a:latin typeface="Meiryo"/>
              <a:ea typeface="Meiryo"/>
              <a:cs typeface="Meiryo"/>
            </a:endParaRPr>
          </a:p>
        </p:txBody>
      </p:sp>
      <p:sp>
        <p:nvSpPr>
          <p:cNvPr id="5" name="Text 3"/>
          <p:cNvSpPr txBox="1"/>
          <p:nvPr/>
        </p:nvSpPr>
        <p:spPr>
          <a:xfrm>
            <a:off x="1737360" y="1508760"/>
            <a:ext cx="9235440" cy="621792"/>
          </a:xfrm>
          <a:prstGeom prst="rect">
            <a:avLst/>
          </a:prstGeom>
          <a:noFill/>
          <a:ln/>
        </p:spPr>
        <p:txBody>
          <a:bodyPr wrap="square" lIns="0" tIns="0" rIns="0" bIns="0" rtlCol="0" anchor="t"/>
          <a:lstStyle/>
          <a:p>
            <a:pPr indent="0" marL="0">
              <a:lnSpc>
                <a:spcPct val="106000"/>
              </a:lnSpc>
              <a:buNone/>
            </a:pPr>
            <a:r>
              <a:rPr lang="ja-JP" altLang="en-US" sz="2800" b="1" dirty="0">
                <a:solidFill>
                  <a:srgbClr val="1B2D3B"/>
                </a:solidFill>
                <a:latin typeface="Meiryo" pitchFamily="34" charset="0"/>
                <a:ea typeface="Meiryo" pitchFamily="34" charset="-122"/>
                <a:cs typeface="Meiryo" pitchFamily="34" charset="-120"/>
              </a:rPr>
              <a:t>演習シートからCSVを保存する。</a:t>
            </a:r>
            <a:endParaRPr lang="ja-JP" sz="2800" dirty="0">
              <a:latin typeface="Meiryo"/>
              <a:ea typeface="Meiryo"/>
              <a:cs typeface="Meiryo"/>
            </a:endParaRPr>
          </a:p>
        </p:txBody>
      </p:sp>
      <p:sp>
        <p:nvSpPr>
          <p:cNvPr id="6" name="Text 4"/>
          <p:cNvSpPr txBox="1"/>
          <p:nvPr/>
        </p:nvSpPr>
        <p:spPr>
          <a:xfrm>
            <a:off x="1737360" y="2212848"/>
            <a:ext cx="9235440" cy="530352"/>
          </a:xfrm>
          <a:prstGeom prst="rect">
            <a:avLst/>
          </a:prstGeom>
          <a:noFill/>
          <a:ln/>
        </p:spPr>
        <p:txBody>
          <a:bodyPr wrap="square" lIns="0" tIns="0" rIns="0" bIns="0" rtlCol="0" anchor="t"/>
          <a:lstStyle/>
          <a:p>
            <a:pPr indent="0" marL="0">
              <a:lnSpc>
                <a:spcPct val="106000"/>
              </a:lnSpc>
              <a:buNone/>
            </a:pPr>
            <a:r>
              <a:rPr lang="ja-JP" altLang="en-US" sz="2300" dirty="0">
                <a:solidFill>
                  <a:srgbClr val="4D626D"/>
                </a:solidFill>
                <a:latin typeface="Meiryo" pitchFamily="34" charset="0"/>
                <a:ea typeface="Meiryo" pitchFamily="34" charset="-122"/>
                <a:cs typeface="Meiryo" pitchFamily="34" charset="-120"/>
              </a:rPr>
              <a:t>ファイルを開き、列名があることを確認する。</a:t>
            </a:r>
            <a:endParaRPr lang="ja-JP" sz="2300" dirty="0">
              <a:latin typeface="Meiryo"/>
              <a:ea typeface="Meiryo"/>
              <a:cs typeface="Meiryo"/>
            </a:endParaRPr>
          </a:p>
        </p:txBody>
      </p:sp>
      <p:sp>
        <p:nvSpPr>
          <p:cNvPr id="7" name="Shape 5"/>
          <p:cNvSpPr/>
          <p:nvPr/>
        </p:nvSpPr>
        <p:spPr>
          <a:xfrm>
            <a:off x="1737360" y="2752344"/>
            <a:ext cx="9738360" cy="0"/>
          </a:xfrm>
          <a:prstGeom prst="line">
            <a:avLst/>
          </a:prstGeom>
          <a:noFill/>
          <a:ln w="12700">
            <a:solidFill>
              <a:srgbClr val="CBD7DC"/>
            </a:solidFill>
            <a:prstDash val="solid"/>
          </a:ln>
        </p:spPr>
      </p:sp>
      <p:sp>
        <p:nvSpPr>
          <p:cNvPr id="8" name="Text 6"/>
          <p:cNvSpPr txBox="1"/>
          <p:nvPr/>
        </p:nvSpPr>
        <p:spPr>
          <a:xfrm>
            <a:off x="704088" y="2926080"/>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02</a:t>
            </a:r>
            <a:endParaRPr lang="ja-JP" sz="3200" dirty="0">
              <a:latin typeface="Meiryo"/>
              <a:ea typeface="Meiryo"/>
              <a:cs typeface="Meiryo"/>
            </a:endParaRPr>
          </a:p>
        </p:txBody>
      </p:sp>
      <p:sp>
        <p:nvSpPr>
          <p:cNvPr id="9" name="Text 7"/>
          <p:cNvSpPr txBox="1"/>
          <p:nvPr/>
        </p:nvSpPr>
        <p:spPr>
          <a:xfrm>
            <a:off x="1737360" y="2862072"/>
            <a:ext cx="9235440" cy="621792"/>
          </a:xfrm>
          <a:prstGeom prst="rect">
            <a:avLst/>
          </a:prstGeom>
          <a:noFill/>
          <a:ln/>
        </p:spPr>
        <p:txBody>
          <a:bodyPr wrap="square" lIns="0" tIns="0" rIns="0" bIns="0" rtlCol="0" anchor="t"/>
          <a:lstStyle/>
          <a:p>
            <a:pPr indent="0" marL="0">
              <a:lnSpc>
                <a:spcPct val="106000"/>
              </a:lnSpc>
              <a:buNone/>
            </a:pPr>
            <a:r>
              <a:rPr lang="ja-JP" altLang="en-US" sz="2800" b="1" dirty="0">
                <a:solidFill>
                  <a:srgbClr val="1B2D3B"/>
                </a:solidFill>
                <a:latin typeface="Meiryo" pitchFamily="34" charset="0"/>
                <a:ea typeface="Meiryo" pitchFamily="34" charset="-122"/>
                <a:cs typeface="Meiryo" pitchFamily="34" charset="-120"/>
              </a:rPr>
              <a:t>AIの添付機能で渡す。</a:t>
            </a:r>
            <a:endParaRPr lang="ja-JP" sz="2800" dirty="0">
              <a:latin typeface="Meiryo"/>
              <a:ea typeface="Meiryo"/>
              <a:cs typeface="Meiryo"/>
            </a:endParaRPr>
          </a:p>
        </p:txBody>
      </p:sp>
      <p:sp>
        <p:nvSpPr>
          <p:cNvPr id="10" name="Text 8"/>
          <p:cNvSpPr txBox="1"/>
          <p:nvPr/>
        </p:nvSpPr>
        <p:spPr>
          <a:xfrm>
            <a:off x="1737360" y="3566160"/>
            <a:ext cx="9235440" cy="530352"/>
          </a:xfrm>
          <a:prstGeom prst="rect">
            <a:avLst/>
          </a:prstGeom>
          <a:noFill/>
          <a:ln/>
        </p:spPr>
        <p:txBody>
          <a:bodyPr wrap="square" lIns="0" tIns="0" rIns="0" bIns="0" rtlCol="0" anchor="t"/>
          <a:lstStyle/>
          <a:p>
            <a:pPr indent="0" marL="0">
              <a:lnSpc>
                <a:spcPct val="106000"/>
              </a:lnSpc>
              <a:buNone/>
            </a:pPr>
            <a:r>
              <a:rPr lang="ja-JP" altLang="en-US" sz="2300" dirty="0">
                <a:solidFill>
                  <a:srgbClr val="4D626D"/>
                </a:solidFill>
                <a:latin typeface="Meiryo" pitchFamily="34" charset="0"/>
                <a:ea typeface="Meiryo" pitchFamily="34" charset="-122"/>
                <a:cs typeface="Meiryo" pitchFamily="34" charset="-120"/>
              </a:rPr>
              <a:t>別のファイルを選んでいないか確認する。</a:t>
            </a:r>
            <a:endParaRPr lang="ja-JP" sz="2300" dirty="0">
              <a:latin typeface="Meiryo"/>
              <a:ea typeface="Meiryo"/>
              <a:cs typeface="Meiryo"/>
            </a:endParaRPr>
          </a:p>
        </p:txBody>
      </p:sp>
      <p:sp>
        <p:nvSpPr>
          <p:cNvPr id="11" name="Shape 9"/>
          <p:cNvSpPr/>
          <p:nvPr/>
        </p:nvSpPr>
        <p:spPr>
          <a:xfrm>
            <a:off x="1737360" y="4105656"/>
            <a:ext cx="9738360" cy="0"/>
          </a:xfrm>
          <a:prstGeom prst="line">
            <a:avLst/>
          </a:prstGeom>
          <a:noFill/>
          <a:ln w="12700">
            <a:solidFill>
              <a:srgbClr val="CBD7DC"/>
            </a:solidFill>
            <a:prstDash val="solid"/>
          </a:ln>
        </p:spPr>
      </p:sp>
      <p:sp>
        <p:nvSpPr>
          <p:cNvPr id="12" name="Text 10"/>
          <p:cNvSpPr txBox="1"/>
          <p:nvPr/>
        </p:nvSpPr>
        <p:spPr>
          <a:xfrm>
            <a:off x="704088" y="4279392"/>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03</a:t>
            </a:r>
            <a:endParaRPr lang="ja-JP" sz="3200" dirty="0">
              <a:latin typeface="Meiryo"/>
              <a:ea typeface="Meiryo"/>
              <a:cs typeface="Meiryo"/>
            </a:endParaRPr>
          </a:p>
        </p:txBody>
      </p:sp>
      <p:sp>
        <p:nvSpPr>
          <p:cNvPr id="13" name="Text 11"/>
          <p:cNvSpPr txBox="1"/>
          <p:nvPr/>
        </p:nvSpPr>
        <p:spPr>
          <a:xfrm>
            <a:off x="1737360" y="4215384"/>
            <a:ext cx="9235440" cy="621792"/>
          </a:xfrm>
          <a:prstGeom prst="rect">
            <a:avLst/>
          </a:prstGeom>
          <a:noFill/>
          <a:ln/>
        </p:spPr>
        <p:txBody>
          <a:bodyPr wrap="square" lIns="0" tIns="0" rIns="0" bIns="0" rtlCol="0" anchor="t"/>
          <a:lstStyle/>
          <a:p>
            <a:pPr indent="0" marL="0">
              <a:lnSpc>
                <a:spcPct val="106000"/>
              </a:lnSpc>
              <a:buNone/>
            </a:pPr>
            <a:r>
              <a:rPr lang="ja-JP" altLang="en-US" sz="2800" b="1" dirty="0">
                <a:solidFill>
                  <a:srgbClr val="1B2D3B"/>
                </a:solidFill>
                <a:latin typeface="Meiryo" pitchFamily="34" charset="0"/>
                <a:ea typeface="Meiryo" pitchFamily="34" charset="-122"/>
                <a:cs typeface="Meiryo" pitchFamily="34" charset="-120"/>
              </a:rPr>
              <a:t>添付できなければ代替手順へ進む。</a:t>
            </a:r>
            <a:endParaRPr lang="ja-JP" sz="2800" dirty="0">
              <a:latin typeface="Meiryo"/>
              <a:ea typeface="Meiryo"/>
              <a:cs typeface="Meiryo"/>
            </a:endParaRPr>
          </a:p>
        </p:txBody>
      </p:sp>
      <p:sp>
        <p:nvSpPr>
          <p:cNvPr id="14" name="Text 12"/>
          <p:cNvSpPr txBox="1"/>
          <p:nvPr/>
        </p:nvSpPr>
        <p:spPr>
          <a:xfrm>
            <a:off x="1737360" y="4919472"/>
            <a:ext cx="9235440" cy="530352"/>
          </a:xfrm>
          <a:prstGeom prst="rect">
            <a:avLst/>
          </a:prstGeom>
          <a:noFill/>
          <a:ln/>
        </p:spPr>
        <p:txBody>
          <a:bodyPr wrap="square" lIns="0" tIns="0" rIns="0" bIns="0" rtlCol="0" anchor="t"/>
          <a:lstStyle/>
          <a:p>
            <a:pPr indent="0" marL="0">
              <a:lnSpc>
                <a:spcPct val="106000"/>
              </a:lnSpc>
              <a:buNone/>
            </a:pPr>
            <a:r>
              <a:rPr lang="ja-JP" altLang="en-US" sz="2300" dirty="0">
                <a:solidFill>
                  <a:srgbClr val="4D626D"/>
                </a:solidFill>
                <a:latin typeface="Meiryo" pitchFamily="34" charset="0"/>
                <a:ea typeface="Meiryo" pitchFamily="34" charset="-122"/>
                <a:cs typeface="Meiryo" pitchFamily="34" charset="-120"/>
              </a:rPr>
              <a:t>表計算で開いて集計し、その結果をAIに説明させる。</a:t>
            </a:r>
            <a:endParaRPr lang="ja-JP" sz="2300" dirty="0">
              <a:latin typeface="Meiryo"/>
              <a:ea typeface="Meiryo"/>
              <a:cs typeface="Meiryo"/>
            </a:endParaRPr>
          </a:p>
        </p:txBody>
      </p:sp>
      <p:sp>
        <p:nvSpPr>
          <p:cNvPr id="15" name="Text 13"/>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6" name="Text 14"/>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05 / 17</a:t>
            </a:r>
            <a:endParaRPr lang="ja-JP" sz="1800" dirty="0">
              <a:latin typeface="Meiryo"/>
              <a:ea typeface="Meiryo"/>
              <a:cs typeface="Meiry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② 行と列を確認する</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pic>
        <p:nvPicPr>
          <p:cNvPr id="4" name="Image 0" descr="Lucide keyboard">    </p:cNvPr>
          <p:cNvPicPr>
            <a:picLocks noChangeAspect="1"/>
          </p:cNvPicPr>
          <p:nvPr/>
        </p:nvPicPr>
        <p:blipFill>
          <a:blip r:embed="rId1"/>
          <a:stretch>
            <a:fillRect/>
          </a:stretch>
        </p:blipFill>
        <p:spPr>
          <a:xfrm>
            <a:off x="713232" y="1499616"/>
            <a:ext cx="384048" cy="384048"/>
          </a:xfrm>
          <a:prstGeom prst="rect">
            <a:avLst/>
          </a:prstGeom>
        </p:spPr>
      </p:pic>
      <p:sp>
        <p:nvSpPr>
          <p:cNvPr id="5" name="Text 2"/>
          <p:cNvSpPr txBox="1"/>
          <p:nvPr/>
        </p:nvSpPr>
        <p:spPr>
          <a:xfrm>
            <a:off x="1280160" y="1490472"/>
            <a:ext cx="7315200" cy="475488"/>
          </a:xfrm>
          <a:prstGeom prst="rect">
            <a:avLst/>
          </a:prstGeom>
          <a:noFill/>
          <a:ln/>
        </p:spPr>
        <p:txBody>
          <a:bodyPr wrap="square" lIns="0" tIns="0" rIns="0" bIns="0" rtlCol="0" anchor="t"/>
          <a:lstStyle/>
          <a:p>
            <a:pPr indent="0" marL="0">
              <a:lnSpc>
                <a:spcPct val="106000"/>
              </a:lnSpc>
              <a:buNone/>
            </a:pPr>
            <a:r>
              <a:rPr lang="ja-JP" altLang="en-US" sz="2200" b="1" dirty="0">
                <a:solidFill>
                  <a:srgbClr val="007F82"/>
                </a:solidFill>
                <a:latin typeface="Meiryo" pitchFamily="34" charset="0"/>
                <a:ea typeface="Meiryo" pitchFamily="34" charset="-122"/>
                <a:cs typeface="Meiryo" pitchFamily="34" charset="-120"/>
              </a:rPr>
              <a:t>AIに送ってみよう</a:t>
            </a:r>
            <a:endParaRPr lang="ja-JP" sz="2200" dirty="0">
              <a:latin typeface="Meiryo"/>
              <a:ea typeface="Meiryo"/>
              <a:cs typeface="Meiryo"/>
            </a:endParaRPr>
          </a:p>
        </p:txBody>
      </p:sp>
      <p:sp>
        <p:nvSpPr>
          <p:cNvPr id="6" name="Shape 3"/>
          <p:cNvSpPr/>
          <p:nvPr/>
        </p:nvSpPr>
        <p:spPr>
          <a:xfrm>
            <a:off x="640080" y="2084832"/>
            <a:ext cx="10908792" cy="2871216"/>
          </a:xfrm>
          <a:prstGeom prst="rect">
            <a:avLst/>
          </a:prstGeom>
          <a:solidFill>
            <a:srgbClr val="EAF4F3"/>
          </a:solidFill>
          <a:ln w="12700">
            <a:solidFill>
              <a:srgbClr val="EAF4F3"/>
            </a:solidFill>
            <a:prstDash val="solid"/>
          </a:ln>
        </p:spPr>
      </p:sp>
      <p:sp>
        <p:nvSpPr>
          <p:cNvPr id="7" name="Text 4"/>
          <p:cNvSpPr txBox="1"/>
          <p:nvPr/>
        </p:nvSpPr>
        <p:spPr>
          <a:xfrm>
            <a:off x="950976" y="2350008"/>
            <a:ext cx="10287000" cy="2423160"/>
          </a:xfrm>
          <a:prstGeom prst="rect">
            <a:avLst/>
          </a:prstGeom>
          <a:noFill/>
          <a:ln/>
        </p:spPr>
        <p:txBody>
          <a:bodyPr wrap="square" lIns="0" tIns="0" rIns="0" bIns="0" rtlCol="0" anchor="t"/>
          <a:lstStyle/>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このCSVのデータ行数と列名を確認してください。</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各列が何を表すか整理し、</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欠けている値があるかも調べてください。</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先頭の見出し行はデータ行数に含めないでください。</a:t>
            </a:r>
            <a:endParaRPr lang="ja-JP" sz="2700" dirty="0">
              <a:latin typeface="Meiryo"/>
              <a:ea typeface="Meiryo"/>
              <a:cs typeface="Meiryo"/>
            </a:endParaRPr>
          </a:p>
        </p:txBody>
      </p:sp>
      <p:pic>
        <p:nvPicPr>
          <p:cNvPr id="8" name="Image 1" descr="Lucide circle-check">    </p:cNvPr>
          <p:cNvPicPr>
            <a:picLocks noChangeAspect="1"/>
          </p:cNvPicPr>
          <p:nvPr/>
        </p:nvPicPr>
        <p:blipFill>
          <a:blip r:embed="rId2"/>
          <a:stretch>
            <a:fillRect/>
          </a:stretch>
        </p:blipFill>
        <p:spPr>
          <a:xfrm>
            <a:off x="731520" y="5230368"/>
            <a:ext cx="338328" cy="338328"/>
          </a:xfrm>
          <a:prstGeom prst="rect">
            <a:avLst/>
          </a:prstGeom>
        </p:spPr>
      </p:pic>
      <p:sp>
        <p:nvSpPr>
          <p:cNvPr id="9" name="Text 5"/>
          <p:cNvSpPr txBox="1"/>
          <p:nvPr/>
        </p:nvSpPr>
        <p:spPr>
          <a:xfrm>
            <a:off x="1225296" y="5166360"/>
            <a:ext cx="10241280" cy="777240"/>
          </a:xfrm>
          <a:prstGeom prst="rect">
            <a:avLst/>
          </a:prstGeom>
          <a:noFill/>
          <a:ln/>
        </p:spPr>
        <p:txBody>
          <a:bodyPr wrap="square" lIns="0" tIns="0" rIns="0" bIns="0" rtlCol="0" anchor="t"/>
          <a:lstStyle/>
          <a:p>
            <a:pPr indent="0" marL="0">
              <a:lnSpc>
                <a:spcPct val="106000"/>
              </a:lnSpc>
              <a:buNone/>
            </a:pPr>
            <a:r>
              <a:rPr lang="ja-JP" altLang="en-US" sz="2200" dirty="0">
                <a:solidFill>
                  <a:srgbClr val="4D626D"/>
                </a:solidFill>
                <a:latin typeface="Meiryo" pitchFamily="34" charset="0"/>
                <a:ea typeface="Meiryo" pitchFamily="34" charset="-122"/>
                <a:cs typeface="Meiryo" pitchFamily="34" charset="-120"/>
              </a:rPr>
              <a:t>データ辞書も開き、AIの説明と比べる。</a:t>
            </a:r>
            <a:endParaRPr lang="ja-JP" sz="2200" dirty="0">
              <a:latin typeface="Meiryo"/>
              <a:ea typeface="Meiryo"/>
              <a:cs typeface="Meiryo"/>
            </a:endParaRPr>
          </a:p>
        </p:txBody>
      </p:sp>
      <p:sp>
        <p:nvSpPr>
          <p:cNvPr id="10" name="Text 6"/>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1" name="Text 7"/>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06 / 17</a:t>
            </a:r>
            <a:endParaRPr lang="ja-JP" sz="1800" dirty="0">
              <a:latin typeface="Meiryo"/>
              <a:ea typeface="Meiryo"/>
              <a:cs typeface="Meiry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名前だけで列の意味を決めない</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54480"/>
            <a:ext cx="3383280" cy="704088"/>
          </a:xfrm>
          <a:prstGeom prst="rect">
            <a:avLst/>
          </a:prstGeom>
          <a:solidFill>
            <a:srgbClr val="132B39"/>
          </a:solidFill>
          <a:ln w="12700">
            <a:solidFill>
              <a:srgbClr val="132B39"/>
            </a:solidFill>
            <a:prstDash val="solid"/>
          </a:ln>
        </p:spPr>
      </p:sp>
      <p:sp>
        <p:nvSpPr>
          <p:cNvPr id="5" name="Text 3"/>
          <p:cNvSpPr txBox="1"/>
          <p:nvPr/>
        </p:nvSpPr>
        <p:spPr>
          <a:xfrm>
            <a:off x="786384" y="1709928"/>
            <a:ext cx="3090672" cy="512064"/>
          </a:xfrm>
          <a:prstGeom prst="rect">
            <a:avLst/>
          </a:prstGeom>
          <a:noFill/>
          <a:ln/>
        </p:spPr>
        <p:txBody>
          <a:bodyPr wrap="square" lIns="0" tIns="0" rIns="0" bIns="0" rtlCol="0" anchor="t"/>
          <a:lstStyle/>
          <a:p>
            <a:pPr indent="0" marL="0">
              <a:lnSpc>
                <a:spcPct val="106000"/>
              </a:lnSpc>
              <a:buNone/>
            </a:pPr>
            <a:r>
              <a:rPr lang="ja-JP" altLang="en-US" sz="2200" b="1" dirty="0">
                <a:solidFill>
                  <a:srgbClr val="FFFFFF"/>
                </a:solidFill>
                <a:latin typeface="Meiryo" pitchFamily="34" charset="0"/>
                <a:ea typeface="Meiryo" pitchFamily="34" charset="-122"/>
                <a:cs typeface="Meiryo" pitchFamily="34" charset="-120"/>
              </a:rPr>
              <a:t>列名</a:t>
            </a:r>
            <a:endParaRPr lang="ja-JP" sz="2200" dirty="0">
              <a:latin typeface="Meiryo"/>
              <a:ea typeface="Meiryo"/>
              <a:cs typeface="Meiryo"/>
            </a:endParaRPr>
          </a:p>
        </p:txBody>
      </p:sp>
      <p:sp>
        <p:nvSpPr>
          <p:cNvPr id="6" name="Shape 4"/>
          <p:cNvSpPr/>
          <p:nvPr/>
        </p:nvSpPr>
        <p:spPr>
          <a:xfrm>
            <a:off x="4023360" y="1554480"/>
            <a:ext cx="7525512" cy="704088"/>
          </a:xfrm>
          <a:prstGeom prst="rect">
            <a:avLst/>
          </a:prstGeom>
          <a:solidFill>
            <a:srgbClr val="132B39"/>
          </a:solidFill>
          <a:ln w="12700">
            <a:solidFill>
              <a:srgbClr val="132B39"/>
            </a:solidFill>
            <a:prstDash val="solid"/>
          </a:ln>
        </p:spPr>
      </p:sp>
      <p:sp>
        <p:nvSpPr>
          <p:cNvPr id="7" name="Text 5"/>
          <p:cNvSpPr txBox="1"/>
          <p:nvPr/>
        </p:nvSpPr>
        <p:spPr>
          <a:xfrm>
            <a:off x="4169664" y="1709928"/>
            <a:ext cx="7232904" cy="512064"/>
          </a:xfrm>
          <a:prstGeom prst="rect">
            <a:avLst/>
          </a:prstGeom>
          <a:noFill/>
          <a:ln/>
        </p:spPr>
        <p:txBody>
          <a:bodyPr wrap="square" lIns="0" tIns="0" rIns="0" bIns="0" rtlCol="0" anchor="t"/>
          <a:lstStyle/>
          <a:p>
            <a:pPr indent="0" marL="0">
              <a:lnSpc>
                <a:spcPct val="106000"/>
              </a:lnSpc>
              <a:buNone/>
            </a:pPr>
            <a:r>
              <a:rPr lang="ja-JP" altLang="en-US" sz="2200" b="1" dirty="0">
                <a:solidFill>
                  <a:srgbClr val="FFFFFF"/>
                </a:solidFill>
                <a:latin typeface="Meiryo" pitchFamily="34" charset="0"/>
                <a:ea typeface="Meiryo" pitchFamily="34" charset="-122"/>
                <a:cs typeface="Meiryo" pitchFamily="34" charset="-120"/>
              </a:rPr>
              <a:t>意味</a:t>
            </a:r>
            <a:endParaRPr lang="ja-JP" sz="2200" dirty="0">
              <a:latin typeface="Meiryo"/>
              <a:ea typeface="Meiryo"/>
              <a:cs typeface="Meiryo"/>
            </a:endParaRPr>
          </a:p>
        </p:txBody>
      </p:sp>
      <p:sp>
        <p:nvSpPr>
          <p:cNvPr id="8" name="Shape 6"/>
          <p:cNvSpPr/>
          <p:nvPr/>
        </p:nvSpPr>
        <p:spPr>
          <a:xfrm>
            <a:off x="640080" y="2258568"/>
            <a:ext cx="3383280" cy="758952"/>
          </a:xfrm>
          <a:prstGeom prst="rect">
            <a:avLst/>
          </a:prstGeom>
          <a:solidFill>
            <a:srgbClr val="F7F8FA"/>
          </a:solidFill>
          <a:ln w="12700">
            <a:solidFill>
              <a:srgbClr val="F7F8FA"/>
            </a:solidFill>
            <a:prstDash val="solid"/>
          </a:ln>
        </p:spPr>
      </p:sp>
      <p:sp>
        <p:nvSpPr>
          <p:cNvPr id="9" name="Text 7"/>
          <p:cNvSpPr txBox="1"/>
          <p:nvPr/>
        </p:nvSpPr>
        <p:spPr>
          <a:xfrm>
            <a:off x="786384" y="2386584"/>
            <a:ext cx="309067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student_group</a:t>
            </a:r>
            <a:endParaRPr lang="ja-JP" sz="2200" dirty="0">
              <a:latin typeface="Meiryo"/>
              <a:ea typeface="Meiryo"/>
              <a:cs typeface="Meiryo"/>
            </a:endParaRPr>
          </a:p>
        </p:txBody>
      </p:sp>
      <p:sp>
        <p:nvSpPr>
          <p:cNvPr id="10" name="Shape 8"/>
          <p:cNvSpPr/>
          <p:nvPr/>
        </p:nvSpPr>
        <p:spPr>
          <a:xfrm>
            <a:off x="4023360" y="2258568"/>
            <a:ext cx="7525512" cy="758952"/>
          </a:xfrm>
          <a:prstGeom prst="rect">
            <a:avLst/>
          </a:prstGeom>
          <a:solidFill>
            <a:srgbClr val="F7F8FA"/>
          </a:solidFill>
          <a:ln w="12700">
            <a:solidFill>
              <a:srgbClr val="F7F8FA"/>
            </a:solidFill>
            <a:prstDash val="solid"/>
          </a:ln>
        </p:spPr>
      </p:sp>
      <p:sp>
        <p:nvSpPr>
          <p:cNvPr id="11" name="Text 9"/>
          <p:cNvSpPr txBox="1"/>
          <p:nvPr/>
        </p:nvSpPr>
        <p:spPr>
          <a:xfrm>
            <a:off x="4169664" y="2386584"/>
            <a:ext cx="7232904"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グループA・B・C</a:t>
            </a:r>
            <a:endParaRPr lang="ja-JP" sz="2200" dirty="0">
              <a:latin typeface="Meiryo"/>
              <a:ea typeface="Meiryo"/>
              <a:cs typeface="Meiryo"/>
            </a:endParaRPr>
          </a:p>
        </p:txBody>
      </p:sp>
      <p:sp>
        <p:nvSpPr>
          <p:cNvPr id="12" name="Shape 10"/>
          <p:cNvSpPr/>
          <p:nvPr/>
        </p:nvSpPr>
        <p:spPr>
          <a:xfrm>
            <a:off x="640080" y="3017520"/>
            <a:ext cx="10908792" cy="0"/>
          </a:xfrm>
          <a:prstGeom prst="line">
            <a:avLst/>
          </a:prstGeom>
          <a:noFill/>
          <a:ln w="12700">
            <a:solidFill>
              <a:srgbClr val="CBD7DC"/>
            </a:solidFill>
            <a:prstDash val="solid"/>
          </a:ln>
        </p:spPr>
      </p:sp>
      <p:sp>
        <p:nvSpPr>
          <p:cNvPr id="13" name="Shape 11"/>
          <p:cNvSpPr/>
          <p:nvPr/>
        </p:nvSpPr>
        <p:spPr>
          <a:xfrm>
            <a:off x="640080" y="3017520"/>
            <a:ext cx="3383280" cy="758952"/>
          </a:xfrm>
          <a:prstGeom prst="rect">
            <a:avLst/>
          </a:prstGeom>
          <a:solidFill>
            <a:srgbClr val="FFFFFF"/>
          </a:solidFill>
          <a:ln w="12700">
            <a:solidFill>
              <a:srgbClr val="FFFFFF"/>
            </a:solidFill>
            <a:prstDash val="solid"/>
          </a:ln>
        </p:spPr>
      </p:sp>
      <p:sp>
        <p:nvSpPr>
          <p:cNvPr id="14" name="Text 12"/>
          <p:cNvSpPr txBox="1"/>
          <p:nvPr/>
        </p:nvSpPr>
        <p:spPr>
          <a:xfrm>
            <a:off x="786384" y="3145536"/>
            <a:ext cx="309067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confidence_before /</a:t>
            </a:r>
            <a:endParaRPr lang="ja-JP" sz="2200" dirty="0">
              <a:latin typeface="Meiryo"/>
              <a:ea typeface="Meiryo"/>
              <a:cs typeface="Meiryo"/>
            </a:endParaRPr>
          </a:p>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after</a:t>
            </a:r>
            <a:endParaRPr lang="ja-JP" sz="2200" dirty="0">
              <a:latin typeface="Meiryo"/>
              <a:ea typeface="Meiryo"/>
              <a:cs typeface="Meiryo"/>
            </a:endParaRPr>
          </a:p>
        </p:txBody>
      </p:sp>
      <p:sp>
        <p:nvSpPr>
          <p:cNvPr id="15" name="Shape 13"/>
          <p:cNvSpPr/>
          <p:nvPr/>
        </p:nvSpPr>
        <p:spPr>
          <a:xfrm>
            <a:off x="4023360" y="3017520"/>
            <a:ext cx="7525512" cy="758952"/>
          </a:xfrm>
          <a:prstGeom prst="rect">
            <a:avLst/>
          </a:prstGeom>
          <a:solidFill>
            <a:srgbClr val="FFFFFF"/>
          </a:solidFill>
          <a:ln w="12700">
            <a:solidFill>
              <a:srgbClr val="FFFFFF"/>
            </a:solidFill>
            <a:prstDash val="solid"/>
          </a:ln>
        </p:spPr>
      </p:sp>
      <p:sp>
        <p:nvSpPr>
          <p:cNvPr id="16" name="Text 14"/>
          <p:cNvSpPr txBox="1"/>
          <p:nvPr/>
        </p:nvSpPr>
        <p:spPr>
          <a:xfrm>
            <a:off x="4169664" y="3145536"/>
            <a:ext cx="7232904"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利用前後の自己評価</a:t>
            </a:r>
            <a:endParaRPr lang="ja-JP" sz="2200" dirty="0">
              <a:latin typeface="Meiryo"/>
              <a:ea typeface="Meiryo"/>
              <a:cs typeface="Meiryo"/>
            </a:endParaRPr>
          </a:p>
        </p:txBody>
      </p:sp>
      <p:sp>
        <p:nvSpPr>
          <p:cNvPr id="17" name="Shape 15"/>
          <p:cNvSpPr/>
          <p:nvPr/>
        </p:nvSpPr>
        <p:spPr>
          <a:xfrm>
            <a:off x="640080" y="3776472"/>
            <a:ext cx="10908792" cy="0"/>
          </a:xfrm>
          <a:prstGeom prst="line">
            <a:avLst/>
          </a:prstGeom>
          <a:noFill/>
          <a:ln w="12700">
            <a:solidFill>
              <a:srgbClr val="CBD7DC"/>
            </a:solidFill>
            <a:prstDash val="solid"/>
          </a:ln>
        </p:spPr>
      </p:sp>
      <p:sp>
        <p:nvSpPr>
          <p:cNvPr id="18" name="Shape 16"/>
          <p:cNvSpPr/>
          <p:nvPr/>
        </p:nvSpPr>
        <p:spPr>
          <a:xfrm>
            <a:off x="640080" y="3776472"/>
            <a:ext cx="3383280" cy="758952"/>
          </a:xfrm>
          <a:prstGeom prst="rect">
            <a:avLst/>
          </a:prstGeom>
          <a:solidFill>
            <a:srgbClr val="F7F8FA"/>
          </a:solidFill>
          <a:ln w="12700">
            <a:solidFill>
              <a:srgbClr val="F7F8FA"/>
            </a:solidFill>
            <a:prstDash val="solid"/>
          </a:ln>
        </p:spPr>
      </p:sp>
      <p:sp>
        <p:nvSpPr>
          <p:cNvPr id="19" name="Text 17"/>
          <p:cNvSpPr txBox="1"/>
          <p:nvPr/>
        </p:nvSpPr>
        <p:spPr>
          <a:xfrm>
            <a:off x="786384" y="3904488"/>
            <a:ext cx="309067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source_checked</a:t>
            </a:r>
            <a:endParaRPr lang="ja-JP" sz="2200" dirty="0">
              <a:latin typeface="Meiryo"/>
              <a:ea typeface="Meiryo"/>
              <a:cs typeface="Meiryo"/>
            </a:endParaRPr>
          </a:p>
        </p:txBody>
      </p:sp>
      <p:sp>
        <p:nvSpPr>
          <p:cNvPr id="20" name="Shape 18"/>
          <p:cNvSpPr/>
          <p:nvPr/>
        </p:nvSpPr>
        <p:spPr>
          <a:xfrm>
            <a:off x="4023360" y="3776472"/>
            <a:ext cx="7525512" cy="758952"/>
          </a:xfrm>
          <a:prstGeom prst="rect">
            <a:avLst/>
          </a:prstGeom>
          <a:solidFill>
            <a:srgbClr val="F7F8FA"/>
          </a:solidFill>
          <a:ln w="12700">
            <a:solidFill>
              <a:srgbClr val="F7F8FA"/>
            </a:solidFill>
            <a:prstDash val="solid"/>
          </a:ln>
        </p:spPr>
      </p:sp>
      <p:sp>
        <p:nvSpPr>
          <p:cNvPr id="21" name="Text 19"/>
          <p:cNvSpPr txBox="1"/>
          <p:nvPr/>
        </p:nvSpPr>
        <p:spPr>
          <a:xfrm>
            <a:off x="4169664" y="3904488"/>
            <a:ext cx="7232904"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出典確認：yes / no</a:t>
            </a:r>
            <a:endParaRPr lang="ja-JP" sz="2200" dirty="0">
              <a:latin typeface="Meiryo"/>
              <a:ea typeface="Meiryo"/>
              <a:cs typeface="Meiryo"/>
            </a:endParaRPr>
          </a:p>
        </p:txBody>
      </p:sp>
      <p:sp>
        <p:nvSpPr>
          <p:cNvPr id="22" name="Shape 20"/>
          <p:cNvSpPr/>
          <p:nvPr/>
        </p:nvSpPr>
        <p:spPr>
          <a:xfrm>
            <a:off x="640080" y="4535424"/>
            <a:ext cx="10908792" cy="0"/>
          </a:xfrm>
          <a:prstGeom prst="line">
            <a:avLst/>
          </a:prstGeom>
          <a:noFill/>
          <a:ln w="12700">
            <a:solidFill>
              <a:srgbClr val="CBD7DC"/>
            </a:solidFill>
            <a:prstDash val="solid"/>
          </a:ln>
        </p:spPr>
      </p:sp>
      <p:sp>
        <p:nvSpPr>
          <p:cNvPr id="23" name="Shape 21"/>
          <p:cNvSpPr/>
          <p:nvPr/>
        </p:nvSpPr>
        <p:spPr>
          <a:xfrm>
            <a:off x="640080" y="4535424"/>
            <a:ext cx="3383280" cy="758952"/>
          </a:xfrm>
          <a:prstGeom prst="rect">
            <a:avLst/>
          </a:prstGeom>
          <a:solidFill>
            <a:srgbClr val="FFFFFF"/>
          </a:solidFill>
          <a:ln w="12700">
            <a:solidFill>
              <a:srgbClr val="FFFFFF"/>
            </a:solidFill>
            <a:prstDash val="solid"/>
          </a:ln>
        </p:spPr>
      </p:sp>
      <p:sp>
        <p:nvSpPr>
          <p:cNvPr id="24" name="Text 22"/>
          <p:cNvSpPr txBox="1"/>
          <p:nvPr/>
        </p:nvSpPr>
        <p:spPr>
          <a:xfrm>
            <a:off x="786384" y="4663440"/>
            <a:ext cx="309067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submitted_on_time</a:t>
            </a:r>
            <a:endParaRPr lang="ja-JP" sz="2200" dirty="0">
              <a:latin typeface="Meiryo"/>
              <a:ea typeface="Meiryo"/>
              <a:cs typeface="Meiryo"/>
            </a:endParaRPr>
          </a:p>
        </p:txBody>
      </p:sp>
      <p:sp>
        <p:nvSpPr>
          <p:cNvPr id="25" name="Shape 23"/>
          <p:cNvSpPr/>
          <p:nvPr/>
        </p:nvSpPr>
        <p:spPr>
          <a:xfrm>
            <a:off x="4023360" y="4535424"/>
            <a:ext cx="7525512" cy="758952"/>
          </a:xfrm>
          <a:prstGeom prst="rect">
            <a:avLst/>
          </a:prstGeom>
          <a:solidFill>
            <a:srgbClr val="FFFFFF"/>
          </a:solidFill>
          <a:ln w="12700">
            <a:solidFill>
              <a:srgbClr val="FFFFFF"/>
            </a:solidFill>
            <a:prstDash val="solid"/>
          </a:ln>
        </p:spPr>
      </p:sp>
      <p:sp>
        <p:nvSpPr>
          <p:cNvPr id="26" name="Text 24"/>
          <p:cNvSpPr txBox="1"/>
          <p:nvPr/>
        </p:nvSpPr>
        <p:spPr>
          <a:xfrm>
            <a:off x="4169664" y="4663440"/>
            <a:ext cx="7232904"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期限内提出：yes / no</a:t>
            </a:r>
            <a:endParaRPr lang="ja-JP" sz="2200" dirty="0">
              <a:latin typeface="Meiryo"/>
              <a:ea typeface="Meiryo"/>
              <a:cs typeface="Meiryo"/>
            </a:endParaRPr>
          </a:p>
        </p:txBody>
      </p:sp>
      <p:sp>
        <p:nvSpPr>
          <p:cNvPr id="27" name="Shape 25"/>
          <p:cNvSpPr/>
          <p:nvPr/>
        </p:nvSpPr>
        <p:spPr>
          <a:xfrm>
            <a:off x="640080" y="5294376"/>
            <a:ext cx="10908792" cy="0"/>
          </a:xfrm>
          <a:prstGeom prst="line">
            <a:avLst/>
          </a:prstGeom>
          <a:noFill/>
          <a:ln w="12700">
            <a:solidFill>
              <a:srgbClr val="CBD7DC"/>
            </a:solidFill>
            <a:prstDash val="solid"/>
          </a:ln>
        </p:spPr>
      </p:sp>
      <p:sp>
        <p:nvSpPr>
          <p:cNvPr id="28" name="Text 26"/>
          <p:cNvSpPr txBox="1"/>
          <p:nvPr/>
        </p:nvSpPr>
        <p:spPr>
          <a:xfrm>
            <a:off x="667512" y="5779008"/>
            <a:ext cx="10844784" cy="548640"/>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自己評価は学力の測定値ではない。詳しい定義はデータ辞書で確認する。</a:t>
            </a:r>
            <a:endParaRPr lang="ja-JP" sz="1800" dirty="0">
              <a:latin typeface="Meiryo"/>
              <a:ea typeface="Meiryo"/>
              <a:cs typeface="Meiryo"/>
            </a:endParaRPr>
          </a:p>
        </p:txBody>
      </p:sp>
      <p:sp>
        <p:nvSpPr>
          <p:cNvPr id="29" name="Text 27"/>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30" name="Text 28"/>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07 / 17</a:t>
            </a:r>
            <a:endParaRPr lang="ja-JP" sz="1800" dirty="0">
              <a:latin typeface="Meiryo"/>
              <a:ea typeface="Meiryo"/>
              <a:cs typeface="Meiry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③ グループ別にまとめる</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pic>
        <p:nvPicPr>
          <p:cNvPr id="4" name="Image 0" descr="Lucide keyboard">    </p:cNvPr>
          <p:cNvPicPr>
            <a:picLocks noChangeAspect="1"/>
          </p:cNvPicPr>
          <p:nvPr/>
        </p:nvPicPr>
        <p:blipFill>
          <a:blip r:embed="rId1"/>
          <a:stretch>
            <a:fillRect/>
          </a:stretch>
        </p:blipFill>
        <p:spPr>
          <a:xfrm>
            <a:off x="713232" y="1499616"/>
            <a:ext cx="384048" cy="384048"/>
          </a:xfrm>
          <a:prstGeom prst="rect">
            <a:avLst/>
          </a:prstGeom>
        </p:spPr>
      </p:pic>
      <p:sp>
        <p:nvSpPr>
          <p:cNvPr id="5" name="Text 2"/>
          <p:cNvSpPr txBox="1"/>
          <p:nvPr/>
        </p:nvSpPr>
        <p:spPr>
          <a:xfrm>
            <a:off x="1280160" y="1490472"/>
            <a:ext cx="7315200" cy="475488"/>
          </a:xfrm>
          <a:prstGeom prst="rect">
            <a:avLst/>
          </a:prstGeom>
          <a:noFill/>
          <a:ln/>
        </p:spPr>
        <p:txBody>
          <a:bodyPr wrap="square" lIns="0" tIns="0" rIns="0" bIns="0" rtlCol="0" anchor="t"/>
          <a:lstStyle/>
          <a:p>
            <a:pPr indent="0" marL="0">
              <a:lnSpc>
                <a:spcPct val="106000"/>
              </a:lnSpc>
              <a:buNone/>
            </a:pPr>
            <a:r>
              <a:rPr lang="ja-JP" altLang="en-US" sz="2200" b="1" dirty="0">
                <a:solidFill>
                  <a:srgbClr val="007F82"/>
                </a:solidFill>
                <a:latin typeface="Meiryo" pitchFamily="34" charset="0"/>
                <a:ea typeface="Meiryo" pitchFamily="34" charset="-122"/>
                <a:cs typeface="Meiryo" pitchFamily="34" charset="-120"/>
              </a:rPr>
              <a:t>AIに送ってみよう</a:t>
            </a:r>
            <a:endParaRPr lang="ja-JP" sz="2200" dirty="0">
              <a:latin typeface="Meiryo"/>
              <a:ea typeface="Meiryo"/>
              <a:cs typeface="Meiryo"/>
            </a:endParaRPr>
          </a:p>
        </p:txBody>
      </p:sp>
      <p:sp>
        <p:nvSpPr>
          <p:cNvPr id="6" name="Shape 3"/>
          <p:cNvSpPr/>
          <p:nvPr/>
        </p:nvSpPr>
        <p:spPr>
          <a:xfrm>
            <a:off x="640080" y="2084832"/>
            <a:ext cx="10908792" cy="2871216"/>
          </a:xfrm>
          <a:prstGeom prst="rect">
            <a:avLst/>
          </a:prstGeom>
          <a:solidFill>
            <a:srgbClr val="EAF4F3"/>
          </a:solidFill>
          <a:ln w="12700">
            <a:solidFill>
              <a:srgbClr val="EAF4F3"/>
            </a:solidFill>
            <a:prstDash val="solid"/>
          </a:ln>
        </p:spPr>
      </p:sp>
      <p:sp>
        <p:nvSpPr>
          <p:cNvPr id="7" name="Text 4"/>
          <p:cNvSpPr txBox="1"/>
          <p:nvPr/>
        </p:nvSpPr>
        <p:spPr>
          <a:xfrm>
            <a:off x="950976" y="2350008"/>
            <a:ext cx="10287000" cy="2423160"/>
          </a:xfrm>
          <a:prstGeom prst="rect">
            <a:avLst/>
          </a:prstGeom>
          <a:noFill/>
          <a:ln/>
        </p:spPr>
        <p:txBody>
          <a:bodyPr wrap="square" lIns="0" tIns="0" rIns="0" bIns="0" rtlCol="0" anchor="t"/>
          <a:lstStyle/>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student_groupごとに、</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人数とconfidence_afterの平均を出してください。</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欠損値の扱いと、計算に使った列を示してください。</a:t>
            </a:r>
            <a:endParaRPr lang="ja-JP" sz="2700" dirty="0">
              <a:latin typeface="Meiryo"/>
              <a:ea typeface="Meiryo"/>
              <a:cs typeface="Meiryo"/>
            </a:endParaRPr>
          </a:p>
        </p:txBody>
      </p:sp>
      <p:pic>
        <p:nvPicPr>
          <p:cNvPr id="8" name="Image 1" descr="Lucide circle-check">    </p:cNvPr>
          <p:cNvPicPr>
            <a:picLocks noChangeAspect="1"/>
          </p:cNvPicPr>
          <p:nvPr/>
        </p:nvPicPr>
        <p:blipFill>
          <a:blip r:embed="rId2"/>
          <a:stretch>
            <a:fillRect/>
          </a:stretch>
        </p:blipFill>
        <p:spPr>
          <a:xfrm>
            <a:off x="731520" y="5230368"/>
            <a:ext cx="338328" cy="338328"/>
          </a:xfrm>
          <a:prstGeom prst="rect">
            <a:avLst/>
          </a:prstGeom>
        </p:spPr>
      </p:pic>
      <p:sp>
        <p:nvSpPr>
          <p:cNvPr id="9" name="Text 5"/>
          <p:cNvSpPr txBox="1"/>
          <p:nvPr/>
        </p:nvSpPr>
        <p:spPr>
          <a:xfrm>
            <a:off x="1225296" y="5166360"/>
            <a:ext cx="10241280" cy="777240"/>
          </a:xfrm>
          <a:prstGeom prst="rect">
            <a:avLst/>
          </a:prstGeom>
          <a:noFill/>
          <a:ln/>
        </p:spPr>
        <p:txBody>
          <a:bodyPr wrap="square" lIns="0" tIns="0" rIns="0" bIns="0" rtlCol="0" anchor="t"/>
          <a:lstStyle/>
          <a:p>
            <a:pPr indent="0" marL="0">
              <a:lnSpc>
                <a:spcPct val="106000"/>
              </a:lnSpc>
              <a:buNone/>
            </a:pPr>
            <a:r>
              <a:rPr lang="ja-JP" altLang="en-US" sz="2200" dirty="0">
                <a:solidFill>
                  <a:srgbClr val="4D626D"/>
                </a:solidFill>
                <a:latin typeface="Meiryo" pitchFamily="34" charset="0"/>
                <a:ea typeface="Meiryo" pitchFamily="34" charset="-122"/>
                <a:cs typeface="Meiryo" pitchFamily="34" charset="-120"/>
              </a:rPr>
              <a:t>平均だけでなく、各グループの人数も確認する。</a:t>
            </a:r>
            <a:endParaRPr lang="ja-JP" sz="2200" dirty="0">
              <a:latin typeface="Meiryo"/>
              <a:ea typeface="Meiryo"/>
              <a:cs typeface="Meiryo"/>
            </a:endParaRPr>
          </a:p>
        </p:txBody>
      </p:sp>
      <p:sp>
        <p:nvSpPr>
          <p:cNvPr id="10" name="Text 6"/>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1" name="Text 7"/>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08 / 17</a:t>
            </a:r>
            <a:endParaRPr lang="ja-JP" sz="1800" dirty="0">
              <a:latin typeface="Meiryo"/>
              <a:ea typeface="Meiryo"/>
              <a:cs typeface="Meiry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計算結果を、確認用の値と比べる</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54480"/>
            <a:ext cx="3474720" cy="704088"/>
          </a:xfrm>
          <a:prstGeom prst="rect">
            <a:avLst/>
          </a:prstGeom>
          <a:solidFill>
            <a:srgbClr val="132B39"/>
          </a:solidFill>
          <a:ln w="12700">
            <a:solidFill>
              <a:srgbClr val="132B39"/>
            </a:solidFill>
            <a:prstDash val="solid"/>
          </a:ln>
        </p:spPr>
      </p:sp>
      <p:sp>
        <p:nvSpPr>
          <p:cNvPr id="5" name="Text 3"/>
          <p:cNvSpPr txBox="1"/>
          <p:nvPr/>
        </p:nvSpPr>
        <p:spPr>
          <a:xfrm>
            <a:off x="786384" y="1709928"/>
            <a:ext cx="3182112" cy="512064"/>
          </a:xfrm>
          <a:prstGeom prst="rect">
            <a:avLst/>
          </a:prstGeom>
          <a:noFill/>
          <a:ln/>
        </p:spPr>
        <p:txBody>
          <a:bodyPr wrap="square" lIns="0" tIns="0" rIns="0" bIns="0" rtlCol="0" anchor="t"/>
          <a:lstStyle/>
          <a:p>
            <a:pPr indent="0" marL="0">
              <a:lnSpc>
                <a:spcPct val="106000"/>
              </a:lnSpc>
              <a:buNone/>
            </a:pPr>
            <a:r>
              <a:rPr lang="ja-JP" altLang="en-US" sz="2200" b="1" dirty="0">
                <a:solidFill>
                  <a:srgbClr val="FFFFFF"/>
                </a:solidFill>
                <a:latin typeface="Meiryo" pitchFamily="34" charset="0"/>
                <a:ea typeface="Meiryo" pitchFamily="34" charset="-122"/>
                <a:cs typeface="Meiryo" pitchFamily="34" charset="-120"/>
              </a:rPr>
              <a:t>グループ</a:t>
            </a:r>
            <a:endParaRPr lang="ja-JP" sz="2200" dirty="0">
              <a:latin typeface="Meiryo"/>
              <a:ea typeface="Meiryo"/>
              <a:cs typeface="Meiryo"/>
            </a:endParaRPr>
          </a:p>
        </p:txBody>
      </p:sp>
      <p:sp>
        <p:nvSpPr>
          <p:cNvPr id="6" name="Shape 4"/>
          <p:cNvSpPr/>
          <p:nvPr/>
        </p:nvSpPr>
        <p:spPr>
          <a:xfrm>
            <a:off x="4114800" y="1554480"/>
            <a:ext cx="3794760" cy="704088"/>
          </a:xfrm>
          <a:prstGeom prst="rect">
            <a:avLst/>
          </a:prstGeom>
          <a:solidFill>
            <a:srgbClr val="132B39"/>
          </a:solidFill>
          <a:ln w="12700">
            <a:solidFill>
              <a:srgbClr val="132B39"/>
            </a:solidFill>
            <a:prstDash val="solid"/>
          </a:ln>
        </p:spPr>
      </p:sp>
      <p:sp>
        <p:nvSpPr>
          <p:cNvPr id="7" name="Text 5"/>
          <p:cNvSpPr txBox="1"/>
          <p:nvPr/>
        </p:nvSpPr>
        <p:spPr>
          <a:xfrm>
            <a:off x="4261104" y="1709928"/>
            <a:ext cx="3502152" cy="512064"/>
          </a:xfrm>
          <a:prstGeom prst="rect">
            <a:avLst/>
          </a:prstGeom>
          <a:noFill/>
          <a:ln/>
        </p:spPr>
        <p:txBody>
          <a:bodyPr wrap="square" lIns="0" tIns="0" rIns="0" bIns="0" rtlCol="0" anchor="t"/>
          <a:lstStyle/>
          <a:p>
            <a:pPr indent="0" marL="0">
              <a:lnSpc>
                <a:spcPct val="106000"/>
              </a:lnSpc>
              <a:buNone/>
            </a:pPr>
            <a:r>
              <a:rPr lang="ja-JP" altLang="en-US" sz="2200" b="1" dirty="0">
                <a:solidFill>
                  <a:srgbClr val="FFFFFF"/>
                </a:solidFill>
                <a:latin typeface="Meiryo" pitchFamily="34" charset="0"/>
                <a:ea typeface="Meiryo" pitchFamily="34" charset="-122"/>
                <a:cs typeface="Meiryo" pitchFamily="34" charset="-120"/>
              </a:rPr>
              <a:t>人数</a:t>
            </a:r>
            <a:endParaRPr lang="ja-JP" sz="2200" dirty="0">
              <a:latin typeface="Meiryo"/>
              <a:ea typeface="Meiryo"/>
              <a:cs typeface="Meiryo"/>
            </a:endParaRPr>
          </a:p>
        </p:txBody>
      </p:sp>
      <p:sp>
        <p:nvSpPr>
          <p:cNvPr id="8" name="Shape 6"/>
          <p:cNvSpPr/>
          <p:nvPr/>
        </p:nvSpPr>
        <p:spPr>
          <a:xfrm>
            <a:off x="7909560" y="1554480"/>
            <a:ext cx="3639312" cy="704088"/>
          </a:xfrm>
          <a:prstGeom prst="rect">
            <a:avLst/>
          </a:prstGeom>
          <a:solidFill>
            <a:srgbClr val="132B39"/>
          </a:solidFill>
          <a:ln w="12700">
            <a:solidFill>
              <a:srgbClr val="132B39"/>
            </a:solidFill>
            <a:prstDash val="solid"/>
          </a:ln>
        </p:spPr>
      </p:sp>
      <p:sp>
        <p:nvSpPr>
          <p:cNvPr id="9" name="Text 7"/>
          <p:cNvSpPr txBox="1"/>
          <p:nvPr/>
        </p:nvSpPr>
        <p:spPr>
          <a:xfrm>
            <a:off x="8055864" y="1709928"/>
            <a:ext cx="3346704" cy="512064"/>
          </a:xfrm>
          <a:prstGeom prst="rect">
            <a:avLst/>
          </a:prstGeom>
          <a:noFill/>
          <a:ln/>
        </p:spPr>
        <p:txBody>
          <a:bodyPr wrap="square" lIns="0" tIns="0" rIns="0" bIns="0" rtlCol="0" anchor="t"/>
          <a:lstStyle/>
          <a:p>
            <a:pPr indent="0" marL="0">
              <a:lnSpc>
                <a:spcPct val="106000"/>
              </a:lnSpc>
              <a:buNone/>
            </a:pPr>
            <a:r>
              <a:rPr lang="ja-JP" altLang="en-US" sz="2200" b="1" dirty="0">
                <a:solidFill>
                  <a:srgbClr val="FFFFFF"/>
                </a:solidFill>
                <a:latin typeface="Meiryo" pitchFamily="34" charset="0"/>
                <a:ea typeface="Meiryo" pitchFamily="34" charset="-122"/>
                <a:cs typeface="Meiryo" pitchFamily="34" charset="-120"/>
              </a:rPr>
              <a:t>afterの平均</a:t>
            </a:r>
            <a:endParaRPr lang="ja-JP" sz="2200" dirty="0">
              <a:latin typeface="Meiryo"/>
              <a:ea typeface="Meiryo"/>
              <a:cs typeface="Meiryo"/>
            </a:endParaRPr>
          </a:p>
        </p:txBody>
      </p:sp>
      <p:sp>
        <p:nvSpPr>
          <p:cNvPr id="10" name="Shape 8"/>
          <p:cNvSpPr/>
          <p:nvPr/>
        </p:nvSpPr>
        <p:spPr>
          <a:xfrm>
            <a:off x="640080" y="2258568"/>
            <a:ext cx="3474720" cy="758952"/>
          </a:xfrm>
          <a:prstGeom prst="rect">
            <a:avLst/>
          </a:prstGeom>
          <a:solidFill>
            <a:srgbClr val="F7F8FA"/>
          </a:solidFill>
          <a:ln w="12700">
            <a:solidFill>
              <a:srgbClr val="F7F8FA"/>
            </a:solidFill>
            <a:prstDash val="solid"/>
          </a:ln>
        </p:spPr>
      </p:sp>
      <p:sp>
        <p:nvSpPr>
          <p:cNvPr id="11" name="Text 9"/>
          <p:cNvSpPr txBox="1"/>
          <p:nvPr/>
        </p:nvSpPr>
        <p:spPr>
          <a:xfrm>
            <a:off x="786384" y="2386584"/>
            <a:ext cx="318211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A</a:t>
            </a:r>
            <a:endParaRPr lang="ja-JP" sz="2200" dirty="0">
              <a:latin typeface="Meiryo"/>
              <a:ea typeface="Meiryo"/>
              <a:cs typeface="Meiryo"/>
            </a:endParaRPr>
          </a:p>
        </p:txBody>
      </p:sp>
      <p:sp>
        <p:nvSpPr>
          <p:cNvPr id="12" name="Shape 10"/>
          <p:cNvSpPr/>
          <p:nvPr/>
        </p:nvSpPr>
        <p:spPr>
          <a:xfrm>
            <a:off x="4114800" y="2258568"/>
            <a:ext cx="3794760" cy="758952"/>
          </a:xfrm>
          <a:prstGeom prst="rect">
            <a:avLst/>
          </a:prstGeom>
          <a:solidFill>
            <a:srgbClr val="F7F8FA"/>
          </a:solidFill>
          <a:ln w="12700">
            <a:solidFill>
              <a:srgbClr val="F7F8FA"/>
            </a:solidFill>
            <a:prstDash val="solid"/>
          </a:ln>
        </p:spPr>
      </p:sp>
      <p:sp>
        <p:nvSpPr>
          <p:cNvPr id="13" name="Text 11"/>
          <p:cNvSpPr txBox="1"/>
          <p:nvPr/>
        </p:nvSpPr>
        <p:spPr>
          <a:xfrm>
            <a:off x="4261104" y="2386584"/>
            <a:ext cx="350215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27</a:t>
            </a:r>
            <a:endParaRPr lang="ja-JP" sz="2200" dirty="0">
              <a:latin typeface="Meiryo"/>
              <a:ea typeface="Meiryo"/>
              <a:cs typeface="Meiryo"/>
            </a:endParaRPr>
          </a:p>
        </p:txBody>
      </p:sp>
      <p:sp>
        <p:nvSpPr>
          <p:cNvPr id="14" name="Shape 12"/>
          <p:cNvSpPr/>
          <p:nvPr/>
        </p:nvSpPr>
        <p:spPr>
          <a:xfrm>
            <a:off x="7909560" y="2258568"/>
            <a:ext cx="3639312" cy="758952"/>
          </a:xfrm>
          <a:prstGeom prst="rect">
            <a:avLst/>
          </a:prstGeom>
          <a:solidFill>
            <a:srgbClr val="F7F8FA"/>
          </a:solidFill>
          <a:ln w="12700">
            <a:solidFill>
              <a:srgbClr val="F7F8FA"/>
            </a:solidFill>
            <a:prstDash val="solid"/>
          </a:ln>
        </p:spPr>
      </p:sp>
      <p:sp>
        <p:nvSpPr>
          <p:cNvPr id="15" name="Text 13"/>
          <p:cNvSpPr txBox="1"/>
          <p:nvPr/>
        </p:nvSpPr>
        <p:spPr>
          <a:xfrm>
            <a:off x="8055864" y="2386584"/>
            <a:ext cx="3346704"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4.00</a:t>
            </a:r>
            <a:endParaRPr lang="ja-JP" sz="2200" dirty="0">
              <a:latin typeface="Meiryo"/>
              <a:ea typeface="Meiryo"/>
              <a:cs typeface="Meiryo"/>
            </a:endParaRPr>
          </a:p>
        </p:txBody>
      </p:sp>
      <p:sp>
        <p:nvSpPr>
          <p:cNvPr id="16" name="Shape 14"/>
          <p:cNvSpPr/>
          <p:nvPr/>
        </p:nvSpPr>
        <p:spPr>
          <a:xfrm>
            <a:off x="640080" y="3017520"/>
            <a:ext cx="10908792" cy="0"/>
          </a:xfrm>
          <a:prstGeom prst="line">
            <a:avLst/>
          </a:prstGeom>
          <a:noFill/>
          <a:ln w="12700">
            <a:solidFill>
              <a:srgbClr val="CBD7DC"/>
            </a:solidFill>
            <a:prstDash val="solid"/>
          </a:ln>
        </p:spPr>
      </p:sp>
      <p:sp>
        <p:nvSpPr>
          <p:cNvPr id="17" name="Shape 15"/>
          <p:cNvSpPr/>
          <p:nvPr/>
        </p:nvSpPr>
        <p:spPr>
          <a:xfrm>
            <a:off x="640080" y="3017520"/>
            <a:ext cx="3474720" cy="758952"/>
          </a:xfrm>
          <a:prstGeom prst="rect">
            <a:avLst/>
          </a:prstGeom>
          <a:solidFill>
            <a:srgbClr val="FFFFFF"/>
          </a:solidFill>
          <a:ln w="12700">
            <a:solidFill>
              <a:srgbClr val="FFFFFF"/>
            </a:solidFill>
            <a:prstDash val="solid"/>
          </a:ln>
        </p:spPr>
      </p:sp>
      <p:sp>
        <p:nvSpPr>
          <p:cNvPr id="18" name="Text 16"/>
          <p:cNvSpPr txBox="1"/>
          <p:nvPr/>
        </p:nvSpPr>
        <p:spPr>
          <a:xfrm>
            <a:off x="786384" y="3145536"/>
            <a:ext cx="318211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B</a:t>
            </a:r>
            <a:endParaRPr lang="ja-JP" sz="2200" dirty="0">
              <a:latin typeface="Meiryo"/>
              <a:ea typeface="Meiryo"/>
              <a:cs typeface="Meiryo"/>
            </a:endParaRPr>
          </a:p>
        </p:txBody>
      </p:sp>
      <p:sp>
        <p:nvSpPr>
          <p:cNvPr id="19" name="Shape 17"/>
          <p:cNvSpPr/>
          <p:nvPr/>
        </p:nvSpPr>
        <p:spPr>
          <a:xfrm>
            <a:off x="4114800" y="3017520"/>
            <a:ext cx="3794760" cy="758952"/>
          </a:xfrm>
          <a:prstGeom prst="rect">
            <a:avLst/>
          </a:prstGeom>
          <a:solidFill>
            <a:srgbClr val="FFFFFF"/>
          </a:solidFill>
          <a:ln w="12700">
            <a:solidFill>
              <a:srgbClr val="FFFFFF"/>
            </a:solidFill>
            <a:prstDash val="solid"/>
          </a:ln>
        </p:spPr>
      </p:sp>
      <p:sp>
        <p:nvSpPr>
          <p:cNvPr id="20" name="Text 18"/>
          <p:cNvSpPr txBox="1"/>
          <p:nvPr/>
        </p:nvSpPr>
        <p:spPr>
          <a:xfrm>
            <a:off x="4261104" y="3145536"/>
            <a:ext cx="350215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12</a:t>
            </a:r>
            <a:endParaRPr lang="ja-JP" sz="2200" dirty="0">
              <a:latin typeface="Meiryo"/>
              <a:ea typeface="Meiryo"/>
              <a:cs typeface="Meiryo"/>
            </a:endParaRPr>
          </a:p>
        </p:txBody>
      </p:sp>
      <p:sp>
        <p:nvSpPr>
          <p:cNvPr id="21" name="Shape 19"/>
          <p:cNvSpPr/>
          <p:nvPr/>
        </p:nvSpPr>
        <p:spPr>
          <a:xfrm>
            <a:off x="7909560" y="3017520"/>
            <a:ext cx="3639312" cy="758952"/>
          </a:xfrm>
          <a:prstGeom prst="rect">
            <a:avLst/>
          </a:prstGeom>
          <a:solidFill>
            <a:srgbClr val="FFFFFF"/>
          </a:solidFill>
          <a:ln w="12700">
            <a:solidFill>
              <a:srgbClr val="FFFFFF"/>
            </a:solidFill>
            <a:prstDash val="solid"/>
          </a:ln>
        </p:spPr>
      </p:sp>
      <p:sp>
        <p:nvSpPr>
          <p:cNvPr id="22" name="Text 20"/>
          <p:cNvSpPr txBox="1"/>
          <p:nvPr/>
        </p:nvSpPr>
        <p:spPr>
          <a:xfrm>
            <a:off x="8055864" y="3145536"/>
            <a:ext cx="3346704"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3.25</a:t>
            </a:r>
            <a:endParaRPr lang="ja-JP" sz="2200" dirty="0">
              <a:latin typeface="Meiryo"/>
              <a:ea typeface="Meiryo"/>
              <a:cs typeface="Meiryo"/>
            </a:endParaRPr>
          </a:p>
        </p:txBody>
      </p:sp>
      <p:sp>
        <p:nvSpPr>
          <p:cNvPr id="23" name="Shape 21"/>
          <p:cNvSpPr/>
          <p:nvPr/>
        </p:nvSpPr>
        <p:spPr>
          <a:xfrm>
            <a:off x="640080" y="3776472"/>
            <a:ext cx="10908792" cy="0"/>
          </a:xfrm>
          <a:prstGeom prst="line">
            <a:avLst/>
          </a:prstGeom>
          <a:noFill/>
          <a:ln w="12700">
            <a:solidFill>
              <a:srgbClr val="CBD7DC"/>
            </a:solidFill>
            <a:prstDash val="solid"/>
          </a:ln>
        </p:spPr>
      </p:sp>
      <p:sp>
        <p:nvSpPr>
          <p:cNvPr id="24" name="Shape 22"/>
          <p:cNvSpPr/>
          <p:nvPr/>
        </p:nvSpPr>
        <p:spPr>
          <a:xfrm>
            <a:off x="640080" y="3776472"/>
            <a:ext cx="3474720" cy="758952"/>
          </a:xfrm>
          <a:prstGeom prst="rect">
            <a:avLst/>
          </a:prstGeom>
          <a:solidFill>
            <a:srgbClr val="F7F8FA"/>
          </a:solidFill>
          <a:ln w="12700">
            <a:solidFill>
              <a:srgbClr val="F7F8FA"/>
            </a:solidFill>
            <a:prstDash val="solid"/>
          </a:ln>
        </p:spPr>
      </p:sp>
      <p:sp>
        <p:nvSpPr>
          <p:cNvPr id="25" name="Text 23"/>
          <p:cNvSpPr txBox="1"/>
          <p:nvPr/>
        </p:nvSpPr>
        <p:spPr>
          <a:xfrm>
            <a:off x="786384" y="3904488"/>
            <a:ext cx="318211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C</a:t>
            </a:r>
            <a:endParaRPr lang="ja-JP" sz="2200" dirty="0">
              <a:latin typeface="Meiryo"/>
              <a:ea typeface="Meiryo"/>
              <a:cs typeface="Meiryo"/>
            </a:endParaRPr>
          </a:p>
        </p:txBody>
      </p:sp>
      <p:sp>
        <p:nvSpPr>
          <p:cNvPr id="26" name="Shape 24"/>
          <p:cNvSpPr/>
          <p:nvPr/>
        </p:nvSpPr>
        <p:spPr>
          <a:xfrm>
            <a:off x="4114800" y="3776472"/>
            <a:ext cx="3794760" cy="758952"/>
          </a:xfrm>
          <a:prstGeom prst="rect">
            <a:avLst/>
          </a:prstGeom>
          <a:solidFill>
            <a:srgbClr val="F7F8FA"/>
          </a:solidFill>
          <a:ln w="12700">
            <a:solidFill>
              <a:srgbClr val="F7F8FA"/>
            </a:solidFill>
            <a:prstDash val="solid"/>
          </a:ln>
        </p:spPr>
      </p:sp>
      <p:sp>
        <p:nvSpPr>
          <p:cNvPr id="27" name="Text 25"/>
          <p:cNvSpPr txBox="1"/>
          <p:nvPr/>
        </p:nvSpPr>
        <p:spPr>
          <a:xfrm>
            <a:off x="4261104" y="3904488"/>
            <a:ext cx="350215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21</a:t>
            </a:r>
            <a:endParaRPr lang="ja-JP" sz="2200" dirty="0">
              <a:latin typeface="Meiryo"/>
              <a:ea typeface="Meiryo"/>
              <a:cs typeface="Meiryo"/>
            </a:endParaRPr>
          </a:p>
        </p:txBody>
      </p:sp>
      <p:sp>
        <p:nvSpPr>
          <p:cNvPr id="28" name="Shape 26"/>
          <p:cNvSpPr/>
          <p:nvPr/>
        </p:nvSpPr>
        <p:spPr>
          <a:xfrm>
            <a:off x="7909560" y="3776472"/>
            <a:ext cx="3639312" cy="758952"/>
          </a:xfrm>
          <a:prstGeom prst="rect">
            <a:avLst/>
          </a:prstGeom>
          <a:solidFill>
            <a:srgbClr val="F7F8FA"/>
          </a:solidFill>
          <a:ln w="12700">
            <a:solidFill>
              <a:srgbClr val="F7F8FA"/>
            </a:solidFill>
            <a:prstDash val="solid"/>
          </a:ln>
        </p:spPr>
      </p:sp>
      <p:sp>
        <p:nvSpPr>
          <p:cNvPr id="29" name="Text 27"/>
          <p:cNvSpPr txBox="1"/>
          <p:nvPr/>
        </p:nvSpPr>
        <p:spPr>
          <a:xfrm>
            <a:off x="8055864" y="3904488"/>
            <a:ext cx="3346704"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3.86</a:t>
            </a:r>
            <a:endParaRPr lang="ja-JP" sz="2200" dirty="0">
              <a:latin typeface="Meiryo"/>
              <a:ea typeface="Meiryo"/>
              <a:cs typeface="Meiryo"/>
            </a:endParaRPr>
          </a:p>
        </p:txBody>
      </p:sp>
      <p:sp>
        <p:nvSpPr>
          <p:cNvPr id="30" name="Shape 28"/>
          <p:cNvSpPr/>
          <p:nvPr/>
        </p:nvSpPr>
        <p:spPr>
          <a:xfrm>
            <a:off x="640080" y="4535424"/>
            <a:ext cx="10908792" cy="0"/>
          </a:xfrm>
          <a:prstGeom prst="line">
            <a:avLst/>
          </a:prstGeom>
          <a:noFill/>
          <a:ln w="12700">
            <a:solidFill>
              <a:srgbClr val="CBD7DC"/>
            </a:solidFill>
            <a:prstDash val="solid"/>
          </a:ln>
        </p:spPr>
      </p:sp>
      <p:sp>
        <p:nvSpPr>
          <p:cNvPr id="31" name="Text 29"/>
          <p:cNvSpPr txBox="1"/>
          <p:nvPr/>
        </p:nvSpPr>
        <p:spPr>
          <a:xfrm>
            <a:off x="667512" y="5779008"/>
            <a:ext cx="10844784" cy="548640"/>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配布された60行の架空CSVを集計。平均は小数第3位を四捨五入。</a:t>
            </a:r>
            <a:endParaRPr lang="ja-JP" sz="1800" dirty="0">
              <a:latin typeface="Meiryo"/>
              <a:ea typeface="Meiryo"/>
              <a:cs typeface="Meiryo"/>
            </a:endParaRPr>
          </a:p>
        </p:txBody>
      </p:sp>
      <p:sp>
        <p:nvSpPr>
          <p:cNvPr id="32" name="Text 30"/>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33" name="Text 31"/>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09 / 17</a:t>
            </a:r>
            <a:endParaRPr lang="ja-JP" sz="1800" dirty="0">
              <a:latin typeface="Meiryo"/>
              <a:ea typeface="Meiryo"/>
              <a:cs typeface="Meiry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別の方法でも、1つ確かめる</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Text 2"/>
          <p:cNvSpPr txBox="1"/>
          <p:nvPr/>
        </p:nvSpPr>
        <p:spPr>
          <a:xfrm>
            <a:off x="777240" y="1609344"/>
            <a:ext cx="10607040" cy="786384"/>
          </a:xfrm>
          <a:prstGeom prst="rect">
            <a:avLst/>
          </a:prstGeom>
          <a:noFill/>
          <a:ln/>
        </p:spPr>
        <p:txBody>
          <a:bodyPr wrap="square" lIns="0" tIns="0" rIns="0" bIns="0" rtlCol="0" anchor="t"/>
          <a:lstStyle/>
          <a:p>
            <a:pPr indent="0" marL="0">
              <a:lnSpc>
                <a:spcPct val="106000"/>
              </a:lnSpc>
              <a:buNone/>
            </a:pPr>
            <a:r>
              <a:rPr lang="ja-JP" altLang="en-US" sz="2500" dirty="0">
                <a:solidFill>
                  <a:srgbClr val="4D626D"/>
                </a:solidFill>
                <a:latin typeface="Meiryo" pitchFamily="34" charset="0"/>
                <a:ea typeface="Meiryo" pitchFamily="34" charset="-122"/>
                <a:cs typeface="Meiryo" pitchFamily="34" charset="-120"/>
              </a:rPr>
              <a:t>source_checked が yes の行：42行</a:t>
            </a:r>
            <a:endParaRPr lang="ja-JP" sz="2500" dirty="0">
              <a:latin typeface="Meiryo"/>
              <a:ea typeface="Meiryo"/>
              <a:cs typeface="Meiryo"/>
            </a:endParaRPr>
          </a:p>
        </p:txBody>
      </p:sp>
      <p:sp>
        <p:nvSpPr>
          <p:cNvPr id="5" name="Shape 3"/>
          <p:cNvSpPr/>
          <p:nvPr/>
        </p:nvSpPr>
        <p:spPr>
          <a:xfrm>
            <a:off x="640080" y="2596896"/>
            <a:ext cx="10908792" cy="1417320"/>
          </a:xfrm>
          <a:prstGeom prst="rect">
            <a:avLst/>
          </a:prstGeom>
          <a:solidFill>
            <a:srgbClr val="EAF4F3"/>
          </a:solidFill>
          <a:ln w="12700">
            <a:solidFill>
              <a:srgbClr val="EAF4F3"/>
            </a:solidFill>
            <a:prstDash val="solid"/>
          </a:ln>
        </p:spPr>
      </p:sp>
      <p:sp>
        <p:nvSpPr>
          <p:cNvPr id="6" name="Text 4"/>
          <p:cNvSpPr txBox="1"/>
          <p:nvPr/>
        </p:nvSpPr>
        <p:spPr>
          <a:xfrm>
            <a:off x="914400" y="2953512"/>
            <a:ext cx="10332720" cy="777240"/>
          </a:xfrm>
          <a:prstGeom prst="rect">
            <a:avLst/>
          </a:prstGeom>
          <a:noFill/>
          <a:ln/>
        </p:spPr>
        <p:txBody>
          <a:bodyPr wrap="square" lIns="0" tIns="0" rIns="0" bIns="0" rtlCol="0" anchor="t"/>
          <a:lstStyle/>
          <a:p>
            <a:pPr algn="ctr" indent="0" marL="0">
              <a:lnSpc>
                <a:spcPct val="106000"/>
              </a:lnSpc>
              <a:buNone/>
            </a:pPr>
            <a:r>
              <a:rPr lang="ja-JP" altLang="en-US" sz="3600" b="1" dirty="0">
                <a:solidFill>
                  <a:srgbClr val="007F82"/>
                </a:solidFill>
                <a:latin typeface="Meiryo" pitchFamily="34" charset="0"/>
                <a:ea typeface="Meiryo" pitchFamily="34" charset="-122"/>
                <a:cs typeface="Meiryo" pitchFamily="34" charset="-120"/>
              </a:rPr>
              <a:t>42 ÷ 60 × 100 = 70％</a:t>
            </a:r>
            <a:endParaRPr lang="ja-JP" sz="3600" dirty="0">
              <a:latin typeface="Meiryo"/>
              <a:ea typeface="Meiryo"/>
              <a:cs typeface="Meiryo"/>
            </a:endParaRPr>
          </a:p>
        </p:txBody>
      </p:sp>
      <p:sp>
        <p:nvSpPr>
          <p:cNvPr id="7" name="Text 5"/>
          <p:cNvSpPr txBox="1"/>
          <p:nvPr/>
        </p:nvSpPr>
        <p:spPr>
          <a:xfrm>
            <a:off x="822960" y="4590288"/>
            <a:ext cx="10607040" cy="1042416"/>
          </a:xfrm>
          <a:prstGeom prst="rect">
            <a:avLst/>
          </a:prstGeom>
          <a:noFill/>
          <a:ln/>
        </p:spPr>
        <p:txBody>
          <a:bodyPr wrap="square" lIns="0" tIns="0" rIns="0" bIns="0" rtlCol="0" anchor="t"/>
          <a:lstStyle/>
          <a:p>
            <a:pPr indent="0" marL="0">
              <a:lnSpc>
                <a:spcPct val="106000"/>
              </a:lnSpc>
              <a:buNone/>
            </a:pPr>
            <a:r>
              <a:rPr lang="ja-JP" altLang="en-US" sz="2500" dirty="0">
                <a:solidFill>
                  <a:srgbClr val="1B2D3B"/>
                </a:solidFill>
                <a:latin typeface="Meiryo" pitchFamily="34" charset="0"/>
                <a:ea typeface="Meiryo" pitchFamily="34" charset="-122"/>
                <a:cs typeface="Meiryo" pitchFamily="34" charset="-120"/>
              </a:rPr>
              <a:t>表計算のフィルターなどでyesを数える。</a:t>
            </a:r>
            <a:endParaRPr lang="ja-JP" sz="2500" dirty="0">
              <a:latin typeface="Meiryo"/>
              <a:ea typeface="Meiryo"/>
              <a:cs typeface="Meiryo"/>
            </a:endParaRPr>
          </a:p>
          <a:p>
            <a:pPr indent="0" marL="0">
              <a:lnSpc>
                <a:spcPct val="106000"/>
              </a:lnSpc>
              <a:buNone/>
            </a:pPr>
            <a:r>
              <a:rPr lang="ja-JP" altLang="en-US" sz="2500" dirty="0">
                <a:solidFill>
                  <a:srgbClr val="1B2D3B"/>
                </a:solidFill>
                <a:latin typeface="Meiryo" pitchFamily="34" charset="0"/>
                <a:ea typeface="Meiryo" pitchFamily="34" charset="-122"/>
                <a:cs typeface="Meiryo" pitchFamily="34" charset="-120"/>
              </a:rPr>
              <a:t>AIと同じ値になったか、確認方法とともに書く。</a:t>
            </a:r>
            <a:endParaRPr lang="ja-JP" sz="2500" dirty="0">
              <a:latin typeface="Meiryo"/>
              <a:ea typeface="Meiryo"/>
              <a:cs typeface="Meiryo"/>
            </a:endParaRPr>
          </a:p>
        </p:txBody>
      </p:sp>
      <p:sp>
        <p:nvSpPr>
          <p:cNvPr id="8" name="Text 6"/>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9" name="Text 7"/>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10 / 17</a:t>
            </a:r>
            <a:endParaRPr lang="ja-JP" sz="1800" dirty="0">
              <a:latin typeface="Meiryo"/>
              <a:ea typeface="Meiryo"/>
              <a:cs typeface="Meiry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④ 棒グラフにしてもらう</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pic>
        <p:nvPicPr>
          <p:cNvPr id="4" name="Image 0" descr="Lucide keyboard">    </p:cNvPr>
          <p:cNvPicPr>
            <a:picLocks noChangeAspect="1"/>
          </p:cNvPicPr>
          <p:nvPr/>
        </p:nvPicPr>
        <p:blipFill>
          <a:blip r:embed="rId1"/>
          <a:stretch>
            <a:fillRect/>
          </a:stretch>
        </p:blipFill>
        <p:spPr>
          <a:xfrm>
            <a:off x="713232" y="1499616"/>
            <a:ext cx="384048" cy="384048"/>
          </a:xfrm>
          <a:prstGeom prst="rect">
            <a:avLst/>
          </a:prstGeom>
        </p:spPr>
      </p:pic>
      <p:sp>
        <p:nvSpPr>
          <p:cNvPr id="5" name="Text 2"/>
          <p:cNvSpPr txBox="1"/>
          <p:nvPr/>
        </p:nvSpPr>
        <p:spPr>
          <a:xfrm>
            <a:off x="1280160" y="1490472"/>
            <a:ext cx="7315200" cy="475488"/>
          </a:xfrm>
          <a:prstGeom prst="rect">
            <a:avLst/>
          </a:prstGeom>
          <a:noFill/>
          <a:ln/>
        </p:spPr>
        <p:txBody>
          <a:bodyPr wrap="square" lIns="0" tIns="0" rIns="0" bIns="0" rtlCol="0" anchor="t"/>
          <a:lstStyle/>
          <a:p>
            <a:pPr indent="0" marL="0">
              <a:lnSpc>
                <a:spcPct val="106000"/>
              </a:lnSpc>
              <a:buNone/>
            </a:pPr>
            <a:r>
              <a:rPr lang="ja-JP" altLang="en-US" sz="2200" b="1" dirty="0">
                <a:solidFill>
                  <a:srgbClr val="007F82"/>
                </a:solidFill>
                <a:latin typeface="Meiryo" pitchFamily="34" charset="0"/>
                <a:ea typeface="Meiryo" pitchFamily="34" charset="-122"/>
                <a:cs typeface="Meiryo" pitchFamily="34" charset="-120"/>
              </a:rPr>
              <a:t>AIに送ってみよう</a:t>
            </a:r>
            <a:endParaRPr lang="ja-JP" sz="2200" dirty="0">
              <a:latin typeface="Meiryo"/>
              <a:ea typeface="Meiryo"/>
              <a:cs typeface="Meiryo"/>
            </a:endParaRPr>
          </a:p>
        </p:txBody>
      </p:sp>
      <p:sp>
        <p:nvSpPr>
          <p:cNvPr id="6" name="Shape 3"/>
          <p:cNvSpPr/>
          <p:nvPr/>
        </p:nvSpPr>
        <p:spPr>
          <a:xfrm>
            <a:off x="640080" y="2084832"/>
            <a:ext cx="10908792" cy="2871216"/>
          </a:xfrm>
          <a:prstGeom prst="rect">
            <a:avLst/>
          </a:prstGeom>
          <a:solidFill>
            <a:srgbClr val="EAF4F3"/>
          </a:solidFill>
          <a:ln w="12700">
            <a:solidFill>
              <a:srgbClr val="EAF4F3"/>
            </a:solidFill>
            <a:prstDash val="solid"/>
          </a:ln>
        </p:spPr>
      </p:sp>
      <p:sp>
        <p:nvSpPr>
          <p:cNvPr id="7" name="Text 4"/>
          <p:cNvSpPr txBox="1"/>
          <p:nvPr/>
        </p:nvSpPr>
        <p:spPr>
          <a:xfrm>
            <a:off x="950976" y="2350008"/>
            <a:ext cx="10287000" cy="2423160"/>
          </a:xfrm>
          <a:prstGeom prst="rect">
            <a:avLst/>
          </a:prstGeom>
          <a:noFill/>
          <a:ln/>
        </p:spPr>
        <p:txBody>
          <a:bodyPr wrap="square" lIns="0" tIns="0" rIns="0" bIns="0" rtlCol="0" anchor="t"/>
          <a:lstStyle/>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グループ別のconfidence_afterの平均を</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棒グラフにしてください。</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縦軸の範囲を0〜5とし、値と人数を添えてください。</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教育用の架空データと明記してください。</a:t>
            </a:r>
            <a:endParaRPr lang="ja-JP" sz="2700" dirty="0">
              <a:latin typeface="Meiryo"/>
              <a:ea typeface="Meiryo"/>
              <a:cs typeface="Meiryo"/>
            </a:endParaRPr>
          </a:p>
        </p:txBody>
      </p:sp>
      <p:pic>
        <p:nvPicPr>
          <p:cNvPr id="8" name="Image 1" descr="Lucide circle-check">    </p:cNvPr>
          <p:cNvPicPr>
            <a:picLocks noChangeAspect="1"/>
          </p:cNvPicPr>
          <p:nvPr/>
        </p:nvPicPr>
        <p:blipFill>
          <a:blip r:embed="rId2"/>
          <a:stretch>
            <a:fillRect/>
          </a:stretch>
        </p:blipFill>
        <p:spPr>
          <a:xfrm>
            <a:off x="731520" y="5230368"/>
            <a:ext cx="338328" cy="338328"/>
          </a:xfrm>
          <a:prstGeom prst="rect">
            <a:avLst/>
          </a:prstGeom>
        </p:spPr>
      </p:pic>
      <p:sp>
        <p:nvSpPr>
          <p:cNvPr id="9" name="Text 5"/>
          <p:cNvSpPr txBox="1"/>
          <p:nvPr/>
        </p:nvSpPr>
        <p:spPr>
          <a:xfrm>
            <a:off x="1225296" y="5166360"/>
            <a:ext cx="10241280" cy="777240"/>
          </a:xfrm>
          <a:prstGeom prst="rect">
            <a:avLst/>
          </a:prstGeom>
          <a:noFill/>
          <a:ln/>
        </p:spPr>
        <p:txBody>
          <a:bodyPr wrap="square" lIns="0" tIns="0" rIns="0" bIns="0" rtlCol="0" anchor="t"/>
          <a:lstStyle/>
          <a:p>
            <a:pPr indent="0" marL="0">
              <a:lnSpc>
                <a:spcPct val="106000"/>
              </a:lnSpc>
              <a:buNone/>
            </a:pPr>
            <a:r>
              <a:rPr lang="ja-JP" altLang="en-US" sz="2200" dirty="0">
                <a:solidFill>
                  <a:srgbClr val="4D626D"/>
                </a:solidFill>
                <a:latin typeface="Meiryo" pitchFamily="34" charset="0"/>
                <a:ea typeface="Meiryo" pitchFamily="34" charset="-122"/>
                <a:cs typeface="Meiryo" pitchFamily="34" charset="-120"/>
              </a:rPr>
              <a:t>グラフが作れなければ、集計表を提出してよい。</a:t>
            </a:r>
            <a:endParaRPr lang="ja-JP" sz="2200" dirty="0">
              <a:latin typeface="Meiryo"/>
              <a:ea typeface="Meiryo"/>
              <a:cs typeface="Meiryo"/>
            </a:endParaRPr>
          </a:p>
        </p:txBody>
      </p:sp>
      <p:sp>
        <p:nvSpPr>
          <p:cNvPr id="10" name="Text 6"/>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1" name="Text 7"/>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11 / 17</a:t>
            </a:r>
            <a:endParaRPr lang="ja-JP" sz="1800" dirty="0">
              <a:latin typeface="Meiryo"/>
              <a:ea typeface="Meiryo"/>
              <a:cs typeface="Meiry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平均だけでなく、人数も読む</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1664208" y="5065776"/>
            <a:ext cx="9125712" cy="0"/>
          </a:xfrm>
          <a:prstGeom prst="line">
            <a:avLst/>
          </a:prstGeom>
          <a:noFill/>
          <a:ln w="12700">
            <a:solidFill>
              <a:srgbClr val="CBD7DC"/>
            </a:solidFill>
            <a:prstDash val="solid"/>
          </a:ln>
        </p:spPr>
      </p:sp>
      <p:sp>
        <p:nvSpPr>
          <p:cNvPr id="5" name="Text 3"/>
          <p:cNvSpPr txBox="1"/>
          <p:nvPr/>
        </p:nvSpPr>
        <p:spPr>
          <a:xfrm>
            <a:off x="1097280" y="4946904"/>
            <a:ext cx="457200" cy="292608"/>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0</a:t>
            </a:r>
            <a:endParaRPr lang="ja-JP" sz="1800" dirty="0">
              <a:latin typeface="Meiryo"/>
              <a:ea typeface="Meiryo"/>
              <a:cs typeface="Meiryo"/>
            </a:endParaRPr>
          </a:p>
        </p:txBody>
      </p:sp>
      <p:sp>
        <p:nvSpPr>
          <p:cNvPr id="6" name="Shape 4"/>
          <p:cNvSpPr/>
          <p:nvPr/>
        </p:nvSpPr>
        <p:spPr>
          <a:xfrm>
            <a:off x="1664208" y="4429354"/>
            <a:ext cx="9125712" cy="0"/>
          </a:xfrm>
          <a:prstGeom prst="line">
            <a:avLst/>
          </a:prstGeom>
          <a:noFill/>
          <a:ln w="12700">
            <a:solidFill>
              <a:srgbClr val="CBD7DC"/>
            </a:solidFill>
            <a:prstDash val="solid"/>
          </a:ln>
        </p:spPr>
      </p:sp>
      <p:sp>
        <p:nvSpPr>
          <p:cNvPr id="7" name="Text 5"/>
          <p:cNvSpPr txBox="1"/>
          <p:nvPr/>
        </p:nvSpPr>
        <p:spPr>
          <a:xfrm>
            <a:off x="1097280" y="4310482"/>
            <a:ext cx="457200" cy="292608"/>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1</a:t>
            </a:r>
            <a:endParaRPr lang="ja-JP" sz="1800" dirty="0">
              <a:latin typeface="Meiryo"/>
              <a:ea typeface="Meiryo"/>
              <a:cs typeface="Meiryo"/>
            </a:endParaRPr>
          </a:p>
        </p:txBody>
      </p:sp>
      <p:sp>
        <p:nvSpPr>
          <p:cNvPr id="8" name="Shape 6"/>
          <p:cNvSpPr/>
          <p:nvPr/>
        </p:nvSpPr>
        <p:spPr>
          <a:xfrm>
            <a:off x="1664208" y="3792931"/>
            <a:ext cx="9125712" cy="0"/>
          </a:xfrm>
          <a:prstGeom prst="line">
            <a:avLst/>
          </a:prstGeom>
          <a:noFill/>
          <a:ln w="12700">
            <a:solidFill>
              <a:srgbClr val="CBD7DC"/>
            </a:solidFill>
            <a:prstDash val="solid"/>
          </a:ln>
        </p:spPr>
      </p:sp>
      <p:sp>
        <p:nvSpPr>
          <p:cNvPr id="9" name="Text 7"/>
          <p:cNvSpPr txBox="1"/>
          <p:nvPr/>
        </p:nvSpPr>
        <p:spPr>
          <a:xfrm>
            <a:off x="1097280" y="3674059"/>
            <a:ext cx="457200" cy="292608"/>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2</a:t>
            </a:r>
            <a:endParaRPr lang="ja-JP" sz="1800" dirty="0">
              <a:latin typeface="Meiryo"/>
              <a:ea typeface="Meiryo"/>
              <a:cs typeface="Meiryo"/>
            </a:endParaRPr>
          </a:p>
        </p:txBody>
      </p:sp>
      <p:sp>
        <p:nvSpPr>
          <p:cNvPr id="10" name="Shape 8"/>
          <p:cNvSpPr/>
          <p:nvPr/>
        </p:nvSpPr>
        <p:spPr>
          <a:xfrm>
            <a:off x="1664208" y="3156509"/>
            <a:ext cx="9125712" cy="0"/>
          </a:xfrm>
          <a:prstGeom prst="line">
            <a:avLst/>
          </a:prstGeom>
          <a:noFill/>
          <a:ln w="12700">
            <a:solidFill>
              <a:srgbClr val="CBD7DC"/>
            </a:solidFill>
            <a:prstDash val="solid"/>
          </a:ln>
        </p:spPr>
      </p:sp>
      <p:sp>
        <p:nvSpPr>
          <p:cNvPr id="11" name="Text 9"/>
          <p:cNvSpPr txBox="1"/>
          <p:nvPr/>
        </p:nvSpPr>
        <p:spPr>
          <a:xfrm>
            <a:off x="1097280" y="3037637"/>
            <a:ext cx="457200" cy="292608"/>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3</a:t>
            </a:r>
            <a:endParaRPr lang="ja-JP" sz="1800" dirty="0">
              <a:latin typeface="Meiryo"/>
              <a:ea typeface="Meiryo"/>
              <a:cs typeface="Meiryo"/>
            </a:endParaRPr>
          </a:p>
        </p:txBody>
      </p:sp>
      <p:sp>
        <p:nvSpPr>
          <p:cNvPr id="12" name="Shape 10"/>
          <p:cNvSpPr/>
          <p:nvPr/>
        </p:nvSpPr>
        <p:spPr>
          <a:xfrm>
            <a:off x="1664208" y="2520086"/>
            <a:ext cx="9125712" cy="0"/>
          </a:xfrm>
          <a:prstGeom prst="line">
            <a:avLst/>
          </a:prstGeom>
          <a:noFill/>
          <a:ln w="12700">
            <a:solidFill>
              <a:srgbClr val="CBD7DC"/>
            </a:solidFill>
            <a:prstDash val="solid"/>
          </a:ln>
        </p:spPr>
      </p:sp>
      <p:sp>
        <p:nvSpPr>
          <p:cNvPr id="13" name="Text 11"/>
          <p:cNvSpPr txBox="1"/>
          <p:nvPr/>
        </p:nvSpPr>
        <p:spPr>
          <a:xfrm>
            <a:off x="1097280" y="2401214"/>
            <a:ext cx="457200" cy="292608"/>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4</a:t>
            </a:r>
            <a:endParaRPr lang="ja-JP" sz="1800" dirty="0">
              <a:latin typeface="Meiryo"/>
              <a:ea typeface="Meiryo"/>
              <a:cs typeface="Meiryo"/>
            </a:endParaRPr>
          </a:p>
        </p:txBody>
      </p:sp>
      <p:sp>
        <p:nvSpPr>
          <p:cNvPr id="14" name="Shape 12"/>
          <p:cNvSpPr/>
          <p:nvPr/>
        </p:nvSpPr>
        <p:spPr>
          <a:xfrm>
            <a:off x="1664208" y="1883664"/>
            <a:ext cx="9125712" cy="0"/>
          </a:xfrm>
          <a:prstGeom prst="line">
            <a:avLst/>
          </a:prstGeom>
          <a:noFill/>
          <a:ln w="12700">
            <a:solidFill>
              <a:srgbClr val="CBD7DC"/>
            </a:solidFill>
            <a:prstDash val="solid"/>
          </a:ln>
        </p:spPr>
      </p:sp>
      <p:sp>
        <p:nvSpPr>
          <p:cNvPr id="15" name="Text 13"/>
          <p:cNvSpPr txBox="1"/>
          <p:nvPr/>
        </p:nvSpPr>
        <p:spPr>
          <a:xfrm>
            <a:off x="1097280" y="1764792"/>
            <a:ext cx="457200" cy="292608"/>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5</a:t>
            </a:r>
            <a:endParaRPr lang="ja-JP" sz="1800" dirty="0">
              <a:latin typeface="Meiryo"/>
              <a:ea typeface="Meiryo"/>
              <a:cs typeface="Meiryo"/>
            </a:endParaRPr>
          </a:p>
        </p:txBody>
      </p:sp>
      <p:sp>
        <p:nvSpPr>
          <p:cNvPr id="16" name="Shape 14"/>
          <p:cNvSpPr/>
          <p:nvPr/>
        </p:nvSpPr>
        <p:spPr>
          <a:xfrm>
            <a:off x="2424684" y="2520086"/>
            <a:ext cx="1520952" cy="2545690"/>
          </a:xfrm>
          <a:prstGeom prst="rect">
            <a:avLst/>
          </a:prstGeom>
          <a:solidFill>
            <a:srgbClr val="007F82"/>
          </a:solidFill>
          <a:ln w="12700">
            <a:solidFill>
              <a:srgbClr val="007F82"/>
            </a:solidFill>
            <a:prstDash val="solid"/>
          </a:ln>
        </p:spPr>
      </p:sp>
      <p:sp>
        <p:nvSpPr>
          <p:cNvPr id="17" name="Text 15"/>
          <p:cNvSpPr txBox="1"/>
          <p:nvPr/>
        </p:nvSpPr>
        <p:spPr>
          <a:xfrm>
            <a:off x="2682240" y="2172614"/>
            <a:ext cx="1005840" cy="301752"/>
          </a:xfrm>
          <a:prstGeom prst="rect">
            <a:avLst/>
          </a:prstGeom>
          <a:noFill/>
          <a:ln/>
        </p:spPr>
        <p:txBody>
          <a:bodyPr wrap="square" lIns="0" tIns="0" rIns="0" bIns="0" rtlCol="0" anchor="t"/>
          <a:lstStyle/>
          <a:p>
            <a:pPr algn="ctr" indent="0" marL="0">
              <a:lnSpc>
                <a:spcPct val="106000"/>
              </a:lnSpc>
              <a:buNone/>
            </a:pPr>
            <a:r>
              <a:rPr lang="ja-JP" altLang="en-US" sz="2000" b="1" dirty="0">
                <a:solidFill>
                  <a:srgbClr val="1B2D3B"/>
                </a:solidFill>
                <a:latin typeface="Meiryo" pitchFamily="34" charset="0"/>
                <a:ea typeface="Meiryo" pitchFamily="34" charset="-122"/>
                <a:cs typeface="Meiryo" pitchFamily="34" charset="-120"/>
              </a:rPr>
              <a:t>4.00</a:t>
            </a:r>
            <a:endParaRPr lang="ja-JP" sz="2000" dirty="0">
              <a:latin typeface="Meiryo"/>
              <a:ea typeface="Meiryo"/>
              <a:cs typeface="Meiryo"/>
            </a:endParaRPr>
          </a:p>
        </p:txBody>
      </p:sp>
      <p:sp>
        <p:nvSpPr>
          <p:cNvPr id="18" name="Text 16"/>
          <p:cNvSpPr txBox="1"/>
          <p:nvPr/>
        </p:nvSpPr>
        <p:spPr>
          <a:xfrm>
            <a:off x="2270760" y="5193792"/>
            <a:ext cx="1828800" cy="347472"/>
          </a:xfrm>
          <a:prstGeom prst="rect">
            <a:avLst/>
          </a:prstGeom>
          <a:noFill/>
          <a:ln/>
        </p:spPr>
        <p:txBody>
          <a:bodyPr wrap="square" lIns="0" tIns="0" rIns="0" bIns="0" rtlCol="0" anchor="t"/>
          <a:lstStyle/>
          <a:p>
            <a:pPr algn="ctr" indent="0" marL="0">
              <a:lnSpc>
                <a:spcPct val="106000"/>
              </a:lnSpc>
              <a:buNone/>
            </a:pPr>
            <a:r>
              <a:rPr lang="ja-JP" altLang="en-US" sz="2200" dirty="0">
                <a:solidFill>
                  <a:srgbClr val="4D626D"/>
                </a:solidFill>
                <a:latin typeface="Meiryo" pitchFamily="34" charset="0"/>
                <a:ea typeface="Meiryo" pitchFamily="34" charset="-122"/>
                <a:cs typeface="Meiryo" pitchFamily="34" charset="-120"/>
              </a:rPr>
              <a:t>A：27人</a:t>
            </a:r>
            <a:endParaRPr lang="ja-JP" sz="2200" dirty="0">
              <a:latin typeface="Meiryo"/>
              <a:ea typeface="Meiryo"/>
              <a:cs typeface="Meiryo"/>
            </a:endParaRPr>
          </a:p>
        </p:txBody>
      </p:sp>
      <p:sp>
        <p:nvSpPr>
          <p:cNvPr id="19" name="Shape 17"/>
          <p:cNvSpPr/>
          <p:nvPr/>
        </p:nvSpPr>
        <p:spPr>
          <a:xfrm>
            <a:off x="5466588" y="2997403"/>
            <a:ext cx="1520952" cy="2068373"/>
          </a:xfrm>
          <a:prstGeom prst="rect">
            <a:avLst/>
          </a:prstGeom>
          <a:solidFill>
            <a:srgbClr val="007F82"/>
          </a:solidFill>
          <a:ln w="12700">
            <a:solidFill>
              <a:srgbClr val="007F82"/>
            </a:solidFill>
            <a:prstDash val="solid"/>
          </a:ln>
        </p:spPr>
      </p:sp>
      <p:sp>
        <p:nvSpPr>
          <p:cNvPr id="20" name="Text 18"/>
          <p:cNvSpPr txBox="1"/>
          <p:nvPr/>
        </p:nvSpPr>
        <p:spPr>
          <a:xfrm>
            <a:off x="5724144" y="2649931"/>
            <a:ext cx="1005840" cy="301752"/>
          </a:xfrm>
          <a:prstGeom prst="rect">
            <a:avLst/>
          </a:prstGeom>
          <a:noFill/>
          <a:ln/>
        </p:spPr>
        <p:txBody>
          <a:bodyPr wrap="square" lIns="0" tIns="0" rIns="0" bIns="0" rtlCol="0" anchor="t"/>
          <a:lstStyle/>
          <a:p>
            <a:pPr algn="ctr" indent="0" marL="0">
              <a:lnSpc>
                <a:spcPct val="106000"/>
              </a:lnSpc>
              <a:buNone/>
            </a:pPr>
            <a:r>
              <a:rPr lang="ja-JP" altLang="en-US" sz="2000" b="1" dirty="0">
                <a:solidFill>
                  <a:srgbClr val="1B2D3B"/>
                </a:solidFill>
                <a:latin typeface="Meiryo" pitchFamily="34" charset="0"/>
                <a:ea typeface="Meiryo" pitchFamily="34" charset="-122"/>
                <a:cs typeface="Meiryo" pitchFamily="34" charset="-120"/>
              </a:rPr>
              <a:t>3.25</a:t>
            </a:r>
            <a:endParaRPr lang="ja-JP" sz="2000" dirty="0">
              <a:latin typeface="Meiryo"/>
              <a:ea typeface="Meiryo"/>
              <a:cs typeface="Meiryo"/>
            </a:endParaRPr>
          </a:p>
        </p:txBody>
      </p:sp>
      <p:sp>
        <p:nvSpPr>
          <p:cNvPr id="21" name="Text 19"/>
          <p:cNvSpPr txBox="1"/>
          <p:nvPr/>
        </p:nvSpPr>
        <p:spPr>
          <a:xfrm>
            <a:off x="5312664" y="5193792"/>
            <a:ext cx="1828800" cy="347472"/>
          </a:xfrm>
          <a:prstGeom prst="rect">
            <a:avLst/>
          </a:prstGeom>
          <a:noFill/>
          <a:ln/>
        </p:spPr>
        <p:txBody>
          <a:bodyPr wrap="square" lIns="0" tIns="0" rIns="0" bIns="0" rtlCol="0" anchor="t"/>
          <a:lstStyle/>
          <a:p>
            <a:pPr algn="ctr" indent="0" marL="0">
              <a:lnSpc>
                <a:spcPct val="106000"/>
              </a:lnSpc>
              <a:buNone/>
            </a:pPr>
            <a:r>
              <a:rPr lang="ja-JP" altLang="en-US" sz="2200" dirty="0">
                <a:solidFill>
                  <a:srgbClr val="4D626D"/>
                </a:solidFill>
                <a:latin typeface="Meiryo" pitchFamily="34" charset="0"/>
                <a:ea typeface="Meiryo" pitchFamily="34" charset="-122"/>
                <a:cs typeface="Meiryo" pitchFamily="34" charset="-120"/>
              </a:rPr>
              <a:t>B：12人</a:t>
            </a:r>
            <a:endParaRPr lang="ja-JP" sz="2200" dirty="0">
              <a:latin typeface="Meiryo"/>
              <a:ea typeface="Meiryo"/>
              <a:cs typeface="Meiryo"/>
            </a:endParaRPr>
          </a:p>
        </p:txBody>
      </p:sp>
      <p:sp>
        <p:nvSpPr>
          <p:cNvPr id="22" name="Shape 20"/>
          <p:cNvSpPr/>
          <p:nvPr/>
        </p:nvSpPr>
        <p:spPr>
          <a:xfrm>
            <a:off x="8508492" y="2611004"/>
            <a:ext cx="1520952" cy="2454772"/>
          </a:xfrm>
          <a:prstGeom prst="rect">
            <a:avLst/>
          </a:prstGeom>
          <a:solidFill>
            <a:srgbClr val="007F82"/>
          </a:solidFill>
          <a:ln w="12700">
            <a:solidFill>
              <a:srgbClr val="007F82"/>
            </a:solidFill>
            <a:prstDash val="solid"/>
          </a:ln>
        </p:spPr>
      </p:sp>
      <p:sp>
        <p:nvSpPr>
          <p:cNvPr id="23" name="Text 21"/>
          <p:cNvSpPr txBox="1"/>
          <p:nvPr/>
        </p:nvSpPr>
        <p:spPr>
          <a:xfrm>
            <a:off x="8766048" y="2263532"/>
            <a:ext cx="1005840" cy="301752"/>
          </a:xfrm>
          <a:prstGeom prst="rect">
            <a:avLst/>
          </a:prstGeom>
          <a:noFill/>
          <a:ln/>
        </p:spPr>
        <p:txBody>
          <a:bodyPr wrap="square" lIns="0" tIns="0" rIns="0" bIns="0" rtlCol="0" anchor="t"/>
          <a:lstStyle/>
          <a:p>
            <a:pPr algn="ctr" indent="0" marL="0">
              <a:lnSpc>
                <a:spcPct val="106000"/>
              </a:lnSpc>
              <a:buNone/>
            </a:pPr>
            <a:r>
              <a:rPr lang="ja-JP" altLang="en-US" sz="2000" b="1" dirty="0">
                <a:solidFill>
                  <a:srgbClr val="1B2D3B"/>
                </a:solidFill>
                <a:latin typeface="Meiryo" pitchFamily="34" charset="0"/>
                <a:ea typeface="Meiryo" pitchFamily="34" charset="-122"/>
                <a:cs typeface="Meiryo" pitchFamily="34" charset="-120"/>
              </a:rPr>
              <a:t>3.86</a:t>
            </a:r>
            <a:endParaRPr lang="ja-JP" sz="2000" dirty="0">
              <a:latin typeface="Meiryo"/>
              <a:ea typeface="Meiryo"/>
              <a:cs typeface="Meiryo"/>
            </a:endParaRPr>
          </a:p>
        </p:txBody>
      </p:sp>
      <p:sp>
        <p:nvSpPr>
          <p:cNvPr id="24" name="Text 22"/>
          <p:cNvSpPr txBox="1"/>
          <p:nvPr/>
        </p:nvSpPr>
        <p:spPr>
          <a:xfrm>
            <a:off x="8354568" y="5193792"/>
            <a:ext cx="1828800" cy="347472"/>
          </a:xfrm>
          <a:prstGeom prst="rect">
            <a:avLst/>
          </a:prstGeom>
          <a:noFill/>
          <a:ln/>
        </p:spPr>
        <p:txBody>
          <a:bodyPr wrap="square" lIns="0" tIns="0" rIns="0" bIns="0" rtlCol="0" anchor="t"/>
          <a:lstStyle/>
          <a:p>
            <a:pPr algn="ctr" indent="0" marL="0">
              <a:lnSpc>
                <a:spcPct val="106000"/>
              </a:lnSpc>
              <a:buNone/>
            </a:pPr>
            <a:r>
              <a:rPr lang="ja-JP" altLang="en-US" sz="2200" dirty="0">
                <a:solidFill>
                  <a:srgbClr val="4D626D"/>
                </a:solidFill>
                <a:latin typeface="Meiryo" pitchFamily="34" charset="0"/>
                <a:ea typeface="Meiryo" pitchFamily="34" charset="-122"/>
                <a:cs typeface="Meiryo" pitchFamily="34" charset="-120"/>
              </a:rPr>
              <a:t>C：21人</a:t>
            </a:r>
            <a:endParaRPr lang="ja-JP" sz="2200" dirty="0">
              <a:latin typeface="Meiryo"/>
              <a:ea typeface="Meiryo"/>
              <a:cs typeface="Meiryo"/>
            </a:endParaRPr>
          </a:p>
        </p:txBody>
      </p:sp>
      <p:sp>
        <p:nvSpPr>
          <p:cNvPr id="25" name="Text 23"/>
          <p:cNvSpPr txBox="1"/>
          <p:nvPr/>
        </p:nvSpPr>
        <p:spPr>
          <a:xfrm>
            <a:off x="667512" y="5779008"/>
            <a:ext cx="10844784" cy="548640"/>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教育用架空データ。グループ別の利用後の自己評価平均。</a:t>
            </a:r>
            <a:endParaRPr lang="ja-JP" sz="1800" dirty="0">
              <a:latin typeface="Meiryo"/>
              <a:ea typeface="Meiryo"/>
              <a:cs typeface="Meiryo"/>
            </a:endParaRPr>
          </a:p>
        </p:txBody>
      </p:sp>
      <p:sp>
        <p:nvSpPr>
          <p:cNvPr id="26" name="Text 24"/>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27" name="Text 25"/>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12 / 17</a:t>
            </a:r>
            <a:endParaRPr lang="ja-JP" sz="1800" dirty="0">
              <a:latin typeface="Meiryo"/>
              <a:ea typeface="Meiryo"/>
              <a:cs typeface="Meiry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観察した差と、原因の説明を分ける</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54480"/>
            <a:ext cx="5358384" cy="3986784"/>
          </a:xfrm>
          <a:prstGeom prst="rect">
            <a:avLst/>
          </a:prstGeom>
          <a:solidFill>
            <a:srgbClr val="EAF4F3"/>
          </a:solidFill>
          <a:ln w="12700">
            <a:solidFill>
              <a:srgbClr val="EAF4F3"/>
            </a:solidFill>
            <a:prstDash val="solid"/>
          </a:ln>
        </p:spPr>
      </p:sp>
      <p:sp>
        <p:nvSpPr>
          <p:cNvPr id="5" name="Text 3"/>
          <p:cNvSpPr txBox="1"/>
          <p:nvPr/>
        </p:nvSpPr>
        <p:spPr>
          <a:xfrm>
            <a:off x="905256" y="1847088"/>
            <a:ext cx="4828032" cy="731520"/>
          </a:xfrm>
          <a:prstGeom prst="rect">
            <a:avLst/>
          </a:prstGeom>
          <a:noFill/>
          <a:ln/>
        </p:spPr>
        <p:txBody>
          <a:bodyPr wrap="square" lIns="0" tIns="0" rIns="0" bIns="0" rtlCol="0" anchor="t"/>
          <a:lstStyle/>
          <a:p>
            <a:pPr indent="0" marL="0">
              <a:lnSpc>
                <a:spcPct val="106000"/>
              </a:lnSpc>
              <a:buNone/>
            </a:pPr>
            <a:r>
              <a:rPr lang="ja-JP" altLang="en-US" sz="2600" b="1" dirty="0">
                <a:solidFill>
                  <a:srgbClr val="007F82"/>
                </a:solidFill>
                <a:latin typeface="Meiryo" pitchFamily="34" charset="0"/>
                <a:ea typeface="Meiryo" pitchFamily="34" charset="-122"/>
                <a:cs typeface="Meiryo" pitchFamily="34" charset="-120"/>
              </a:rPr>
              <a:t>この表から読めること</a:t>
            </a:r>
            <a:endParaRPr lang="ja-JP" sz="2600" dirty="0">
              <a:latin typeface="Meiryo"/>
              <a:ea typeface="Meiryo"/>
              <a:cs typeface="Meiryo"/>
            </a:endParaRPr>
          </a:p>
        </p:txBody>
      </p:sp>
      <p:sp>
        <p:nvSpPr>
          <p:cNvPr id="6" name="Text 4"/>
          <p:cNvSpPr txBox="1"/>
          <p:nvPr/>
        </p:nvSpPr>
        <p:spPr>
          <a:xfrm>
            <a:off x="905256" y="2944368"/>
            <a:ext cx="4828032" cy="2468880"/>
          </a:xfrm>
          <a:prstGeom prst="rect">
            <a:avLst/>
          </a:prstGeom>
          <a:noFill/>
          <a:ln/>
        </p:spPr>
        <p:txBody>
          <a:bodyPr wrap="square" lIns="0" tIns="0" rIns="0" bIns="0" rtlCol="0" anchor="t"/>
          <a:lstStyle/>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配布データでは、</a:t>
            </a:r>
            <a:endParaRPr lang="ja-JP" sz="2400" dirty="0">
              <a:latin typeface="Meiryo"/>
              <a:ea typeface="Meiryo"/>
              <a:cs typeface="Meiryo"/>
            </a:endParaRPr>
          </a:p>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Aの平均4.00が</a:t>
            </a:r>
            <a:endParaRPr lang="ja-JP" sz="2400" dirty="0">
              <a:latin typeface="Meiryo"/>
              <a:ea typeface="Meiryo"/>
              <a:cs typeface="Meiryo"/>
            </a:endParaRPr>
          </a:p>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Bの平均3.25より高い。</a:t>
            </a:r>
            <a:endParaRPr lang="ja-JP" sz="2400" dirty="0">
              <a:latin typeface="Meiryo"/>
              <a:ea typeface="Meiryo"/>
              <a:cs typeface="Meiryo"/>
            </a:endParaRPr>
          </a:p>
        </p:txBody>
      </p:sp>
      <p:sp>
        <p:nvSpPr>
          <p:cNvPr id="7" name="Shape 5"/>
          <p:cNvSpPr/>
          <p:nvPr/>
        </p:nvSpPr>
        <p:spPr>
          <a:xfrm>
            <a:off x="6190488" y="1554480"/>
            <a:ext cx="5358384" cy="3986784"/>
          </a:xfrm>
          <a:prstGeom prst="rect">
            <a:avLst/>
          </a:prstGeom>
          <a:solidFill>
            <a:srgbClr val="FFF4E5"/>
          </a:solidFill>
          <a:ln w="12700">
            <a:solidFill>
              <a:srgbClr val="FFF4E5"/>
            </a:solidFill>
            <a:prstDash val="solid"/>
          </a:ln>
        </p:spPr>
      </p:sp>
      <p:sp>
        <p:nvSpPr>
          <p:cNvPr id="8" name="Text 6"/>
          <p:cNvSpPr txBox="1"/>
          <p:nvPr/>
        </p:nvSpPr>
        <p:spPr>
          <a:xfrm>
            <a:off x="6455664" y="1847088"/>
            <a:ext cx="4828032" cy="731520"/>
          </a:xfrm>
          <a:prstGeom prst="rect">
            <a:avLst/>
          </a:prstGeom>
          <a:noFill/>
          <a:ln/>
        </p:spPr>
        <p:txBody>
          <a:bodyPr wrap="square" lIns="0" tIns="0" rIns="0" bIns="0" rtlCol="0" anchor="t"/>
          <a:lstStyle/>
          <a:p>
            <a:pPr indent="0" marL="0">
              <a:lnSpc>
                <a:spcPct val="106000"/>
              </a:lnSpc>
              <a:buNone/>
            </a:pPr>
            <a:r>
              <a:rPr lang="ja-JP" altLang="en-US" sz="2600" b="1" dirty="0">
                <a:solidFill>
                  <a:srgbClr val="B05D12"/>
                </a:solidFill>
                <a:latin typeface="Meiryo" pitchFamily="34" charset="0"/>
                <a:ea typeface="Meiryo" pitchFamily="34" charset="-122"/>
                <a:cs typeface="Meiryo" pitchFamily="34" charset="-120"/>
              </a:rPr>
              <a:t>この表だけでは言えないこと</a:t>
            </a:r>
            <a:endParaRPr lang="ja-JP" sz="2600" dirty="0">
              <a:latin typeface="Meiryo"/>
              <a:ea typeface="Meiryo"/>
              <a:cs typeface="Meiryo"/>
            </a:endParaRPr>
          </a:p>
        </p:txBody>
      </p:sp>
      <p:sp>
        <p:nvSpPr>
          <p:cNvPr id="9" name="Text 7"/>
          <p:cNvSpPr txBox="1"/>
          <p:nvPr/>
        </p:nvSpPr>
        <p:spPr>
          <a:xfrm>
            <a:off x="6455664" y="2944368"/>
            <a:ext cx="4828032" cy="2468880"/>
          </a:xfrm>
          <a:prstGeom prst="rect">
            <a:avLst/>
          </a:prstGeom>
          <a:noFill/>
          <a:ln/>
        </p:spPr>
        <p:txBody>
          <a:bodyPr wrap="square" lIns="0" tIns="0" rIns="0" bIns="0" rtlCol="0" anchor="t"/>
          <a:lstStyle/>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AIを使ったから、</a:t>
            </a:r>
            <a:endParaRPr lang="ja-JP" sz="2400" dirty="0">
              <a:latin typeface="Meiryo"/>
              <a:ea typeface="Meiryo"/>
              <a:cs typeface="Meiryo"/>
            </a:endParaRPr>
          </a:p>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Aの学力が上がった。</a:t>
            </a:r>
            <a:endParaRPr lang="ja-JP" sz="2400" dirty="0">
              <a:latin typeface="Meiryo"/>
              <a:ea typeface="Meiryo"/>
              <a:cs typeface="Meiryo"/>
            </a:endParaRPr>
          </a:p>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すべての学生にも有効だ。</a:t>
            </a:r>
            <a:endParaRPr lang="ja-JP" sz="2400" dirty="0">
              <a:latin typeface="Meiryo"/>
              <a:ea typeface="Meiryo"/>
              <a:cs typeface="Meiryo"/>
            </a:endParaRPr>
          </a:p>
        </p:txBody>
      </p:sp>
      <p:sp>
        <p:nvSpPr>
          <p:cNvPr id="10" name="Text 8"/>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1" name="Text 9"/>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13 / 17</a:t>
            </a:r>
            <a:endParaRPr lang="ja-JP" sz="1800" dirty="0">
              <a:latin typeface="Meiryo"/>
              <a:ea typeface="Meiryo"/>
              <a:cs typeface="Meiry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⑤ 結果を短く説明する</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Text 2"/>
          <p:cNvSpPr txBox="1"/>
          <p:nvPr/>
        </p:nvSpPr>
        <p:spPr>
          <a:xfrm>
            <a:off x="704088" y="1572768"/>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01</a:t>
            </a:r>
            <a:endParaRPr lang="ja-JP" sz="3200" dirty="0">
              <a:latin typeface="Meiryo"/>
              <a:ea typeface="Meiryo"/>
              <a:cs typeface="Meiryo"/>
            </a:endParaRPr>
          </a:p>
        </p:txBody>
      </p:sp>
      <p:sp>
        <p:nvSpPr>
          <p:cNvPr id="5" name="Text 3"/>
          <p:cNvSpPr txBox="1"/>
          <p:nvPr/>
        </p:nvSpPr>
        <p:spPr>
          <a:xfrm>
            <a:off x="1737360" y="1508760"/>
            <a:ext cx="9235440" cy="621792"/>
          </a:xfrm>
          <a:prstGeom prst="rect">
            <a:avLst/>
          </a:prstGeom>
          <a:noFill/>
          <a:ln/>
        </p:spPr>
        <p:txBody>
          <a:bodyPr wrap="square" lIns="0" tIns="0" rIns="0" bIns="0" rtlCol="0" anchor="t"/>
          <a:lstStyle/>
          <a:p>
            <a:pPr indent="0" marL="0">
              <a:lnSpc>
                <a:spcPct val="106000"/>
              </a:lnSpc>
              <a:buNone/>
            </a:pPr>
            <a:r>
              <a:rPr lang="ja-JP" altLang="en-US" sz="2800" b="1" dirty="0">
                <a:solidFill>
                  <a:srgbClr val="1B2D3B"/>
                </a:solidFill>
                <a:latin typeface="Meiryo" pitchFamily="34" charset="0"/>
                <a:ea typeface="Meiryo" pitchFamily="34" charset="-122"/>
                <a:cs typeface="Meiryo" pitchFamily="34" charset="-120"/>
              </a:rPr>
              <a:t>データの性質を書く。</a:t>
            </a:r>
            <a:endParaRPr lang="ja-JP" sz="2800" dirty="0">
              <a:latin typeface="Meiryo"/>
              <a:ea typeface="Meiryo"/>
              <a:cs typeface="Meiryo"/>
            </a:endParaRPr>
          </a:p>
        </p:txBody>
      </p:sp>
      <p:sp>
        <p:nvSpPr>
          <p:cNvPr id="6" name="Text 4"/>
          <p:cNvSpPr txBox="1"/>
          <p:nvPr/>
        </p:nvSpPr>
        <p:spPr>
          <a:xfrm>
            <a:off x="1737360" y="2212848"/>
            <a:ext cx="9235440" cy="530352"/>
          </a:xfrm>
          <a:prstGeom prst="rect">
            <a:avLst/>
          </a:prstGeom>
          <a:noFill/>
          <a:ln/>
        </p:spPr>
        <p:txBody>
          <a:bodyPr wrap="square" lIns="0" tIns="0" rIns="0" bIns="0" rtlCol="0" anchor="t"/>
          <a:lstStyle/>
          <a:p>
            <a:pPr indent="0" marL="0">
              <a:lnSpc>
                <a:spcPct val="106000"/>
              </a:lnSpc>
              <a:buNone/>
            </a:pPr>
            <a:r>
              <a:rPr lang="ja-JP" altLang="en-US" sz="2300" dirty="0">
                <a:solidFill>
                  <a:srgbClr val="4D626D"/>
                </a:solidFill>
                <a:latin typeface="Meiryo" pitchFamily="34" charset="0"/>
                <a:ea typeface="Meiryo" pitchFamily="34" charset="-122"/>
                <a:cs typeface="Meiryo" pitchFamily="34" charset="-120"/>
              </a:rPr>
              <a:t>教育用の架空データであると明示する。</a:t>
            </a:r>
            <a:endParaRPr lang="ja-JP" sz="2300" dirty="0">
              <a:latin typeface="Meiryo"/>
              <a:ea typeface="Meiryo"/>
              <a:cs typeface="Meiryo"/>
            </a:endParaRPr>
          </a:p>
        </p:txBody>
      </p:sp>
      <p:sp>
        <p:nvSpPr>
          <p:cNvPr id="7" name="Shape 5"/>
          <p:cNvSpPr/>
          <p:nvPr/>
        </p:nvSpPr>
        <p:spPr>
          <a:xfrm>
            <a:off x="1737360" y="2752344"/>
            <a:ext cx="9738360" cy="0"/>
          </a:xfrm>
          <a:prstGeom prst="line">
            <a:avLst/>
          </a:prstGeom>
          <a:noFill/>
          <a:ln w="12700">
            <a:solidFill>
              <a:srgbClr val="CBD7DC"/>
            </a:solidFill>
            <a:prstDash val="solid"/>
          </a:ln>
        </p:spPr>
      </p:sp>
      <p:sp>
        <p:nvSpPr>
          <p:cNvPr id="8" name="Text 6"/>
          <p:cNvSpPr txBox="1"/>
          <p:nvPr/>
        </p:nvSpPr>
        <p:spPr>
          <a:xfrm>
            <a:off x="704088" y="2926080"/>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02</a:t>
            </a:r>
            <a:endParaRPr lang="ja-JP" sz="3200" dirty="0">
              <a:latin typeface="Meiryo"/>
              <a:ea typeface="Meiryo"/>
              <a:cs typeface="Meiryo"/>
            </a:endParaRPr>
          </a:p>
        </p:txBody>
      </p:sp>
      <p:sp>
        <p:nvSpPr>
          <p:cNvPr id="9" name="Text 7"/>
          <p:cNvSpPr txBox="1"/>
          <p:nvPr/>
        </p:nvSpPr>
        <p:spPr>
          <a:xfrm>
            <a:off x="1737360" y="2862072"/>
            <a:ext cx="9235440" cy="621792"/>
          </a:xfrm>
          <a:prstGeom prst="rect">
            <a:avLst/>
          </a:prstGeom>
          <a:noFill/>
          <a:ln/>
        </p:spPr>
        <p:txBody>
          <a:bodyPr wrap="square" lIns="0" tIns="0" rIns="0" bIns="0" rtlCol="0" anchor="t"/>
          <a:lstStyle/>
          <a:p>
            <a:pPr indent="0" marL="0">
              <a:lnSpc>
                <a:spcPct val="106000"/>
              </a:lnSpc>
              <a:buNone/>
            </a:pPr>
            <a:r>
              <a:rPr lang="ja-JP" altLang="en-US" sz="2800" b="1" dirty="0">
                <a:solidFill>
                  <a:srgbClr val="1B2D3B"/>
                </a:solidFill>
                <a:latin typeface="Meiryo" pitchFamily="34" charset="0"/>
                <a:ea typeface="Meiryo" pitchFamily="34" charset="-122"/>
                <a:cs typeface="Meiryo" pitchFamily="34" charset="-120"/>
              </a:rPr>
              <a:t>確かめた結果を書く。</a:t>
            </a:r>
            <a:endParaRPr lang="ja-JP" sz="2800" dirty="0">
              <a:latin typeface="Meiryo"/>
              <a:ea typeface="Meiryo"/>
              <a:cs typeface="Meiryo"/>
            </a:endParaRPr>
          </a:p>
        </p:txBody>
      </p:sp>
      <p:sp>
        <p:nvSpPr>
          <p:cNvPr id="10" name="Text 8"/>
          <p:cNvSpPr txBox="1"/>
          <p:nvPr/>
        </p:nvSpPr>
        <p:spPr>
          <a:xfrm>
            <a:off x="1737360" y="3566160"/>
            <a:ext cx="9235440" cy="530352"/>
          </a:xfrm>
          <a:prstGeom prst="rect">
            <a:avLst/>
          </a:prstGeom>
          <a:noFill/>
          <a:ln/>
        </p:spPr>
        <p:txBody>
          <a:bodyPr wrap="square" lIns="0" tIns="0" rIns="0" bIns="0" rtlCol="0" anchor="t"/>
          <a:lstStyle/>
          <a:p>
            <a:pPr indent="0" marL="0">
              <a:lnSpc>
                <a:spcPct val="106000"/>
              </a:lnSpc>
              <a:buNone/>
            </a:pPr>
            <a:r>
              <a:rPr lang="ja-JP" altLang="en-US" sz="2300" dirty="0">
                <a:solidFill>
                  <a:srgbClr val="4D626D"/>
                </a:solidFill>
                <a:latin typeface="Meiryo" pitchFamily="34" charset="0"/>
                <a:ea typeface="Meiryo" pitchFamily="34" charset="-122"/>
                <a:cs typeface="Meiryo" pitchFamily="34" charset="-120"/>
              </a:rPr>
              <a:t>平均と人数、確認した計算を示す。</a:t>
            </a:r>
            <a:endParaRPr lang="ja-JP" sz="2300" dirty="0">
              <a:latin typeface="Meiryo"/>
              <a:ea typeface="Meiryo"/>
              <a:cs typeface="Meiryo"/>
            </a:endParaRPr>
          </a:p>
        </p:txBody>
      </p:sp>
      <p:sp>
        <p:nvSpPr>
          <p:cNvPr id="11" name="Shape 9"/>
          <p:cNvSpPr/>
          <p:nvPr/>
        </p:nvSpPr>
        <p:spPr>
          <a:xfrm>
            <a:off x="1737360" y="4105656"/>
            <a:ext cx="9738360" cy="0"/>
          </a:xfrm>
          <a:prstGeom prst="line">
            <a:avLst/>
          </a:prstGeom>
          <a:noFill/>
          <a:ln w="12700">
            <a:solidFill>
              <a:srgbClr val="CBD7DC"/>
            </a:solidFill>
            <a:prstDash val="solid"/>
          </a:ln>
        </p:spPr>
      </p:sp>
      <p:sp>
        <p:nvSpPr>
          <p:cNvPr id="12" name="Text 10"/>
          <p:cNvSpPr txBox="1"/>
          <p:nvPr/>
        </p:nvSpPr>
        <p:spPr>
          <a:xfrm>
            <a:off x="704088" y="4279392"/>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03</a:t>
            </a:r>
            <a:endParaRPr lang="ja-JP" sz="3200" dirty="0">
              <a:latin typeface="Meiryo"/>
              <a:ea typeface="Meiryo"/>
              <a:cs typeface="Meiryo"/>
            </a:endParaRPr>
          </a:p>
        </p:txBody>
      </p:sp>
      <p:sp>
        <p:nvSpPr>
          <p:cNvPr id="13" name="Text 11"/>
          <p:cNvSpPr txBox="1"/>
          <p:nvPr/>
        </p:nvSpPr>
        <p:spPr>
          <a:xfrm>
            <a:off x="1737360" y="4215384"/>
            <a:ext cx="9235440" cy="621792"/>
          </a:xfrm>
          <a:prstGeom prst="rect">
            <a:avLst/>
          </a:prstGeom>
          <a:noFill/>
          <a:ln/>
        </p:spPr>
        <p:txBody>
          <a:bodyPr wrap="square" lIns="0" tIns="0" rIns="0" bIns="0" rtlCol="0" anchor="t"/>
          <a:lstStyle/>
          <a:p>
            <a:pPr indent="0" marL="0">
              <a:lnSpc>
                <a:spcPct val="106000"/>
              </a:lnSpc>
              <a:buNone/>
            </a:pPr>
            <a:r>
              <a:rPr lang="ja-JP" altLang="en-US" sz="2800" b="1" dirty="0">
                <a:solidFill>
                  <a:srgbClr val="1B2D3B"/>
                </a:solidFill>
                <a:latin typeface="Meiryo" pitchFamily="34" charset="0"/>
                <a:ea typeface="Meiryo" pitchFamily="34" charset="-122"/>
                <a:cs typeface="Meiryo" pitchFamily="34" charset="-120"/>
              </a:rPr>
              <a:t>判断できないことを書く。</a:t>
            </a:r>
            <a:endParaRPr lang="ja-JP" sz="2800" dirty="0">
              <a:latin typeface="Meiryo"/>
              <a:ea typeface="Meiryo"/>
              <a:cs typeface="Meiryo"/>
            </a:endParaRPr>
          </a:p>
        </p:txBody>
      </p:sp>
      <p:sp>
        <p:nvSpPr>
          <p:cNvPr id="14" name="Text 12"/>
          <p:cNvSpPr txBox="1"/>
          <p:nvPr/>
        </p:nvSpPr>
        <p:spPr>
          <a:xfrm>
            <a:off x="1737360" y="4919472"/>
            <a:ext cx="9235440" cy="530352"/>
          </a:xfrm>
          <a:prstGeom prst="rect">
            <a:avLst/>
          </a:prstGeom>
          <a:noFill/>
          <a:ln/>
        </p:spPr>
        <p:txBody>
          <a:bodyPr wrap="square" lIns="0" tIns="0" rIns="0" bIns="0" rtlCol="0" anchor="t"/>
          <a:lstStyle/>
          <a:p>
            <a:pPr indent="0" marL="0">
              <a:lnSpc>
                <a:spcPct val="106000"/>
              </a:lnSpc>
              <a:buNone/>
            </a:pPr>
            <a:r>
              <a:rPr lang="ja-JP" altLang="en-US" sz="2300" dirty="0">
                <a:solidFill>
                  <a:srgbClr val="4D626D"/>
                </a:solidFill>
                <a:latin typeface="Meiryo" pitchFamily="34" charset="0"/>
                <a:ea typeface="Meiryo" pitchFamily="34" charset="-122"/>
                <a:cs typeface="Meiryo" pitchFamily="34" charset="-120"/>
              </a:rPr>
              <a:t>実在の学生への効果は、このデータから検証できない。</a:t>
            </a:r>
            <a:endParaRPr lang="ja-JP" sz="2300" dirty="0">
              <a:latin typeface="Meiryo"/>
              <a:ea typeface="Meiryo"/>
              <a:cs typeface="Meiryo"/>
            </a:endParaRPr>
          </a:p>
        </p:txBody>
      </p:sp>
      <p:sp>
        <p:nvSpPr>
          <p:cNvPr id="15" name="Text 13"/>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6" name="Text 14"/>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14 / 17</a:t>
            </a:r>
            <a:endParaRPr lang="ja-JP" sz="1800" dirty="0">
              <a:latin typeface="Meiryo"/>
              <a:ea typeface="Meiryo"/>
              <a:cs typeface="Meiry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成果物と確認したことを残す</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54480"/>
            <a:ext cx="5257800" cy="4041648"/>
          </a:xfrm>
          <a:prstGeom prst="rect">
            <a:avLst/>
          </a:prstGeom>
          <a:solidFill>
            <a:srgbClr val="F7F8FA"/>
          </a:solidFill>
          <a:ln w="12700">
            <a:solidFill>
              <a:srgbClr val="F7F8FA"/>
            </a:solidFill>
            <a:prstDash val="solid"/>
          </a:ln>
        </p:spPr>
      </p:sp>
      <p:pic>
        <p:nvPicPr>
          <p:cNvPr id="5" name="Image 0" descr="Lucide folder">    </p:cNvPr>
          <p:cNvPicPr>
            <a:picLocks noChangeAspect="1"/>
          </p:cNvPicPr>
          <p:nvPr/>
        </p:nvPicPr>
        <p:blipFill>
          <a:blip r:embed="rId1"/>
          <a:stretch>
            <a:fillRect/>
          </a:stretch>
        </p:blipFill>
        <p:spPr>
          <a:xfrm>
            <a:off x="923544" y="1828800"/>
            <a:ext cx="448056" cy="448056"/>
          </a:xfrm>
          <a:prstGeom prst="rect">
            <a:avLst/>
          </a:prstGeom>
        </p:spPr>
      </p:pic>
      <p:sp>
        <p:nvSpPr>
          <p:cNvPr id="6" name="Text 3"/>
          <p:cNvSpPr txBox="1"/>
          <p:nvPr/>
        </p:nvSpPr>
        <p:spPr>
          <a:xfrm>
            <a:off x="1572768" y="1819656"/>
            <a:ext cx="4023360" cy="548640"/>
          </a:xfrm>
          <a:prstGeom prst="rect">
            <a:avLst/>
          </a:prstGeom>
          <a:noFill/>
          <a:ln/>
        </p:spPr>
        <p:txBody>
          <a:bodyPr wrap="square" lIns="0" tIns="0" rIns="0" bIns="0" rtlCol="0" anchor="t"/>
          <a:lstStyle/>
          <a:p>
            <a:pPr indent="0" marL="0">
              <a:lnSpc>
                <a:spcPct val="106000"/>
              </a:lnSpc>
              <a:buNone/>
            </a:pPr>
            <a:r>
              <a:rPr lang="ja-JP" altLang="en-US" sz="2700" b="1" dirty="0">
                <a:solidFill>
                  <a:srgbClr val="007F82"/>
                </a:solidFill>
                <a:latin typeface="Meiryo" pitchFamily="34" charset="0"/>
                <a:ea typeface="Meiryo" pitchFamily="34" charset="-122"/>
                <a:cs typeface="Meiryo" pitchFamily="34" charset="-120"/>
              </a:rPr>
              <a:t>week11/</a:t>
            </a:r>
            <a:endParaRPr lang="ja-JP" sz="2700" dirty="0">
              <a:latin typeface="Meiryo"/>
              <a:ea typeface="Meiryo"/>
              <a:cs typeface="Meiryo"/>
            </a:endParaRPr>
          </a:p>
        </p:txBody>
      </p:sp>
      <p:sp>
        <p:nvSpPr>
          <p:cNvPr id="7" name="Text 4"/>
          <p:cNvSpPr txBox="1"/>
          <p:nvPr/>
        </p:nvSpPr>
        <p:spPr>
          <a:xfrm>
            <a:off x="950976" y="2660904"/>
            <a:ext cx="4590288" cy="822960"/>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README.md：</a:t>
            </a:r>
            <a:endParaRPr lang="ja-JP" sz="2200" dirty="0">
              <a:latin typeface="Meiryo"/>
              <a:ea typeface="Meiryo"/>
              <a:cs typeface="Meiryo"/>
            </a:endParaRPr>
          </a:p>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結果・確認方法</a:t>
            </a:r>
            <a:endParaRPr lang="ja-JP" sz="2200" dirty="0">
              <a:latin typeface="Meiryo"/>
              <a:ea typeface="Meiryo"/>
              <a:cs typeface="Meiryo"/>
            </a:endParaRPr>
          </a:p>
        </p:txBody>
      </p:sp>
      <p:sp>
        <p:nvSpPr>
          <p:cNvPr id="8" name="Text 5"/>
          <p:cNvSpPr txBox="1"/>
          <p:nvPr/>
        </p:nvSpPr>
        <p:spPr>
          <a:xfrm>
            <a:off x="950976" y="3483864"/>
            <a:ext cx="4590288" cy="822960"/>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集計表＋グラフ（作れた場合）</a:t>
            </a:r>
            <a:endParaRPr lang="ja-JP" sz="2200" dirty="0">
              <a:latin typeface="Meiryo"/>
              <a:ea typeface="Meiryo"/>
              <a:cs typeface="Meiryo"/>
            </a:endParaRPr>
          </a:p>
        </p:txBody>
      </p:sp>
      <p:sp>
        <p:nvSpPr>
          <p:cNvPr id="9" name="Text 6"/>
          <p:cNvSpPr txBox="1"/>
          <p:nvPr/>
        </p:nvSpPr>
        <p:spPr>
          <a:xfrm>
            <a:off x="6391656" y="1801368"/>
            <a:ext cx="4663440" cy="777240"/>
          </a:xfrm>
          <a:prstGeom prst="rect">
            <a:avLst/>
          </a:prstGeom>
          <a:noFill/>
          <a:ln/>
        </p:spPr>
        <p:txBody>
          <a:bodyPr wrap="square" lIns="0" tIns="0" rIns="0" bIns="0" rtlCol="0" anchor="t"/>
          <a:lstStyle/>
          <a:p>
            <a:pPr indent="0" marL="0">
              <a:lnSpc>
                <a:spcPct val="106000"/>
              </a:lnSpc>
              <a:buNone/>
            </a:pPr>
            <a:r>
              <a:rPr lang="ja-JP" altLang="en-US" sz="2600" b="1" dirty="0">
                <a:solidFill>
                  <a:srgbClr val="1B2D3B"/>
                </a:solidFill>
                <a:latin typeface="Meiryo" pitchFamily="34" charset="0"/>
                <a:ea typeface="Meiryo" pitchFamily="34" charset="-122"/>
                <a:cs typeface="Meiryo" pitchFamily="34" charset="-120"/>
              </a:rPr>
              <a:t>READMEの利用記録</a:t>
            </a:r>
            <a:endParaRPr lang="ja-JP" sz="2600" dirty="0">
              <a:latin typeface="Meiryo"/>
              <a:ea typeface="Meiryo"/>
              <a:cs typeface="Meiryo"/>
            </a:endParaRPr>
          </a:p>
        </p:txBody>
      </p:sp>
      <p:sp>
        <p:nvSpPr>
          <p:cNvPr id="10" name="Text 7"/>
          <p:cNvSpPr txBox="1"/>
          <p:nvPr/>
        </p:nvSpPr>
        <p:spPr>
          <a:xfrm>
            <a:off x="6400800" y="2779776"/>
            <a:ext cx="4809744" cy="2432304"/>
          </a:xfrm>
          <a:prstGeom prst="rect">
            <a:avLst/>
          </a:prstGeom>
          <a:noFill/>
          <a:ln/>
        </p:spPr>
        <p:txBody>
          <a:bodyPr wrap="square" lIns="0" tIns="0" rIns="0" bIns="0" rtlCol="0" anchor="t"/>
          <a:lstStyle/>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AIに任せたこと</a:t>
            </a:r>
            <a:endParaRPr lang="ja-JP" sz="2400" dirty="0">
              <a:latin typeface="Meiryo"/>
              <a:ea typeface="Meiryo"/>
              <a:cs typeface="Meiryo"/>
            </a:endParaRPr>
          </a:p>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自分で確かめたこと</a:t>
            </a:r>
            <a:endParaRPr lang="ja-JP" sz="2400" dirty="0">
              <a:latin typeface="Meiryo"/>
              <a:ea typeface="Meiryo"/>
              <a:cs typeface="Meiryo"/>
            </a:endParaRPr>
          </a:p>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確認できなかったこと</a:t>
            </a:r>
            <a:endParaRPr lang="ja-JP" sz="2400" dirty="0">
              <a:latin typeface="Meiryo"/>
              <a:ea typeface="Meiryo"/>
              <a:cs typeface="Meiryo"/>
            </a:endParaRPr>
          </a:p>
        </p:txBody>
      </p:sp>
      <p:sp>
        <p:nvSpPr>
          <p:cNvPr id="11" name="Text 8"/>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2" name="Text 9"/>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15 / 17</a:t>
            </a:r>
            <a:endParaRPr lang="ja-JP" sz="1800" dirty="0">
              <a:latin typeface="Meiryo"/>
              <a:ea typeface="Meiryo"/>
              <a:cs typeface="Meiry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保存した版のURLを提出する</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Text 2"/>
          <p:cNvSpPr txBox="1"/>
          <p:nvPr/>
        </p:nvSpPr>
        <p:spPr>
          <a:xfrm>
            <a:off x="704088" y="1572768"/>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01</a:t>
            </a:r>
            <a:endParaRPr lang="ja-JP" sz="3200" dirty="0">
              <a:latin typeface="Meiryo"/>
              <a:ea typeface="Meiryo"/>
              <a:cs typeface="Meiryo"/>
            </a:endParaRPr>
          </a:p>
        </p:txBody>
      </p:sp>
      <p:sp>
        <p:nvSpPr>
          <p:cNvPr id="5" name="Text 3"/>
          <p:cNvSpPr txBox="1"/>
          <p:nvPr/>
        </p:nvSpPr>
        <p:spPr>
          <a:xfrm>
            <a:off x="1737360" y="1508760"/>
            <a:ext cx="9235440" cy="621792"/>
          </a:xfrm>
          <a:prstGeom prst="rect">
            <a:avLst/>
          </a:prstGeom>
          <a:noFill/>
          <a:ln/>
        </p:spPr>
        <p:txBody>
          <a:bodyPr wrap="square" lIns="0" tIns="0" rIns="0" bIns="0" rtlCol="0" anchor="t"/>
          <a:lstStyle/>
          <a:p>
            <a:pPr indent="0" marL="0">
              <a:lnSpc>
                <a:spcPct val="106000"/>
              </a:lnSpc>
              <a:buNone/>
            </a:pPr>
            <a:r>
              <a:rPr lang="ja-JP" altLang="en-US" sz="2800" b="1" dirty="0">
                <a:solidFill>
                  <a:srgbClr val="1B2D3B"/>
                </a:solidFill>
                <a:latin typeface="Meiryo" pitchFamily="34" charset="0"/>
                <a:ea typeface="Meiryo" pitchFamily="34" charset="-122"/>
                <a:cs typeface="Meiryo" pitchFamily="34" charset="-120"/>
              </a:rPr>
              <a:t>GitHubで変更を確定する。</a:t>
            </a:r>
            <a:endParaRPr lang="ja-JP" sz="2800" dirty="0">
              <a:latin typeface="Meiryo"/>
              <a:ea typeface="Meiryo"/>
              <a:cs typeface="Meiryo"/>
            </a:endParaRPr>
          </a:p>
        </p:txBody>
      </p:sp>
      <p:sp>
        <p:nvSpPr>
          <p:cNvPr id="6" name="Text 4"/>
          <p:cNvSpPr txBox="1"/>
          <p:nvPr/>
        </p:nvSpPr>
        <p:spPr>
          <a:xfrm>
            <a:off x="1737360" y="2212848"/>
            <a:ext cx="9235440" cy="530352"/>
          </a:xfrm>
          <a:prstGeom prst="rect">
            <a:avLst/>
          </a:prstGeom>
          <a:noFill/>
          <a:ln/>
        </p:spPr>
        <p:txBody>
          <a:bodyPr wrap="square" lIns="0" tIns="0" rIns="0" bIns="0" rtlCol="0" anchor="t"/>
          <a:lstStyle/>
          <a:p>
            <a:pPr indent="0" marL="0">
              <a:lnSpc>
                <a:spcPct val="106000"/>
              </a:lnSpc>
              <a:buNone/>
            </a:pPr>
            <a:r>
              <a:rPr lang="ja-JP" altLang="en-US" sz="2300" dirty="0">
                <a:solidFill>
                  <a:srgbClr val="4D626D"/>
                </a:solidFill>
                <a:latin typeface="Meiryo" pitchFamily="34" charset="0"/>
                <a:ea typeface="Meiryo" pitchFamily="34" charset="-122"/>
                <a:cs typeface="Meiryo" pitchFamily="34" charset="-120"/>
              </a:rPr>
              <a:t>更新したファイルを確認し、commitする。</a:t>
            </a:r>
            <a:endParaRPr lang="ja-JP" sz="2300" dirty="0">
              <a:latin typeface="Meiryo"/>
              <a:ea typeface="Meiryo"/>
              <a:cs typeface="Meiryo"/>
            </a:endParaRPr>
          </a:p>
        </p:txBody>
      </p:sp>
      <p:sp>
        <p:nvSpPr>
          <p:cNvPr id="7" name="Shape 5"/>
          <p:cNvSpPr/>
          <p:nvPr/>
        </p:nvSpPr>
        <p:spPr>
          <a:xfrm>
            <a:off x="1737360" y="2752344"/>
            <a:ext cx="9738360" cy="0"/>
          </a:xfrm>
          <a:prstGeom prst="line">
            <a:avLst/>
          </a:prstGeom>
          <a:noFill/>
          <a:ln w="12700">
            <a:solidFill>
              <a:srgbClr val="CBD7DC"/>
            </a:solidFill>
            <a:prstDash val="solid"/>
          </a:ln>
        </p:spPr>
      </p:sp>
      <p:sp>
        <p:nvSpPr>
          <p:cNvPr id="8" name="Text 6"/>
          <p:cNvSpPr txBox="1"/>
          <p:nvPr/>
        </p:nvSpPr>
        <p:spPr>
          <a:xfrm>
            <a:off x="704088" y="2926080"/>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02</a:t>
            </a:r>
            <a:endParaRPr lang="ja-JP" sz="3200" dirty="0">
              <a:latin typeface="Meiryo"/>
              <a:ea typeface="Meiryo"/>
              <a:cs typeface="Meiryo"/>
            </a:endParaRPr>
          </a:p>
        </p:txBody>
      </p:sp>
      <p:sp>
        <p:nvSpPr>
          <p:cNvPr id="9" name="Text 7"/>
          <p:cNvSpPr txBox="1"/>
          <p:nvPr/>
        </p:nvSpPr>
        <p:spPr>
          <a:xfrm>
            <a:off x="1737360" y="2862072"/>
            <a:ext cx="9235440" cy="621792"/>
          </a:xfrm>
          <a:prstGeom prst="rect">
            <a:avLst/>
          </a:prstGeom>
          <a:noFill/>
          <a:ln/>
        </p:spPr>
        <p:txBody>
          <a:bodyPr wrap="square" lIns="0" tIns="0" rIns="0" bIns="0" rtlCol="0" anchor="t"/>
          <a:lstStyle/>
          <a:p>
            <a:pPr indent="0" marL="0">
              <a:lnSpc>
                <a:spcPct val="106000"/>
              </a:lnSpc>
              <a:buNone/>
            </a:pPr>
            <a:r>
              <a:rPr lang="ja-JP" altLang="en-US" sz="2800" b="1" dirty="0">
                <a:solidFill>
                  <a:srgbClr val="1B2D3B"/>
                </a:solidFill>
                <a:latin typeface="Meiryo" pitchFamily="34" charset="0"/>
                <a:ea typeface="Meiryo" pitchFamily="34" charset="-122"/>
                <a:cs typeface="Meiryo" pitchFamily="34" charset="-120"/>
              </a:rPr>
              <a:t>そのcommitのページを開く。</a:t>
            </a:r>
            <a:endParaRPr lang="ja-JP" sz="2800" dirty="0">
              <a:latin typeface="Meiryo"/>
              <a:ea typeface="Meiryo"/>
              <a:cs typeface="Meiryo"/>
            </a:endParaRPr>
          </a:p>
        </p:txBody>
      </p:sp>
      <p:sp>
        <p:nvSpPr>
          <p:cNvPr id="10" name="Text 8"/>
          <p:cNvSpPr txBox="1"/>
          <p:nvPr/>
        </p:nvSpPr>
        <p:spPr>
          <a:xfrm>
            <a:off x="1737360" y="3566160"/>
            <a:ext cx="9235440" cy="530352"/>
          </a:xfrm>
          <a:prstGeom prst="rect">
            <a:avLst/>
          </a:prstGeom>
          <a:noFill/>
          <a:ln/>
        </p:spPr>
        <p:txBody>
          <a:bodyPr wrap="square" lIns="0" tIns="0" rIns="0" bIns="0" rtlCol="0" anchor="t"/>
          <a:lstStyle/>
          <a:p>
            <a:pPr indent="0" marL="0">
              <a:lnSpc>
                <a:spcPct val="106000"/>
              </a:lnSpc>
              <a:buNone/>
            </a:pPr>
            <a:r>
              <a:rPr lang="ja-JP" altLang="en-US" sz="2300" dirty="0">
                <a:solidFill>
                  <a:srgbClr val="4D626D"/>
                </a:solidFill>
                <a:latin typeface="Meiryo" pitchFamily="34" charset="0"/>
                <a:ea typeface="Meiryo" pitchFamily="34" charset="-122"/>
                <a:cs typeface="Meiryo" pitchFamily="34" charset="-120"/>
              </a:rPr>
              <a:t>URLに /commit/ があることを確認する。</a:t>
            </a:r>
            <a:endParaRPr lang="ja-JP" sz="2300" dirty="0">
              <a:latin typeface="Meiryo"/>
              <a:ea typeface="Meiryo"/>
              <a:cs typeface="Meiryo"/>
            </a:endParaRPr>
          </a:p>
        </p:txBody>
      </p:sp>
      <p:sp>
        <p:nvSpPr>
          <p:cNvPr id="11" name="Shape 9"/>
          <p:cNvSpPr/>
          <p:nvPr/>
        </p:nvSpPr>
        <p:spPr>
          <a:xfrm>
            <a:off x="1737360" y="4105656"/>
            <a:ext cx="9738360" cy="0"/>
          </a:xfrm>
          <a:prstGeom prst="line">
            <a:avLst/>
          </a:prstGeom>
          <a:noFill/>
          <a:ln w="12700">
            <a:solidFill>
              <a:srgbClr val="CBD7DC"/>
            </a:solidFill>
            <a:prstDash val="solid"/>
          </a:ln>
        </p:spPr>
      </p:sp>
      <p:sp>
        <p:nvSpPr>
          <p:cNvPr id="12" name="Text 10"/>
          <p:cNvSpPr txBox="1"/>
          <p:nvPr/>
        </p:nvSpPr>
        <p:spPr>
          <a:xfrm>
            <a:off x="704088" y="4279392"/>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03</a:t>
            </a:r>
            <a:endParaRPr lang="ja-JP" sz="3200" dirty="0">
              <a:latin typeface="Meiryo"/>
              <a:ea typeface="Meiryo"/>
              <a:cs typeface="Meiryo"/>
            </a:endParaRPr>
          </a:p>
        </p:txBody>
      </p:sp>
      <p:sp>
        <p:nvSpPr>
          <p:cNvPr id="13" name="Text 11"/>
          <p:cNvSpPr txBox="1"/>
          <p:nvPr/>
        </p:nvSpPr>
        <p:spPr>
          <a:xfrm>
            <a:off x="1737360" y="4215384"/>
            <a:ext cx="9235440" cy="621792"/>
          </a:xfrm>
          <a:prstGeom prst="rect">
            <a:avLst/>
          </a:prstGeom>
          <a:noFill/>
          <a:ln/>
        </p:spPr>
        <p:txBody>
          <a:bodyPr wrap="square" lIns="0" tIns="0" rIns="0" bIns="0" rtlCol="0" anchor="t"/>
          <a:lstStyle/>
          <a:p>
            <a:pPr indent="0" marL="0">
              <a:lnSpc>
                <a:spcPct val="106000"/>
              </a:lnSpc>
              <a:buNone/>
            </a:pPr>
            <a:r>
              <a:rPr lang="ja-JP" altLang="en-US" sz="2800" b="1" dirty="0">
                <a:solidFill>
                  <a:srgbClr val="1B2D3B"/>
                </a:solidFill>
                <a:latin typeface="Meiryo" pitchFamily="34" charset="0"/>
                <a:ea typeface="Meiryo" pitchFamily="34" charset="-122"/>
                <a:cs typeface="Meiryo" pitchFamily="34" charset="-120"/>
              </a:rPr>
              <a:t>授業の提出フォームを送る。</a:t>
            </a:r>
            <a:endParaRPr lang="ja-JP" sz="2800" dirty="0">
              <a:latin typeface="Meiryo"/>
              <a:ea typeface="Meiryo"/>
              <a:cs typeface="Meiryo"/>
            </a:endParaRPr>
          </a:p>
        </p:txBody>
      </p:sp>
      <p:sp>
        <p:nvSpPr>
          <p:cNvPr id="14" name="Text 12"/>
          <p:cNvSpPr txBox="1"/>
          <p:nvPr/>
        </p:nvSpPr>
        <p:spPr>
          <a:xfrm>
            <a:off x="1737360" y="4919472"/>
            <a:ext cx="9235440" cy="530352"/>
          </a:xfrm>
          <a:prstGeom prst="rect">
            <a:avLst/>
          </a:prstGeom>
          <a:noFill/>
          <a:ln/>
        </p:spPr>
        <p:txBody>
          <a:bodyPr wrap="square" lIns="0" tIns="0" rIns="0" bIns="0" rtlCol="0" anchor="t"/>
          <a:lstStyle/>
          <a:p>
            <a:pPr indent="0" marL="0">
              <a:lnSpc>
                <a:spcPct val="106000"/>
              </a:lnSpc>
              <a:buNone/>
            </a:pPr>
            <a:r>
              <a:rPr lang="ja-JP" altLang="en-US" sz="2300" dirty="0">
                <a:solidFill>
                  <a:srgbClr val="4D626D"/>
                </a:solidFill>
                <a:latin typeface="Meiryo" pitchFamily="34" charset="0"/>
                <a:ea typeface="Meiryo" pitchFamily="34" charset="-122"/>
                <a:cs typeface="Meiryo" pitchFamily="34" charset="-120"/>
              </a:rPr>
              <a:t>大学アカウントで開き、Week 11を選ぶ。</a:t>
            </a:r>
            <a:endParaRPr lang="ja-JP" sz="2300" dirty="0">
              <a:latin typeface="Meiryo"/>
              <a:ea typeface="Meiryo"/>
              <a:cs typeface="Meiryo"/>
            </a:endParaRPr>
          </a:p>
        </p:txBody>
      </p:sp>
      <p:sp>
        <p:nvSpPr>
          <p:cNvPr id="15" name="Text 13"/>
          <p:cNvSpPr txBox="1"/>
          <p:nvPr/>
        </p:nvSpPr>
        <p:spPr>
          <a:xfrm>
            <a:off x="667512" y="5779008"/>
            <a:ext cx="10844784" cy="548640"/>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ブラウザでcommitした場合、別のpush操作は不要。</a:t>
            </a:r>
            <a:endParaRPr lang="ja-JP" sz="1800" dirty="0">
              <a:latin typeface="Meiryo"/>
              <a:ea typeface="Meiryo"/>
              <a:cs typeface="Meiryo"/>
            </a:endParaRPr>
          </a:p>
        </p:txBody>
      </p:sp>
      <p:sp>
        <p:nvSpPr>
          <p:cNvPr id="16" name="Text 14"/>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7" name="Text 15"/>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16 / 17</a:t>
            </a:r>
            <a:endParaRPr lang="ja-JP" sz="1800" dirty="0">
              <a:latin typeface="Meiryo"/>
              <a:ea typeface="Meiryo"/>
              <a:cs typeface="Meiry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提出する前に、ここを確認する</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pic>
        <p:nvPicPr>
          <p:cNvPr id="4" name="Image 0" descr="Lucide circle-check">    </p:cNvPr>
          <p:cNvPicPr>
            <a:picLocks noChangeAspect="1"/>
          </p:cNvPicPr>
          <p:nvPr/>
        </p:nvPicPr>
        <p:blipFill>
          <a:blip r:embed="rId1"/>
          <a:stretch>
            <a:fillRect/>
          </a:stretch>
        </p:blipFill>
        <p:spPr>
          <a:xfrm>
            <a:off x="731520" y="1682496"/>
            <a:ext cx="402336" cy="402336"/>
          </a:xfrm>
          <a:prstGeom prst="rect">
            <a:avLst/>
          </a:prstGeom>
        </p:spPr>
      </p:pic>
      <p:sp>
        <p:nvSpPr>
          <p:cNvPr id="5" name="Text 2"/>
          <p:cNvSpPr txBox="1"/>
          <p:nvPr/>
        </p:nvSpPr>
        <p:spPr>
          <a:xfrm>
            <a:off x="1435608" y="1645920"/>
            <a:ext cx="9884664" cy="850392"/>
          </a:xfrm>
          <a:prstGeom prst="rect">
            <a:avLst/>
          </a:prstGeom>
          <a:noFill/>
          <a:ln/>
        </p:spPr>
        <p:txBody>
          <a:bodyPr wrap="square" lIns="0" tIns="0" rIns="0" bIns="0" rtlCol="0" anchor="t"/>
          <a:lstStyle/>
          <a:p>
            <a:pPr indent="0" marL="0">
              <a:lnSpc>
                <a:spcPct val="106000"/>
              </a:lnSpc>
              <a:buNone/>
            </a:pPr>
            <a:r>
              <a:rPr lang="ja-JP" altLang="en-US" sz="2600" dirty="0">
                <a:solidFill>
                  <a:srgbClr val="1B2D3B"/>
                </a:solidFill>
                <a:latin typeface="Meiryo" pitchFamily="34" charset="0"/>
                <a:ea typeface="Meiryo" pitchFamily="34" charset="-122"/>
                <a:cs typeface="Meiryo" pitchFamily="34" charset="-120"/>
              </a:rPr>
              <a:t>行数・列名・欠損の有無を確認した。</a:t>
            </a:r>
            <a:endParaRPr lang="ja-JP" sz="2600" dirty="0">
              <a:latin typeface="Meiryo"/>
              <a:ea typeface="Meiryo"/>
              <a:cs typeface="Meiryo"/>
            </a:endParaRPr>
          </a:p>
        </p:txBody>
      </p:sp>
      <p:pic>
        <p:nvPicPr>
          <p:cNvPr id="6" name="Image 1" descr="Lucide circle-check">    </p:cNvPr>
          <p:cNvPicPr>
            <a:picLocks noChangeAspect="1"/>
          </p:cNvPicPr>
          <p:nvPr/>
        </p:nvPicPr>
        <p:blipFill>
          <a:blip r:embed="rId2"/>
          <a:stretch>
            <a:fillRect/>
          </a:stretch>
        </p:blipFill>
        <p:spPr>
          <a:xfrm>
            <a:off x="731520" y="2633472"/>
            <a:ext cx="402336" cy="402336"/>
          </a:xfrm>
          <a:prstGeom prst="rect">
            <a:avLst/>
          </a:prstGeom>
        </p:spPr>
      </p:pic>
      <p:sp>
        <p:nvSpPr>
          <p:cNvPr id="7" name="Text 3"/>
          <p:cNvSpPr txBox="1"/>
          <p:nvPr/>
        </p:nvSpPr>
        <p:spPr>
          <a:xfrm>
            <a:off x="1435608" y="2596896"/>
            <a:ext cx="9884664" cy="850392"/>
          </a:xfrm>
          <a:prstGeom prst="rect">
            <a:avLst/>
          </a:prstGeom>
          <a:noFill/>
          <a:ln/>
        </p:spPr>
        <p:txBody>
          <a:bodyPr wrap="square" lIns="0" tIns="0" rIns="0" bIns="0" rtlCol="0" anchor="t"/>
          <a:lstStyle/>
          <a:p>
            <a:pPr indent="0" marL="0">
              <a:lnSpc>
                <a:spcPct val="106000"/>
              </a:lnSpc>
              <a:buNone/>
            </a:pPr>
            <a:r>
              <a:rPr lang="ja-JP" altLang="en-US" sz="2600" dirty="0">
                <a:solidFill>
                  <a:srgbClr val="1B2D3B"/>
                </a:solidFill>
                <a:latin typeface="Meiryo" pitchFamily="34" charset="0"/>
                <a:ea typeface="Meiryo" pitchFamily="34" charset="-122"/>
                <a:cs typeface="Meiryo" pitchFamily="34" charset="-120"/>
              </a:rPr>
              <a:t>少なくとも1つを別の方法で確かめた。</a:t>
            </a:r>
            <a:endParaRPr lang="ja-JP" sz="2600" dirty="0">
              <a:latin typeface="Meiryo"/>
              <a:ea typeface="Meiryo"/>
              <a:cs typeface="Meiryo"/>
            </a:endParaRPr>
          </a:p>
        </p:txBody>
      </p:sp>
      <p:pic>
        <p:nvPicPr>
          <p:cNvPr id="8" name="Image 2" descr="Lucide circle-check">    </p:cNvPr>
          <p:cNvPicPr>
            <a:picLocks noChangeAspect="1"/>
          </p:cNvPicPr>
          <p:nvPr/>
        </p:nvPicPr>
        <p:blipFill>
          <a:blip r:embed="rId3"/>
          <a:stretch>
            <a:fillRect/>
          </a:stretch>
        </p:blipFill>
        <p:spPr>
          <a:xfrm>
            <a:off x="731520" y="3584448"/>
            <a:ext cx="402336" cy="402336"/>
          </a:xfrm>
          <a:prstGeom prst="rect">
            <a:avLst/>
          </a:prstGeom>
        </p:spPr>
      </p:pic>
      <p:sp>
        <p:nvSpPr>
          <p:cNvPr id="9" name="Text 4"/>
          <p:cNvSpPr txBox="1"/>
          <p:nvPr/>
        </p:nvSpPr>
        <p:spPr>
          <a:xfrm>
            <a:off x="1435608" y="3547872"/>
            <a:ext cx="9884664" cy="850392"/>
          </a:xfrm>
          <a:prstGeom prst="rect">
            <a:avLst/>
          </a:prstGeom>
          <a:noFill/>
          <a:ln/>
        </p:spPr>
        <p:txBody>
          <a:bodyPr wrap="square" lIns="0" tIns="0" rIns="0" bIns="0" rtlCol="0" anchor="t"/>
          <a:lstStyle/>
          <a:p>
            <a:pPr indent="0" marL="0">
              <a:lnSpc>
                <a:spcPct val="106000"/>
              </a:lnSpc>
              <a:buNone/>
            </a:pPr>
            <a:r>
              <a:rPr lang="ja-JP" altLang="en-US" sz="2600" dirty="0">
                <a:solidFill>
                  <a:srgbClr val="1B2D3B"/>
                </a:solidFill>
                <a:latin typeface="Meiryo" pitchFamily="34" charset="0"/>
                <a:ea typeface="Meiryo" pitchFamily="34" charset="-122"/>
                <a:cs typeface="Meiryo" pitchFamily="34" charset="-120"/>
              </a:rPr>
              <a:t>架空データであることを明示した。</a:t>
            </a:r>
            <a:endParaRPr lang="ja-JP" sz="2600" dirty="0">
              <a:latin typeface="Meiryo"/>
              <a:ea typeface="Meiryo"/>
              <a:cs typeface="Meiryo"/>
            </a:endParaRPr>
          </a:p>
        </p:txBody>
      </p:sp>
      <p:pic>
        <p:nvPicPr>
          <p:cNvPr id="10" name="Image 3" descr="Lucide circle-check">    </p:cNvPr>
          <p:cNvPicPr>
            <a:picLocks noChangeAspect="1"/>
          </p:cNvPicPr>
          <p:nvPr/>
        </p:nvPicPr>
        <p:blipFill>
          <a:blip r:embed="rId4"/>
          <a:stretch>
            <a:fillRect/>
          </a:stretch>
        </p:blipFill>
        <p:spPr>
          <a:xfrm>
            <a:off x="731520" y="4535424"/>
            <a:ext cx="402336" cy="402336"/>
          </a:xfrm>
          <a:prstGeom prst="rect">
            <a:avLst/>
          </a:prstGeom>
        </p:spPr>
      </p:pic>
      <p:sp>
        <p:nvSpPr>
          <p:cNvPr id="11" name="Text 5"/>
          <p:cNvSpPr txBox="1"/>
          <p:nvPr/>
        </p:nvSpPr>
        <p:spPr>
          <a:xfrm>
            <a:off x="1435608" y="4498848"/>
            <a:ext cx="9884664" cy="850392"/>
          </a:xfrm>
          <a:prstGeom prst="rect">
            <a:avLst/>
          </a:prstGeom>
          <a:noFill/>
          <a:ln/>
        </p:spPr>
        <p:txBody>
          <a:bodyPr wrap="square" lIns="0" tIns="0" rIns="0" bIns="0" rtlCol="0" anchor="t"/>
          <a:lstStyle/>
          <a:p>
            <a:pPr indent="0" marL="0">
              <a:lnSpc>
                <a:spcPct val="106000"/>
              </a:lnSpc>
              <a:buNone/>
            </a:pPr>
            <a:r>
              <a:rPr lang="ja-JP" altLang="en-US" sz="2600" dirty="0">
                <a:solidFill>
                  <a:srgbClr val="1B2D3B"/>
                </a:solidFill>
                <a:latin typeface="Meiryo" pitchFamily="34" charset="0"/>
                <a:ea typeface="Meiryo" pitchFamily="34" charset="-122"/>
                <a:cs typeface="Meiryo" pitchFamily="34" charset="-120"/>
              </a:rPr>
              <a:t>成果物のあるcommit URLを送った。</a:t>
            </a:r>
            <a:endParaRPr lang="ja-JP" sz="2600" dirty="0">
              <a:latin typeface="Meiryo"/>
              <a:ea typeface="Meiryo"/>
              <a:cs typeface="Meiryo"/>
            </a:endParaRPr>
          </a:p>
        </p:txBody>
      </p:sp>
      <p:sp>
        <p:nvSpPr>
          <p:cNvPr id="12" name="Text 6"/>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3" name="Text 7"/>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17 / 17</a:t>
            </a:r>
            <a:endParaRPr lang="ja-JP" sz="1800" dirty="0">
              <a:latin typeface="Meiryo"/>
              <a:ea typeface="Meiryo"/>
              <a:cs typeface="Meiryo"/>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Meiryo"/>
        <a:cs typeface="Meiryo"/>
        <a:font script="Jpan" typeface="Meiryo"/>
        <a:font script="Hang" typeface="Meiryo"/>
        <a:font script="Hans" typeface="Meiryo"/>
        <a:font script="Hant" typeface="Meiryo"/>
        <a:font script="Arab" typeface="Meiryo"/>
        <a:font script="Hebr" typeface="Meiryo"/>
        <a:font script="Thai" typeface="Meiryo"/>
        <a:font script="Ethi" typeface="Meiryo"/>
        <a:font script="Beng" typeface="Meiryo"/>
        <a:font script="Gujr" typeface="Meiryo"/>
        <a:font script="Khmr" typeface="Meiryo"/>
        <a:font script="Knda" typeface="Meiryo"/>
        <a:font script="Guru" typeface="Meiryo"/>
        <a:font script="Cans" typeface="Meiryo"/>
        <a:font script="Cher" typeface="Meiryo"/>
        <a:font script="Yiii" typeface="Meiryo"/>
        <a:font script="Tibt" typeface="Meiryo"/>
        <a:font script="Thaa" typeface="Meiryo"/>
        <a:font script="Deva" typeface="Meiryo"/>
        <a:font script="Telu" typeface="Meiryo"/>
        <a:font script="Taml" typeface="Meiryo"/>
        <a:font script="Syrc" typeface="Meiryo"/>
        <a:font script="Orya" typeface="Meiryo"/>
        <a:font script="Mlym" typeface="Meiryo"/>
        <a:font script="Laoo" typeface="Meiryo"/>
        <a:font script="Sinh" typeface="Meiryo"/>
        <a:font script="Mong" typeface="Meiryo"/>
        <a:font script="Viet" typeface="Meiryo"/>
        <a:font script="Uigh" typeface="Meiryo"/>
        <a:font script="Geor" typeface="Meiryo"/>
        <a:font script="Armn" typeface="Meiryo"/>
        <a:font script="Bugi" typeface="Meiryo"/>
        <a:font script="Bopo" typeface="Meiryo"/>
        <a:font script="Java" typeface="Meiryo"/>
        <a:font script="Lisu" typeface="Meiryo"/>
        <a:font script="Mymr" typeface="Meiryo"/>
        <a:font script="Nkoo" typeface="Meiryo"/>
        <a:font script="Olck" typeface="Meiryo"/>
        <a:font script="Osma" typeface="Meiryo"/>
        <a:font script="Phag" typeface="Meiryo"/>
        <a:font script="Syrn" typeface="Meiryo"/>
        <a:font script="Syrj" typeface="Meiryo"/>
        <a:font script="Syre" typeface="Meiryo"/>
        <a:font script="Sora" typeface="Meiryo"/>
        <a:font script="Tale" typeface="Meiryo"/>
        <a:font script="Talu" typeface="Meiryo"/>
        <a:font script="Tfng" typeface="Meiryo"/>
      </a:majorFont>
      <a:minorFont>
        <a:latin typeface="Meiryo"/>
        <a:ea typeface="Meiryo"/>
        <a:cs typeface="Meiryo"/>
        <a:font script="Jpan" typeface="Meiryo"/>
        <a:font script="Hang" typeface="Meiryo"/>
        <a:font script="Hans" typeface="Meiryo"/>
        <a:font script="Hant" typeface="Meiryo"/>
        <a:font script="Arab" typeface="Meiryo"/>
        <a:font script="Hebr" typeface="Meiryo"/>
        <a:font script="Thai" typeface="Meiryo"/>
        <a:font script="Ethi" typeface="Meiryo"/>
        <a:font script="Beng" typeface="Meiryo"/>
        <a:font script="Gujr" typeface="Meiryo"/>
        <a:font script="Khmr" typeface="Meiryo"/>
        <a:font script="Knda" typeface="Meiryo"/>
        <a:font script="Guru" typeface="Meiryo"/>
        <a:font script="Cans" typeface="Meiryo"/>
        <a:font script="Cher" typeface="Meiryo"/>
        <a:font script="Yiii" typeface="Meiryo"/>
        <a:font script="Tibt" typeface="Meiryo"/>
        <a:font script="Thaa" typeface="Meiryo"/>
        <a:font script="Deva" typeface="Meiryo"/>
        <a:font script="Telu" typeface="Meiryo"/>
        <a:font script="Taml" typeface="Meiryo"/>
        <a:font script="Syrc" typeface="Meiryo"/>
        <a:font script="Orya" typeface="Meiryo"/>
        <a:font script="Mlym" typeface="Meiryo"/>
        <a:font script="Laoo" typeface="Meiryo"/>
        <a:font script="Sinh" typeface="Meiryo"/>
        <a:font script="Mong" typeface="Meiryo"/>
        <a:font script="Viet" typeface="Meiryo"/>
        <a:font script="Uigh" typeface="Meiryo"/>
        <a:font script="Geor" typeface="Meiryo"/>
        <a:font script="Armn" typeface="Meiryo"/>
        <a:font script="Bugi" typeface="Meiryo"/>
        <a:font script="Bopo" typeface="Meiryo"/>
        <a:font script="Java" typeface="Meiryo"/>
        <a:font script="Lisu" typeface="Meiryo"/>
        <a:font script="Mymr" typeface="Meiryo"/>
        <a:font script="Nkoo" typeface="Meiryo"/>
        <a:font script="Olck" typeface="Meiryo"/>
        <a:font script="Osma" typeface="Meiryo"/>
        <a:font script="Phag" typeface="Meiryo"/>
        <a:font script="Syrn" typeface="Meiryo"/>
        <a:font script="Syrj" typeface="Meiryo"/>
        <a:font script="Syre" typeface="Meiryo"/>
        <a:font script="Sora" typeface="Meiryo"/>
        <a:font script="Tale" typeface="Meiryo"/>
        <a:font script="Talu" typeface="Meiryo"/>
        <a:font script="Tfng" typeface="Meiryo"/>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Tsuchiya 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小さなCSVをAIと分析する</dc:title>
  <dc:subject>AI・データリテラシー／学生向け演習</dc:subject>
  <dc:creator>Takahiro Tsuchiya</dc:creator>
  <cp:lastModifiedBy>Takahiro Tsuchiya</cp:lastModifiedBy>
  <cp:revision>1</cp:revision>
  <dcterms:created xsi:type="dcterms:W3CDTF">2026-09-17T11:31:39Z</dcterms:created>
  <dcterms:modified xsi:type="dcterms:W3CDTF">2026-09-17T11:31:39Z</dcterms:modified>
</cp:coreProperties>
</file>