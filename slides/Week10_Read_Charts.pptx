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5282F153-3F37-0F45-9E97-73ACFA13230C}" type="datetimeFigureOut">
              <a:rPr lang="ja-JP">
                <a:latin typeface="Meiryo"/>
                <a:ea typeface="Meiryo"/>
                <a:cs typeface="Meiryo"/>
              </a:rPr>
              <a:t>7/23/19</a:t>
            </a:fld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>
                <a:latin typeface="Meiryo"/>
                <a:ea typeface="Meiryo"/>
                <a:cs typeface="Meiryo"/>
              </a:rPr>
              <a:t>Click to edit Master text styles</a:t>
            </a:r>
          </a:p>
          <a:p>
            <a:pPr lvl="1"/>
            <a:r>
              <a:rPr lang="ja-JP">
                <a:latin typeface="Meiryo"/>
                <a:ea typeface="Meiryo"/>
                <a:cs typeface="Meiryo"/>
              </a:rPr>
              <a:t>Second level</a:t>
            </a:r>
          </a:p>
          <a:p>
            <a:pPr lvl="2"/>
            <a:r>
              <a:rPr lang="ja-JP">
                <a:latin typeface="Meiryo"/>
                <a:ea typeface="Meiryo"/>
                <a:cs typeface="Meiryo"/>
              </a:rPr>
              <a:t>Third level</a:t>
            </a:r>
          </a:p>
          <a:p>
            <a:pPr lvl="3"/>
            <a:r>
              <a:rPr lang="ja-JP">
                <a:latin typeface="Meiryo"/>
                <a:ea typeface="Meiryo"/>
                <a:cs typeface="Meiryo"/>
              </a:rPr>
              <a:t>Fourth level</a:t>
            </a:r>
          </a:p>
          <a:p>
            <a:pPr lvl="4"/>
            <a:r>
              <a:rPr lang="ja-JP">
                <a:latin typeface="Meiryo"/>
                <a:ea typeface="Meiryo"/>
                <a:cs typeface="Meiryo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CE5E9CC1-C706-0F49-92D6-E571CC5EEA8F}" type="slidenum">
              <a:rPr lang="ja-JP">
                <a:latin typeface="Meiryo"/>
                <a:ea typeface="Meiryo"/>
                <a:cs typeface="Meiryo"/>
              </a:rPr>
              <a:t>‹#›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【進行】グラフの印象を数字と比べる / 1ページ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到達点：軸と数値を確認し、印象と根拠を区別する。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【進行】グラフの印象を数字と比べる / 2ページ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到達点：軸と数値を確認し、印象と根拠を区別する。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まず20秒だけ見せ、増加の印象を尋ねる。右図の原点省略に気づくか待つ。折れ線や限定範囲表示を一律禁止しない。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【進行】グラフの印象を数字と比べる / 3ページ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到達点：軸と数値を確認し、印象と根拠を区別する。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【進行】グラフの印象を数字と比べる / 4ページ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到達点：軸と数値を確認し、印象と根拠を区別する。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【進行】グラフの印象を数字と比べる / 5ページ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到達点：軸と数値を確認し、印象と根拠を区別する。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コピー用の依頼文はhandouts/にある。指示文は例であり、長さや特定の語句を暗記させない。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5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【進行】グラフの印象を数字と比べる / 6ページ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到達点：軸と数値を確認し、印象と根拠を区別する。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6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【進行】グラフの印象を数字と比べる / 7ページ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到達点：軸と数値を確認し、印象と根拠を区別する。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7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【進行】グラフの印象を数字と比べる / 8ページ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到達点：軸と数値を確認し、印象と根拠を区別する。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8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【進行】グラフの印象を数字と比べる / 9ページ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到達点：軸と数値を確認し、印象と根拠を区別する。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コピー用の依頼文はhandouts/にある。指示文は例であり、長さや特定の語句を暗記させない。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9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【進行】グラフの印象を数字と比べる / 10ページ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到達点：軸と数値を確認し、印象と根拠を区別する。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10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【進行】グラフの印象を数字と比べる / 11ページ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到達点：軸と数値を確認し、印象と根拠を区別する。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【進行】グラフの印象を数字と比べる / 12ページ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到達点：軸と数値を確認し、印象と根拠を区別する。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AIとの会話全文、共有リンク、無意味な再試行回数は求めない。変更が不要だった場合も確認した対象と結果を書けばよい。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【進行】グラフの印象を数字と比べる / 13ページ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到達点：軸と数値を確認し、印象と根拠を区別する。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Desktopを使った学生はPush origin後にGitHubで確認する。フォーム送信完了画面まで確認。教員の閲覧権限は別途必要。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【参考資料】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GitHub Docs「Editing files」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https://docs.github.com/en/repositories/working-with-files/managing-files/editing-files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確認日：2026-09-17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【進行】グラフの印象を数字と比べる / 14ページ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到達点：軸と数値を確認し、印象と根拠を区別する。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このチェックは暗記テストではない。ファイルと画面を見ながら自己確認させる。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theme" Target="../theme/theme1.xml" /><ns0:Relationship Id="rIdPersonalAuthorLogo" Type="http://schemas.openxmlformats.org/officeDocument/2006/relationships/image" Target="../media/personal-author-logo.png" /></ns0:Relationships>
</file>

<file path=ppt/slideMasters/slideMaster1.xml><?xml version="1.0" encoding="utf-8"?>
<p:sldMaster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685800" y="85748"/>
            <a:ext cx="1714500" cy="210457"/>
          </a:xfrm>
          <a:prstGeom prst="rect">
            <a:avLst/>
          </a:prstGeom>
        </p:spPr>
      </p:pic>
      <p:sp>
        <p:nvSpPr>
          <p:cNvPr id="3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60748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60748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lang="ja-JP">
          <a:solidFill>
            <a:schemeClr val="tx1"/>
          </a:solidFill>
          <a:latin typeface="Meiryo"/>
          <a:ea typeface="Meiryo"/>
          <a:cs typeface="Meiryo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Meiryo" pitchFamily="34" charset="0"/>
        <a:buChar char="•"/>
        <a:defRPr sz="32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742950" indent="-285750" algn="l" defTabSz="914400" rtl="0" eaLnBrk="1" latinLnBrk="0" hangingPunct="1">
        <a:spcBef>
          <a:spcPct val="20000"/>
        </a:spcBef>
        <a:buFont typeface="Meiryo" pitchFamily="34" charset="0"/>
        <a:buChar char="–"/>
        <a:defRPr sz="2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1143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4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600200" indent="-228600" algn="l" defTabSz="914400" rtl="0" eaLnBrk="1" latinLnBrk="0" hangingPunct="1">
        <a:spcBef>
          <a:spcPct val="20000"/>
        </a:spcBef>
        <a:buFont typeface="Meiryo" pitchFamily="34" charset="0"/>
        <a:buChar char="–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2057400" indent="-228600" algn="l" defTabSz="914400" rtl="0" eaLnBrk="1" latinLnBrk="0" hangingPunct="1">
        <a:spcBef>
          <a:spcPct val="20000"/>
        </a:spcBef>
        <a:buFont typeface="Meiryo" pitchFamily="34" charset="0"/>
        <a:buChar char="»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5146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9718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429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8862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9pPr>
    </p:bodyStyle>
    <p:otherStyle>
      <a:defPPr>
        <a:defRPr lang="ja-JP">
          <a:latin typeface="Meiryo"/>
          <a:ea typeface="Meiryo"/>
          <a:cs typeface="Meiryo"/>
        </a:defRPr>
      </a:defPPr>
      <a:lvl1pPr marL="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457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914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371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18288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2860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743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200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657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image" Target="../media/image-1-1.png" /><ns0:Relationship Id="rId2" Type="http://schemas.openxmlformats.org/officeDocument/2006/relationships/slideLayout" Target="../slideLayouts/slideLayout1.xml" /><ns0:Relationship Id="rId3" Type="http://schemas.openxmlformats.org/officeDocument/2006/relationships/notesSlide" Target="../notesSlides/notesSlide1.xml" /><ns0:Relationship Id="rIdPersonalAuthorLogo" Type="http://schemas.openxmlformats.org/officeDocument/2006/relationships/image" Target="../media/personal-author-logo-white.png" /></ns0: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image" Target="../media/image-14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 showMasterSp="0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55778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B1D6D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第10回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13232" y="1554480"/>
            <a:ext cx="9418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大きく増えた？</a:t>
            </a:r>
            <a:endParaRPr lang="ja-JP" sz="42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まず、軸を見よう。</a:t>
            </a:r>
            <a:endParaRPr lang="ja-JP" sz="4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49808" y="4169664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第10回｜同じ数値を違う表示で比べ、</a:t>
            </a:r>
            <a:endParaRPr lang="ja-JP" sz="26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言えることを短く書きます。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7" name="Image 0" descr="Lucide chart-colum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566928"/>
            <a:ext cx="841248" cy="8412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6281928"/>
            <a:ext cx="9144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大学生のためのAI・データリテラシー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" descr="TSUCHIYA TAKAHIRO white logo supplied in Brandeis cover; original bytes reused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3810000" y="109728"/>
            <a:ext cx="4572000" cy="561219"/>
          </a:xfrm>
          <a:prstGeom prst="rect">
            <a:avLst/>
          </a:prstGeom>
        </p:spPr>
      </p:pic>
      <p:sp>
        <p:nvSpPr>
          <p:cNvPr id="11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AECFD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AECFD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この2つは、同じデータ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86968" y="1554480"/>
            <a:ext cx="5047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縦軸：0から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225296" y="5029200"/>
            <a:ext cx="446227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491032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225296" y="4407408"/>
            <a:ext cx="446227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428853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225296" y="3785616"/>
            <a:ext cx="446227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3666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225296" y="3163824"/>
            <a:ext cx="446227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3044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225296" y="2542032"/>
            <a:ext cx="446227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24231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448410" y="3101645"/>
            <a:ext cx="446227" cy="1927555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68603" y="2754173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20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3.1</a:t>
            </a:r>
            <a:endParaRPr lang="ja-JP" sz="20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1278331" y="5157216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340864" y="3039466"/>
            <a:ext cx="446227" cy="1989734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061058" y="2691994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20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3.2</a:t>
            </a:r>
            <a:endParaRPr lang="ja-JP" sz="2000" dirty="0">
              <a:latin typeface="Meiryo"/>
              <a:ea typeface="Meiryo"/>
              <a:cs typeface="Meiryo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2170786" y="5157216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233318" y="2977286"/>
            <a:ext cx="446227" cy="2051914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953512" y="2629814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20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3.3</a:t>
            </a:r>
            <a:endParaRPr lang="ja-JP" sz="2000" dirty="0">
              <a:latin typeface="Meiryo"/>
              <a:ea typeface="Meiryo"/>
              <a:cs typeface="Meiryo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3063240" y="5157216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125773" y="2915107"/>
            <a:ext cx="446227" cy="2114093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845966" y="2567635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20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3.4</a:t>
            </a:r>
            <a:endParaRPr lang="ja-JP" sz="2000" dirty="0">
              <a:latin typeface="Meiryo"/>
              <a:ea typeface="Meiryo"/>
              <a:cs typeface="Meiryo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3955694" y="5157216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2025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018227" y="2852928"/>
            <a:ext cx="446227" cy="2176272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38421" y="2505456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20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3.5</a:t>
            </a:r>
            <a:endParaRPr lang="ja-JP" sz="2000" dirty="0">
              <a:latin typeface="Meiryo"/>
              <a:ea typeface="Meiryo"/>
              <a:cs typeface="Meiryo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4848149" y="5157216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6437376" y="1554480"/>
            <a:ext cx="5047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縦軸：3.0から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775704" y="5029200"/>
            <a:ext cx="446227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08776" y="491032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775704" y="4531766"/>
            <a:ext cx="446227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08776" y="441289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775704" y="4034333"/>
            <a:ext cx="446227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208776" y="3915461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775704" y="3536899"/>
            <a:ext cx="446227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208776" y="3418027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3.6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775704" y="3039466"/>
            <a:ext cx="446227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08776" y="292059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3.8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775704" y="2542032"/>
            <a:ext cx="446227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208776" y="24231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6998818" y="4780483"/>
            <a:ext cx="446227" cy="248717"/>
          </a:xfrm>
          <a:prstGeom prst="rect">
            <a:avLst/>
          </a:prstGeom>
          <a:solidFill>
            <a:srgbClr val="B05D12"/>
          </a:solidFill>
          <a:ln w="12700">
            <a:solidFill>
              <a:srgbClr val="B05D1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719011" y="4433011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20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3.1</a:t>
            </a:r>
            <a:endParaRPr lang="ja-JP" sz="2000" dirty="0">
              <a:latin typeface="Meiryo"/>
              <a:ea typeface="Meiryo"/>
              <a:cs typeface="Meiryo"/>
            </a:endParaRPr>
          </a:p>
        </p:txBody>
      </p:sp>
      <p:sp>
        <p:nvSpPr>
          <p:cNvPr id="45" name="Text 43"/>
          <p:cNvSpPr txBox="1"/>
          <p:nvPr/>
        </p:nvSpPr>
        <p:spPr>
          <a:xfrm>
            <a:off x="6828739" y="5157216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2022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7891272" y="4531766"/>
            <a:ext cx="446227" cy="497434"/>
          </a:xfrm>
          <a:prstGeom prst="rect">
            <a:avLst/>
          </a:prstGeom>
          <a:solidFill>
            <a:srgbClr val="B05D12"/>
          </a:solidFill>
          <a:ln w="12700">
            <a:solidFill>
              <a:srgbClr val="B05D1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611466" y="4184294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20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3.2</a:t>
            </a:r>
            <a:endParaRPr lang="ja-JP" sz="2000" dirty="0">
              <a:latin typeface="Meiryo"/>
              <a:ea typeface="Meiryo"/>
              <a:cs typeface="Meiryo"/>
            </a:endParaRPr>
          </a:p>
        </p:txBody>
      </p:sp>
      <p:sp>
        <p:nvSpPr>
          <p:cNvPr id="48" name="Text 46"/>
          <p:cNvSpPr txBox="1"/>
          <p:nvPr/>
        </p:nvSpPr>
        <p:spPr>
          <a:xfrm>
            <a:off x="7721194" y="5157216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8783726" y="4283050"/>
            <a:ext cx="446227" cy="746150"/>
          </a:xfrm>
          <a:prstGeom prst="rect">
            <a:avLst/>
          </a:prstGeom>
          <a:solidFill>
            <a:srgbClr val="B05D12"/>
          </a:solidFill>
          <a:ln w="12700">
            <a:solidFill>
              <a:srgbClr val="B05D12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503920" y="3935578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20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3.3</a:t>
            </a:r>
            <a:endParaRPr lang="ja-JP" sz="2000" dirty="0">
              <a:latin typeface="Meiryo"/>
              <a:ea typeface="Meiryo"/>
              <a:cs typeface="Meiryo"/>
            </a:endParaRPr>
          </a:p>
        </p:txBody>
      </p:sp>
      <p:sp>
        <p:nvSpPr>
          <p:cNvPr id="51" name="Text 49"/>
          <p:cNvSpPr txBox="1"/>
          <p:nvPr/>
        </p:nvSpPr>
        <p:spPr>
          <a:xfrm>
            <a:off x="8613648" y="5157216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9676181" y="4034333"/>
            <a:ext cx="446227" cy="994867"/>
          </a:xfrm>
          <a:prstGeom prst="rect">
            <a:avLst/>
          </a:prstGeom>
          <a:solidFill>
            <a:srgbClr val="B05D12"/>
          </a:solidFill>
          <a:ln w="12700">
            <a:solidFill>
              <a:srgbClr val="B05D12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396374" y="3686861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20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3.4</a:t>
            </a:r>
            <a:endParaRPr lang="ja-JP" sz="2000" dirty="0">
              <a:latin typeface="Meiryo"/>
              <a:ea typeface="Meiryo"/>
              <a:cs typeface="Meiryo"/>
            </a:endParaRPr>
          </a:p>
        </p:txBody>
      </p:sp>
      <p:sp>
        <p:nvSpPr>
          <p:cNvPr id="54" name="Text 52"/>
          <p:cNvSpPr txBox="1"/>
          <p:nvPr/>
        </p:nvSpPr>
        <p:spPr>
          <a:xfrm>
            <a:off x="9506102" y="5157216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2025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10568635" y="3785616"/>
            <a:ext cx="446227" cy="1243584"/>
          </a:xfrm>
          <a:prstGeom prst="rect">
            <a:avLst/>
          </a:prstGeom>
          <a:solidFill>
            <a:srgbClr val="B05D12"/>
          </a:solidFill>
          <a:ln w="12700">
            <a:solidFill>
              <a:srgbClr val="B05D12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0288829" y="3438144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20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3.5</a:t>
            </a:r>
            <a:endParaRPr lang="ja-JP" sz="2000" dirty="0">
              <a:latin typeface="Meiryo"/>
              <a:ea typeface="Meiryo"/>
              <a:cs typeface="Meiryo"/>
            </a:endParaRPr>
          </a:p>
        </p:txBody>
      </p:sp>
      <p:sp>
        <p:nvSpPr>
          <p:cNvPr id="57" name="Text 55"/>
          <p:cNvSpPr txBox="1"/>
          <p:nvPr/>
        </p:nvSpPr>
        <p:spPr>
          <a:xfrm>
            <a:off x="10398557" y="5157216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58" name="Text 56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教育用の架空データ。軸以外の値は同じ。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59" name="Text 57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60" name="Text 58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第10回  02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元の数字を先に見る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38328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709928"/>
            <a:ext cx="3090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023360" y="1554480"/>
            <a:ext cx="7525512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69664" y="1709928"/>
            <a:ext cx="7232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reported_confidence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2258568"/>
            <a:ext cx="3383280" cy="676656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" y="2386584"/>
            <a:ext cx="30906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2022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023360" y="2258568"/>
            <a:ext cx="7525512" cy="676656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69664" y="2386584"/>
            <a:ext cx="7232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3.1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293522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935224"/>
            <a:ext cx="33832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6384" y="3063240"/>
            <a:ext cx="30906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2023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023360" y="2935224"/>
            <a:ext cx="752551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69664" y="3063240"/>
            <a:ext cx="7232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3.2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0080" y="3611880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611880"/>
            <a:ext cx="3383280" cy="676656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6384" y="3739896"/>
            <a:ext cx="30906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2024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023360" y="3611880"/>
            <a:ext cx="7525512" cy="676656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169664" y="3739896"/>
            <a:ext cx="7232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3.3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40080" y="4288536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4288536"/>
            <a:ext cx="33832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6384" y="4416552"/>
            <a:ext cx="30906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2025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023360" y="4288536"/>
            <a:ext cx="752551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169664" y="4416552"/>
            <a:ext cx="7232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3.4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40080" y="4965192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4965192"/>
            <a:ext cx="3383280" cy="676656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86384" y="5093208"/>
            <a:ext cx="30906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023360" y="4965192"/>
            <a:ext cx="7525512" cy="676656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169664" y="5093208"/>
            <a:ext cx="7232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3.5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0080" y="5641848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chart_claim_data.csv。数値の意味や測定方法は、別の説明も必要。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第10回  03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グラフを読む順番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ile-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19656"/>
            <a:ext cx="530352" cy="5303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96112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何の数字か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96112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項目名、単位、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対象期間を読む。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346448" y="1536192"/>
            <a:ext cx="3496056" cy="3977640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9" name="Image 1" descr="Lucide chart-colum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480" y="1819656"/>
            <a:ext cx="530352" cy="53035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02480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どう描いているか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4602480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軸の始点と終点、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目盛りを見る。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8052816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3" name="Image 2" descr="Lucide tab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848" y="1819656"/>
            <a:ext cx="530352" cy="53035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308848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元の値はどうか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0"/>
          <p:cNvSpPr txBox="1"/>
          <p:nvPr/>
        </p:nvSpPr>
        <p:spPr>
          <a:xfrm>
            <a:off x="8308848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差を計算し、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印象と比べる。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1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2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第10回  04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AIにグラフを説明させる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2つのグラフを比べてください。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使っている値と、縦軸の範囲を確認し、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見た目の印象が違う理由を説明してください。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画像を渡せなければ、データと縦軸の範囲を文章で伝える。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第10回  05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増えた量は、0.4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9344"/>
            <a:ext cx="10607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2022年の3.1から、2026年の3.5へ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2596896"/>
            <a:ext cx="10908792" cy="1417320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95351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3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3.5 − 3.1 = 0.4</a:t>
            </a:r>
            <a:endParaRPr lang="ja-JP" sz="36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" y="4590288"/>
            <a:ext cx="10607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「急増した」と書く前に、実際の差を示す。</a:t>
            </a:r>
            <a:endParaRPr lang="ja-JP" sz="25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5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この数値の尺度や調査方法も確認が必要。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第10回  06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軸を変えること自体が誤りではない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0から示すとき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全体に対する大きさを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比べやすい。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棒の長さの比較に注意する。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範囲を絞るとき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小さな変化を読みやすい。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その分、差が大きく見える。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軸の範囲を明示する。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第10回  07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描かれていないことも確認する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5" name="Image 0" descr="Lucide 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何人を、どう調べたのか。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毎年、同じ条件で測ったのか。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グラフだけで分からなければ、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「この図だけでは判断できない」と書く。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第10回  08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誇張しない説明に直す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この架空データを2文で説明してください。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1文目に数値の変化、2文目にこの資料だけでは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判断できないことを書いてください。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変化の原因は推測しないでください。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数値・期間・軸の範囲を、自分でも確認する。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第10回  09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見た目の評価を、数値の説明に変える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B05D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避けたい説明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2026年に大きく急増した。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AIの普及が原因だろう。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この資料から書ける説明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2022年から2026年に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3.1から3.5へ増えた。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増加の理由は判断できない。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第10回  10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グラフの確認記録を作る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どちらも同じ5個の値だと確認した。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縦軸の違いを説明した。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実際の差0.4を示した。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数値の尺度や調査条件の不明点を書いた。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第10回  11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成果物と確認したことを残す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257800" cy="4041648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828800"/>
            <a:ext cx="448056" cy="4480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72768" y="18196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week10/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950976" y="2660904"/>
            <a:ext cx="4590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README.md：</a:t>
            </a:r>
            <a:endParaRPr lang="ja-JP" sz="22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軸の比較・2文の説明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391656" y="180136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READMEの利用記録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6400800" y="2779776"/>
            <a:ext cx="48097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AIに任せたこと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自分で確かめたこと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確認できなかったこと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第10回  12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保存した版のURLを提出する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GitHubで変更を確定する。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更新したファイルを確認し、commitする。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そのcommitのページを開く。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URLに /commit/ があることを確認する。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授業の提出フォームを送る。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大学アカウントで開き、Week 10を選ぶ。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ブラウザでcommitした場合、別のpush操作は不要。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第10回  13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提出する前に、ここを確認する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元データとグラフを照合した。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見た目と実際の差を分けて書いた。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原因を資料なしで断定していない。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成果物のあるcommit URLを送った。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第10回  14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ajorFont>
      <a:min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Tsuchiya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グラフの印象を数字と比べる</dc:title>
  <dc:subject>AI・データリテラシー／学生向け演習</dc:subject>
  <dc:creator>Takahiro Tsuchiya</dc:creator>
  <cp:lastModifiedBy>Takahiro Tsuchiya</cp:lastModifiedBy>
  <cp:revision>1</cp:revision>
  <dcterms:created xsi:type="dcterms:W3CDTF">2026-09-17T11:31:39Z</dcterms:created>
  <dcterms:modified xsi:type="dcterms:W3CDTF">2026-09-17T11:31:39Z</dcterms:modified>
</cp:coreProperties>
</file>