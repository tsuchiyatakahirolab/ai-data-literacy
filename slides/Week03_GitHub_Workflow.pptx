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  <ns0:sldId id="264" ns1:id="rId10"/>
    <ns0:sldId id="265" ns1:id="rId11"/>
    <ns0:sldId id="266" ns1:id="rId12"/>
    <ns0:sldId id="267" ns1:id="rId13"/>
    <ns0:sldId id="268" ns1:id="rId14"/>
    <ns0:sldId id="269" ns1:id="rId15"/>
    <ns0:sldId id="270" ns1:id="rId16"/>
    <ns0:sldId id="271" ns1:id="rId17"/>
    <ns0:sldId id="272" ns1:id="rId18"/>
    <ns0:sldId id="273" ns1:id="rId19"/>
    <ns0:sldId id="274" ns1:id="rId20"/>
    <ns0:sldId id="275" ns1:id="rId21"/>
    <ns0:sldId id="276" ns1:id="rId22"/>
  </ns0:sldIdLst>
  <ns0:notesMasterIdLst>
    <ns0:notesMasterId ns1:id="rId23"/>
  </ns0:notesMasterIdLst>
  <ns0:sldSz cx="12192000" cy="6858000"/>
  <ns0:notesSz cx="6858000" cy="12192000"/>
  <ns0:defaultTextStyle>
    <ns2:lvl1pPr marL="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1pPr>
    <ns2:lvl2pPr marL="4572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2pPr>
    <ns2:lvl3pPr marL="9144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3pPr>
    <ns2:lvl4pPr marL="13716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4pPr>
    <ns2:lvl5pPr marL="18288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5pPr>
    <ns2:lvl6pPr marL="22860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6pPr>
    <ns2:lvl7pPr marL="27432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7pPr>
    <ns2:lvl8pPr marL="32004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8pPr>
    <ns2:lvl9pPr marL="3657600" algn="l" defTabSz="914400" rtl="0" eaLnBrk="1" latinLnBrk="0" hangingPunct="1">
      <ns2:defRPr sz="1800" kern="1200" lang="ja-JP">
        <ns2:solidFill>
          <ns2:schemeClr val="tx1"/>
        </ns2:solidFill>
        <ns2:latin typeface="Meiryo"/>
        <ns2:ea typeface="Meiryo"/>
        <ns2:cs typeface="Meiryo"/>
      </ns2:defRPr>
    </ns2:lvl9pPr>
  </ns0:defaultTextStyle>
</ns0:presentation>
</file>

<file path=ppt/presProps.xml><?xml version="1.0" encoding="utf-8"?>
<ns0:presentationPr xmlns:ns0="http://schemas.openxmlformats.org/presentationml/2006/main"/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>
  <ns0:normalViewPr horzBarState="maximized">
    <ns0:restoredLeft sz="15611"/>
    <ns0:restoredTop sz="94610"/>
  </ns0:normalViewPr>
  <ns0:slideViewPr>
    <ns0:cSldViewPr snapToGrid="0" snapToObjects="1">
      <ns0:cViewPr varScale="1">
        <ns0:scale>
          <ns1:sx n="136" d="100"/>
          <ns1:sy n="136" d="100"/>
        </ns0:scale>
        <ns0:origin x="216" y="312"/>
      </ns0:cViewPr>
      <ns0:guideLst/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6200" cy="76200"/>
</ns0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ns0:notesMaster xmlns:ns0="http://schemas.openxmlformats.org/presentationml/2006/main" xmlns:ns1="http://schemas.openxmlformats.org/drawingml/2006/main" xmlns:ns2="http://schemas.microsoft.com/office/powerpoint/2010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Header Placeholder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Date Placeholder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fld id="{5282F153-3F37-0F45-9E97-73ACFA13230C}" type="datetimeFigureOut">
              <ns1:rPr lang="ja-JP">
                <ns1:latin typeface="Meiryo"/>
                <ns1:ea typeface="Meiryo"/>
                <ns1:cs typeface="Meiryo"/>
              </ns1:rPr>
              <ns1:t>7/23/19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4" name="Slide Image Placeholder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Notes Placeholder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ja-JP">
                <ns1:latin typeface="Meiryo"/>
                <ns1:ea typeface="Meiryo"/>
                <ns1:cs typeface="Meiryo"/>
              </ns1:rPr>
              <ns1:t>Click to edit Master text styles</ns1:t>
            </ns1:r>
          </ns1:p>
          <ns1:p>
            <ns1:pPr lvl="1"/>
            <ns1:r>
              <ns1:rPr lang="ja-JP">
                <ns1:latin typeface="Meiryo"/>
                <ns1:ea typeface="Meiryo"/>
                <ns1:cs typeface="Meiryo"/>
              </ns1:rPr>
              <ns1:t>Second level</ns1:t>
            </ns1:r>
          </ns1:p>
          <ns1:p>
            <ns1:pPr lvl="2"/>
            <ns1:r>
              <ns1:rPr lang="ja-JP">
                <ns1:latin typeface="Meiryo"/>
                <ns1:ea typeface="Meiryo"/>
                <ns1:cs typeface="Meiryo"/>
              </ns1:rPr>
              <ns1:t>Third level</ns1:t>
            </ns1:r>
          </ns1:p>
          <ns1:p>
            <ns1:pPr lvl="3"/>
            <ns1:r>
              <ns1:rPr lang="ja-JP">
                <ns1:latin typeface="Meiryo"/>
                <ns1:ea typeface="Meiryo"/>
                <ns1:cs typeface="Meiryo"/>
              </ns1:rPr>
              <ns1:t>Fourth level</ns1:t>
            </ns1:r>
          </ns1:p>
          <ns1:p>
            <ns1:pPr lvl="4"/>
            <ns1:r>
              <ns1:rPr lang="ja-JP">
                <ns1:latin typeface="Meiryo"/>
                <ns1:ea typeface="Meiryo"/>
                <ns1:cs typeface="Meiryo"/>
              </ns1:rPr>
              <ns1:t>Fifth level</ns1:t>
            </ns1:r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endParaRPr lang="ja-JP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 lang="ja-JP">
                <ns1:latin typeface="Meiryo"/>
                <ns1:ea typeface="Meiryo"/>
                <ns1:cs typeface="Meiryo"/>
              </ns1:defRPr>
            </ns1:lvl1pPr>
          </ns1:lstStyle>
          <ns1:p>
            <ns1:fld id="{CE5E9CC1-C706-0F49-92D6-E571CC5EEA8F}" type="slidenum">
              <ns1:rPr lang="ja-JP">
                <ns1:latin typeface="Meiryo"/>
                <ns1:ea typeface="Meiryo"/>
                <ns1:cs typeface="Meiryo"/>
              </ns1:rPr>
              <ns1:t>‹#›</ns1:t>
            </ns1:fld>
            <ns1:endParaRPr lang="ja-JP">
              <ns1:latin typeface="Meiryo"/>
              <ns1:ea typeface="Meiryo"/>
              <ns1:cs typeface="Meiryo"/>
            </ns1:endParaRPr>
          </ns1:p>
        </ns0:txBody>
      </ns0:sp>
    </ns0:spTree>
    <ns0:extLst>
      <ns0:ext uri="{BB962C8B-B14F-4D97-AF65-F5344CB8AC3E}">
        <ns2:creationId val="1024086991"/>
      </ns0:ext>
    </ns0:extLst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1pPr>
    <ns1:lvl2pPr marL="4572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2pPr>
    <ns1:lvl3pPr marL="9144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3pPr>
    <ns1:lvl4pPr marL="13716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4pPr>
    <ns1:lvl5pPr marL="18288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5pPr>
    <ns1:lvl6pPr marL="22860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6pPr>
    <ns1:lvl7pPr marL="27432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7pPr>
    <ns1:lvl8pPr marL="32004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8pPr>
    <ns1:lvl9pPr marL="3657600" algn="l" defTabSz="914400" rtl="0" eaLnBrk="1" latinLnBrk="0" hangingPunct="1">
      <ns1:defRPr sz="1200" kern="1200" lang="ja-JP">
        <ns1:solidFill>
          <ns1:schemeClr val="tx1"/>
        </ns1:solidFill>
        <ns1:latin typeface="Meiryo"/>
        <ns1:ea typeface="Meiryo"/>
        <ns1:cs typeface="Meiryo"/>
      </ns1:defRPr>
    </ns1:lvl9pPr>
  </ns0:notesStyle>
</ns0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Docs「Committing and reviewing changes」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https://docs.github.com/en/desktop/making-changes-in-a-branch/committing-and-reviewing-changes-to-your-project-in-github-desktop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画面は操作箇所を整理した模式図であり、実際のサービス画面ではない。ラベルの位置は変わる可能性がある。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画面は操作箇所を整理した模式図であり、実際のサービス画面ではない。ラベルの位置は変わる可能性がある。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画面は操作箇所を整理した模式図であり、実際のサービス画面ではない。ラベルの位置は変わる可能性がある。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配布ファイルはassets/week03/practice.txt。自分の非公開リポジトリへ追加する。mainへの直接commitを基本にするが、保護ルール等で選べない場合は教員へ相談する。手順の見本は模式図であり、実際のサービス画面では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画面は操作箇所を整理した模式図であり、実際のサービス画面ではない。ラベルの位置は変わる可能性がある。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Docs「Adding a file to a repository」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https://docs.github.com/en/repositories/working-with-files/managing-files/adding-a-file-to-a-repository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14ページ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コピー用の1行をweek03/README.mdに追加する。ファイルを同じフォルダに置いてあるので、相対パスpractice.txtで開ける。ファイル名を変えた学生はリンク側も変える。Markdownの記号を試験で暗記させない。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15ページ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Docs「Pushing changes to GitHub」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https://docs.github.com/en/desktop/making-changes-in-a-branch/pushing-changes-to-github-from-github-desktop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16ページ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Docs「Cloning and forking repositories」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https://docs.github.com/en/desktop/adding-and-cloning-repositories/cloning-and-forking-repositories-from-github-desktop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17ページ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Docs「Committing and reviewing changes」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https://docs.github.com/en/desktop/making-changes-in-a-branch/committing-and-reviewing-changes-to-your-project-in-github-desktop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Docs「Pushing changes to GitHub」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https://docs.github.com/en/desktop/making-changes-in-a-branch/pushing-changes-to-github-from-github-desktop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18ページ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19ページ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20ページ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【進行】変更を確かめてGitHubへ残す / 21ページ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到達点：GitHub上で編集と差分確認を行い、提出時点をcommit URLで示す。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xmlns:ns1="http://schemas.openxmlformats.org/drawingml/2006/main" preserve="1">
  <ns0:cSld name="DEFAULT"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1.png"/><Relationship Id="rId4" Type="http://schemas.openxmlformats.org/officeDocument/2006/relationships/image" Target="../media/image-2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第03回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どこを変えたか、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説明できますか？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第3回｜編集・差分・commitを体験し、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提出する版を確かめます。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git-commit-horizon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2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今日は、3つの操作をつなげる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36192"/>
            <ns1:ext cx="3496056" cy="397764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pic>
        <ns0:nvPicPr>
          <ns0:cNvPr id="5" name="Image 0" descr="Lucide keyboard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896112" y="1819656"/>
            <ns1:ext cx="530352" cy="530352"/>
          </ns1:xfrm>
          <ns1:prstGeom prst="rect">
            <ns1:avLst/>
          </ns1:prstGeom>
        </ns0:spPr>
      </ns0:pic>
      <ns0:sp>
        <ns0:nvSpPr>
          <ns0:cNvPr id="6" name="Text 3"/>
          <ns0:cNvSpPr txBox="1"/>
          <ns0:nvPr/>
        </ns0:nvSpPr>
        <ns0:spPr>
          <ns1:xfrm>
            <ns1:off x="896112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編集する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Text 4"/>
          <ns0:cNvSpPr txBox="1"/>
          <ns0:nvPr/>
        </ns0:nvSpPr>
        <ns0:spPr>
          <ns1:xfrm>
            <ns1:off x="896112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短い文章を追加し、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修正する。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8" name="Shape 5"/>
          <ns0:cNvSpPr/>
          <ns0:nvPr/>
        </ns0:nvSpPr>
        <ns0:spPr>
          <ns1:xfrm>
            <ns1:off x="4346448" y="1536192"/>
            <ns1:ext cx="3496056" cy="3977640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pic>
        <ns0:nvPicPr>
          <ns0:cNvPr id="9" name="Image 1" descr="Lucide git-branch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4602480" y="1819656"/>
            <ns1:ext cx="530352" cy="530352"/>
          </ns1:xfrm>
          <ns1:prstGeom prst="rect">
            <ns1:avLst/>
          </ns1:prstGeom>
        </ns0:spPr>
      </ns0:pic>
      <ns0:sp>
        <ns0:nvSpPr>
          <ns0:cNvPr id="10" name="Text 6"/>
          <ns0:cNvSpPr txBox="1"/>
          <ns0:nvPr/>
        </ns0:nvSpPr>
        <ns0:spPr>
          <ns1:xfrm>
            <ns1:off x="4602480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差分を見る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4602480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変更前と変更後を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比べる。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Shape 8"/>
          <ns0:cNvSpPr/>
          <ns0:nvPr/>
        </ns0:nvSpPr>
        <ns0:spPr>
          <ns1:xfrm>
            <ns1:off x="8052816" y="1536192"/>
            <ns1:ext cx="3496056" cy="397764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pic>
        <ns0:nvPicPr>
          <ns0:cNvPr id="13" name="Image 2" descr="Lucide upload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8308848" y="1819656"/>
            <ns1:ext cx="530352" cy="530352"/>
          </ns1:xfrm>
          <ns1:prstGeom prst="rect">
            <ns1:avLst/>
          </ns1:prstGeom>
        </ns0:spPr>
      </ns0:pic>
      <ns0:sp>
        <ns0:nvSpPr>
          <ns0:cNvPr id="14" name="Text 9"/>
          <ns0:cNvSpPr txBox="1"/>
          <ns0:nvPr/>
        </ns0:nvSpPr>
        <ns0:spPr>
          <ns1:xfrm>
            <ns1:off x="8308848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版を示す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0"/>
          <ns0:cNvSpPr txBox="1"/>
          <ns0:nvPr/>
        </ns0:nvSpPr>
        <ns0:spPr>
          <ns1:xfrm>
            <ns1:off x="8308848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 URLを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1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2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02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 name="Slide 3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GitとGitHubの役割を分ける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5358384" cy="3986784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905256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905256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ファイルの変更履歴を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記録する仕組み。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commitで版を確定する。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6190488" y="1554480"/>
            <ns1:ext cx="5358384" cy="3986784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6455664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6455664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Gitで管理するファイルを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ネット上に置くサービス。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ブラウザからも編集できる。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9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03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4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同じファイルでも、版が変わる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1152144" y="2093976"/>
            <ns1:ext cx="3694176" cy="0"/>
          </ns1:xfrm>
          <ns1:prstGeom prst="line">
            <ns1:avLst/>
          </ns1:prstGeom>
          <ns1:noFill/>
          <ns1:ln w="38100">
            <ns1:solidFill>
              <ns1:srgbClr val="007F82"/>
            </ns1:solidFill>
            <ns1:prstDash val="solid"/>
          </ns1:ln>
        </ns0:spPr>
      </ns0:sp>
      <ns0:pic>
        <ns0:nvPicPr>
          <ns0:cNvPr id="5" name="Image 0" descr="Lucide git-commit-horizontal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914400" y="1819656"/>
            <ns1:ext cx="566928" cy="566928"/>
          </ns1:xfrm>
          <ns1:prstGeom prst="rect">
            <ns1:avLst/>
          </ns1:prstGeom>
        </ns0:spPr>
      </ns0:pic>
      <ns0:sp>
        <ns0:nvSpPr>
          <ns0:cNvPr id="6" name="Text 3"/>
          <ns0:cNvSpPr txBox="1"/>
          <ns0:nvPr/>
        </ns0:nvSpPr>
        <ns0:spPr>
          <ns1:xfrm>
            <ns1:off x="914400" y="2798064"/>
            <ns1:ext cx="320040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初めの版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Text 4"/>
          <ns0:cNvSpPr txBox="1"/>
          <ns0:nvPr/>
        </ns0:nvSpPr>
        <ns0:spPr>
          <ns1:xfrm>
            <ns1:off x="914400" y="3666744"/>
            <ns1:ext cx="3154680" cy="1371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AIで説明を作る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8" name="Shape 5"/>
          <ns0:cNvSpPr/>
          <ns0:nvPr/>
        </ns0:nvSpPr>
        <ns0:spPr>
          <ns1:xfrm>
            <ns1:off x="4846320" y="2093976"/>
            <ns1:ext cx="3694176" cy="0"/>
          </ns1:xfrm>
          <ns1:prstGeom prst="line">
            <ns1:avLst/>
          </ns1:prstGeom>
          <ns1:noFill/>
          <ns1:ln w="38100">
            <ns1:solidFill>
              <ns1:srgbClr val="007F82"/>
            </ns1:solidFill>
            <ns1:prstDash val="solid"/>
          </ns1:ln>
        </ns0:spPr>
      </ns0:sp>
      <ns0:pic>
        <ns0:nvPicPr>
          <ns0:cNvPr id="9" name="Image 1" descr="Lucide git-commit-horizontal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4608576" y="1819656"/>
            <ns1:ext cx="566928" cy="566928"/>
          </ns1:xfrm>
          <ns1:prstGeom prst="rect">
            <ns1:avLst/>
          </ns1:prstGeom>
        </ns0:spPr>
      </ns0:pic>
      <ns0:sp>
        <ns0:nvSpPr>
          <ns0:cNvPr id="10" name="Text 6"/>
          <ns0:cNvSpPr txBox="1"/>
          <ns0:nvPr/>
        </ns0:nvSpPr>
        <ns0:spPr>
          <ns1:xfrm>
            <ns1:off x="4608576" y="2798064"/>
            <ns1:ext cx="320040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修正した版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4608576" y="3666744"/>
            <ns1:ext cx="3154680" cy="1371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出典で確認した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内容を加える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12" name="Image 2" descr="Lucide git-commit-horizontal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8302752" y="1819656"/>
            <ns1:ext cx="566928" cy="566928"/>
          </ns1:xfrm>
          <ns1:prstGeom prst="rect">
            <ns1:avLst/>
          </ns1:prstGeom>
        </ns0:spPr>
      </ns0:pic>
      <ns0:sp>
        <ns0:nvSpPr>
          <ns0:cNvPr id="13" name="Text 8"/>
          <ns0:cNvSpPr txBox="1"/>
          <ns0:nvPr/>
        </ns0:nvSpPr>
        <ns0:spPr>
          <ns1:xfrm>
            <ns1:off x="8302752" y="2798064"/>
            <ns1:ext cx="320040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提出した版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9"/>
          <ns0:cNvSpPr txBox="1"/>
          <ns0:nvPr/>
        </ns0:nvSpPr>
        <ns0:spPr>
          <ns1:xfrm>
            <ns1:off x="8302752" y="3666744"/>
            <ns1:ext cx="3154680" cy="1371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読み直して、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提出する版を決める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0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履歴があることだけで、内容の正しさや作業の本人性は証明できない。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1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2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04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 name="Slide 5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自分のweek03を開く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6400800" cy="402336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640080" y="1554480"/>
            <ns1:ext cx="6400800" cy="530352"/>
          </ns1:xfrm>
          <ns1:prstGeom prst="rect">
            <ns1:avLst/>
          </ns1:prstGeom>
          <ns1:solidFill>
            <ns1:srgbClr val="EFF2F5"/>
          </ns1:solidFill>
          <ns1:ln w="12700">
            <ns1:solidFill>
              <ns1:srgbClr val="EFF2F5"/>
            </ns1:solidFill>
            <ns1:prstDash val="solid"/>
          </ns1:ln>
        </ns0:spPr>
      </ns0:sp>
      <ns0:sp>
        <ns0:nvSpPr>
          <ns0:cNvPr id="6" name="Text 4"/>
          <ns0:cNvSpPr txBox="1"/>
          <ns0:nvPr/>
        </ns0:nvSpPr>
        <ns0:spPr>
          <ns1:xfrm>
            <ns1:off x="850392" y="1682496"/>
            <ns1:ext cx="594360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ai-learning / week03 / README.md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950976" y="2350008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1124712" y="2505456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自分のアカウント名を確認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Shape 7"/>
          <ns0:cNvSpPr/>
          <ns0:nvPr/>
        </ns0:nvSpPr>
        <ns0:spPr>
          <ns1:xfrm>
            <ns1:off x="950976" y="3246120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0" name="Text 8"/>
          <ns0:cNvSpPr txBox="1"/>
          <ns0:nvPr/>
        </ns0:nvSpPr>
        <ns0:spPr>
          <ns1:xfrm>
            <ns1:off x="1124712" y="3401568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week03 → README.md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950976" y="4142232"/>
            <ns1:ext cx="5742432" cy="76809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007F82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1124712" y="4297680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鉛筆の編集ボタン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822960" y="5230368"/>
            <ns1:ext cx="6217920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操作箇所を示した模式図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7406640" y="1682496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7936992" y="1682496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教材本体ではなく自分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の保存先を開く。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7406640" y="2980944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2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7936992" y="2980944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week03を開く。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7406640" y="4279392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3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9" name="Text 17"/>
          <ns0:cNvSpPr txBox="1"/>
          <ns0:nvPr/>
        </ns0:nvSpPr>
        <ns0:spPr>
          <ns1:xfrm>
            <ns1:off x="7936992" y="4279392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README.mdを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編集する。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0" name="Text 18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1" name="Text 19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05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6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まず、短い学習記録を書く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pic>
        <ns0:nvPicPr>
          <ns0:cNvPr id="4" name="Image 0" descr="Lucide keyboard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13232" y="1499616"/>
            <ns1:ext cx="384048" cy="384048"/>
          </ns1:xfrm>
          <ns1:prstGeom prst="rect">
            <ns1:avLst/>
          </ns1:prstGeom>
        </ns0:spPr>
      </ns0:pic>
      <ns0:sp>
        <ns0:nvSpPr>
          <ns0:cNvPr id="5" name="Text 2"/>
          <ns0:cNvSpPr txBox="1"/>
          <ns0:nvPr/>
        </ns0:nvSpPr>
        <ns0:spPr>
          <ns1:xfrm>
            <ns1:off x="1280160" y="1490472"/>
            <ns1:ext cx="7315200" cy="4754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READMEに入力しよう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Shape 3"/>
          <ns0:cNvSpPr/>
          <ns0:nvPr/>
        </ns0:nvSpPr>
        <ns0:spPr>
          <ns1:xfrm>
            <ns1:off x="640080" y="2084832"/>
            <ns1:ext cx="10908792" cy="287121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7" name="Text 4"/>
          <ns0:cNvSpPr txBox="1"/>
          <ns0:nvPr/>
        </ns0:nvSpPr>
        <ns0:spPr>
          <ns1:xfrm>
            <ns1:off x="950976" y="2350008"/>
            <ns1:ext cx="10287000" cy="2423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## AIに任せたこと</ns1:t>
            </ns1:r>
            <ns1:endParaRPr lang="ja-JP" sz="27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AIに用語の説明を頼んだ。</ns1:t>
            </ns1:r>
            <ns1:endParaRPr lang="ja-JP" sz="27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分からない点を追加で質問した。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8" name="Image 1" descr="Lucide circle-check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731520" y="5230368"/>
            <ns1:ext cx="338328" cy="338328"/>
          </ns1:xfrm>
          <ns1:prstGeom prst="rect">
            <ns1:avLst/>
          </ns1:prstGeom>
        </ns0:spPr>
      </ns0:pic>
      <ns0:sp>
        <ns0:nvSpPr>
          <ns0:cNvPr id="9" name="Text 5"/>
          <ns0:cNvSpPr txBox="1"/>
          <ns0:nvPr/>
        </ns0:nvSpPr>
        <ns0:spPr>
          <ns1:xfrm>
            <ns1:off x="1225296" y="5166360"/>
            <ns1:ext cx="1024128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ここは編集練習用の例。自分が行った内容に置き換える。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6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06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 name="Slide 7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1回目の変更を確定する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6400800" cy="402336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640080" y="1554480"/>
            <ns1:ext cx="6400800" cy="530352"/>
          </ns1:xfrm>
          <ns1:prstGeom prst="rect">
            <ns1:avLst/>
          </ns1:prstGeom>
          <ns1:solidFill>
            <ns1:srgbClr val="EFF2F5"/>
          </ns1:solidFill>
          <ns1:ln w="12700">
            <ns1:solidFill>
              <ns1:srgbClr val="EFF2F5"/>
            </ns1:solidFill>
            <ns1:prstDash val="solid"/>
          </ns1:ln>
        </ns0:spPr>
      </ns0:sp>
      <ns0:sp>
        <ns0:nvSpPr>
          <ns0:cNvPr id="6" name="Text 4"/>
          <ns0:cNvSpPr txBox="1"/>
          <ns0:nvPr/>
        </ns0:nvSpPr>
        <ns0:spPr>
          <ns1:xfrm>
            <ns1:off x="850392" y="1682496"/>
            <ns1:ext cx="594360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 changes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950976" y="2350008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1124712" y="2505456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メッセージ：学習記録を追加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Shape 7"/>
          <ns0:cNvSpPr/>
          <ns0:nvPr/>
        </ns0:nvSpPr>
        <ns0:spPr>
          <ns1:xfrm>
            <ns1:off x="950976" y="3246120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0" name="Text 8"/>
          <ns0:cNvSpPr txBox="1"/>
          <ns0:nvPr/>
        </ns0:nvSpPr>
        <ns0:spPr>
          <ns1:xfrm>
            <ns1:off x="1124712" y="3401568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変更内容を確認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950976" y="4142232"/>
            <ns1:ext cx="5742432" cy="76809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007F82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1124712" y="4297680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 changes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822960" y="5230368"/>
            <ns1:ext cx="6217920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操作箇所を示した模式図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7406640" y="1682496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7936992" y="1682496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Previewで、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表示を確かめる。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7406640" y="2980944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2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7936992" y="2980944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変更内容を短く書く。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7406640" y="4279392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3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9" name="Text 17"/>
          <ns0:cNvSpPr txBox="1"/>
          <ns0:nvPr/>
        </ns0:nvSpPr>
        <ns0:spPr>
          <ns1:xfrm>
            <ns1:off x="7936992" y="4279392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 changesで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確定する。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0" name="Text 18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1" name="Text 19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07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8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次に、確認したことを足す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pic>
        <ns0:nvPicPr>
          <ns0:cNvPr id="4" name="Image 0" descr="Lucide keyboard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13232" y="1499616"/>
            <ns1:ext cx="384048" cy="384048"/>
          </ns1:xfrm>
          <ns1:prstGeom prst="rect">
            <ns1:avLst/>
          </ns1:prstGeom>
        </ns0:spPr>
      </ns0:pic>
      <ns0:sp>
        <ns0:nvSpPr>
          <ns0:cNvPr id="5" name="Text 2"/>
          <ns0:cNvSpPr txBox="1"/>
          <ns0:nvPr/>
        </ns0:nvSpPr>
        <ns0:spPr>
          <ns1:xfrm>
            <ns1:off x="1280160" y="1490472"/>
            <ns1:ext cx="7315200" cy="4754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READMEに入力しよう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Shape 3"/>
          <ns0:cNvSpPr/>
          <ns0:nvPr/>
        </ns0:nvSpPr>
        <ns0:spPr>
          <ns1:xfrm>
            <ns1:off x="640080" y="2084832"/>
            <ns1:ext cx="10908792" cy="287121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7" name="Text 4"/>
          <ns0:cNvSpPr txBox="1"/>
          <ns0:nvPr/>
        </ns0:nvSpPr>
        <ns0:spPr>
          <ns1:xfrm>
            <ns1:off x="950976" y="2350008"/>
            <ns1:ext cx="10287000" cy="2423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元の教材を開き、用語の意味を照合した。</ns1:t>
            </ns1:r>
            <ns1:endParaRPr lang="ja-JP" sz="27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AIの説明と一致していた。</ns1:t>
            </ns1:r>
            <ns1:endParaRPr lang="ja-JP" sz="27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endParaRPr lang="ja-JP" sz="27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※実際に確認した内容を、自分で書く。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8" name="Image 1" descr="Lucide circle-check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731520" y="5230368"/>
            <ns1:ext cx="338328" cy="338328"/>
          </ns1:xfrm>
          <ns1:prstGeom prst="rect">
            <ns1:avLst/>
          </ns1:prstGeom>
        </ns0:spPr>
      </ns0:pic>
      <ns0:sp>
        <ns0:nvSpPr>
          <ns0:cNvPr id="9" name="Text 5"/>
          <ns0:cNvSpPr txBox="1"/>
          <ns0:nvPr/>
        </ns0:nvSpPr>
        <ns0:spPr>
          <ns1:xfrm>
            <ns1:off x="1225296" y="5166360"/>
            <ns1:ext cx="1024128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1回目の文章を残したまま、確認の記録を追加する。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6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08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>
  <ns0:cSld name="Slide 9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差分で、追加した部分を確かめる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63624"/>
            <ns1:ext cx="10908792" cy="4005072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932688" y="1828800"/>
            <ns1:ext cx="9784080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0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もともとあった文</ns1:t>
            </ns1:r>
            <ns1:endParaRPr lang="ja-JP" sz="20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978408" y="2450592"/>
            <ns1:ext cx="9966960" cy="11247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5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AIに用語の説明を頼んだ。</ns1:t>
            </ns1:r>
            <ns1:endParaRPr lang="ja-JP" sz="25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5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分からない点を追加で質問した。</ns1:t>
            </ns1:r>
            <ns1:endParaRPr lang="ja-JP" sz="25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813816" y="3840480"/>
            <ns1:ext cx="10561320" cy="1444752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960120" y="4069080"/>
            <ns1:ext cx="59436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9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＋</ns1:t>
            </ns1:r>
            <ns1:endParaRPr lang="ja-JP" sz="29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1691640" y="4023360"/>
            <ns1:ext cx="9400032" cy="11430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5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元の教材を開き、意味を照合した。</ns1:t>
            </ns1:r>
            <ns1:endParaRPr lang="ja-JP" sz="25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5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AIの説明と一致していた。</ns1:t>
            </ns1:r>
            <ns1:endParaRPr lang="ja-JP" sz="25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緑色だけで判断せず、「＋」と文章の内容を確認する。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9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Text 10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09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>
  <ns0:cSld name="Slide 10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2回目のcommitを開く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6400800" cy="402336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640080" y="1554480"/>
            <ns1:ext cx="6400800" cy="530352"/>
          </ns1:xfrm>
          <ns1:prstGeom prst="rect">
            <ns1:avLst/>
          </ns1:prstGeom>
          <ns1:solidFill>
            <ns1:srgbClr val="EFF2F5"/>
          </ns1:solidFill>
          <ns1:ln w="12700">
            <ns1:solidFill>
              <ns1:srgbClr val="EFF2F5"/>
            </ns1:solidFill>
            <ns1:prstDash val="solid"/>
          </ns1:ln>
        </ns0:spPr>
      </ns0:sp>
      <ns0:sp>
        <ns0:nvSpPr>
          <ns0:cNvPr id="6" name="Text 4"/>
          <ns0:cNvSpPr txBox="1"/>
          <ns0:nvPr/>
        </ns0:nvSpPr>
        <ns0:spPr>
          <ns1:xfrm>
            <ns1:off x="850392" y="1682496"/>
            <ns1:ext cx="594360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 / Commits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950976" y="2350008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1124712" y="2505456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確認した内容を追記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Shape 7"/>
          <ns0:cNvSpPr/>
          <ns0:nvPr/>
        </ns0:nvSpPr>
        <ns0:spPr>
          <ns1:xfrm>
            <ns1:off x="950976" y="3246120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0" name="Text 8"/>
          <ns0:cNvSpPr txBox="1"/>
          <ns0:nvPr/>
        </ns0:nvSpPr>
        <ns0:spPr>
          <ns1:xfrm>
            <ns1:off x="1124712" y="3401568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変更されたファイル：README.md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950976" y="4142232"/>
            <ns1:ext cx="5742432" cy="76809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007F82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1124712" y="4297680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追加した行を確認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822960" y="5230368"/>
            <ns1:ext cx="6217920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操作箇所を示した模式図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7406640" y="1682496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7936992" y="1682496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変更をもう一度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7406640" y="2980944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2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7936992" y="2980944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履歴を開き、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commitを選ぶ。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7406640" y="4279392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3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9" name="Text 17"/>
          <ns0:cNvSpPr txBox="1"/>
          <ns0:nvPr/>
        </ns0:nvSpPr>
        <ns0:spPr>
          <ns1:xfrm>
            <ns1:off x="7936992" y="4279392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追加した行を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確認する。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0" name="Text 18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1" name="Text 19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10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>
  <ns0:cSld name="Slide 11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提出するのは、右側のURL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5358384" cy="3986784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905256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保存場所のURL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905256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github.com/自分/ai-learning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リポジトリ全体を開く。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提出した版は固定されない。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6190488" y="1554480"/>
            <ns1:ext cx="5358384" cy="3986784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6455664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提出した版のURL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6455664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github.com/自分/ai-learning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/commit/英数字の列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このcommitの版を示す。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模式例。英数字の列を自分で書かず、表示中のURLをコピーする。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9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Text 10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11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>
  <ns0:cSld name="Slide 12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すべての提出ファイルを確認する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Text 2"/>
          <ns0:cNvSpPr txBox="1"/>
          <ns0:nvPr/>
        </ns0:nvSpPr>
        <ns0:spPr>
          <ns1:xfrm>
            <ns1:off x="704088" y="1572768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01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Text 3"/>
          <ns0:cNvSpPr txBox="1"/>
          <ns0:nvPr/>
        </ns0:nvSpPr>
        <ns0:spPr>
          <ns1:xfrm>
            <ns1:off x="1737360" y="1508760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提出するcommitのページを開く。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1737360" y="2212848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この画面には、主に変更したファイルが表示される。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1737360" y="2752344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704088" y="2926080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02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1737360" y="2862072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Browse filesなどから、その版を開く。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1737360" y="3566160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そのcommit時点のファイル全体を確認できる。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1737360" y="4105656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704088" y="4279392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03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1737360" y="4215384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week03とREADMEを開く。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1737360" y="4919472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必要なファイルがその版に入っているか確かめる。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最後の差分に出ないファイルも、その版に含まれている場合がある。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12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>
  <ns0:cSld name="Slide 13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練習用のファイルを追加する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6400800" cy="402336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640080" y="1554480"/>
            <ns1:ext cx="6400800" cy="530352"/>
          </ns1:xfrm>
          <ns1:prstGeom prst="rect">
            <ns1:avLst/>
          </ns1:prstGeom>
          <ns1:solidFill>
            <ns1:srgbClr val="EFF2F5"/>
          </ns1:solidFill>
          <ns1:ln w="12700">
            <ns1:solidFill>
              <ns1:srgbClr val="EFF2F5"/>
            </ns1:solidFill>
            <ns1:prstDash val="solid"/>
          </ns1:ln>
        </ns0:spPr>
      </ns0:sp>
      <ns0:sp>
        <ns0:nvSpPr>
          <ns0:cNvPr id="6" name="Text 4"/>
          <ns0:cNvSpPr txBox="1"/>
          <ns0:nvPr/>
        </ns0:nvSpPr>
        <ns0:spPr>
          <ns1:xfrm>
            <ns1:off x="850392" y="1682496"/>
            <ns1:ext cx="594360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ai-learning / week03 / Upload files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950976" y="2350008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1124712" y="2505456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Add file → Upload files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Shape 7"/>
          <ns0:cNvSpPr/>
          <ns0:nvPr/>
        </ns0:nvSpPr>
        <ns0:spPr>
          <ns1:xfrm>
            <ns1:off x="950976" y="3246120"/>
            <ns1:ext cx="5742432" cy="768096"/>
          </ns1:xfrm>
          <ns1:prstGeom prst="rect">
            <ns1:avLst/>
          </ns1:prstGeom>
          <ns1:solidFill>
            <ns1:srgbClr val="FFFFFF"/>
          </ns1:solidFill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0" name="Text 8"/>
          <ns0:cNvSpPr txBox="1"/>
          <ns0:nvPr/>
        </ns0:nvSpPr>
        <ns0:spPr>
          <ns1:xfrm>
            <ns1:off x="1124712" y="3401568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practice.txtを選ぶ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950976" y="4142232"/>
            <ns1:ext cx="5742432" cy="76809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007F82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1124712" y="4297680"/>
            <ns1:ext cx="5394960" cy="6126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変更内容を書いてcommit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822960" y="5230368"/>
            <ns1:ext cx="6217920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操作箇所を示した模式図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7406640" y="1682496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1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7936992" y="1682496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配布された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practice.txtを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手元に保存する。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7406640" y="2980944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2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7936992" y="2980944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week03で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Upload filesを開く。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7406640" y="4279392"/>
            <ns1:ext cx="457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3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9" name="Text 17"/>
          <ns0:cNvSpPr txBox="1"/>
          <ns0:nvPr/>
        </ns0:nvSpPr>
        <ns0:spPr>
          <ns1:xfrm>
            <ns1:off x="7936992" y="4279392"/>
            <ns1:ext cx="3456432" cy="10332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ファイルを選び、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変更を確定する。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0" name="Text 18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保存先がweek03になっているか、追加後のファイル一覧でも確認する。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1" name="Text 19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22" name="Text 20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13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4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READMEからファイルを開けるようにする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pic>
        <ns0:nvPicPr>
          <ns0:cNvPr id="4" name="Image 0" descr="Lucide keyboard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13232" y="1499616"/>
            <ns1:ext cx="384048" cy="384048"/>
          </ns1:xfrm>
          <ns1:prstGeom prst="rect">
            <ns1:avLst/>
          </ns1:prstGeom>
        </ns0:spPr>
      </ns0:pic>
      <ns0:sp>
        <ns0:nvSpPr>
          <ns0:cNvPr id="5" name="Text 2"/>
          <ns0:cNvSpPr txBox="1"/>
          <ns0:nvPr/>
        </ns0:nvSpPr>
        <ns0:spPr>
          <ns1:xfrm>
            <ns1:off x="1280160" y="1490472"/>
            <ns1:ext cx="7315200" cy="4754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READMEに入力しよう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Shape 3"/>
          <ns0:cNvSpPr/>
          <ns0:nvPr/>
        </ns0:nvSpPr>
        <ns0:spPr>
          <ns1:xfrm>
            <ns1:off x="640080" y="2084832"/>
            <ns1:ext cx="10908792" cy="2871216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7" name="Text 4"/>
          <ns0:cNvSpPr txBox="1"/>
          <ns0:nvPr/>
        </ns0:nvSpPr>
        <ns0:spPr>
          <ns1:xfrm>
            <ns1:off x="950976" y="2350008"/>
            <ns1:ext cx="10287000" cy="2423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[練習ファイルを開く](practice.txt)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8" name="Image 1" descr="Lucide circle-check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731520" y="5230368"/>
            <ns1:ext cx="338328" cy="338328"/>
          </ns1:xfrm>
          <ns1:prstGeom prst="rect">
            <ns1:avLst/>
          </ns1:prstGeom>
        </ns0:spPr>
      </ns0:pic>
      <ns0:sp>
        <ns0:nvSpPr>
          <ns0:cNvPr id="9" name="Text 5"/>
          <ns0:cNvSpPr txBox="1"/>
          <ns0:nvPr/>
        </ns0:nvSpPr>
        <ns0:spPr>
          <ns1:xfrm>
            <ns1:off x="1225296" y="5166360"/>
            <ns1:ext cx="1024128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Previewでリンクを確かめ、commit後にファイルを開いてみる。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6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画像やPDFも同じ考え方。ファイル名と、置いたフォルダを一致させる。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Text 8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14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>
  <ns0:cSld name="Slide 15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ブラウザだけで保存して提出する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5358384" cy="3986784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905256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ブラウザで編集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905256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編集 → commit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GitHub上で保存される。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別のpush操作は不要。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6190488" y="1554480"/>
            <ns1:ext cx="5358384" cy="3986784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6455664" y="1847088"/>
            <ns1:ext cx="482803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6455664" y="2944368"/>
            <ns1:ext cx="4828032" cy="2468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最後のcommit URL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課題のWeekを選び、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既存フォームへ送る。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9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15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>
  <ns0:cSld name="Slide 16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ブラウザで画像と記録を保存する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Text 2"/>
          <ns0:cNvSpPr txBox="1"/>
          <ns0:nvPr/>
        </ns0:nvSpPr>
        <ns0:spPr>
          <ns1:xfrm>
            <ns1:off x="704088" y="1572768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01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Text 3"/>
          <ns0:cNvSpPr txBox="1"/>
          <ns0:nvPr/>
        </ns0:nvSpPr>
        <ns0:spPr>
          <ns1:xfrm>
            <ns1:off x="1737360" y="1508760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自分のai-learningを開く。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1737360" y="2212848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読む教材は教員のhandouts。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1737360" y="2752344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704088" y="2926080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02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1737360" y="2862072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自分のweek03を開く。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1737360" y="3566160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READMEの見出しは残して編集する。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1737360" y="4105656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704088" y="4279392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03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1737360" y="4215384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必要なファイルをUpload filesで追加する。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1737360" y="4919472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Previewで見て、Commit changesで保存する。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初回の画像と記録はsetup。今回の課題は自分のweek03へ保存する。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16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>
  <ns0:cSld name="Slide 17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ブラウザで最後のcommitを提出する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Text 2"/>
          <ns0:cNvSpPr txBox="1"/>
          <ns0:nvPr/>
        </ns0:nvSpPr>
        <ns0:spPr>
          <ns1:xfrm>
            <ns1:off x="704088" y="1572768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01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Text 3"/>
          <ns0:cNvSpPr txBox="1"/>
          <ns0:nvPr/>
        </ns0:nvSpPr>
        <ns0:spPr>
          <ns1:xfrm>
            <ns1:off x="1737360" y="1508760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自分のweek03を開く。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1737360" y="2212848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READMEと成果物が保存されているか見る。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1737360" y="2752344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704088" y="2926080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02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1737360" y="2862072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最後のcommitを開く。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1737360" y="3566160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その版に必要なファイルがあるか見る。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1737360" y="4105656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704088" y="4279392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03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1737360" y="4215384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表示されたcommit URLをコピーする。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1737360" y="4919472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大学アカウントで既存の週次フォームへ送る。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初回はrepository URL。週次は最後のcommit URLを送る。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17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8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よくあるつまずきを直す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36192"/>
            <ns1:ext cx="3496056" cy="397764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pic>
        <ns0:nvPicPr>
          <ns0:cNvPr id="5" name="Image 0" descr="Lucide folder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896112" y="1819656"/>
            <ns1:ext cx="530352" cy="530352"/>
          </ns1:xfrm>
          <ns1:prstGeom prst="rect">
            <ns1:avLst/>
          </ns1:prstGeom>
        </ns0:spPr>
      </ns0:pic>
      <ns0:sp>
        <ns0:nvSpPr>
          <ns0:cNvPr id="6" name="Text 3"/>
          <ns0:cNvSpPr txBox="1"/>
          <ns0:nvPr/>
        </ns0:nvSpPr>
        <ns0:spPr>
          <ns1:xfrm>
            <ns1:off x="896112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違う保存先だった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Text 4"/>
          <ns0:cNvSpPr txBox="1"/>
          <ns0:nvPr/>
        </ns0:nvSpPr>
        <ns0:spPr>
          <ns1:xfrm>
            <ns1:off x="896112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自分の名前と、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ai-learningを確認。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8" name="Shape 5"/>
          <ns0:cNvSpPr/>
          <ns0:nvPr/>
        </ns0:nvSpPr>
        <ns0:spPr>
          <ns1:xfrm>
            <ns1:off x="4346448" y="1536192"/>
            <ns1:ext cx="3496056" cy="3977640"/>
          </ns1:xfrm>
          <ns1:prstGeom prst="rect">
            <ns1:avLst/>
          </ns1:prstGeom>
          <ns1:solidFill>
            <ns1:srgbClr val="EAF4F3"/>
          </ns1:solidFill>
          <ns1:ln w="12700">
            <ns1:solidFill>
              <ns1:srgbClr val="EAF4F3"/>
            </ns1:solidFill>
            <ns1:prstDash val="solid"/>
          </ns1:ln>
        </ns0:spPr>
      </ns0:sp>
      <ns0:pic>
        <ns0:nvPicPr>
          <ns0:cNvPr id="9" name="Image 1" descr="Lucide upload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4602480" y="1819656"/>
            <ns1:ext cx="530352" cy="530352"/>
          </ns1:xfrm>
          <ns1:prstGeom prst="rect">
            <ns1:avLst/>
          </ns1:prstGeom>
        </ns0:spPr>
      </ns0:pic>
      <ns0:sp>
        <ns0:nvSpPr>
          <ns0:cNvPr id="10" name="Text 6"/>
          <ns0:cNvSpPr txBox="1"/>
          <ns0:nvPr/>
        </ns0:nvSpPr>
        <ns0:spPr>
          <ns1:xfrm>
            <ns1:off x="4602480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Webに見えない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7"/>
          <ns0:cNvSpPr txBox="1"/>
          <ns0:nvPr/>
        </ns0:nvSpPr>
        <ns0:spPr>
          <ns1:xfrm>
            <ns1:off x="4602480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自分の保存先で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commit後の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表示を確認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する。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Shape 8"/>
          <ns0:cNvSpPr/>
          <ns0:nvPr/>
        </ns0:nvSpPr>
        <ns0:spPr>
          <ns1:xfrm>
            <ns1:off x="8052816" y="1536192"/>
            <ns1:ext cx="3496056" cy="3977640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pic>
        <ns0:nvPicPr>
          <ns0:cNvPr id="13" name="Image 2" descr="Lucide lock-keyhole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8308848" y="1819656"/>
            <ns1:ext cx="530352" cy="530352"/>
          </ns1:xfrm>
          <ns1:prstGeom prst="rect">
            <ns1:avLst/>
          </ns1:prstGeom>
        </ns0:spPr>
      </ns0:pic>
      <ns0:sp>
        <ns0:nvSpPr>
          <ns0:cNvPr id="14" name="Text 9"/>
          <ns0:cNvSpPr txBox="1"/>
          <ns0:nvPr/>
        </ns0:nvSpPr>
        <ns0:spPr>
          <ns1:xfrm>
            <ns1:off x="8308848" y="2660904"/>
            <ns1:ext cx="298399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教員が開けない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0"/>
          <ns0:cNvSpPr txBox="1"/>
          <ns0:nvPr/>
        </ns0:nvSpPr>
        <ns0:spPr>
          <ns1:xfrm>
            <ns1:off x="8308848" y="3639312"/>
            <ns1:ext cx="2983992" cy="1600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招待中表示とURLを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見て、結果を待つ。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1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2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18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1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9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成果物と確認したことを残す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Shape 2"/>
          <ns0:cNvSpPr/>
          <ns0:nvPr/>
        </ns0:nvSpPr>
        <ns0:spPr>
          <ns1:xfrm>
            <ns1:off x="640080" y="1554480"/>
            <ns1:ext cx="5257800" cy="4041648"/>
          </ns1:xfrm>
          <ns1:prstGeom prst="rect">
            <ns1:avLst/>
          </ns1:prstGeom>
          <ns1:solidFill>
            <ns1:srgbClr val="F7F8FA"/>
          </ns1:solidFill>
          <ns1:ln w="12700">
            <ns1:solidFill>
              <ns1:srgbClr val="F7F8FA"/>
            </ns1:solidFill>
            <ns1:prstDash val="solid"/>
          </ns1:ln>
        </ns0:spPr>
      </ns0:sp>
      <ns0:pic>
        <ns0:nvPicPr>
          <ns0:cNvPr id="5" name="Image 0" descr="Lucide folder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923544" y="1828800"/>
            <ns1:ext cx="448056" cy="448056"/>
          </ns1:xfrm>
          <ns1:prstGeom prst="rect">
            <ns1:avLst/>
          </ns1:prstGeom>
        </ns0:spPr>
      </ns0:pic>
      <ns0:sp>
        <ns0:nvSpPr>
          <ns0:cNvPr id="6" name="Text 3"/>
          <ns0:cNvSpPr txBox="1"/>
          <ns0:nvPr/>
        </ns0:nvSpPr>
        <ns0:spPr>
          <ns1:xfrm>
            <ns1:off x="1572768" y="1819656"/>
            <ns1:ext cx="402336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7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week03/</ns1:t>
            </ns1:r>
            <ns1:endParaRPr lang="ja-JP" sz="27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Text 4"/>
          <ns0:cNvSpPr txBox="1"/>
          <ns0:nvPr/>
        </ns0:nvSpPr>
        <ns0:spPr>
          <ns1:xfrm>
            <ns1:off x="950976" y="2660904"/>
            <ns1:ext cx="4590288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README.md：</ns1:t>
            </ns1:r>
            <ns1:endParaRPr lang="ja-JP" sz="22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2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変更内容と確認結果</ns1:t>
            </ns1:r>
            <ns1:endParaRPr lang="ja-JP" sz="2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8" name="Text 5"/>
          <ns0:cNvSpPr txBox="1"/>
          <ns0:nvPr/>
        </ns0:nvSpPr>
        <ns0:spPr>
          <ns1:xfrm>
            <ns1:off x="6391656" y="1801368"/>
            <ns1:ext cx="466344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READMEの利用記録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6"/>
          <ns0:cNvSpPr txBox="1"/>
          <ns0:nvPr/>
        </ns0:nvSpPr>
        <ns0:spPr>
          <ns1:xfrm>
            <ns1:off x="6400800" y="2779776"/>
            <ns1:ext cx="4809744" cy="2432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AIに任せたこと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自分で確かめたこと</ns1:t>
            </ns1:r>
            <ns1:endParaRPr lang="ja-JP" sz="2400" dirty="0">
              <ns1:latin typeface="Meiryo"/>
              <ns1:ea typeface="Meiryo"/>
              <ns1:cs typeface="Meiryo"/>
            </ns1:endParaRPr>
          </ns1:p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4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確認できなかったこと</ns1:t>
            </ns1:r>
            <ns1:endParaRPr lang="ja-JP" sz="2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7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Text 8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19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20.xml><?xml version="1.0" encoding="utf-8"?>
<ns0:sld xmlns:ns0="http://schemas.openxmlformats.org/presentationml/2006/main" xmlns:ns1="http://schemas.openxmlformats.org/drawingml/2006/main">
  <ns0:cSld name="Slide 20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保存した版のURLを提出する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4" name="Text 2"/>
          <ns0:cNvSpPr txBox="1"/>
          <ns0:nvPr/>
        </ns0:nvSpPr>
        <ns0:spPr>
          <ns1:xfrm>
            <ns1:off x="704088" y="1572768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01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5" name="Text 3"/>
          <ns0:cNvSpPr txBox="1"/>
          <ns0:nvPr/>
        </ns0:nvSpPr>
        <ns0:spPr>
          <ns1:xfrm>
            <ns1:off x="1737360" y="1508760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GitHubで変更を確定する。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1737360" y="2212848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更新したファイルを確認し、commitする。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1737360" y="2752344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704088" y="2926080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02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1737360" y="2862072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そのcommitのページを開く。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1737360" y="3566160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URLに /commit/ があることを確認する。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1737360" y="4105656"/>
            <ns1:ext cx="9738360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704088" y="4279392"/>
            <ns1:ext cx="749808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200" b="1" dirty="0">
                <ns1:solidFill>
                  <ns1:srgbClr val="007F82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03</ns1:t>
            </ns1:r>
            <ns1:endParaRPr lang="ja-JP" sz="32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11"/>
          <ns0:cNvSpPr txBox="1"/>
          <ns0:nvPr/>
        </ns0:nvSpPr>
        <ns0:spPr>
          <ns1:xfrm>
            <ns1:off x="1737360" y="4215384"/>
            <ns1:ext cx="9235440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8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授業の提出フォームを送る。</ns1:t>
            </ns1:r>
            <ns1:endParaRPr lang="ja-JP" sz="2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1737360" y="4919472"/>
            <ns1:ext cx="9235440" cy="53035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3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大学アカウントで開き、Week 03を選ぶ。</ns1:t>
            </ns1:r>
            <ns1:endParaRPr lang="ja-JP" sz="23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667512" y="5779008"/>
            <ns1:ext cx="10844784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ブラウザでcommitした場合、別のpush操作は不要。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6" name="Text 14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7" name="Text 15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20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slides/slide2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21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621792" y="493776"/>
            <ns1:ext cx="10936224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3400" b="1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提出する前に、ここを確認する</ns1:t>
            </ns1:r>
            <ns1:endParaRPr lang="ja-JP" sz="34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40080" y="1243584"/>
            <ns1:ext cx="10908792" cy="0"/>
          </ns1:xfrm>
          <ns1:prstGeom prst="line">
            <ns1:avLst/>
          </ns1:prstGeom>
          <ns1:noFill/>
          <ns1:ln w="12700">
            <ns1:solidFill>
              <ns1:srgbClr val="CBD7DC"/>
            </ns1:solidFill>
            <ns1:prstDash val="solid"/>
          </ns1:ln>
        </ns0:spPr>
      </ns0:sp>
      <ns0:pic>
        <ns0:nvPicPr>
          <ns0:cNvPr id="4" name="Image 0" descr="Lucide circle-check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31520" y="1682496"/>
            <ns1:ext cx="402336" cy="402336"/>
          </ns1:xfrm>
          <ns1:prstGeom prst="rect">
            <ns1:avLst/>
          </ns1:prstGeom>
        </ns0:spPr>
      </ns0:pic>
      <ns0:sp>
        <ns0:nvSpPr>
          <ns0:cNvPr id="5" name="Text 2"/>
          <ns0:cNvSpPr txBox="1"/>
          <ns0:nvPr/>
        </ns0:nvSpPr>
        <ns0:spPr>
          <ns1:xfrm>
            <ns1:off x="1435608" y="1645920"/>
            <ns1:ext cx="9884664" cy="850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編集前後の違いを説明できる。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6" name="Image 1" descr="Lucide circle-check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731520" y="2633472"/>
            <ns1:ext cx="402336" cy="402336"/>
          </ns1:xfrm>
          <ns1:prstGeom prst="rect">
            <ns1:avLst/>
          </ns1:prstGeom>
        </ns0:spPr>
      </ns0:pic>
      <ns0:sp>
        <ns0:nvSpPr>
          <ns0:cNvPr id="7" name="Text 3"/>
          <ns0:cNvSpPr txBox="1"/>
          <ns0:nvPr/>
        </ns0:nvSpPr>
        <ns0:spPr>
          <ns1:xfrm>
            <ns1:off x="1435608" y="2596896"/>
            <ns1:ext cx="9884664" cy="850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提出したcommitでファイルを開いた。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8" name="Image 2" descr="Lucide circle-check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731520" y="3584448"/>
            <ns1:ext cx="402336" cy="402336"/>
          </ns1:xfrm>
          <ns1:prstGeom prst="rect">
            <ns1:avLst/>
          </ns1:prstGeom>
        </ns0:spPr>
      </ns0:pic>
      <ns0:sp>
        <ns0:nvSpPr>
          <ns0:cNvPr id="9" name="Text 4"/>
          <ns0:cNvSpPr txBox="1"/>
          <ns0:nvPr/>
        </ns0:nvSpPr>
        <ns0:spPr>
          <ns1:xfrm>
            <ns1:off x="1435608" y="3547872"/>
            <ns1:ext cx="9884664" cy="850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自分のPrivateリポジトリを使っている。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pic>
        <ns0:nvPicPr>
          <ns0:cNvPr id="10" name="Image 3" descr="Lucide circle-check">    </ns0:cNvPr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731520" y="4535424"/>
            <ns1:ext cx="402336" cy="402336"/>
          </ns1:xfrm>
          <ns1:prstGeom prst="rect">
            <ns1:avLst/>
          </ns1:prstGeom>
        </ns0:spPr>
      </ns0:pic>
      <ns0:sp>
        <ns0:nvSpPr>
          <ns0:cNvPr id="11" name="Text 5"/>
          <ns0:cNvSpPr txBox="1"/>
          <ns0:nvPr/>
        </ns0:nvSpPr>
        <ns0:spPr>
          <ns1:xfrm>
            <ns1:off x="1435608" y="4498848"/>
            <ns1:ext cx="9884664" cy="850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2600" dirty="0">
                <ns1:solidFill>
                  <ns1:srgbClr val="1B2D3B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成果物のあるcommit URLを送った。</ns1:t>
            </ns1:r>
            <ns1:endParaRPr lang="ja-JP" sz="26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2" name="Text 6"/>
          <ns0:cNvSpPr txBox="1"/>
          <ns0:nvPr/>
        </ns0:nvSpPr>
        <ns0:spPr>
          <ns1:xfrm>
            <ns1:off x="667512" y="6428232"/>
            <ns1:ext cx="384048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データ科学入門｜演習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  <ns0:sp>
        <ns0:nvSpPr>
          <ns0:cNvPr id="13" name="Text 7"/>
          <ns0:cNvSpPr txBox="1"/>
          <ns0:nvPr/>
        </ns0:nvSpPr>
        <ns0:spPr>
          <ns1:xfrm>
            <ns1:off x="8412480" y="6428232"/>
            <ns1:ext cx="3108960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106000"/>
              </ns1:lnSpc>
              <ns1:buNone/>
            </ns1:pPr>
            <ns1:r>
              <ns1:rPr lang="ja-JP" altLang="en-US" sz="1800" dirty="0">
                <ns1:solidFill>
                  <ns1:srgbClr val="4D626D"/>
                </ns1:solidFill>
                <ns1:latin typeface="Meiryo" pitchFamily="34" charset="0"/>
                <ns1:ea typeface="Meiryo" pitchFamily="34" charset="-122"/>
                <ns1:cs typeface="Meiryo" pitchFamily="34" charset="-120"/>
              </ns1:rPr>
              <ns1:t>第3回  21 / 21</ns1:t>
            </ns1:r>
            <ns1:endParaRPr lang="ja-JP" sz="1800" dirty="0">
              <ns1:latin typeface="Meiryo"/>
              <ns1:ea typeface="Meiryo"/>
              <ns1:cs typeface="Meiryo"/>
            </ns1:endParaRPr>
          </ns1:p>
        </ns0:txBody>
      </ns0:sp>
    </ns0:spTree>
  </ns0:cSld>
  <ns0:clrMapOvr>
    <ns1:masterClrMapping/>
  </ns0:clrMapOvr>
</ns0:sld>
</file>

<file path=ppt/theme/theme1.xml><?xml version="1.0" encoding="utf-8"?>
<ns0:theme xmlns:ns0="http://schemas.openxmlformats.org/drawingml/2006/main" xmlns:ns1="http://schemas.microsoft.com/office/thememl/2012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Meiryo"/>
        <ns0:ea typeface="Meiryo"/>
        <ns0:cs typeface="Meiryo"/>
        <ns0:font script="Jpan" typeface="Meiryo"/>
        <ns0:font script="Hang" typeface="Meiryo"/>
        <ns0:font script="Hans" typeface="Meiryo"/>
        <ns0:font script="Hant" typeface="Meiryo"/>
        <ns0:font script="Arab" typeface="Meiryo"/>
        <ns0:font script="Hebr" typeface="Meiryo"/>
        <ns0:font script="Thai" typeface="Meiryo"/>
        <ns0:font script="Ethi" typeface="Meiryo"/>
        <ns0:font script="Beng" typeface="Meiryo"/>
        <ns0:font script="Gujr" typeface="Meiryo"/>
        <ns0:font script="Khmr" typeface="Meiryo"/>
        <ns0:font script="Knda" typeface="Meiryo"/>
        <ns0:font script="Guru" typeface="Meiryo"/>
        <ns0:font script="Cans" typeface="Meiryo"/>
        <ns0:font script="Cher" typeface="Meiryo"/>
        <ns0:font script="Yiii" typeface="Meiryo"/>
        <ns0:font script="Tibt" typeface="Meiryo"/>
        <ns0:font script="Thaa" typeface="Meiryo"/>
        <ns0:font script="Deva" typeface="Meiryo"/>
        <ns0:font script="Telu" typeface="Meiryo"/>
        <ns0:font script="Taml" typeface="Meiryo"/>
        <ns0:font script="Syrc" typeface="Meiryo"/>
        <ns0:font script="Orya" typeface="Meiryo"/>
        <ns0:font script="Mlym" typeface="Meiryo"/>
        <ns0:font script="Laoo" typeface="Meiryo"/>
        <ns0:font script="Sinh" typeface="Meiryo"/>
        <ns0:font script="Mong" typeface="Meiryo"/>
        <ns0:font script="Viet" typeface="Meiryo"/>
        <ns0:font script="Uigh" typeface="Meiryo"/>
        <ns0:font script="Geor" typeface="Meiryo"/>
        <ns0:font script="Armn" typeface="Meiryo"/>
        <ns0:font script="Bugi" typeface="Meiryo"/>
        <ns0:font script="Bopo" typeface="Meiryo"/>
        <ns0:font script="Java" typeface="Meiryo"/>
        <ns0:font script="Lisu" typeface="Meiryo"/>
        <ns0:font script="Mymr" typeface="Meiryo"/>
        <ns0:font script="Nkoo" typeface="Meiryo"/>
        <ns0:font script="Olck" typeface="Meiryo"/>
        <ns0:font script="Osma" typeface="Meiryo"/>
        <ns0:font script="Phag" typeface="Meiryo"/>
        <ns0:font script="Syrn" typeface="Meiryo"/>
        <ns0:font script="Syrj" typeface="Meiryo"/>
        <ns0:font script="Syre" typeface="Meiryo"/>
        <ns0:font script="Sora" typeface="Meiryo"/>
        <ns0:font script="Tale" typeface="Meiryo"/>
        <ns0:font script="Talu" typeface="Meiryo"/>
        <ns0:font script="Tfng" typeface="Meiryo"/>
      </ns0:majorFont>
      <ns0:minorFont>
        <ns0:latin typeface="Meiryo"/>
        <ns0:ea typeface="Meiryo"/>
        <ns0:cs typeface="Meiryo"/>
        <ns0:font script="Jpan" typeface="Meiryo"/>
        <ns0:font script="Hang" typeface="Meiryo"/>
        <ns0:font script="Hans" typeface="Meiryo"/>
        <ns0:font script="Hant" typeface="Meiryo"/>
        <ns0:font script="Arab" typeface="Meiryo"/>
        <ns0:font script="Hebr" typeface="Meiryo"/>
        <ns0:font script="Thai" typeface="Meiryo"/>
        <ns0:font script="Ethi" typeface="Meiryo"/>
        <ns0:font script="Beng" typeface="Meiryo"/>
        <ns0:font script="Gujr" typeface="Meiryo"/>
        <ns0:font script="Khmr" typeface="Meiryo"/>
        <ns0:font script="Knda" typeface="Meiryo"/>
        <ns0:font script="Guru" typeface="Meiryo"/>
        <ns0:font script="Cans" typeface="Meiryo"/>
        <ns0:font script="Cher" typeface="Meiryo"/>
        <ns0:font script="Yiii" typeface="Meiryo"/>
        <ns0:font script="Tibt" typeface="Meiryo"/>
        <ns0:font script="Thaa" typeface="Meiryo"/>
        <ns0:font script="Deva" typeface="Meiryo"/>
        <ns0:font script="Telu" typeface="Meiryo"/>
        <ns0:font script="Taml" typeface="Meiryo"/>
        <ns0:font script="Syrc" typeface="Meiryo"/>
        <ns0:font script="Orya" typeface="Meiryo"/>
        <ns0:font script="Mlym" typeface="Meiryo"/>
        <ns0:font script="Laoo" typeface="Meiryo"/>
        <ns0:font script="Sinh" typeface="Meiryo"/>
        <ns0:font script="Mong" typeface="Meiryo"/>
        <ns0:font script="Viet" typeface="Meiryo"/>
        <ns0:font script="Uigh" typeface="Meiryo"/>
        <ns0:font script="Geor" typeface="Meiryo"/>
        <ns0:font script="Armn" typeface="Meiryo"/>
        <ns0:font script="Bugi" typeface="Meiryo"/>
        <ns0:font script="Bopo" typeface="Meiryo"/>
        <ns0:font script="Java" typeface="Meiryo"/>
        <ns0:font script="Lisu" typeface="Meiryo"/>
        <ns0:font script="Mymr" typeface="Meiryo"/>
        <ns0:font script="Nkoo" typeface="Meiryo"/>
        <ns0:font script="Olck" typeface="Meiryo"/>
        <ns0:font script="Osma" typeface="Meiryo"/>
        <ns0:font script="Phag" typeface="Meiryo"/>
        <ns0:font script="Syrn" typeface="Meiryo"/>
        <ns0:font script="Syrj" typeface="Meiryo"/>
        <ns0:font script="Syre" typeface="Meiryo"/>
        <ns0:font script="Sora" typeface="Meiryo"/>
        <ns0:font script="Tale" typeface="Meiryo"/>
        <ns0:font script="Talu" typeface="Meiryo"/>
        <ns0:font script="Tfng" typeface="Meiryo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/>
  <ns0:extraClrSchemeLst/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変更を確かめてGitHubへ残す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