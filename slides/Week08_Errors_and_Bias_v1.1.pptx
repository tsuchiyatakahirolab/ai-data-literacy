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5282F153-3F37-0F45-9E97-73ACFA13230C}" type="datetimeFigureOut">
              <a:rPr lang="ja-JP">
                <a:latin typeface="Meiryo"/>
                <a:ea typeface="Meiryo"/>
                <a:cs typeface="Meiryo"/>
              </a:rPr>
              <a:t>7/23/19</a:t>
            </a:fld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ja-JP">
                <a:latin typeface="Meiryo"/>
                <a:ea typeface="Meiryo"/>
                <a:cs typeface="Meiryo"/>
              </a:rPr>
              <a:t>Click to edit Master text styles</a:t>
            </a:r>
          </a:p>
          <a:p>
            <a:pPr lvl="1"/>
            <a:r>
              <a:rPr lang="ja-JP">
                <a:latin typeface="Meiryo"/>
                <a:ea typeface="Meiryo"/>
                <a:cs typeface="Meiryo"/>
              </a:rPr>
              <a:t>Second level</a:t>
            </a:r>
          </a:p>
          <a:p>
            <a:pPr lvl="2"/>
            <a:r>
              <a:rPr lang="ja-JP">
                <a:latin typeface="Meiryo"/>
                <a:ea typeface="Meiryo"/>
                <a:cs typeface="Meiryo"/>
              </a:rPr>
              <a:t>Third level</a:t>
            </a:r>
          </a:p>
          <a:p>
            <a:pPr lvl="3"/>
            <a:r>
              <a:rPr lang="ja-JP">
                <a:latin typeface="Meiryo"/>
                <a:ea typeface="Meiryo"/>
                <a:cs typeface="Meiryo"/>
              </a:rPr>
              <a:t>Fourth level</a:t>
            </a:r>
          </a:p>
          <a:p>
            <a:pPr lvl="4"/>
            <a:r>
              <a:rPr lang="ja-JP">
                <a:latin typeface="Meiryo"/>
                <a:ea typeface="Meiryo"/>
                <a:cs typeface="Meiryo"/>
              </a:rP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CE5E9CC1-C706-0F49-92D6-E571CC5EEA8F}" type="slidenum">
              <a:rPr lang="ja-JP">
                <a:latin typeface="Meiryo"/>
                <a:ea typeface="Meiryo"/>
                <a:cs typeface="Meiryo"/>
              </a:rPr>
              <a:t>‹#›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【進行】根拠のない断定を直す / 1ページ
到達点：断定・一般化・偏りを具体的な箇所で見つけ、条件に合う文へ直す。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【進行】根拠のない断定を直す / 2ページ
到達点：断定・一般化・偏りを具体的な箇所で見つけ、条件に合う文へ直す。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【進行】根拠のない断定を直す / 3ページ
到達点：断定・一般化・偏りを具体的な箇所で見つけ、条件に合う文へ直す。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3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【進行】根拠のない断定を直す / 4ページ
到達点：断定・一般化・偏りを具体的な箇所で見つけ、条件に合う文へ直す。
スライドの指示に沿って操作を待つ。学生の画面で結果を確認してから次へ進む。
操作に詰まった学生には、表示中の画面と止まった箇所を確認する。パスワードや認証コードは見せさせない。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4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【進行】根拠のない断定を直す / 5ページ
到達点：断定・一般化・偏りを具体的な箇所で見つけ、条件に合う文へ直す。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5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【進行】根拠のない断定を直す / 6ページ
到達点：断定・一般化・偏りを具体的な箇所で見つけ、条件に合う文へ直す。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6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【進行】根拠のない断定を直す / 7ページ
到達点：断定・一般化・偏りを具体的な箇所で見つけ、条件に合う文へ直す。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7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【進行】根拠のない断定を直す / 8ページ
到達点：断定・一般化・偏りを具体的な箇所で見つけ、条件に合う文へ直す。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8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【進行】根拠のない断定を直す / 9ページ
到達点：断定・一般化・偏りを具体的な箇所で見つけ、条件に合う文へ直す。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9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【進行】根拠のない断定を直す / 10ページ
到達点：断定・一般化・偏りを具体的な箇所で見つけ、条件に合う文へ直す。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10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【進行】根拠のない断定を直す / 11ページ
到達点：断定・一般化・偏りを具体的な箇所で見つけ、条件に合う文へ直す。
AIとの会話全文、共有リンク、無意味な再試行回数は求めない。変更が不要だった場合も確認した対象と結果を書けばよい。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【進行】根拠のない断定を直す / 12ページ
到達点：断定・一般化・偏りを具体的な箇所で見つけ、条件に合う文へ直す。
Desktopを使った学生はPush origin後にGitHubで確認する。フォーム送信完了画面まで確認。教員の閲覧権限は別途必要。
操作に詰まった学生には、表示中の画面と止まった箇所を確認する。パスワードや認証コードは見せさせない。
【参考資料】
GitHub Docs「Editing files」
https://docs.github.com/en/repositories/working-with-files/managing-files/editing-files
確認日：2026-09-17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【進行】根拠のない断定を直す / 13ページ
到達点：断定・一般化・偏りを具体的な箇所で見つけ、条件に合う文へ直す。
このチェックは暗記テストではない。ファイルと画面を見ながら自己確認させる。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13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.xml" /><ns0:Relationship Id="rId2" Type="http://schemas.openxmlformats.org/officeDocument/2006/relationships/theme" Target="../theme/theme1.xml" /><ns0:Relationship Id="rIdPersonalAuthorLogo" Type="http://schemas.openxmlformats.org/officeDocument/2006/relationships/image" Target="../media/personal-author-logo.png" /></ns0:Relationships>
</file>

<file path=ppt/slideMasters/slideMaster1.xml><?xml version="1.0" encoding="utf-8"?>
<p:sldMaster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/>
          <p:cNvPicPr>
            <a:picLocks noChangeAspect="1"/>
          </p:cNvPicPr>
          <p:nvPr/>
        </p:nvPicPr>
        <p:blipFill>
          <a:blip r:embed="rIdPersonalAuthorLogo"/>
          <a:stretch/>
        </p:blipFill>
        <p:spPr>
          <a:xfrm>
            <a:off x="685800" y="85748"/>
            <a:ext cx="1714500" cy="210457"/>
          </a:xfrm>
          <a:prstGeom prst="rect">
            <a:avLst/>
          </a:prstGeom>
        </p:spPr>
      </p:pic>
      <p:sp>
        <p:nvSpPr>
          <p:cNvPr id="3" name="Personal author website">
            <a:extLst>
              <a:ext uri="{FF2B5EF4-FFF2-40B4-BE49-F238E27FC236}">
                <ns3:creationId id="{2B199CB2-0940-4D13-9CAC-E3F074FAA0ED}"/>
              </a:ext>
            </a:extLst>
          </p:cNvPr>
          <p:cNvSpPr>
            <a:spLocks noGrp="1"/>
          </p:cNvSpPr>
          <p:nvPr/>
        </p:nvSpPr>
        <p:spPr>
          <a:xfrm>
            <a:off x="6286500" y="6477000"/>
            <a:ext cx="4000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>
                <a:solidFill>
                  <a:srgbClr val="607482"/>
                </a:solidFill>
                <a:latin typeface="Meiryo"/>
                <a:ea typeface="Meiryo"/>
                <a:cs typeface="Meiryo"/>
              </a:defRPr>
            </a:pPr>
            <a:r>
              <a:rPr sz="1800">
                <a:solidFill>
                  <a:srgbClr val="607482"/>
                </a:solidFill>
                <a:latin typeface="Meiryo"/>
                <a:ea typeface="Meiryo"/>
                <a:cs typeface="Meiryo"/>
              </a:rPr>
              <a:t>tsuchiyatakahiro.com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 lang="ja-JP">
          <a:solidFill>
            <a:schemeClr val="tx1"/>
          </a:solidFill>
          <a:latin typeface="Meiryo"/>
          <a:ea typeface="Meiryo"/>
          <a:cs typeface="Meiryo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Meiryo" pitchFamily="34" charset="0"/>
        <a:buChar char="•"/>
        <a:defRPr sz="32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742950" indent="-285750" algn="l" defTabSz="914400" rtl="0" eaLnBrk="1" latinLnBrk="0" hangingPunct="1">
        <a:spcBef>
          <a:spcPct val="20000"/>
        </a:spcBef>
        <a:buFont typeface="Meiryo" pitchFamily="34" charset="0"/>
        <a:buChar char="–"/>
        <a:defRPr sz="2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1143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4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600200" indent="-228600" algn="l" defTabSz="914400" rtl="0" eaLnBrk="1" latinLnBrk="0" hangingPunct="1">
        <a:spcBef>
          <a:spcPct val="20000"/>
        </a:spcBef>
        <a:buFont typeface="Meiryo" pitchFamily="34" charset="0"/>
        <a:buChar char="–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2057400" indent="-228600" algn="l" defTabSz="914400" rtl="0" eaLnBrk="1" latinLnBrk="0" hangingPunct="1">
        <a:spcBef>
          <a:spcPct val="20000"/>
        </a:spcBef>
        <a:buFont typeface="Meiryo" pitchFamily="34" charset="0"/>
        <a:buChar char="»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5146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9718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429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8862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9pPr>
    </p:bodyStyle>
    <p:otherStyle>
      <a:defPPr>
        <a:defRPr lang="ja-JP">
          <a:latin typeface="Meiryo"/>
          <a:ea typeface="Meiryo"/>
          <a:cs typeface="Meiryo"/>
        </a:defRPr>
      </a:defPPr>
      <a:lvl1pPr marL="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457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914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371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18288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2860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743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200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657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9pPr>
    </p:otherStyle>
  </p:txStyles>
</p:sldMaster>
</file>

<file path=ppt/slides/_rels/slide1.xml.rels><?xml version='1.0' encoding='utf-8'?>
<ns0:Relationships xmlns:ns0="http://schemas.openxmlformats.org/package/2006/relationships"><ns0:Relationship Id="rId1" Type="http://schemas.openxmlformats.org/officeDocument/2006/relationships/image" Target="../media/image-1-1.png" /><ns0:Relationship Id="rId2" Type="http://schemas.openxmlformats.org/officeDocument/2006/relationships/slideLayout" Target="../slideLayouts/slideLayout1.xml" /><ns0:Relationship Id="rId3" Type="http://schemas.openxmlformats.org/officeDocument/2006/relationships/notesSlide" Target="../notesSlides/notesSlide1.xml" /><ns0:Relationship Id="rIdPersonalAuthorLogo" Type="http://schemas.openxmlformats.org/officeDocument/2006/relationships/image" Target="../media/personal-author-logo.png" /></ns0: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1.png"/><Relationship Id="rId3" Type="http://schemas.openxmlformats.org/officeDocument/2006/relationships/image" Target="../media/image-10-1.png"/><Relationship Id="rId4" Type="http://schemas.openxmlformats.org/officeDocument/2006/relationships/image" Target="../media/image-10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1.png"/><Relationship Id="rId3" Type="http://schemas.openxmlformats.org/officeDocument/2006/relationships/image" Target="../media/image-13-1.png"/><Relationship Id="rId4" Type="http://schemas.openxmlformats.org/officeDocument/2006/relationships/image" Target="../media/image-13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007F82"/>
          </a:solidFill>
          <a:ln w="12700">
            <a:solidFill>
              <a:srgbClr val="007F8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557784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B1D6D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第08回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713232" y="1554480"/>
            <a:ext cx="94183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本当に、</a:t>
            </a:r>
            <a:endParaRPr lang="ja-JP" sz="4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そこまで言える？</a:t>
            </a:r>
            <a:endParaRPr lang="ja-JP" sz="4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749808" y="4169664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第8回｜言い切り・一般化・決めつけを</a:t>
            </a:r>
            <a:endParaRPr lang="ja-JP" sz="26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根拠に合わせて修正します。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7" name="Image 0" descr="Lucide triangle-ale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97312" y="566928"/>
            <a:ext cx="841248" cy="8412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49808" y="6281928"/>
            <a:ext cx="9144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大学生のためのAI・データリテラシー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Personal logo white backplate">
            <a:extLst>
              <a:ext uri="{FF2B5EF4-FFF2-40B4-BE49-F238E27FC236}">
                <ns3:creationId id="{1464D463-E5BC-4BFE-BD8A-CDCFE345671F}"/>
              </a:ext>
            </a:extLst>
          </p:cNvPr>
          <p:cNvSpPr>
            <a:spLocks noGrp="1"/>
          </p:cNvSpPr>
          <p:nvPr/>
        </p:nvSpPr>
        <p:spPr>
          <a:xfrm>
            <a:off x="685800" y="85725"/>
            <a:ext cx="1714500" cy="210503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pic>
        <p:nvPicPr>
          <p:cNvPr id="10" name=""/>
          <p:cNvPicPr>
            <a:picLocks noChangeAspect="1"/>
          </p:cNvPicPr>
          <p:nvPr/>
        </p:nvPicPr>
        <p:blipFill>
          <a:blip r:embed="rIdPersonalAuthorLogo"/>
          <a:stretch/>
        </p:blipFill>
        <p:spPr>
          <a:xfrm>
            <a:off x="685800" y="85748"/>
            <a:ext cx="1714500" cy="210457"/>
          </a:xfrm>
          <a:prstGeom prst="rect">
            <a:avLst/>
          </a:prstGeom>
        </p:spPr>
      </p:pic>
      <p:sp>
        <p:nvSpPr>
          <p:cNvPr id="11" name="Personal author website">
            <a:extLst>
              <a:ext uri="{FF2B5EF4-FFF2-40B4-BE49-F238E27FC236}">
                <ns3:creationId id="{2B199CB2-0940-4D13-9CAC-E3F074FAA0ED}"/>
              </a:ext>
            </a:extLst>
          </p:cNvPr>
          <p:cNvSpPr>
            <a:spLocks noGrp="1"/>
          </p:cNvSpPr>
          <p:nvPr/>
        </p:nvSpPr>
        <p:spPr>
          <a:xfrm>
            <a:off x="6286500" y="6477000"/>
            <a:ext cx="4000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>
                <a:solidFill>
                  <a:srgbClr val="AECFD2"/>
                </a:solidFill>
                <a:latin typeface="Meiryo"/>
                <a:ea typeface="Meiryo"/>
                <a:cs typeface="Meiryo"/>
              </a:defRPr>
            </a:pPr>
            <a:r>
              <a:rPr sz="1800">
                <a:solidFill>
                  <a:srgbClr val="AECFD2"/>
                </a:solidFill>
                <a:latin typeface="Meiryo"/>
                <a:ea typeface="Meiryo"/>
                <a:cs typeface="Meiryo"/>
              </a:rPr>
              <a:t>tsuchiyatakahiro.com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次の文章を、いったん疑ってみる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17904"/>
            <a:ext cx="10908792" cy="405079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file-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801368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27632" y="1810512"/>
            <a:ext cx="9546336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大学生は生成AIを使えば必ず成績が上がる。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AIは人間より正確で、どんな課題にも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最適な答えを出せるからである。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AIを使わない学生は時代遅れで、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データリテラシーも低いと考えられる。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演習用に誤りを含めた架空の文章。特定AIの実際の出力ではない。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第8回  02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気になる箇所を、3つの観点で探す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36192"/>
            <a:ext cx="3496056" cy="397764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sear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819656"/>
            <a:ext cx="530352" cy="5303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96112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根拠はあるか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896112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「必ず」の裏付けが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示されているか。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346448" y="1536192"/>
            <a:ext cx="3496056" cy="3977640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pic>
        <p:nvPicPr>
          <p:cNvPr id="9" name="Image 1" descr="Lucide list-check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2480" y="1819656"/>
            <a:ext cx="530352" cy="53035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02480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範囲は妥当か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4602480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ある課題の結果を、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すべての課題へ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広げていないか。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8052816" y="1536192"/>
            <a:ext cx="3496056" cy="397764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13" name="Image 2" descr="Lucide triangle-ale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8848" y="1819656"/>
            <a:ext cx="530352" cy="53035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308848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決めつけはないか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8308848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利用しない理由を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無視していないか。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1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2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第8回  03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まず、自分で印を付ける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配布文を読む。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気になる語句を3か所選ぶ。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なぜ気になるかを書く。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根拠不足・一般化・決めつけから考える。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理由とともにAIへ渡す。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AIの指摘と自分の指摘を比べる。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第8回  04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AIにも点検してもらう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この文章の主張について、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根拠がない断定、範囲が広すぎる一般化、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学生への決めつけを指摘してください。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原文のどの表現に問題があるか示してください。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「この文章は間違い」と決めるだけでなく、箇所と理由を見る。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第8回  05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「必ず」を消すだけでは足りない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358384" cy="3986784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05256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形だけ弱めた文章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905256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生成AIを使えば、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たぶん成績が上がる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可能性がある。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190488" y="1554480"/>
            <a:ext cx="5358384" cy="3986784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55664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必要な条件を示す文章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455664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AIは説明や練習を助ける。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成績への影響は、使い方や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課題によって異なる。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右も演習上の書き換え例。実証的な効果を報告した文章ではない。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第8回  06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使わない理由も考えてみる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358384" cy="3986784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05256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決めつけた説明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905256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AIを使わない学生は、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能力が低い。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190488" y="1554480"/>
            <a:ext cx="5358384" cy="3986784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55664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考慮する条件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455664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使える端末や契約が違う。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授業のルールが違う。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情報を入力したくない。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利用しないことだけから、能力や意欲は判断しない。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第8回  07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指摘と修正を対応させる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3154680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" y="1709928"/>
            <a:ext cx="2862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元の表現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794760" y="1554480"/>
            <a:ext cx="3657600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941064" y="170992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問題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452360" y="1554480"/>
            <a:ext cx="4096512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598664" y="1709928"/>
            <a:ext cx="3803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修正の方針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40080" y="2258568"/>
            <a:ext cx="315468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6384" y="2386584"/>
            <a:ext cx="28620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必ず成績が上がる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3794760" y="2258568"/>
            <a:ext cx="365760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941064" y="2386584"/>
            <a:ext cx="3364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根拠のない断定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452360" y="2258568"/>
            <a:ext cx="4096512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598664" y="2386584"/>
            <a:ext cx="38039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条件と根拠を区別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40080" y="3017520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017520"/>
            <a:ext cx="315468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86384" y="3145536"/>
            <a:ext cx="28620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どんな課題にも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3794760" y="3017520"/>
            <a:ext cx="365760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941064" y="3145536"/>
            <a:ext cx="3364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過度な一般化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7452360" y="3017520"/>
            <a:ext cx="4096512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598664" y="3145536"/>
            <a:ext cx="38039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対象を限定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40080" y="3776472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3776472"/>
            <a:ext cx="315468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86384" y="3904488"/>
            <a:ext cx="28620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時代遅れである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3794760" y="3776472"/>
            <a:ext cx="365760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941064" y="3904488"/>
            <a:ext cx="3364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学生の決めつけ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7452360" y="3776472"/>
            <a:ext cx="4096512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598664" y="3904488"/>
            <a:ext cx="38039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削除し理由を考慮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40080" y="453542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32" name="Text 30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第8回  08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根拠に合う文章へ直す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指摘した箇所を修正し、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分かっていることと、根拠が必要なことを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分けて書いてください。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架空の研究名や数値は追加しないでください。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修正後も、根拠のない新しい断定が入っていないか確認する。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第8回  09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修正が不要だった箇所も、そのまま残す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circle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82496"/>
            <a:ext cx="402336" cy="4023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35608" y="1645920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問題の箇所と理由が対応している。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6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33472"/>
            <a:ext cx="402336" cy="4023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35608" y="2596896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必要な条件が書かれている。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2" descr="Lucide circle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584448"/>
            <a:ext cx="402336" cy="40233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35608" y="3547872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AIの指摘も無条件には採用していない。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Image 3" descr="Lucide circle-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535424"/>
            <a:ext cx="402336" cy="402336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435608" y="4498848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根拠のない数値や研究名を加えていない。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第8回  10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成果物と確認したことを残す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257800" cy="4041648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fol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828800"/>
            <a:ext cx="448056" cy="4480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72768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week08/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950976" y="2660904"/>
            <a:ext cx="4590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README.md：</a:t>
            </a:r>
            <a:endParaRPr lang="ja-JP" sz="2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3か所の指摘・修正文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6391656" y="180136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READMEの利用記録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6400800" y="2779776"/>
            <a:ext cx="480974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AIに任せたこと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自分で確かめたこと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確認できなかったこと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7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8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第8回  11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保存した版のURLを提出する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GitHubで変更を確定する。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更新したファイルを確認し、commitする。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そのcommitのページを開く。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URLに /commit/ があることを確認する。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授業の提出フォームを送る。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大学アカウントで開き、Week 08を選ぶ。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ブラウザでcommitした場合、別のpush操作は不要。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第8回  12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提出する前に、ここを確認する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circle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82496"/>
            <a:ext cx="402336" cy="4023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35608" y="1645920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原文のどこに問題があるか示した。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6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33472"/>
            <a:ext cx="402336" cy="4023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35608" y="2596896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修正の理由を書いた。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2" descr="Lucide circle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584448"/>
            <a:ext cx="402336" cy="40233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35608" y="3547872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特定AIが出した実例として扱っていない。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Image 3" descr="Lucide circle-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535424"/>
            <a:ext cx="402336" cy="402336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435608" y="4498848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成果物のあるcommit URLを送った。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第8回  13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ajorFont>
      <a:min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Tsuchiya 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根拠のない断定を直す</dc:title>
  <dc:subject>AI・データリテラシー／学生向け演習</dc:subject>
  <dc:creator>Takahiro Tsuchiya</dc:creator>
  <cp:lastModifiedBy>Takahiro Tsuchiya</cp:lastModifiedBy>
  <cp:revision>1</cp:revision>
  <dcterms:created xsi:type="dcterms:W3CDTF">2026-09-17T11:31:39Z</dcterms:created>
  <dcterms:modified xsi:type="dcterms:W3CDTF">2026-09-17T11:31:39Z</dcterms:modified>
</cp:coreProperties>
</file>