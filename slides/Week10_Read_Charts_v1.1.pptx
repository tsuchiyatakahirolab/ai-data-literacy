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1pPr>
    <a:lvl2pPr marL="45720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2pPr>
    <a:lvl3pPr marL="91440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3pPr>
    <a:lvl4pPr marL="137160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4pPr>
    <a:lvl5pPr marL="182880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5pPr>
    <a:lvl6pPr marL="228600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6pPr>
    <a:lvl7pPr marL="274320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7pPr>
    <a:lvl8pPr marL="320040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8pPr>
    <a:lvl9pPr marL="365760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 lang="ja-JP">
                <a:latin typeface="Meiryo"/>
                <a:ea typeface="Meiryo"/>
                <a:cs typeface="Meiryo"/>
              </a:defRPr>
            </a:lvl1pPr>
          </a:lstStyle>
          <a:p>
            <a:endParaRPr lang="ja-JP">
              <a:latin typeface="Meiryo"/>
              <a:ea typeface="Meiryo"/>
              <a:cs typeface="Meiryo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 lang="ja-JP">
                <a:latin typeface="Meiryo"/>
                <a:ea typeface="Meiryo"/>
                <a:cs typeface="Meiryo"/>
              </a:defRPr>
            </a:lvl1pPr>
          </a:lstStyle>
          <a:p>
            <a:fld id="{5282F153-3F37-0F45-9E97-73ACFA13230C}" type="datetimeFigureOut">
              <a:rPr lang="ja-JP">
                <a:latin typeface="Meiryo"/>
                <a:ea typeface="Meiryo"/>
                <a:cs typeface="Meiryo"/>
              </a:rPr>
              <a:t>7/23/19</a:t>
            </a:fld>
            <a:endParaRPr lang="ja-JP">
              <a:latin typeface="Meiryo"/>
              <a:ea typeface="Meiryo"/>
              <a:cs typeface="Meiryo"/>
            </a:endParaRP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>
              <a:latin typeface="Meiryo"/>
              <a:ea typeface="Meiryo"/>
              <a:cs typeface="Meiryo"/>
            </a:endParaRPr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ja-JP">
                <a:latin typeface="Meiryo"/>
                <a:ea typeface="Meiryo"/>
                <a:cs typeface="Meiryo"/>
              </a:rPr>
              <a:t>Click to edit Master text styles</a:t>
            </a:r>
          </a:p>
          <a:p>
            <a:pPr lvl="1"/>
            <a:r>
              <a:rPr lang="ja-JP">
                <a:latin typeface="Meiryo"/>
                <a:ea typeface="Meiryo"/>
                <a:cs typeface="Meiryo"/>
              </a:rPr>
              <a:t>Second level</a:t>
            </a:r>
          </a:p>
          <a:p>
            <a:pPr lvl="2"/>
            <a:r>
              <a:rPr lang="ja-JP">
                <a:latin typeface="Meiryo"/>
                <a:ea typeface="Meiryo"/>
                <a:cs typeface="Meiryo"/>
              </a:rPr>
              <a:t>Third level</a:t>
            </a:r>
          </a:p>
          <a:p>
            <a:pPr lvl="3"/>
            <a:r>
              <a:rPr lang="ja-JP">
                <a:latin typeface="Meiryo"/>
                <a:ea typeface="Meiryo"/>
                <a:cs typeface="Meiryo"/>
              </a:rPr>
              <a:t>Fourth level</a:t>
            </a:r>
          </a:p>
          <a:p>
            <a:pPr lvl="4"/>
            <a:r>
              <a:rPr lang="ja-JP">
                <a:latin typeface="Meiryo"/>
                <a:ea typeface="Meiryo"/>
                <a:cs typeface="Meiryo"/>
              </a:rPr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 lang="ja-JP">
                <a:latin typeface="Meiryo"/>
                <a:ea typeface="Meiryo"/>
                <a:cs typeface="Meiryo"/>
              </a:defRPr>
            </a:lvl1pPr>
          </a:lstStyle>
          <a:p>
            <a:endParaRPr lang="ja-JP">
              <a:latin typeface="Meiryo"/>
              <a:ea typeface="Meiryo"/>
              <a:cs typeface="Meiryo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 lang="ja-JP">
                <a:latin typeface="Meiryo"/>
                <a:ea typeface="Meiryo"/>
                <a:cs typeface="Meiryo"/>
              </a:defRPr>
            </a:lvl1pPr>
          </a:lstStyle>
          <a:p>
            <a:fld id="{CE5E9CC1-C706-0F49-92D6-E571CC5EEA8F}" type="slidenum">
              <a:rPr lang="ja-JP">
                <a:latin typeface="Meiryo"/>
                <a:ea typeface="Meiryo"/>
                <a:cs typeface="Meiryo"/>
              </a:rPr>
              <a:t>‹#›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1pPr>
    <a:lvl2pPr marL="45720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2pPr>
    <a:lvl3pPr marL="91440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3pPr>
    <a:lvl4pPr marL="137160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4pPr>
    <a:lvl5pPr marL="182880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5pPr>
    <a:lvl6pPr marL="228600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6pPr>
    <a:lvl7pPr marL="274320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7pPr>
    <a:lvl8pPr marL="320040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8pPr>
    <a:lvl9pPr marL="365760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【進行】グラフの印象を数字と比べる / 1ページ
到達点：軸と数値を確認し、印象と根拠を区別する。
スライドの指示に沿って操作を待つ。学生の画面で結果を確認してから次へ進む。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1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【進行】グラフの印象を数字と比べる / 2ページ
到達点：軸と数値を確認し、印象と根拠を区別する。
まず20秒だけ見せ、増加の印象を尋ねる。右図の原点省略に気づくか待つ。折れ線や限定範囲表示を一律禁止しない。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2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【進行】グラフの印象を数字と比べる / 3ページ
到達点：軸と数値を確認し、印象と根拠を区別する。
スライドの指示に沿って操作を待つ。学生の画面で結果を確認してから次へ進む。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3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【進行】グラフの印象を数字と比べる / 4ページ
到達点：軸と数値を確認し、印象と根拠を区別する。
スライドの指示に沿って操作を待つ。学生の画面で結果を確認してから次へ進む。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4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【進行】グラフの印象を数字と比べる / 5ページ
到達点：軸と数値を確認し、印象と根拠を区別する。
スライドの指示に沿って操作を待つ。学生の画面で結果を確認してから次へ進む。
操作に詰まった学生には、表示中の画面と止まった箇所を確認する。パスワードや認証コードは見せさせない。
コピー用の依頼文はhandouts/にある。指示文は例であり、長さや特定の語句を暗記させない。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5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【進行】グラフの印象を数字と比べる / 6ページ
到達点：軸と数値を確認し、印象と根拠を区別する。
スライドの指示に沿って操作を待つ。学生の画面で結果を確認してから次へ進む。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6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【進行】グラフの印象を数字と比べる / 7ページ
到達点：軸と数値を確認し、印象と根拠を区別する。
スライドの指示に沿って操作を待つ。学生の画面で結果を確認してから次へ進む。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7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【進行】グラフの印象を数字と比べる / 8ページ
到達点：軸と数値を確認し、印象と根拠を区別する。
スライドの指示に沿って操作を待つ。学生の画面で結果を確認してから次へ進む。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8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【進行】グラフの印象を数字と比べる / 9ページ
到達点：軸と数値を確認し、印象と根拠を区別する。
スライドの指示に沿って操作を待つ。学生の画面で結果を確認してから次へ進む。
操作に詰まった学生には、表示中の画面と止まった箇所を確認する。パスワードや認証コードは見せさせない。
コピー用の依頼文はhandouts/にある。指示文は例であり、長さや特定の語句を暗記させない。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9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【進行】グラフの印象を数字と比べる / 10ページ
到達点：軸と数値を確認し、印象と根拠を区別する。
スライドの指示に沿って操作を待つ。学生の画面で結果を確認してから次へ進む。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10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【進行】グラフの印象を数字と比べる / 11ページ
到達点：軸と数値を確認し、印象と根拠を区別する。
スライドの指示に沿って操作を待つ。学生の画面で結果を確認してから次へ進む。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11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【進行】グラフの印象を数字と比べる / 12ページ
到達点：軸と数値を確認し、印象と根拠を区別する。
AIとの会話全文、共有リンク、無意味な再試行回数は求めない。変更が不要だった場合も確認した対象と結果を書けばよい。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12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【進行】グラフの印象を数字と比べる / 13ページ
到達点：軸と数値を確認し、印象と根拠を区別する。
Desktopを使った学生はPush origin後にGitHubで確認する。フォーム送信完了画面まで確認。教員の閲覧権限は別途必要。
操作に詰まった学生には、表示中の画面と止まった箇所を確認する。パスワードや認証コードは見せさせない。
【参考資料】
GitHub Docs「Editing files」
https://docs.github.com/en/repositories/working-with-files/managing-files/editing-files
確認日：2026-09-17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13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【進行】グラフの印象を数字と比べる / 14ページ
到達点：軸と数値を確認し、印象と根拠を区別する。
このチェックは暗記テストではない。ファイルと画面を見ながら自己確認させる。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14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?>
<ns0:Relationships xmlns:ns0="http://schemas.openxmlformats.org/package/2006/relationships"><ns0:Relationship Id="rId1" Type="http://schemas.openxmlformats.org/officeDocument/2006/relationships/slideLayout" Target="../slideLayouts/slideLayout1.xml" /><ns0:Relationship Id="rId2" Type="http://schemas.openxmlformats.org/officeDocument/2006/relationships/theme" Target="../theme/theme1.xml" /><ns0:Relationship Id="rIdPersonalAuthorLogo" Type="http://schemas.openxmlformats.org/officeDocument/2006/relationships/image" Target="../media/personal-author-logo.png" /></ns0:Relationships>
</file>

<file path=ppt/slideMasters/slideMaster1.xml><?xml version="1.0" encoding="utf-8"?>
<p:sldMaster xmlns:a="http://schemas.openxmlformats.org/drawingml/2006/main" xmlns:ns3="http://schemas.microsoft.com/office/drawing/2014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/>
          <p:cNvPicPr>
            <a:picLocks noChangeAspect="1"/>
          </p:cNvPicPr>
          <p:nvPr/>
        </p:nvPicPr>
        <p:blipFill>
          <a:blip r:embed="rIdPersonalAuthorLogo"/>
          <a:stretch/>
        </p:blipFill>
        <p:spPr>
          <a:xfrm>
            <a:off x="685800" y="85748"/>
            <a:ext cx="1714500" cy="210457"/>
          </a:xfrm>
          <a:prstGeom prst="rect">
            <a:avLst/>
          </a:prstGeom>
        </p:spPr>
      </p:pic>
      <p:sp>
        <p:nvSpPr>
          <p:cNvPr id="3" name="Personal author website">
            <a:extLst>
              <a:ext uri="{FF2B5EF4-FFF2-40B4-BE49-F238E27FC236}">
                <ns3:creationId id="{2B199CB2-0940-4D13-9CAC-E3F074FAA0ED}"/>
              </a:ext>
            </a:extLst>
          </p:cNvPr>
          <p:cNvSpPr>
            <a:spLocks noGrp="1"/>
          </p:cNvSpPr>
          <p:nvPr/>
        </p:nvSpPr>
        <p:spPr>
          <a:xfrm>
            <a:off x="6286500" y="6477000"/>
            <a:ext cx="4000500" cy="2667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800">
                <a:solidFill>
                  <a:srgbClr val="607482"/>
                </a:solidFill>
                <a:latin typeface="Meiryo"/>
                <a:ea typeface="Meiryo"/>
                <a:cs typeface="Meiryo"/>
              </a:defRPr>
            </a:pPr>
            <a:r>
              <a:rPr sz="1800">
                <a:solidFill>
                  <a:srgbClr val="607482"/>
                </a:solidFill>
                <a:latin typeface="Meiryo"/>
                <a:ea typeface="Meiryo"/>
                <a:cs typeface="Meiryo"/>
              </a:rPr>
              <a:t>tsuchiyatakahiro.com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 lang="ja-JP">
          <a:solidFill>
            <a:schemeClr val="tx1"/>
          </a:solidFill>
          <a:latin typeface="Meiryo"/>
          <a:ea typeface="Meiryo"/>
          <a:cs typeface="Meiryo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Meiryo" pitchFamily="34" charset="0"/>
        <a:buChar char="•"/>
        <a:defRPr sz="3200" kern="1200" lang="ja-JP">
          <a:solidFill>
            <a:schemeClr val="tx1"/>
          </a:solidFill>
          <a:latin typeface="Meiryo"/>
          <a:ea typeface="Meiryo"/>
          <a:cs typeface="Meiryo"/>
        </a:defRPr>
      </a:lvl1pPr>
      <a:lvl2pPr marL="742950" indent="-285750" algn="l" defTabSz="914400" rtl="0" eaLnBrk="1" latinLnBrk="0" hangingPunct="1">
        <a:spcBef>
          <a:spcPct val="20000"/>
        </a:spcBef>
        <a:buFont typeface="Meiryo" pitchFamily="34" charset="0"/>
        <a:buChar char="–"/>
        <a:defRPr sz="2800" kern="1200" lang="ja-JP">
          <a:solidFill>
            <a:schemeClr val="tx1"/>
          </a:solidFill>
          <a:latin typeface="Meiryo"/>
          <a:ea typeface="Meiryo"/>
          <a:cs typeface="Meiryo"/>
        </a:defRPr>
      </a:lvl2pPr>
      <a:lvl3pPr marL="1143000" indent="-228600" algn="l" defTabSz="914400" rtl="0" eaLnBrk="1" latinLnBrk="0" hangingPunct="1">
        <a:spcBef>
          <a:spcPct val="20000"/>
        </a:spcBef>
        <a:buFont typeface="Meiryo" pitchFamily="34" charset="0"/>
        <a:buChar char="•"/>
        <a:defRPr sz="2400" kern="1200" lang="ja-JP">
          <a:solidFill>
            <a:schemeClr val="tx1"/>
          </a:solidFill>
          <a:latin typeface="Meiryo"/>
          <a:ea typeface="Meiryo"/>
          <a:cs typeface="Meiryo"/>
        </a:defRPr>
      </a:lvl3pPr>
      <a:lvl4pPr marL="1600200" indent="-228600" algn="l" defTabSz="914400" rtl="0" eaLnBrk="1" latinLnBrk="0" hangingPunct="1">
        <a:spcBef>
          <a:spcPct val="20000"/>
        </a:spcBef>
        <a:buFont typeface="Meiryo" pitchFamily="34" charset="0"/>
        <a:buChar char="–"/>
        <a:defRPr sz="2000" kern="1200" lang="ja-JP">
          <a:solidFill>
            <a:schemeClr val="tx1"/>
          </a:solidFill>
          <a:latin typeface="Meiryo"/>
          <a:ea typeface="Meiryo"/>
          <a:cs typeface="Meiryo"/>
        </a:defRPr>
      </a:lvl4pPr>
      <a:lvl5pPr marL="2057400" indent="-228600" algn="l" defTabSz="914400" rtl="0" eaLnBrk="1" latinLnBrk="0" hangingPunct="1">
        <a:spcBef>
          <a:spcPct val="20000"/>
        </a:spcBef>
        <a:buFont typeface="Meiryo" pitchFamily="34" charset="0"/>
        <a:buChar char="»"/>
        <a:defRPr sz="2000" kern="1200" lang="ja-JP">
          <a:solidFill>
            <a:schemeClr val="tx1"/>
          </a:solidFill>
          <a:latin typeface="Meiryo"/>
          <a:ea typeface="Meiryo"/>
          <a:cs typeface="Meiryo"/>
        </a:defRPr>
      </a:lvl5pPr>
      <a:lvl6pPr marL="2514600" indent="-228600" algn="l" defTabSz="914400" rtl="0" eaLnBrk="1" latinLnBrk="0" hangingPunct="1">
        <a:spcBef>
          <a:spcPct val="20000"/>
        </a:spcBef>
        <a:buFont typeface="Meiryo" pitchFamily="34" charset="0"/>
        <a:buChar char="•"/>
        <a:defRPr sz="2000" kern="1200" lang="ja-JP">
          <a:solidFill>
            <a:schemeClr val="tx1"/>
          </a:solidFill>
          <a:latin typeface="Meiryo"/>
          <a:ea typeface="Meiryo"/>
          <a:cs typeface="Meiryo"/>
        </a:defRPr>
      </a:lvl6pPr>
      <a:lvl7pPr marL="2971800" indent="-228600" algn="l" defTabSz="914400" rtl="0" eaLnBrk="1" latinLnBrk="0" hangingPunct="1">
        <a:spcBef>
          <a:spcPct val="20000"/>
        </a:spcBef>
        <a:buFont typeface="Meiryo" pitchFamily="34" charset="0"/>
        <a:buChar char="•"/>
        <a:defRPr sz="2000" kern="1200" lang="ja-JP">
          <a:solidFill>
            <a:schemeClr val="tx1"/>
          </a:solidFill>
          <a:latin typeface="Meiryo"/>
          <a:ea typeface="Meiryo"/>
          <a:cs typeface="Meiryo"/>
        </a:defRPr>
      </a:lvl7pPr>
      <a:lvl8pPr marL="3429000" indent="-228600" algn="l" defTabSz="914400" rtl="0" eaLnBrk="1" latinLnBrk="0" hangingPunct="1">
        <a:spcBef>
          <a:spcPct val="20000"/>
        </a:spcBef>
        <a:buFont typeface="Meiryo" pitchFamily="34" charset="0"/>
        <a:buChar char="•"/>
        <a:defRPr sz="2000" kern="1200" lang="ja-JP">
          <a:solidFill>
            <a:schemeClr val="tx1"/>
          </a:solidFill>
          <a:latin typeface="Meiryo"/>
          <a:ea typeface="Meiryo"/>
          <a:cs typeface="Meiryo"/>
        </a:defRPr>
      </a:lvl8pPr>
      <a:lvl9pPr marL="3886200" indent="-228600" algn="l" defTabSz="914400" rtl="0" eaLnBrk="1" latinLnBrk="0" hangingPunct="1">
        <a:spcBef>
          <a:spcPct val="20000"/>
        </a:spcBef>
        <a:buFont typeface="Meiryo" pitchFamily="34" charset="0"/>
        <a:buChar char="•"/>
        <a:defRPr sz="2000" kern="1200" lang="ja-JP">
          <a:solidFill>
            <a:schemeClr val="tx1"/>
          </a:solidFill>
          <a:latin typeface="Meiryo"/>
          <a:ea typeface="Meiryo"/>
          <a:cs typeface="Meiryo"/>
        </a:defRPr>
      </a:lvl9pPr>
    </p:bodyStyle>
    <p:otherStyle>
      <a:defPPr>
        <a:defRPr lang="ja-JP">
          <a:latin typeface="Meiryo"/>
          <a:ea typeface="Meiryo"/>
          <a:cs typeface="Meiryo"/>
        </a:defRPr>
      </a:defPPr>
      <a:lvl1pPr marL="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1pPr>
      <a:lvl2pPr marL="45720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2pPr>
      <a:lvl3pPr marL="91440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3pPr>
      <a:lvl4pPr marL="137160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4pPr>
      <a:lvl5pPr marL="182880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5pPr>
      <a:lvl6pPr marL="228600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6pPr>
      <a:lvl7pPr marL="274320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7pPr>
      <a:lvl8pPr marL="320040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8pPr>
      <a:lvl9pPr marL="365760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9pPr>
    </p:otherStyle>
  </p:txStyles>
</p:sldMaster>
</file>

<file path=ppt/slides/_rels/slide1.xml.rels><?xml version='1.0' encoding='utf-8'?>
<ns0:Relationships xmlns:ns0="http://schemas.openxmlformats.org/package/2006/relationships"><ns0:Relationship Id="rId1" Type="http://schemas.openxmlformats.org/officeDocument/2006/relationships/image" Target="../media/image-1-1.png" /><ns0:Relationship Id="rId2" Type="http://schemas.openxmlformats.org/officeDocument/2006/relationships/slideLayout" Target="../slideLayouts/slideLayout1.xml" /><ns0:Relationship Id="rId3" Type="http://schemas.openxmlformats.org/officeDocument/2006/relationships/notesSlide" Target="../notesSlides/notesSlide1.xml" /><ns0:Relationship Id="rIdPersonalAuthorLogo" Type="http://schemas.openxmlformats.org/officeDocument/2006/relationships/image" Target="../media/personal-author-logo.png" /></ns0: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1.png"/><Relationship Id="rId3" Type="http://schemas.openxmlformats.org/officeDocument/2006/relationships/image" Target="../media/image-11-1.png"/><Relationship Id="rId4" Type="http://schemas.openxmlformats.org/officeDocument/2006/relationships/image" Target="../media/image-11-1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1.png"/><Relationship Id="rId3" Type="http://schemas.openxmlformats.org/officeDocument/2006/relationships/image" Target="../media/image-14-1.png"/><Relationship Id="rId4" Type="http://schemas.openxmlformats.org/officeDocument/2006/relationships/image" Target="../media/image-14-1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ns3="http://schemas.microsoft.com/office/drawing/2014/main" xmlns:p="http://schemas.openxmlformats.org/presentationml/2006/main" xmlns:r="http://schemas.openxmlformats.org/officeDocument/2006/relationships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2B39"/>
          </a:solidFill>
          <a:ln w="12700">
            <a:solidFill>
              <a:srgbClr val="132B3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007F82"/>
          </a:solidFill>
          <a:ln w="12700">
            <a:solidFill>
              <a:srgbClr val="007F8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13232" y="557784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B1D6D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第10回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sp>
        <p:nvSpPr>
          <p:cNvPr id="5" name="Text 3"/>
          <p:cNvSpPr txBox="1"/>
          <p:nvPr/>
        </p:nvSpPr>
        <p:spPr>
          <a:xfrm>
            <a:off x="713232" y="1554480"/>
            <a:ext cx="941832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4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大きく増えた？</a:t>
            </a:r>
            <a:endParaRPr lang="ja-JP" sz="42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4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まず、軸を見よう。</a:t>
            </a:r>
            <a:endParaRPr lang="ja-JP" sz="4200" dirty="0">
              <a:latin typeface="Meiryo"/>
              <a:ea typeface="Meiryo"/>
              <a:cs typeface="Meiryo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749808" y="4169664"/>
            <a:ext cx="9692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D9E7E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第10回｜同じ数値を違う表示で比べ、</a:t>
            </a:r>
            <a:endParaRPr lang="ja-JP" sz="26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D9E7E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言えることを短く書きます。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pic>
        <p:nvPicPr>
          <p:cNvPr id="7" name="Image 0" descr="Lucide chart-colum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97312" y="566928"/>
            <a:ext cx="841248" cy="841248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49808" y="6281928"/>
            <a:ext cx="91440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D9E7E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大学生のためのAI・データリテラシー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9" name="Personal logo white backplate">
            <a:extLst>
              <a:ext uri="{FF2B5EF4-FFF2-40B4-BE49-F238E27FC236}">
                <ns3:creationId id="{1464D463-E5BC-4BFE-BD8A-CDCFE345671F}"/>
              </a:ext>
            </a:extLst>
          </p:cNvPr>
          <p:cNvSpPr>
            <a:spLocks noGrp="1"/>
          </p:cNvSpPr>
          <p:nvPr/>
        </p:nvSpPr>
        <p:spPr>
          <a:xfrm>
            <a:off x="685800" y="85725"/>
            <a:ext cx="1714500" cy="210503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pic>
        <p:nvPicPr>
          <p:cNvPr id="10" name=""/>
          <p:cNvPicPr>
            <a:picLocks noChangeAspect="1"/>
          </p:cNvPicPr>
          <p:nvPr/>
        </p:nvPicPr>
        <p:blipFill>
          <a:blip r:embed="rIdPersonalAuthorLogo"/>
          <a:stretch/>
        </p:blipFill>
        <p:spPr>
          <a:xfrm>
            <a:off x="685800" y="85748"/>
            <a:ext cx="1714500" cy="210457"/>
          </a:xfrm>
          <a:prstGeom prst="rect">
            <a:avLst/>
          </a:prstGeom>
        </p:spPr>
      </p:pic>
      <p:sp>
        <p:nvSpPr>
          <p:cNvPr id="11" name="Personal author website">
            <a:extLst>
              <a:ext uri="{FF2B5EF4-FFF2-40B4-BE49-F238E27FC236}">
                <ns3:creationId id="{2B199CB2-0940-4D13-9CAC-E3F074FAA0ED}"/>
              </a:ext>
            </a:extLst>
          </p:cNvPr>
          <p:cNvSpPr>
            <a:spLocks noGrp="1"/>
          </p:cNvSpPr>
          <p:nvPr/>
        </p:nvSpPr>
        <p:spPr>
          <a:xfrm>
            <a:off x="6286500" y="6477000"/>
            <a:ext cx="4000500" cy="2667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800">
                <a:solidFill>
                  <a:srgbClr val="AECFD2"/>
                </a:solidFill>
                <a:latin typeface="Meiryo"/>
                <a:ea typeface="Meiryo"/>
                <a:cs typeface="Meiryo"/>
              </a:defRPr>
            </a:pPr>
            <a:r>
              <a:rPr sz="1800">
                <a:solidFill>
                  <a:srgbClr val="AECFD2"/>
                </a:solidFill>
                <a:latin typeface="Meiryo"/>
                <a:ea typeface="Meiryo"/>
                <a:cs typeface="Meiryo"/>
              </a:rPr>
              <a:t>tsuchiyatakahiro.com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この2つは、同じデータ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86968" y="1554480"/>
            <a:ext cx="5047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3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縦軸：0から</a:t>
            </a:r>
            <a:endParaRPr lang="ja-JP" sz="2300" dirty="0">
              <a:latin typeface="Meiryo"/>
              <a:ea typeface="Meiryo"/>
              <a:cs typeface="Meiryo"/>
            </a:endParaRPr>
          </a:p>
        </p:txBody>
      </p:sp>
      <p:sp>
        <p:nvSpPr>
          <p:cNvPr id="5" name="Shape 3"/>
          <p:cNvSpPr/>
          <p:nvPr/>
        </p:nvSpPr>
        <p:spPr>
          <a:xfrm>
            <a:off x="1225296" y="5029200"/>
            <a:ext cx="446227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58368" y="4910328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7" name="Shape 5"/>
          <p:cNvSpPr/>
          <p:nvPr/>
        </p:nvSpPr>
        <p:spPr>
          <a:xfrm>
            <a:off x="1225296" y="4407408"/>
            <a:ext cx="446227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58368" y="4288536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9" name="Shape 7"/>
          <p:cNvSpPr/>
          <p:nvPr/>
        </p:nvSpPr>
        <p:spPr>
          <a:xfrm>
            <a:off x="1225296" y="3785616"/>
            <a:ext cx="446227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58368" y="3666744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1225296" y="3163824"/>
            <a:ext cx="446227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58368" y="3044952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1225296" y="2542032"/>
            <a:ext cx="446227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58368" y="242316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1448410" y="3101645"/>
            <a:ext cx="446227" cy="1927555"/>
          </a:xfrm>
          <a:prstGeom prst="rect">
            <a:avLst/>
          </a:prstGeom>
          <a:solidFill>
            <a:srgbClr val="007F82"/>
          </a:solidFill>
          <a:ln w="12700">
            <a:solidFill>
              <a:srgbClr val="007F8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168603" y="2754173"/>
            <a:ext cx="10058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ja-JP" altLang="en-US" sz="20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3.1</a:t>
            </a:r>
            <a:endParaRPr lang="ja-JP" sz="2000" dirty="0">
              <a:latin typeface="Meiryo"/>
              <a:ea typeface="Meiryo"/>
              <a:cs typeface="Meiryo"/>
            </a:endParaRPr>
          </a:p>
        </p:txBody>
      </p:sp>
      <p:sp>
        <p:nvSpPr>
          <p:cNvPr id="17" name="Text 15"/>
          <p:cNvSpPr txBox="1"/>
          <p:nvPr/>
        </p:nvSpPr>
        <p:spPr>
          <a:xfrm>
            <a:off x="1278331" y="5157216"/>
            <a:ext cx="7863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2022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2340864" y="3039466"/>
            <a:ext cx="446227" cy="1989734"/>
          </a:xfrm>
          <a:prstGeom prst="rect">
            <a:avLst/>
          </a:prstGeom>
          <a:solidFill>
            <a:srgbClr val="007F82"/>
          </a:solidFill>
          <a:ln w="12700">
            <a:solidFill>
              <a:srgbClr val="007F8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061058" y="2691994"/>
            <a:ext cx="10058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ja-JP" altLang="en-US" sz="20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3.2</a:t>
            </a:r>
            <a:endParaRPr lang="ja-JP" sz="2000" dirty="0">
              <a:latin typeface="Meiryo"/>
              <a:ea typeface="Meiryo"/>
              <a:cs typeface="Meiryo"/>
            </a:endParaRPr>
          </a:p>
        </p:txBody>
      </p:sp>
      <p:sp>
        <p:nvSpPr>
          <p:cNvPr id="20" name="Text 18"/>
          <p:cNvSpPr txBox="1"/>
          <p:nvPr/>
        </p:nvSpPr>
        <p:spPr>
          <a:xfrm>
            <a:off x="2170786" y="5157216"/>
            <a:ext cx="7863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2023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21" name="Shape 19"/>
          <p:cNvSpPr/>
          <p:nvPr/>
        </p:nvSpPr>
        <p:spPr>
          <a:xfrm>
            <a:off x="3233318" y="2977286"/>
            <a:ext cx="446227" cy="2051914"/>
          </a:xfrm>
          <a:prstGeom prst="rect">
            <a:avLst/>
          </a:prstGeom>
          <a:solidFill>
            <a:srgbClr val="007F82"/>
          </a:solidFill>
          <a:ln w="12700">
            <a:solidFill>
              <a:srgbClr val="007F82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2953512" y="2629814"/>
            <a:ext cx="10058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ja-JP" altLang="en-US" sz="20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3.3</a:t>
            </a:r>
            <a:endParaRPr lang="ja-JP" sz="2000" dirty="0">
              <a:latin typeface="Meiryo"/>
              <a:ea typeface="Meiryo"/>
              <a:cs typeface="Meiryo"/>
            </a:endParaRPr>
          </a:p>
        </p:txBody>
      </p:sp>
      <p:sp>
        <p:nvSpPr>
          <p:cNvPr id="23" name="Text 21"/>
          <p:cNvSpPr txBox="1"/>
          <p:nvPr/>
        </p:nvSpPr>
        <p:spPr>
          <a:xfrm>
            <a:off x="3063240" y="5157216"/>
            <a:ext cx="7863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2024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4125773" y="2915107"/>
            <a:ext cx="446227" cy="2114093"/>
          </a:xfrm>
          <a:prstGeom prst="rect">
            <a:avLst/>
          </a:prstGeom>
          <a:solidFill>
            <a:srgbClr val="007F82"/>
          </a:solidFill>
          <a:ln w="12700">
            <a:solidFill>
              <a:srgbClr val="007F82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3845966" y="2567635"/>
            <a:ext cx="10058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ja-JP" altLang="en-US" sz="20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3.4</a:t>
            </a:r>
            <a:endParaRPr lang="ja-JP" sz="2000" dirty="0">
              <a:latin typeface="Meiryo"/>
              <a:ea typeface="Meiryo"/>
              <a:cs typeface="Meiryo"/>
            </a:endParaRPr>
          </a:p>
        </p:txBody>
      </p:sp>
      <p:sp>
        <p:nvSpPr>
          <p:cNvPr id="26" name="Text 24"/>
          <p:cNvSpPr txBox="1"/>
          <p:nvPr/>
        </p:nvSpPr>
        <p:spPr>
          <a:xfrm>
            <a:off x="3955694" y="5157216"/>
            <a:ext cx="7863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2025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27" name="Shape 25"/>
          <p:cNvSpPr/>
          <p:nvPr/>
        </p:nvSpPr>
        <p:spPr>
          <a:xfrm>
            <a:off x="5018227" y="2852928"/>
            <a:ext cx="446227" cy="2176272"/>
          </a:xfrm>
          <a:prstGeom prst="rect">
            <a:avLst/>
          </a:prstGeom>
          <a:solidFill>
            <a:srgbClr val="007F82"/>
          </a:solidFill>
          <a:ln w="12700">
            <a:solidFill>
              <a:srgbClr val="007F82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738421" y="2505456"/>
            <a:ext cx="10058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ja-JP" altLang="en-US" sz="20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3.5</a:t>
            </a:r>
            <a:endParaRPr lang="ja-JP" sz="2000" dirty="0">
              <a:latin typeface="Meiryo"/>
              <a:ea typeface="Meiryo"/>
              <a:cs typeface="Meiryo"/>
            </a:endParaRPr>
          </a:p>
        </p:txBody>
      </p:sp>
      <p:sp>
        <p:nvSpPr>
          <p:cNvPr id="29" name="Text 27"/>
          <p:cNvSpPr txBox="1"/>
          <p:nvPr/>
        </p:nvSpPr>
        <p:spPr>
          <a:xfrm>
            <a:off x="4848149" y="5157216"/>
            <a:ext cx="7863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2026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30" name="Text 28"/>
          <p:cNvSpPr txBox="1"/>
          <p:nvPr/>
        </p:nvSpPr>
        <p:spPr>
          <a:xfrm>
            <a:off x="6437376" y="1554480"/>
            <a:ext cx="5047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3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縦軸：3.0から</a:t>
            </a:r>
            <a:endParaRPr lang="ja-JP" sz="2300" dirty="0">
              <a:latin typeface="Meiryo"/>
              <a:ea typeface="Meiryo"/>
              <a:cs typeface="Meiryo"/>
            </a:endParaRPr>
          </a:p>
        </p:txBody>
      </p:sp>
      <p:sp>
        <p:nvSpPr>
          <p:cNvPr id="31" name="Shape 29"/>
          <p:cNvSpPr/>
          <p:nvPr/>
        </p:nvSpPr>
        <p:spPr>
          <a:xfrm>
            <a:off x="6775704" y="5029200"/>
            <a:ext cx="446227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6208776" y="4910328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33" name="Shape 31"/>
          <p:cNvSpPr/>
          <p:nvPr/>
        </p:nvSpPr>
        <p:spPr>
          <a:xfrm>
            <a:off x="6775704" y="4531766"/>
            <a:ext cx="446227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208776" y="4412894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3.2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35" name="Shape 33"/>
          <p:cNvSpPr/>
          <p:nvPr/>
        </p:nvSpPr>
        <p:spPr>
          <a:xfrm>
            <a:off x="6775704" y="4034333"/>
            <a:ext cx="446227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208776" y="3915461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3.4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37" name="Shape 35"/>
          <p:cNvSpPr/>
          <p:nvPr/>
        </p:nvSpPr>
        <p:spPr>
          <a:xfrm>
            <a:off x="6775704" y="3536899"/>
            <a:ext cx="446227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6208776" y="3418027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3.6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39" name="Shape 37"/>
          <p:cNvSpPr/>
          <p:nvPr/>
        </p:nvSpPr>
        <p:spPr>
          <a:xfrm>
            <a:off x="6775704" y="3039466"/>
            <a:ext cx="446227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6208776" y="2920594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3.8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41" name="Shape 39"/>
          <p:cNvSpPr/>
          <p:nvPr/>
        </p:nvSpPr>
        <p:spPr>
          <a:xfrm>
            <a:off x="6775704" y="2542032"/>
            <a:ext cx="446227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6208776" y="242316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43" name="Shape 41"/>
          <p:cNvSpPr/>
          <p:nvPr/>
        </p:nvSpPr>
        <p:spPr>
          <a:xfrm>
            <a:off x="6998818" y="4780483"/>
            <a:ext cx="446227" cy="248717"/>
          </a:xfrm>
          <a:prstGeom prst="rect">
            <a:avLst/>
          </a:prstGeom>
          <a:solidFill>
            <a:srgbClr val="B05D12"/>
          </a:solidFill>
          <a:ln w="12700">
            <a:solidFill>
              <a:srgbClr val="B05D12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6719011" y="4433011"/>
            <a:ext cx="10058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ja-JP" altLang="en-US" sz="20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3.1</a:t>
            </a:r>
            <a:endParaRPr lang="ja-JP" sz="2000" dirty="0">
              <a:latin typeface="Meiryo"/>
              <a:ea typeface="Meiryo"/>
              <a:cs typeface="Meiryo"/>
            </a:endParaRPr>
          </a:p>
        </p:txBody>
      </p:sp>
      <p:sp>
        <p:nvSpPr>
          <p:cNvPr id="45" name="Text 43"/>
          <p:cNvSpPr txBox="1"/>
          <p:nvPr/>
        </p:nvSpPr>
        <p:spPr>
          <a:xfrm>
            <a:off x="6828739" y="5157216"/>
            <a:ext cx="7863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2022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46" name="Shape 44"/>
          <p:cNvSpPr/>
          <p:nvPr/>
        </p:nvSpPr>
        <p:spPr>
          <a:xfrm>
            <a:off x="7891272" y="4531766"/>
            <a:ext cx="446227" cy="497434"/>
          </a:xfrm>
          <a:prstGeom prst="rect">
            <a:avLst/>
          </a:prstGeom>
          <a:solidFill>
            <a:srgbClr val="B05D12"/>
          </a:solidFill>
          <a:ln w="12700">
            <a:solidFill>
              <a:srgbClr val="B05D12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7611466" y="4184294"/>
            <a:ext cx="10058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ja-JP" altLang="en-US" sz="20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3.2</a:t>
            </a:r>
            <a:endParaRPr lang="ja-JP" sz="2000" dirty="0">
              <a:latin typeface="Meiryo"/>
              <a:ea typeface="Meiryo"/>
              <a:cs typeface="Meiryo"/>
            </a:endParaRPr>
          </a:p>
        </p:txBody>
      </p:sp>
      <p:sp>
        <p:nvSpPr>
          <p:cNvPr id="48" name="Text 46"/>
          <p:cNvSpPr txBox="1"/>
          <p:nvPr/>
        </p:nvSpPr>
        <p:spPr>
          <a:xfrm>
            <a:off x="7721194" y="5157216"/>
            <a:ext cx="7863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2023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49" name="Shape 47"/>
          <p:cNvSpPr/>
          <p:nvPr/>
        </p:nvSpPr>
        <p:spPr>
          <a:xfrm>
            <a:off x="8783726" y="4283050"/>
            <a:ext cx="446227" cy="746150"/>
          </a:xfrm>
          <a:prstGeom prst="rect">
            <a:avLst/>
          </a:prstGeom>
          <a:solidFill>
            <a:srgbClr val="B05D12"/>
          </a:solidFill>
          <a:ln w="12700">
            <a:solidFill>
              <a:srgbClr val="B05D12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8503920" y="3935578"/>
            <a:ext cx="10058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ja-JP" altLang="en-US" sz="20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3.3</a:t>
            </a:r>
            <a:endParaRPr lang="ja-JP" sz="2000" dirty="0">
              <a:latin typeface="Meiryo"/>
              <a:ea typeface="Meiryo"/>
              <a:cs typeface="Meiryo"/>
            </a:endParaRPr>
          </a:p>
        </p:txBody>
      </p:sp>
      <p:sp>
        <p:nvSpPr>
          <p:cNvPr id="51" name="Text 49"/>
          <p:cNvSpPr txBox="1"/>
          <p:nvPr/>
        </p:nvSpPr>
        <p:spPr>
          <a:xfrm>
            <a:off x="8613648" y="5157216"/>
            <a:ext cx="7863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2024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52" name="Shape 50"/>
          <p:cNvSpPr/>
          <p:nvPr/>
        </p:nvSpPr>
        <p:spPr>
          <a:xfrm>
            <a:off x="9676181" y="4034333"/>
            <a:ext cx="446227" cy="994867"/>
          </a:xfrm>
          <a:prstGeom prst="rect">
            <a:avLst/>
          </a:prstGeom>
          <a:solidFill>
            <a:srgbClr val="B05D12"/>
          </a:solidFill>
          <a:ln w="12700">
            <a:solidFill>
              <a:srgbClr val="B05D12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9396374" y="3686861"/>
            <a:ext cx="10058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ja-JP" altLang="en-US" sz="20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3.4</a:t>
            </a:r>
            <a:endParaRPr lang="ja-JP" sz="2000" dirty="0">
              <a:latin typeface="Meiryo"/>
              <a:ea typeface="Meiryo"/>
              <a:cs typeface="Meiryo"/>
            </a:endParaRPr>
          </a:p>
        </p:txBody>
      </p:sp>
      <p:sp>
        <p:nvSpPr>
          <p:cNvPr id="54" name="Text 52"/>
          <p:cNvSpPr txBox="1"/>
          <p:nvPr/>
        </p:nvSpPr>
        <p:spPr>
          <a:xfrm>
            <a:off x="9506102" y="5157216"/>
            <a:ext cx="7863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2025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55" name="Shape 53"/>
          <p:cNvSpPr/>
          <p:nvPr/>
        </p:nvSpPr>
        <p:spPr>
          <a:xfrm>
            <a:off x="10568635" y="3785616"/>
            <a:ext cx="446227" cy="1243584"/>
          </a:xfrm>
          <a:prstGeom prst="rect">
            <a:avLst/>
          </a:prstGeom>
          <a:solidFill>
            <a:srgbClr val="B05D12"/>
          </a:solidFill>
          <a:ln w="12700">
            <a:solidFill>
              <a:srgbClr val="B05D12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10288829" y="3438144"/>
            <a:ext cx="10058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ja-JP" altLang="en-US" sz="20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3.5</a:t>
            </a:r>
            <a:endParaRPr lang="ja-JP" sz="2000" dirty="0">
              <a:latin typeface="Meiryo"/>
              <a:ea typeface="Meiryo"/>
              <a:cs typeface="Meiryo"/>
            </a:endParaRPr>
          </a:p>
        </p:txBody>
      </p:sp>
      <p:sp>
        <p:nvSpPr>
          <p:cNvPr id="57" name="Text 55"/>
          <p:cNvSpPr txBox="1"/>
          <p:nvPr/>
        </p:nvSpPr>
        <p:spPr>
          <a:xfrm>
            <a:off x="10398557" y="5157216"/>
            <a:ext cx="7863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2026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58" name="Text 56"/>
          <p:cNvSpPr txBox="1"/>
          <p:nvPr/>
        </p:nvSpPr>
        <p:spPr>
          <a:xfrm>
            <a:off x="667512" y="5779008"/>
            <a:ext cx="108447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教育用の架空データ。軸以外の値は同じ。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59" name="Text 57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60" name="Text 58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第10回  02 / 14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元の数字を先に見る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554480"/>
            <a:ext cx="3383280" cy="704088"/>
          </a:xfrm>
          <a:prstGeom prst="rect">
            <a:avLst/>
          </a:prstGeom>
          <a:solidFill>
            <a:srgbClr val="132B39"/>
          </a:solidFill>
          <a:ln w="12700">
            <a:solidFill>
              <a:srgbClr val="132B3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86384" y="1709928"/>
            <a:ext cx="30906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年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023360" y="1554480"/>
            <a:ext cx="7525512" cy="704088"/>
          </a:xfrm>
          <a:prstGeom prst="rect">
            <a:avLst/>
          </a:prstGeom>
          <a:solidFill>
            <a:srgbClr val="132B39"/>
          </a:solidFill>
          <a:ln w="12700">
            <a:solidFill>
              <a:srgbClr val="132B3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169664" y="1709928"/>
            <a:ext cx="723290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reported_confidence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8" name="Shape 6"/>
          <p:cNvSpPr/>
          <p:nvPr/>
        </p:nvSpPr>
        <p:spPr>
          <a:xfrm>
            <a:off x="640080" y="2258568"/>
            <a:ext cx="3383280" cy="676656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86384" y="2386584"/>
            <a:ext cx="3090672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2022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4023360" y="2258568"/>
            <a:ext cx="7525512" cy="676656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169664" y="2386584"/>
            <a:ext cx="7232904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3.1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640080" y="293522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40080" y="2935224"/>
            <a:ext cx="3383280" cy="67665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86384" y="3063240"/>
            <a:ext cx="3090672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2023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4023360" y="2935224"/>
            <a:ext cx="7525512" cy="67665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169664" y="3063240"/>
            <a:ext cx="7232904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3.2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640080" y="3611880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40080" y="3611880"/>
            <a:ext cx="3383280" cy="676656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86384" y="3739896"/>
            <a:ext cx="3090672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2024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4023360" y="3611880"/>
            <a:ext cx="7525512" cy="676656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169664" y="3739896"/>
            <a:ext cx="7232904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3.3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640080" y="4288536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40080" y="4288536"/>
            <a:ext cx="3383280" cy="67665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86384" y="4416552"/>
            <a:ext cx="3090672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2025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25" name="Shape 23"/>
          <p:cNvSpPr/>
          <p:nvPr/>
        </p:nvSpPr>
        <p:spPr>
          <a:xfrm>
            <a:off x="4023360" y="4288536"/>
            <a:ext cx="7525512" cy="67665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4169664" y="4416552"/>
            <a:ext cx="7232904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3.4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27" name="Shape 25"/>
          <p:cNvSpPr/>
          <p:nvPr/>
        </p:nvSpPr>
        <p:spPr>
          <a:xfrm>
            <a:off x="640080" y="4965192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40080" y="4965192"/>
            <a:ext cx="3383280" cy="676656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786384" y="5093208"/>
            <a:ext cx="3090672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2026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30" name="Shape 28"/>
          <p:cNvSpPr/>
          <p:nvPr/>
        </p:nvSpPr>
        <p:spPr>
          <a:xfrm>
            <a:off x="4023360" y="4965192"/>
            <a:ext cx="7525512" cy="676656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169664" y="5093208"/>
            <a:ext cx="7232904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3.5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640080" y="5641848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67512" y="5779008"/>
            <a:ext cx="108447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chart_claim_data.csv。数値の意味や測定方法は、別の説明も必要。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34" name="Text 32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35" name="Text 33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第10回  03 / 14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グラフを読む順番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536192"/>
            <a:ext cx="3496056" cy="3977640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pic>
        <p:nvPicPr>
          <p:cNvPr id="5" name="Image 0" descr="Lucide file-tex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1819656"/>
            <a:ext cx="530352" cy="53035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96112" y="2660904"/>
            <a:ext cx="29839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7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何の数字か</a:t>
            </a:r>
            <a:endParaRPr lang="ja-JP" sz="2700" dirty="0">
              <a:latin typeface="Meiryo"/>
              <a:ea typeface="Meiryo"/>
              <a:cs typeface="Meiryo"/>
            </a:endParaRPr>
          </a:p>
        </p:txBody>
      </p:sp>
      <p:sp>
        <p:nvSpPr>
          <p:cNvPr id="7" name="Text 4"/>
          <p:cNvSpPr txBox="1"/>
          <p:nvPr/>
        </p:nvSpPr>
        <p:spPr>
          <a:xfrm>
            <a:off x="896112" y="3639312"/>
            <a:ext cx="2983992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項目名、単位、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対象期間を読む。</a:t>
            </a:r>
            <a:endParaRPr lang="ja-JP" sz="2400" dirty="0">
              <a:latin typeface="Meiryo"/>
              <a:ea typeface="Meiryo"/>
              <a:cs typeface="Meiryo"/>
            </a:endParaRPr>
          </a:p>
        </p:txBody>
      </p:sp>
      <p:sp>
        <p:nvSpPr>
          <p:cNvPr id="8" name="Shape 5"/>
          <p:cNvSpPr/>
          <p:nvPr/>
        </p:nvSpPr>
        <p:spPr>
          <a:xfrm>
            <a:off x="4346448" y="1536192"/>
            <a:ext cx="3496056" cy="3977640"/>
          </a:xfrm>
          <a:prstGeom prst="rect">
            <a:avLst/>
          </a:prstGeom>
          <a:solidFill>
            <a:srgbClr val="EAF4F3"/>
          </a:solidFill>
          <a:ln w="12700">
            <a:solidFill>
              <a:srgbClr val="EAF4F3"/>
            </a:solidFill>
            <a:prstDash val="solid"/>
          </a:ln>
        </p:spPr>
      </p:sp>
      <p:pic>
        <p:nvPicPr>
          <p:cNvPr id="9" name="Image 1" descr="Lucide chart-colum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02480" y="1819656"/>
            <a:ext cx="530352" cy="53035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602480" y="2660904"/>
            <a:ext cx="29839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7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どう描いているか</a:t>
            </a:r>
            <a:endParaRPr lang="ja-JP" sz="2700" dirty="0">
              <a:latin typeface="Meiryo"/>
              <a:ea typeface="Meiryo"/>
              <a:cs typeface="Meiryo"/>
            </a:endParaRPr>
          </a:p>
        </p:txBody>
      </p:sp>
      <p:sp>
        <p:nvSpPr>
          <p:cNvPr id="11" name="Text 7"/>
          <p:cNvSpPr txBox="1"/>
          <p:nvPr/>
        </p:nvSpPr>
        <p:spPr>
          <a:xfrm>
            <a:off x="4602480" y="3639312"/>
            <a:ext cx="2983992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軸の始点と終点、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目盛りを見る。</a:t>
            </a:r>
            <a:endParaRPr lang="ja-JP" sz="2400" dirty="0">
              <a:latin typeface="Meiryo"/>
              <a:ea typeface="Meiryo"/>
              <a:cs typeface="Meiryo"/>
            </a:endParaRPr>
          </a:p>
        </p:txBody>
      </p:sp>
      <p:sp>
        <p:nvSpPr>
          <p:cNvPr id="12" name="Shape 8"/>
          <p:cNvSpPr/>
          <p:nvPr/>
        </p:nvSpPr>
        <p:spPr>
          <a:xfrm>
            <a:off x="8052816" y="1536192"/>
            <a:ext cx="3496056" cy="3977640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pic>
        <p:nvPicPr>
          <p:cNvPr id="13" name="Image 2" descr="Lucide tab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08848" y="1819656"/>
            <a:ext cx="530352" cy="530352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8308848" y="2660904"/>
            <a:ext cx="29839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7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元の値はどうか</a:t>
            </a:r>
            <a:endParaRPr lang="ja-JP" sz="2700" dirty="0">
              <a:latin typeface="Meiryo"/>
              <a:ea typeface="Meiryo"/>
              <a:cs typeface="Meiryo"/>
            </a:endParaRPr>
          </a:p>
        </p:txBody>
      </p:sp>
      <p:sp>
        <p:nvSpPr>
          <p:cNvPr id="15" name="Text 10"/>
          <p:cNvSpPr txBox="1"/>
          <p:nvPr/>
        </p:nvSpPr>
        <p:spPr>
          <a:xfrm>
            <a:off x="8308848" y="3639312"/>
            <a:ext cx="2983992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差を計算し、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印象と比べる。</a:t>
            </a:r>
            <a:endParaRPr lang="ja-JP" sz="2400" dirty="0">
              <a:latin typeface="Meiryo"/>
              <a:ea typeface="Meiryo"/>
              <a:cs typeface="Meiryo"/>
            </a:endParaRPr>
          </a:p>
        </p:txBody>
      </p:sp>
      <p:sp>
        <p:nvSpPr>
          <p:cNvPr id="16" name="Text 11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7" name="Text 12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第10回  04 / 14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 AIにグラフを説明させる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pic>
        <p:nvPicPr>
          <p:cNvPr id="4" name="Image 0" descr="Lucide keyboa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1499616"/>
            <a:ext cx="384048" cy="38404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280160" y="1490472"/>
            <a:ext cx="7315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AIに送ってみよう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6" name="Shape 3"/>
          <p:cNvSpPr/>
          <p:nvPr/>
        </p:nvSpPr>
        <p:spPr>
          <a:xfrm>
            <a:off x="640080" y="2084832"/>
            <a:ext cx="10908792" cy="2871216"/>
          </a:xfrm>
          <a:prstGeom prst="rect">
            <a:avLst/>
          </a:prstGeom>
          <a:solidFill>
            <a:srgbClr val="EAF4F3"/>
          </a:solidFill>
          <a:ln w="12700">
            <a:solidFill>
              <a:srgbClr val="EAF4F3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50976" y="2350008"/>
            <a:ext cx="1028700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2つのグラフを比べてください。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使っている値と、縦軸の範囲を確認し、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見た目の印象が違う理由を説明してください。</a:t>
            </a:r>
            <a:endParaRPr lang="ja-JP" sz="2700" dirty="0">
              <a:latin typeface="Meiryo"/>
              <a:ea typeface="Meiryo"/>
              <a:cs typeface="Meiryo"/>
            </a:endParaRPr>
          </a:p>
        </p:txBody>
      </p:sp>
      <p:pic>
        <p:nvPicPr>
          <p:cNvPr id="8" name="Image 1" descr="Lucide circle-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5230368"/>
            <a:ext cx="338328" cy="338328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225296" y="5166360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画像を渡せなければ、データと縦軸の範囲を文章で伝える。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10" name="Text 6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1" name="Text 7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第10回  05 / 14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増えた量は、0.4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9344"/>
            <a:ext cx="106070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5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2022年の3.1から、2026年の3.5へ</a:t>
            </a:r>
            <a:endParaRPr lang="ja-JP" sz="2500" dirty="0">
              <a:latin typeface="Meiryo"/>
              <a:ea typeface="Meiryo"/>
              <a:cs typeface="Meiryo"/>
            </a:endParaRPr>
          </a:p>
        </p:txBody>
      </p:sp>
      <p:sp>
        <p:nvSpPr>
          <p:cNvPr id="5" name="Shape 3"/>
          <p:cNvSpPr/>
          <p:nvPr/>
        </p:nvSpPr>
        <p:spPr>
          <a:xfrm>
            <a:off x="640080" y="2596896"/>
            <a:ext cx="10908792" cy="1417320"/>
          </a:xfrm>
          <a:prstGeom prst="rect">
            <a:avLst/>
          </a:prstGeom>
          <a:solidFill>
            <a:srgbClr val="EAF4F3"/>
          </a:solidFill>
          <a:ln w="12700">
            <a:solidFill>
              <a:srgbClr val="EAF4F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4400" y="2953512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ja-JP" altLang="en-US" sz="36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3.5 − 3.1 = 0.4</a:t>
            </a:r>
            <a:endParaRPr lang="ja-JP" sz="3600" dirty="0">
              <a:latin typeface="Meiryo"/>
              <a:ea typeface="Meiryo"/>
              <a:cs typeface="Meiryo"/>
            </a:endParaRPr>
          </a:p>
        </p:txBody>
      </p:sp>
      <p:sp>
        <p:nvSpPr>
          <p:cNvPr id="7" name="Text 5"/>
          <p:cNvSpPr txBox="1"/>
          <p:nvPr/>
        </p:nvSpPr>
        <p:spPr>
          <a:xfrm>
            <a:off x="822960" y="4590288"/>
            <a:ext cx="1060704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5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「急増した」と書く前に、実際の差を示す。</a:t>
            </a:r>
            <a:endParaRPr lang="ja-JP" sz="25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5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この数値の尺度や調査方法も確認が必要。</a:t>
            </a:r>
            <a:endParaRPr lang="ja-JP" sz="2500" dirty="0">
              <a:latin typeface="Meiryo"/>
              <a:ea typeface="Meiryo"/>
              <a:cs typeface="Meiryo"/>
            </a:endParaRPr>
          </a:p>
        </p:txBody>
      </p:sp>
      <p:sp>
        <p:nvSpPr>
          <p:cNvPr id="8" name="Text 6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9" name="Text 7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第10回  06 / 14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軸を変えること自体が誤りではない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554480"/>
            <a:ext cx="5358384" cy="3986784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05256" y="1847088"/>
            <a:ext cx="4828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0から示すとき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905256" y="2944368"/>
            <a:ext cx="4828032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全体に対する大きさを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比べやすい。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棒の長さの比較に注意する。</a:t>
            </a:r>
            <a:endParaRPr lang="ja-JP" sz="2400" dirty="0">
              <a:latin typeface="Meiryo"/>
              <a:ea typeface="Meiryo"/>
              <a:cs typeface="Meiryo"/>
            </a:endParaRPr>
          </a:p>
        </p:txBody>
      </p:sp>
      <p:sp>
        <p:nvSpPr>
          <p:cNvPr id="7" name="Shape 5"/>
          <p:cNvSpPr/>
          <p:nvPr/>
        </p:nvSpPr>
        <p:spPr>
          <a:xfrm>
            <a:off x="6190488" y="1554480"/>
            <a:ext cx="5358384" cy="3986784"/>
          </a:xfrm>
          <a:prstGeom prst="rect">
            <a:avLst/>
          </a:prstGeom>
          <a:solidFill>
            <a:srgbClr val="EAF4F3"/>
          </a:solidFill>
          <a:ln w="12700">
            <a:solidFill>
              <a:srgbClr val="EAF4F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55664" y="1847088"/>
            <a:ext cx="4828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範囲を絞るとき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sp>
        <p:nvSpPr>
          <p:cNvPr id="9" name="Text 7"/>
          <p:cNvSpPr txBox="1"/>
          <p:nvPr/>
        </p:nvSpPr>
        <p:spPr>
          <a:xfrm>
            <a:off x="6455664" y="2944368"/>
            <a:ext cx="4828032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小さな変化を読みやすい。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その分、差が大きく見える。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軸の範囲を明示する。</a:t>
            </a:r>
            <a:endParaRPr lang="ja-JP" sz="2400" dirty="0">
              <a:latin typeface="Meiryo"/>
              <a:ea typeface="Meiryo"/>
              <a:cs typeface="Meiryo"/>
            </a:endParaRPr>
          </a:p>
        </p:txBody>
      </p:sp>
      <p:sp>
        <p:nvSpPr>
          <p:cNvPr id="10" name="Text 8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1" name="Text 9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第10回  07 / 14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描かれていないことも確認する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517904"/>
            <a:ext cx="10908792" cy="4050792"/>
          </a:xfrm>
          <a:prstGeom prst="rect">
            <a:avLst/>
          </a:prstGeom>
          <a:solidFill>
            <a:srgbClr val="EAF4F3"/>
          </a:solidFill>
          <a:ln w="12700">
            <a:solidFill>
              <a:srgbClr val="EAF4F3"/>
            </a:solidFill>
            <a:prstDash val="solid"/>
          </a:ln>
        </p:spPr>
      </p:sp>
      <p:pic>
        <p:nvPicPr>
          <p:cNvPr id="5" name="Image 0" descr="Lucide searc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1832" y="1801368"/>
            <a:ext cx="438912" cy="43891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27632" y="1810512"/>
            <a:ext cx="9546336" cy="3639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何人を、どう調べたのか。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毎年、同じ条件で測ったのか。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グラフだけで分からなければ、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「この図だけでは判断できない」と書く。</a:t>
            </a:r>
            <a:endParaRPr lang="ja-JP" sz="2700" dirty="0">
              <a:latin typeface="Meiryo"/>
              <a:ea typeface="Meiryo"/>
              <a:cs typeface="Meiryo"/>
            </a:endParaRPr>
          </a:p>
        </p:txBody>
      </p:sp>
      <p:sp>
        <p:nvSpPr>
          <p:cNvPr id="7" name="Text 4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8" name="Text 5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第10回  08 / 14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② 誇張しない説明に直す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pic>
        <p:nvPicPr>
          <p:cNvPr id="4" name="Image 0" descr="Lucide keyboa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1499616"/>
            <a:ext cx="384048" cy="38404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280160" y="1490472"/>
            <a:ext cx="7315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AIに送ってみよう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6" name="Shape 3"/>
          <p:cNvSpPr/>
          <p:nvPr/>
        </p:nvSpPr>
        <p:spPr>
          <a:xfrm>
            <a:off x="640080" y="2084832"/>
            <a:ext cx="10908792" cy="2871216"/>
          </a:xfrm>
          <a:prstGeom prst="rect">
            <a:avLst/>
          </a:prstGeom>
          <a:solidFill>
            <a:srgbClr val="EAF4F3"/>
          </a:solidFill>
          <a:ln w="12700">
            <a:solidFill>
              <a:srgbClr val="EAF4F3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50976" y="2350008"/>
            <a:ext cx="1028700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この架空データを2文で説明してください。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1文目に数値の変化、2文目にこの資料だけでは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判断できないことを書いてください。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変化の原因は推測しないでください。</a:t>
            </a:r>
            <a:endParaRPr lang="ja-JP" sz="2700" dirty="0">
              <a:latin typeface="Meiryo"/>
              <a:ea typeface="Meiryo"/>
              <a:cs typeface="Meiryo"/>
            </a:endParaRPr>
          </a:p>
        </p:txBody>
      </p:sp>
      <p:pic>
        <p:nvPicPr>
          <p:cNvPr id="8" name="Image 1" descr="Lucide circle-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5230368"/>
            <a:ext cx="338328" cy="338328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225296" y="5166360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数値・期間・軸の範囲を、自分でも確認する。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10" name="Text 6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1" name="Text 7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第10回  09 / 14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見た目の評価を、数値の説明に変える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554480"/>
            <a:ext cx="5358384" cy="3986784"/>
          </a:xfrm>
          <a:prstGeom prst="rect">
            <a:avLst/>
          </a:prstGeom>
          <a:solidFill>
            <a:srgbClr val="FFF4E5"/>
          </a:solidFill>
          <a:ln w="12700">
            <a:solidFill>
              <a:srgbClr val="FFF4E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05256" y="1847088"/>
            <a:ext cx="4828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b="1" dirty="0">
                <a:solidFill>
                  <a:srgbClr val="B05D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避けたい説明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905256" y="2944368"/>
            <a:ext cx="4828032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2026年に大きく急増した。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AIの普及が原因だろう。</a:t>
            </a:r>
            <a:endParaRPr lang="ja-JP" sz="2400" dirty="0">
              <a:latin typeface="Meiryo"/>
              <a:ea typeface="Meiryo"/>
              <a:cs typeface="Meiryo"/>
            </a:endParaRPr>
          </a:p>
        </p:txBody>
      </p:sp>
      <p:sp>
        <p:nvSpPr>
          <p:cNvPr id="7" name="Shape 5"/>
          <p:cNvSpPr/>
          <p:nvPr/>
        </p:nvSpPr>
        <p:spPr>
          <a:xfrm>
            <a:off x="6190488" y="1554480"/>
            <a:ext cx="5358384" cy="3986784"/>
          </a:xfrm>
          <a:prstGeom prst="rect">
            <a:avLst/>
          </a:prstGeom>
          <a:solidFill>
            <a:srgbClr val="EAF4F3"/>
          </a:solidFill>
          <a:ln w="12700">
            <a:solidFill>
              <a:srgbClr val="EAF4F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55664" y="1847088"/>
            <a:ext cx="4828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この資料から書ける説明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sp>
        <p:nvSpPr>
          <p:cNvPr id="9" name="Text 7"/>
          <p:cNvSpPr txBox="1"/>
          <p:nvPr/>
        </p:nvSpPr>
        <p:spPr>
          <a:xfrm>
            <a:off x="6455664" y="2944368"/>
            <a:ext cx="4828032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2022年から2026年に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3.1から3.5へ増えた。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増加の理由は判断できない。</a:t>
            </a:r>
            <a:endParaRPr lang="ja-JP" sz="2400" dirty="0">
              <a:latin typeface="Meiryo"/>
              <a:ea typeface="Meiryo"/>
              <a:cs typeface="Meiryo"/>
            </a:endParaRPr>
          </a:p>
        </p:txBody>
      </p:sp>
      <p:sp>
        <p:nvSpPr>
          <p:cNvPr id="10" name="Text 8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1" name="Text 9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第10回  10 / 14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グラフの確認記録を作る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pic>
        <p:nvPicPr>
          <p:cNvPr id="4" name="Image 0" descr="Lucide circle-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682496"/>
            <a:ext cx="402336" cy="40233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435608" y="1645920"/>
            <a:ext cx="988466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どちらも同じ5個の値だと確認した。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pic>
        <p:nvPicPr>
          <p:cNvPr id="6" name="Image 1" descr="Lucide circle-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633472"/>
            <a:ext cx="402336" cy="402336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435608" y="2596896"/>
            <a:ext cx="988466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縦軸の違いを説明した。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pic>
        <p:nvPicPr>
          <p:cNvPr id="8" name="Image 2" descr="Lucide circle-chec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3584448"/>
            <a:ext cx="402336" cy="402336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435608" y="3547872"/>
            <a:ext cx="988466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実際の差0.4を示した。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pic>
        <p:nvPicPr>
          <p:cNvPr id="10" name="Image 3" descr="Lucide circle-chec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4535424"/>
            <a:ext cx="402336" cy="402336"/>
          </a:xfrm>
          <a:prstGeom prst="rect">
            <a:avLst/>
          </a:prstGeom>
        </p:spPr>
      </p:pic>
      <p:sp>
        <p:nvSpPr>
          <p:cNvPr id="11" name="Text 5"/>
          <p:cNvSpPr txBox="1"/>
          <p:nvPr/>
        </p:nvSpPr>
        <p:spPr>
          <a:xfrm>
            <a:off x="1435608" y="4498848"/>
            <a:ext cx="988466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数値の尺度や調査条件の不明点を書いた。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sp>
        <p:nvSpPr>
          <p:cNvPr id="12" name="Text 6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3" name="Text 7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第10回  11 / 14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成果物と確認したことを残す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554480"/>
            <a:ext cx="5257800" cy="4041648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pic>
        <p:nvPicPr>
          <p:cNvPr id="5" name="Image 0" descr="Lucide fold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3544" y="1828800"/>
            <a:ext cx="448056" cy="44805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572768" y="1819656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7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week10/</a:t>
            </a:r>
            <a:endParaRPr lang="ja-JP" sz="2700" dirty="0">
              <a:latin typeface="Meiryo"/>
              <a:ea typeface="Meiryo"/>
              <a:cs typeface="Meiryo"/>
            </a:endParaRPr>
          </a:p>
        </p:txBody>
      </p:sp>
      <p:sp>
        <p:nvSpPr>
          <p:cNvPr id="7" name="Text 4"/>
          <p:cNvSpPr txBox="1"/>
          <p:nvPr/>
        </p:nvSpPr>
        <p:spPr>
          <a:xfrm>
            <a:off x="950976" y="2660904"/>
            <a:ext cx="45902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README.md：</a:t>
            </a:r>
            <a:endParaRPr lang="ja-JP" sz="22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軸の比較・2文の説明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8" name="Text 5"/>
          <p:cNvSpPr txBox="1"/>
          <p:nvPr/>
        </p:nvSpPr>
        <p:spPr>
          <a:xfrm>
            <a:off x="6391656" y="1801368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READMEの利用記録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sp>
        <p:nvSpPr>
          <p:cNvPr id="9" name="Text 6"/>
          <p:cNvSpPr txBox="1"/>
          <p:nvPr/>
        </p:nvSpPr>
        <p:spPr>
          <a:xfrm>
            <a:off x="6400800" y="2779776"/>
            <a:ext cx="4809744" cy="2432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AIに任せたこと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自分で確かめたこと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確認できなかったこと</a:t>
            </a:r>
            <a:endParaRPr lang="ja-JP" sz="2400" dirty="0">
              <a:latin typeface="Meiryo"/>
              <a:ea typeface="Meiryo"/>
              <a:cs typeface="Meiryo"/>
            </a:endParaRPr>
          </a:p>
        </p:txBody>
      </p:sp>
      <p:sp>
        <p:nvSpPr>
          <p:cNvPr id="10" name="Text 7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1" name="Text 8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第10回  12 / 14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保存した版のURLを提出する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04088" y="1572768"/>
            <a:ext cx="749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01</a:t>
            </a:r>
            <a:endParaRPr lang="ja-JP" sz="3200" dirty="0">
              <a:latin typeface="Meiryo"/>
              <a:ea typeface="Meiryo"/>
              <a:cs typeface="Meiryo"/>
            </a:endParaRPr>
          </a:p>
        </p:txBody>
      </p:sp>
      <p:sp>
        <p:nvSpPr>
          <p:cNvPr id="5" name="Text 3"/>
          <p:cNvSpPr txBox="1"/>
          <p:nvPr/>
        </p:nvSpPr>
        <p:spPr>
          <a:xfrm>
            <a:off x="1737360" y="1508760"/>
            <a:ext cx="9235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8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GitHubで変更を確定する。</a:t>
            </a:r>
            <a:endParaRPr lang="ja-JP" sz="2800" dirty="0">
              <a:latin typeface="Meiryo"/>
              <a:ea typeface="Meiryo"/>
              <a:cs typeface="Meiryo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1737360" y="2212848"/>
            <a:ext cx="9235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3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更新したファイルを確認し、commitする。</a:t>
            </a:r>
            <a:endParaRPr lang="ja-JP" sz="2300" dirty="0">
              <a:latin typeface="Meiryo"/>
              <a:ea typeface="Meiryo"/>
              <a:cs typeface="Meiryo"/>
            </a:endParaRPr>
          </a:p>
        </p:txBody>
      </p:sp>
      <p:sp>
        <p:nvSpPr>
          <p:cNvPr id="7" name="Shape 5"/>
          <p:cNvSpPr/>
          <p:nvPr/>
        </p:nvSpPr>
        <p:spPr>
          <a:xfrm>
            <a:off x="1737360" y="2752344"/>
            <a:ext cx="9738360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04088" y="2926080"/>
            <a:ext cx="749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02</a:t>
            </a:r>
            <a:endParaRPr lang="ja-JP" sz="3200" dirty="0">
              <a:latin typeface="Meiryo"/>
              <a:ea typeface="Meiryo"/>
              <a:cs typeface="Meiryo"/>
            </a:endParaRPr>
          </a:p>
        </p:txBody>
      </p:sp>
      <p:sp>
        <p:nvSpPr>
          <p:cNvPr id="9" name="Text 7"/>
          <p:cNvSpPr txBox="1"/>
          <p:nvPr/>
        </p:nvSpPr>
        <p:spPr>
          <a:xfrm>
            <a:off x="1737360" y="2862072"/>
            <a:ext cx="9235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8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そのcommitのページを開く。</a:t>
            </a:r>
            <a:endParaRPr lang="ja-JP" sz="2800" dirty="0">
              <a:latin typeface="Meiryo"/>
              <a:ea typeface="Meiryo"/>
              <a:cs typeface="Meiryo"/>
            </a:endParaRPr>
          </a:p>
        </p:txBody>
      </p:sp>
      <p:sp>
        <p:nvSpPr>
          <p:cNvPr id="10" name="Text 8"/>
          <p:cNvSpPr txBox="1"/>
          <p:nvPr/>
        </p:nvSpPr>
        <p:spPr>
          <a:xfrm>
            <a:off x="1737360" y="3566160"/>
            <a:ext cx="9235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3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URLに /commit/ があることを確認する。</a:t>
            </a:r>
            <a:endParaRPr lang="ja-JP" sz="2300" dirty="0">
              <a:latin typeface="Meiryo"/>
              <a:ea typeface="Meiryo"/>
              <a:cs typeface="Meiryo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1737360" y="4105656"/>
            <a:ext cx="9738360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04088" y="4279392"/>
            <a:ext cx="749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03</a:t>
            </a:r>
            <a:endParaRPr lang="ja-JP" sz="3200" dirty="0">
              <a:latin typeface="Meiryo"/>
              <a:ea typeface="Meiryo"/>
              <a:cs typeface="Meiryo"/>
            </a:endParaRPr>
          </a:p>
        </p:txBody>
      </p:sp>
      <p:sp>
        <p:nvSpPr>
          <p:cNvPr id="13" name="Text 11"/>
          <p:cNvSpPr txBox="1"/>
          <p:nvPr/>
        </p:nvSpPr>
        <p:spPr>
          <a:xfrm>
            <a:off x="1737360" y="4215384"/>
            <a:ext cx="9235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8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授業の提出フォームを送る。</a:t>
            </a:r>
            <a:endParaRPr lang="ja-JP" sz="2800" dirty="0">
              <a:latin typeface="Meiryo"/>
              <a:ea typeface="Meiryo"/>
              <a:cs typeface="Meiryo"/>
            </a:endParaRPr>
          </a:p>
        </p:txBody>
      </p:sp>
      <p:sp>
        <p:nvSpPr>
          <p:cNvPr id="14" name="Text 12"/>
          <p:cNvSpPr txBox="1"/>
          <p:nvPr/>
        </p:nvSpPr>
        <p:spPr>
          <a:xfrm>
            <a:off x="1737360" y="4919472"/>
            <a:ext cx="9235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3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大学アカウントで開き、Week 10を選ぶ。</a:t>
            </a:r>
            <a:endParaRPr lang="ja-JP" sz="2300" dirty="0">
              <a:latin typeface="Meiryo"/>
              <a:ea typeface="Meiryo"/>
              <a:cs typeface="Meiryo"/>
            </a:endParaRPr>
          </a:p>
        </p:txBody>
      </p:sp>
      <p:sp>
        <p:nvSpPr>
          <p:cNvPr id="15" name="Text 13"/>
          <p:cNvSpPr txBox="1"/>
          <p:nvPr/>
        </p:nvSpPr>
        <p:spPr>
          <a:xfrm>
            <a:off x="667512" y="5779008"/>
            <a:ext cx="108447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ブラウザでcommitした場合、別のpush操作は不要。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6" name="Text 14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7" name="Text 15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第10回  13 / 14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提出する前に、ここを確認する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pic>
        <p:nvPicPr>
          <p:cNvPr id="4" name="Image 0" descr="Lucide circle-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682496"/>
            <a:ext cx="402336" cy="40233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435608" y="1645920"/>
            <a:ext cx="988466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元データとグラフを照合した。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pic>
        <p:nvPicPr>
          <p:cNvPr id="6" name="Image 1" descr="Lucide circle-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633472"/>
            <a:ext cx="402336" cy="402336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435608" y="2596896"/>
            <a:ext cx="988466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見た目と実際の差を分けて書いた。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pic>
        <p:nvPicPr>
          <p:cNvPr id="8" name="Image 2" descr="Lucide circle-chec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3584448"/>
            <a:ext cx="402336" cy="402336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435608" y="3547872"/>
            <a:ext cx="988466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原因を資料なしで断定していない。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pic>
        <p:nvPicPr>
          <p:cNvPr id="10" name="Image 3" descr="Lucide circle-chec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4535424"/>
            <a:ext cx="402336" cy="402336"/>
          </a:xfrm>
          <a:prstGeom prst="rect">
            <a:avLst/>
          </a:prstGeom>
        </p:spPr>
      </p:pic>
      <p:sp>
        <p:nvSpPr>
          <p:cNvPr id="11" name="Text 5"/>
          <p:cNvSpPr txBox="1"/>
          <p:nvPr/>
        </p:nvSpPr>
        <p:spPr>
          <a:xfrm>
            <a:off x="1435608" y="4498848"/>
            <a:ext cx="988466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成果物のあるcommit URLを送った。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sp>
        <p:nvSpPr>
          <p:cNvPr id="12" name="Text 6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3" name="Text 7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第10回  14 / 14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eiryo"/>
        <a:ea typeface="Meiryo"/>
        <a:cs typeface="Meiryo"/>
        <a:font script="Jpan" typeface="Meiryo"/>
        <a:font script="Hang" typeface="Meiryo"/>
        <a:font script="Hans" typeface="Meiryo"/>
        <a:font script="Hant" typeface="Meiryo"/>
        <a:font script="Arab" typeface="Meiryo"/>
        <a:font script="Hebr" typeface="Meiryo"/>
        <a:font script="Thai" typeface="Meiryo"/>
        <a:font script="Ethi" typeface="Meiryo"/>
        <a:font script="Beng" typeface="Meiryo"/>
        <a:font script="Gujr" typeface="Meiryo"/>
        <a:font script="Khmr" typeface="Meiryo"/>
        <a:font script="Knda" typeface="Meiryo"/>
        <a:font script="Guru" typeface="Meiryo"/>
        <a:font script="Cans" typeface="Meiryo"/>
        <a:font script="Cher" typeface="Meiryo"/>
        <a:font script="Yiii" typeface="Meiryo"/>
        <a:font script="Tibt" typeface="Meiryo"/>
        <a:font script="Thaa" typeface="Meiryo"/>
        <a:font script="Deva" typeface="Meiryo"/>
        <a:font script="Telu" typeface="Meiryo"/>
        <a:font script="Taml" typeface="Meiryo"/>
        <a:font script="Syrc" typeface="Meiryo"/>
        <a:font script="Orya" typeface="Meiryo"/>
        <a:font script="Mlym" typeface="Meiryo"/>
        <a:font script="Laoo" typeface="Meiryo"/>
        <a:font script="Sinh" typeface="Meiryo"/>
        <a:font script="Mong" typeface="Meiryo"/>
        <a:font script="Viet" typeface="Meiryo"/>
        <a:font script="Uigh" typeface="Meiryo"/>
        <a:font script="Geor" typeface="Meiryo"/>
        <a:font script="Armn" typeface="Meiryo"/>
        <a:font script="Bugi" typeface="Meiryo"/>
        <a:font script="Bopo" typeface="Meiryo"/>
        <a:font script="Java" typeface="Meiryo"/>
        <a:font script="Lisu" typeface="Meiryo"/>
        <a:font script="Mymr" typeface="Meiryo"/>
        <a:font script="Nkoo" typeface="Meiryo"/>
        <a:font script="Olck" typeface="Meiryo"/>
        <a:font script="Osma" typeface="Meiryo"/>
        <a:font script="Phag" typeface="Meiryo"/>
        <a:font script="Syrn" typeface="Meiryo"/>
        <a:font script="Syrj" typeface="Meiryo"/>
        <a:font script="Syre" typeface="Meiryo"/>
        <a:font script="Sora" typeface="Meiryo"/>
        <a:font script="Tale" typeface="Meiryo"/>
        <a:font script="Talu" typeface="Meiryo"/>
        <a:font script="Tfng" typeface="Meiryo"/>
      </a:majorFont>
      <a:minorFont>
        <a:latin typeface="Meiryo"/>
        <a:ea typeface="Meiryo"/>
        <a:cs typeface="Meiryo"/>
        <a:font script="Jpan" typeface="Meiryo"/>
        <a:font script="Hang" typeface="Meiryo"/>
        <a:font script="Hans" typeface="Meiryo"/>
        <a:font script="Hant" typeface="Meiryo"/>
        <a:font script="Arab" typeface="Meiryo"/>
        <a:font script="Hebr" typeface="Meiryo"/>
        <a:font script="Thai" typeface="Meiryo"/>
        <a:font script="Ethi" typeface="Meiryo"/>
        <a:font script="Beng" typeface="Meiryo"/>
        <a:font script="Gujr" typeface="Meiryo"/>
        <a:font script="Khmr" typeface="Meiryo"/>
        <a:font script="Knda" typeface="Meiryo"/>
        <a:font script="Guru" typeface="Meiryo"/>
        <a:font script="Cans" typeface="Meiryo"/>
        <a:font script="Cher" typeface="Meiryo"/>
        <a:font script="Yiii" typeface="Meiryo"/>
        <a:font script="Tibt" typeface="Meiryo"/>
        <a:font script="Thaa" typeface="Meiryo"/>
        <a:font script="Deva" typeface="Meiryo"/>
        <a:font script="Telu" typeface="Meiryo"/>
        <a:font script="Taml" typeface="Meiryo"/>
        <a:font script="Syrc" typeface="Meiryo"/>
        <a:font script="Orya" typeface="Meiryo"/>
        <a:font script="Mlym" typeface="Meiryo"/>
        <a:font script="Laoo" typeface="Meiryo"/>
        <a:font script="Sinh" typeface="Meiryo"/>
        <a:font script="Mong" typeface="Meiryo"/>
        <a:font script="Viet" typeface="Meiryo"/>
        <a:font script="Uigh" typeface="Meiryo"/>
        <a:font script="Geor" typeface="Meiryo"/>
        <a:font script="Armn" typeface="Meiryo"/>
        <a:font script="Bugi" typeface="Meiryo"/>
        <a:font script="Bopo" typeface="Meiryo"/>
        <a:font script="Java" typeface="Meiryo"/>
        <a:font script="Lisu" typeface="Meiryo"/>
        <a:font script="Mymr" typeface="Meiryo"/>
        <a:font script="Nkoo" typeface="Meiryo"/>
        <a:font script="Olck" typeface="Meiryo"/>
        <a:font script="Osma" typeface="Meiryo"/>
        <a:font script="Phag" typeface="Meiryo"/>
        <a:font script="Syrn" typeface="Meiryo"/>
        <a:font script="Syrj" typeface="Meiryo"/>
        <a:font script="Syre" typeface="Meiryo"/>
        <a:font script="Sora" typeface="Meiryo"/>
        <a:font script="Tale" typeface="Meiryo"/>
        <a:font script="Talu" typeface="Meiryo"/>
        <a:font script="Tfng" typeface="Meiryo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Tsuchiya Lab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グラフの印象を数字と比べる</dc:title>
  <dc:subject>AI・データリテラシー／学生向け演習</dc:subject>
  <dc:creator>Takahiro Tsuchiya</dc:creator>
  <cp:lastModifiedBy>Takahiro Tsuchiya</cp:lastModifiedBy>
  <cp:revision>1</cp:revision>
  <dcterms:created xsi:type="dcterms:W3CDTF">2026-09-17T11:31:39Z</dcterms:created>
  <dcterms:modified xsi:type="dcterms:W3CDTF">2026-09-17T11:31:39Z</dcterms:modified>
</cp:coreProperties>
</file>