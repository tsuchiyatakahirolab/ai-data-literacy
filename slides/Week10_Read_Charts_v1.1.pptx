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【進行】グラフの印象を数字と比べる / 1ページ
到達点：軸と数値を確認し、印象と根拠を区別する。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【進行】グラフの印象を数字と比べる / 2ページ
到達点：軸と数値を確認し、印象と根拠を区別する。
まず20秒だけ見せ、増加の印象を尋ねる。右図の原点省略に気づくか待つ。折れ線や限定範囲表示を一律禁止しない。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【進行】グラフの印象を数字と比べる / 3ページ
到達点：軸と数値を確認し、印象と根拠を区別する。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【進行】グラフの印象を数字と比べる / 4ページ
到達点：軸と数値を確認し、印象と根拠を区別する。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【進行】グラフの印象を数字と比べる / 5ページ
到達点：軸と数値を確認し、印象と根拠を区別する。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【進行】グラフの印象を数字と比べる / 6ページ
到達点：軸と数値を確認し、印象と根拠を区別する。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【進行】グラフの印象を数字と比べる / 7ページ
到達点：軸と数値を確認し、印象と根拠を区別する。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【進行】グラフの印象を数字と比べる / 8ページ
到達点：軸と数値を確認し、印象と根拠を区別する。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【進行】グラフの印象を数字と比べる / 9ページ
到達点：軸と数値を確認し、印象と根拠を区別する。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【進行】グラフの印象を数字と比べる / 10ページ
到達点：軸と数値を確認し、印象と根拠を区別する。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【進行】グラフの印象を数字と比べる / 11ページ
到達点：軸と数値を確認し、印象と根拠を区別する。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【進行】グラフの印象を数字と比べる / 12ページ
到達点：軸と数値を確認し、印象と根拠を区別する。
AIとの会話全文、共有リンク、無意味な再試行回数は求めない。変更が不要だった場合も確認した対象と結果を書けばよい。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【進行】グラフの印象を数字と比べる / 13ページ
到達点：軸と数値を確認し、印象と根拠を区別する。
Desktopを使った学生はPush origin後にGitHubで確認する。フォーム送信完了画面まで確認。教員の閲覧権限は別途必要。
操作に詰まった学生には、表示中の画面と止まった箇所を確認する。パスワードや認証コードは見せさせない。
【参考資料】
GitHub Docs「Editing files」
https://docs.github.com/en/repositories/working-with-files/managing-files/editing-files
確認日：2026-09-17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【進行】グラフの印象を数字と比べる / 14ページ
到達点：軸と数値を確認し、印象と根拠を区別する。
このチェックは暗記テストではない。ファイルと画面を見ながら自己確認させる。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大きく増えた？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まず、軸を見よう。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第10回｜同じ数値を違う表示で比べ、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言えることを短く書きます。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chart-colum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"/>
          <p:cNvPicPr>
            <a:picLocks noChangeAspect="1"/>
          </p:cNvPicPr>
          <p:nvPr/>
        </p:nvPicPr>
        <p:blipFill>
          <a:blip r:embed="rIdPersonalAuthorLogo">
            <a:duotone>
              <a:srgbClr val="FFFFFF"/>
              <a:srgbClr val="FFFFFF"/>
            </a:duotone>
          </a:blip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この2つは、同じデータ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86968" y="1554480"/>
            <a:ext cx="5047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縦軸：0から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225296" y="5029200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49103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225296" y="4407408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4288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225296" y="3785616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666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225296" y="3163824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3044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25296" y="2542032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24231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448410" y="3101645"/>
            <a:ext cx="446227" cy="1927555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68603" y="2754173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3.1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278331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340864" y="3039466"/>
            <a:ext cx="446227" cy="1989734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061058" y="269199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3.2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2170786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33318" y="2977286"/>
            <a:ext cx="446227" cy="2051914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53512" y="262981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3.3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3063240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125773" y="2915107"/>
            <a:ext cx="446227" cy="2114093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45966" y="2567635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3.4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3955694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018227" y="2852928"/>
            <a:ext cx="446227" cy="2176272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38421" y="2505456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3.5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4848149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6437376" y="1554480"/>
            <a:ext cx="5047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縦軸：3.0から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775704" y="5029200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08776" y="49103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775704" y="4531766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08776" y="441289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775704" y="4034333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08776" y="3915461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775704" y="3536899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08776" y="3418027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3.6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775704" y="3039466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08776" y="292059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3.8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775704" y="2542032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08776" y="24231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998818" y="4780483"/>
            <a:ext cx="446227" cy="248717"/>
          </a:xfrm>
          <a:prstGeom prst="rect">
            <a:avLst/>
          </a:prstGeom>
          <a:solidFill>
            <a:srgbClr val="B05D12"/>
          </a:solidFill>
          <a:ln w="12700">
            <a:solidFill>
              <a:srgbClr val="B05D1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719011" y="4433011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3.1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6828739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891272" y="4531766"/>
            <a:ext cx="446227" cy="497434"/>
          </a:xfrm>
          <a:prstGeom prst="rect">
            <a:avLst/>
          </a:prstGeom>
          <a:solidFill>
            <a:srgbClr val="B05D12"/>
          </a:solidFill>
          <a:ln w="12700">
            <a:solidFill>
              <a:srgbClr val="B05D1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611466" y="418429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3.2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7721194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783726" y="4283050"/>
            <a:ext cx="446227" cy="746150"/>
          </a:xfrm>
          <a:prstGeom prst="rect">
            <a:avLst/>
          </a:prstGeom>
          <a:solidFill>
            <a:srgbClr val="B05D12"/>
          </a:solidFill>
          <a:ln w="12700">
            <a:solidFill>
              <a:srgbClr val="B05D1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503920" y="393557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3.3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51" name="Text 49"/>
          <p:cNvSpPr txBox="1"/>
          <p:nvPr/>
        </p:nvSpPr>
        <p:spPr>
          <a:xfrm>
            <a:off x="8613648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9676181" y="4034333"/>
            <a:ext cx="446227" cy="994867"/>
          </a:xfrm>
          <a:prstGeom prst="rect">
            <a:avLst/>
          </a:prstGeom>
          <a:solidFill>
            <a:srgbClr val="B05D12"/>
          </a:solidFill>
          <a:ln w="12700">
            <a:solidFill>
              <a:srgbClr val="B05D1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396374" y="3686861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3.4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54" name="Text 52"/>
          <p:cNvSpPr txBox="1"/>
          <p:nvPr/>
        </p:nvSpPr>
        <p:spPr>
          <a:xfrm>
            <a:off x="9506102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0568635" y="3785616"/>
            <a:ext cx="446227" cy="1243584"/>
          </a:xfrm>
          <a:prstGeom prst="rect">
            <a:avLst/>
          </a:prstGeom>
          <a:solidFill>
            <a:srgbClr val="B05D12"/>
          </a:solidFill>
          <a:ln w="12700">
            <a:solidFill>
              <a:srgbClr val="B05D1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288829" y="343814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3.5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57" name="Text 55"/>
          <p:cNvSpPr txBox="1"/>
          <p:nvPr/>
        </p:nvSpPr>
        <p:spPr>
          <a:xfrm>
            <a:off x="10398557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58" name="Text 56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教育用の架空データ。軸以外の値は同じ。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59" name="Text 5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60" name="Text 5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02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元の数字を先に見る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38328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3090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23360" y="1554480"/>
            <a:ext cx="75255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69664" y="1709928"/>
            <a:ext cx="7232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reported_confidence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258568"/>
            <a:ext cx="3383280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386584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2022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023360" y="2258568"/>
            <a:ext cx="7525512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69664" y="2386584"/>
            <a:ext cx="7232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3.1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29352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935224"/>
            <a:ext cx="3383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3063240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2023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023360" y="2935224"/>
            <a:ext cx="752551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69664" y="3063240"/>
            <a:ext cx="7232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3.2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611880"/>
            <a:ext cx="3383280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" y="3739896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023360" y="3611880"/>
            <a:ext cx="7525512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69664" y="3739896"/>
            <a:ext cx="7232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3.3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4288536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288536"/>
            <a:ext cx="3383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4416552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023360" y="4288536"/>
            <a:ext cx="752551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69664" y="4416552"/>
            <a:ext cx="7232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3.4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" y="496519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965192"/>
            <a:ext cx="3383280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6384" y="5093208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023360" y="4965192"/>
            <a:ext cx="7525512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69664" y="5093208"/>
            <a:ext cx="7232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3.5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" y="5641848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chart_claim_data.csv。数値の意味や測定方法は、別の説明も必要。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03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グラフを読む順番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何の数字か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項目名、単位、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対象期間を読む。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chart-colum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どう描いているか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軸の始点と終点、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目盛りを見る。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tab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元の値はどうか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差を計算し、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印象と比べる。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04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AIにグラフを説明させる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2つのグラフを比べてください。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使っている値と、縦軸の範囲を確認し、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見た目の印象が違う理由を説明してください。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画像を渡せなければ、データと縦軸の範囲を文章で伝える。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05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増えた量は、0.4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9344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2022年の3.1から、2026年の3.5へ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596896"/>
            <a:ext cx="10908792" cy="141732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95351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3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3.5 − 3.1 = 0.4</a:t>
            </a:r>
            <a:endParaRPr lang="ja-JP" sz="36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4590288"/>
            <a:ext cx="10607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「急増した」と書く前に、実際の差を示す。</a:t>
            </a:r>
            <a:endParaRPr lang="ja-JP" sz="25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この数値の尺度や調査方法も確認が必要。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06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軸を変えること自体が誤りではない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0から示すとき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全体に対する大きさを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比べやすい。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棒の長さの比較に注意する。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範囲を絞るとき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小さな変化を読みやすい。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その分、差が大きく見える。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軸の範囲を明示する。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07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描かれていないことも確認する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何人を、どう調べたのか。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毎年、同じ条件で測ったのか。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グラフだけで分からなければ、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「この図だけでは判断できない」と書く。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08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誇張しない説明に直す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この架空データを2文で説明してください。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1文目に数値の変化、2文目にこの資料だけでは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判断できないことを書いてください。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変化の原因は推測しないでください。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数値・期間・軸の範囲を、自分でも確認する。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09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見た目の評価を、数値の説明に変える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B05D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避けたい説明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2026年に大きく急増した。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AIの普及が原因だろう。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この資料から書ける説明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2022年から2026年に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3.1から3.5へ増えた。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増加の理由は判断できない。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10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グラフの確認記録を作る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どちらも同じ5個の値だと確認した。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縦軸の違いを説明した。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実際の差0.4を示した。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数値の尺度や調査条件の不明点を書いた。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11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week10/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軸の比較・2文の説明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12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10を選ぶ。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13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元データとグラフを照合した。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見た目と実際の差を分けて書いた。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原因を資料なしで断定していない。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14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グラフの印象を数字と比べる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