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28a627ec5bd448d" /><Relationship Type="http://schemas.openxmlformats.org/officeDocument/2006/relationships/extended-properties" Target="/docProps/app.xml" Id="Rf245a739a8b7486a" /><Relationship Type="http://schemas.openxmlformats.org/officeDocument/2006/relationships/officeDocument" Target="/ppt/presentation.xml" Id="R37aa1d4a2bd149b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96afaaca6d946c6"/>
  </p:sldMasterIdLst>
  <p:notesMasterIdLst>
    <p:notesMasterId xmlns:r="http://schemas.openxmlformats.org/officeDocument/2006/relationships" r:id="R5f27902fe8654442"/>
  </p:notesMasterIdLst>
  <p:sldIdLst>
    <p:sldId xmlns:r="http://schemas.openxmlformats.org/officeDocument/2006/relationships" id="256" r:id="R034e4eb49e154f5b"/>
    <p:sldId xmlns:r="http://schemas.openxmlformats.org/officeDocument/2006/relationships" id="257" r:id="Rc2a4611d99bb4738"/>
    <p:sldId xmlns:r="http://schemas.openxmlformats.org/officeDocument/2006/relationships" id="258" r:id="Rc01fa5cc2db64b8a"/>
    <p:sldId xmlns:r="http://schemas.openxmlformats.org/officeDocument/2006/relationships" id="259" r:id="R286828741a094604"/>
    <p:sldId xmlns:r="http://schemas.openxmlformats.org/officeDocument/2006/relationships" id="260" r:id="R7ea5d4947f184322"/>
    <p:sldId xmlns:r="http://schemas.openxmlformats.org/officeDocument/2006/relationships" id="261" r:id="R86881ff7e99b4a97"/>
    <p:sldId xmlns:r="http://schemas.openxmlformats.org/officeDocument/2006/relationships" id="262" r:id="R7e26837a08144e99"/>
    <p:sldId xmlns:r="http://schemas.openxmlformats.org/officeDocument/2006/relationships" id="263" r:id="R3b08dbd079c54bad"/>
    <p:sldId xmlns:r="http://schemas.openxmlformats.org/officeDocument/2006/relationships" id="264" r:id="R0e5ba65713c34cbe"/>
    <p:sldId xmlns:r="http://schemas.openxmlformats.org/officeDocument/2006/relationships" id="265" r:id="R46cbb097e53b4538"/>
    <p:sldId xmlns:r="http://schemas.openxmlformats.org/officeDocument/2006/relationships" id="266" r:id="Rdfe08e7219cc4031"/>
    <p:sldId xmlns:r="http://schemas.openxmlformats.org/officeDocument/2006/relationships" id="267" r:id="Rb0b05fa2fe3c41cb"/>
    <p:sldId xmlns:r="http://schemas.openxmlformats.org/officeDocument/2006/relationships" id="268" r:id="R3380a773957d48a0"/>
    <p:sldId xmlns:r="http://schemas.openxmlformats.org/officeDocument/2006/relationships" id="269" r:id="Rbd494f34c26446a8"/>
    <p:sldId xmlns:r="http://schemas.openxmlformats.org/officeDocument/2006/relationships" id="270" r:id="Rb5734eedce7147b6"/>
    <p:sldId xmlns:r="http://schemas.openxmlformats.org/officeDocument/2006/relationships" id="271" r:id="R61fb8727416d41f2"/>
    <p:sldId xmlns:r="http://schemas.openxmlformats.org/officeDocument/2006/relationships" id="272" r:id="R2432c22f3c2148f9"/>
    <p:sldId xmlns:r="http://schemas.openxmlformats.org/officeDocument/2006/relationships" id="273" r:id="R1697d71357c646d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bfaea5ba8ab4357" /><Relationship Type="http://schemas.openxmlformats.org/officeDocument/2006/relationships/slideMaster" Target="/ppt/slideMasters/slideMaster1.xml" Id="R596afaaca6d946c6" /><Relationship Type="http://schemas.openxmlformats.org/officeDocument/2006/relationships/notesMaster" Target="/ppt/notesMasters/notesMaster1.xml" Id="R5f27902fe8654442" /><Relationship Type="http://schemas.openxmlformats.org/officeDocument/2006/relationships/presProps" Target="/ppt/presProps.xml" Id="R23d8618ae4564c9a" /><Relationship Type="http://schemas.openxmlformats.org/officeDocument/2006/relationships/tableStyles" Target="/ppt/tableStyles.xml" Id="R817ece3b430e4edc" /><Relationship Type="http://schemas.openxmlformats.org/officeDocument/2006/relationships/slide" Target="/ppt/slides/slide1.xml" Id="R034e4eb49e154f5b" /><Relationship Type="http://schemas.openxmlformats.org/officeDocument/2006/relationships/slide" Target="/ppt/slides/slide2.xml" Id="Rc2a4611d99bb4738" /><Relationship Type="http://schemas.openxmlformats.org/officeDocument/2006/relationships/slide" Target="/ppt/slides/slide3.xml" Id="Rc01fa5cc2db64b8a" /><Relationship Type="http://schemas.openxmlformats.org/officeDocument/2006/relationships/slide" Target="/ppt/slides/slide4.xml" Id="R286828741a094604" /><Relationship Type="http://schemas.openxmlformats.org/officeDocument/2006/relationships/slide" Target="/ppt/slides/slide5.xml" Id="R7ea5d4947f184322" /><Relationship Type="http://schemas.openxmlformats.org/officeDocument/2006/relationships/slide" Target="/ppt/slides/slide6.xml" Id="R86881ff7e99b4a97" /><Relationship Type="http://schemas.openxmlformats.org/officeDocument/2006/relationships/slide" Target="/ppt/slides/slide7.xml" Id="R7e26837a08144e99" /><Relationship Type="http://schemas.openxmlformats.org/officeDocument/2006/relationships/slide" Target="/ppt/slides/slide8.xml" Id="R3b08dbd079c54bad" /><Relationship Type="http://schemas.openxmlformats.org/officeDocument/2006/relationships/slide" Target="/ppt/slides/slide9.xml" Id="R0e5ba65713c34cbe" /><Relationship Type="http://schemas.openxmlformats.org/officeDocument/2006/relationships/slide" Target="/ppt/slides/slide10.xml" Id="R46cbb097e53b4538" /><Relationship Type="http://schemas.openxmlformats.org/officeDocument/2006/relationships/slide" Target="/ppt/slides/slide11.xml" Id="Rdfe08e7219cc4031" /><Relationship Type="http://schemas.openxmlformats.org/officeDocument/2006/relationships/slide" Target="/ppt/slides/slide12.xml" Id="Rb0b05fa2fe3c41cb" /><Relationship Type="http://schemas.openxmlformats.org/officeDocument/2006/relationships/slide" Target="/ppt/slides/slide13.xml" Id="R3380a773957d48a0" /><Relationship Type="http://schemas.openxmlformats.org/officeDocument/2006/relationships/slide" Target="/ppt/slides/slide14.xml" Id="Rbd494f34c26446a8" /><Relationship Type="http://schemas.openxmlformats.org/officeDocument/2006/relationships/slide" Target="/ppt/slides/slide15.xml" Id="Rb5734eedce7147b6" /><Relationship Type="http://schemas.openxmlformats.org/officeDocument/2006/relationships/slide" Target="/ppt/slides/slide16.xml" Id="R61fb8727416d41f2" /><Relationship Type="http://schemas.openxmlformats.org/officeDocument/2006/relationships/slide" Target="/ppt/slides/slide17.xml" Id="R2432c22f3c2148f9" /><Relationship Type="http://schemas.openxmlformats.org/officeDocument/2006/relationships/slide" Target="/ppt/slides/slide18.xml" Id="R1697d71357c646d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7bf0a3b93c347f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4806eb70b804ccd" /><Relationship Type="http://schemas.openxmlformats.org/officeDocument/2006/relationships/notesMaster" Target="/ppt/notesMasters/notesMaster1.xml" Id="R7059f9dcde794bf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b28477378014b21" /><Relationship Type="http://schemas.openxmlformats.org/officeDocument/2006/relationships/notesMaster" Target="/ppt/notesMasters/notesMaster1.xml" Id="Rb1513db6c221456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bd39e48d0e94246" /><Relationship Type="http://schemas.openxmlformats.org/officeDocument/2006/relationships/notesMaster" Target="/ppt/notesMasters/notesMaster1.xml" Id="R0d3a26bbf9db46d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166667dc9c8479e" /><Relationship Type="http://schemas.openxmlformats.org/officeDocument/2006/relationships/notesMaster" Target="/ppt/notesMasters/notesMaster1.xml" Id="R24becd0c9e684e2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ecd694d824842d1" /><Relationship Type="http://schemas.openxmlformats.org/officeDocument/2006/relationships/notesMaster" Target="/ppt/notesMasters/notesMaster1.xml" Id="R6219aeba876f4d5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489345bb0144ed5" /><Relationship Type="http://schemas.openxmlformats.org/officeDocument/2006/relationships/notesMaster" Target="/ppt/notesMasters/notesMaster1.xml" Id="Rbd9eea1e76f84c8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a2887cac3d84a0a" /><Relationship Type="http://schemas.openxmlformats.org/officeDocument/2006/relationships/notesMaster" Target="/ppt/notesMasters/notesMaster1.xml" Id="Rd3f3a92ea7b5498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5f82c2b08a64f2e" /><Relationship Type="http://schemas.openxmlformats.org/officeDocument/2006/relationships/notesMaster" Target="/ppt/notesMasters/notesMaster1.xml" Id="R5082888943af446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07004d6a3c44c57" /><Relationship Type="http://schemas.openxmlformats.org/officeDocument/2006/relationships/notesMaster" Target="/ppt/notesMasters/notesMaster1.xml" Id="R725dd9f873bc4bf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df29f08780a4b62" /><Relationship Type="http://schemas.openxmlformats.org/officeDocument/2006/relationships/notesMaster" Target="/ppt/notesMasters/notesMaster1.xml" Id="R083fe6db4b704e1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e94192c7e8445e6" /><Relationship Type="http://schemas.openxmlformats.org/officeDocument/2006/relationships/notesMaster" Target="/ppt/notesMasters/notesMaster1.xml" Id="Rea80623b3a3e41a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70c7b7a90b14475" /><Relationship Type="http://schemas.openxmlformats.org/officeDocument/2006/relationships/notesMaster" Target="/ppt/notesMasters/notesMaster1.xml" Id="Rc0b66aab9e614fe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61f73c9b0b54cb8" /><Relationship Type="http://schemas.openxmlformats.org/officeDocument/2006/relationships/notesMaster" Target="/ppt/notesMasters/notesMaster1.xml" Id="R239dcc0d42024be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bf57ffd28394ed9" /><Relationship Type="http://schemas.openxmlformats.org/officeDocument/2006/relationships/notesMaster" Target="/ppt/notesMasters/notesMaster1.xml" Id="R1fd7788eaae94df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a95235790094538" /><Relationship Type="http://schemas.openxmlformats.org/officeDocument/2006/relationships/notesMaster" Target="/ppt/notesMasters/notesMaster1.xml" Id="R984c5b7ae6004b3d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b618e0eb6064062" /><Relationship Type="http://schemas.openxmlformats.org/officeDocument/2006/relationships/notesMaster" Target="/ppt/notesMasters/notesMaster1.xml" Id="R6820af3cd4b14147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06815164fee48d9" /><Relationship Type="http://schemas.openxmlformats.org/officeDocument/2006/relationships/notesMaster" Target="/ppt/notesMasters/notesMaster1.xml" Id="Re047f262e6b04e0d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a0951b5fd7b74b6b" /><Relationship Type="http://schemas.openxmlformats.org/officeDocument/2006/relationships/notesMaster" Target="/ppt/notesMasters/notesMaster1.xml" Id="R6c9e44f293954c8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学生は1操作ずつ実習し、できた目印を自分の画面で示します。作成済みの保存先を使います。表紙の次に操作01〜15、最後に自己確認01〜08があります。番号は操作番号で、PDFのページ番号とは異なります。別の授業では招待先usernameと授業ページ・フォームを担当教員が指定しま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最初に、画面上部のスラッシュの左側を見ます。そこは保存先の所有者です。教員の教材を開いているだけでは、自分の保存先はできていません。自分のユーザーネームと、エーアイ・ラーニングという名前の保存先がすでにある人は、それを使って続けます。ここで動画を一時停止して、所有者を確かめてくださ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進行：この操作を学生が行うまで待ちます。到達の目印を自分の画面で示してもらい、詰まっている学生を支援してから次へ。パスワード・認証コードを見せさせません。成績条件や締切は既存の授業方針に従い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https://github.com/tsuchiyatakahirolab/ai-data-literacy-student-template (public example captured 2026-10-14; not a student private repository)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ギットハブは、大学の授業ページやグーグルとは別のアカウントです。すでにアカウントがある人は作り直しません。初めての人はサインアップし、確認メールの案内を進めます。ログインしたらプロフィールを開き、アドレスにある自分のユーザーネームを控えます。パスワードや確認コードは本人だけが入力します。ここで一時停止し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進行：この操作を学生が行うまで待ちます。到達の目印を自分の画面で示してもらい、詰まっている学生を支援してから次へ。パスワード・認証コードを見せさせません。成績条件や締切は既存の授業方針に従い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授業の学生用ひな形を開きます。ユーズ・ディス・テンプレートを押し、クリエイト・ア・ニュー・リポジトリーを選びます。スターを付けることや、ページをお気に入りにすることでは、自分の保存先はできません。ボタンが見えなければ、ギットハブへのログインを確認します。作成済みの人は、同じものを増やさずに自分の保存先へ戻り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進行：この操作を学生が行うまで待ちます。到達の目印を自分の画面で示してもらい、詰まっている学生を支援してから次へ。パスワード・認証コードを見せさせません。成績条件や締切は既存の授業方針に従い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https://docs.github.com/en/repositories/working-with-files/managing-files/editing-files; https://docs.github.com/en/repositories/creating-and-managing-repositories/creating-a-repository-from-a-template; https://docs.github.com/en/repositories/managing-your-repositorys-settings-and-features/repository-access-and-collaboration/inviting-collaborators-to-a-personal-repository (checked 2026-10-14; source screenshot capture date unknown)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作成画面でオーナーを自分のアカウントにします。名前はエーアイ、ハイフン、ラーニングです。プライベートを選んで、クリエイト・リポジトリー・フロム・テンプレートで作成します。画像のギットハブやハローは公式文書の例なので、そのまま入力しません。作成後に自分のユーザーネームとプライベートの表示を確認してくださ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進行：この操作を学生が行うまで待ちます。到達の目印を自分の画面で示してもらい、詰まっている学生を支援してから次へ。パスワード・認証コードを見せさせません。成績条件や締切は既存の授業方針に従い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https://docs.github.com/en/repositories/working-with-files/managing-files/editing-files; https://docs.github.com/en/repositories/creating-and-managing-repositories/creating-a-repository-from-a-template; https://docs.github.com/en/repositories/managing-your-repositorys-settings-and-features/repository-access-and-collaboration/inviting-collaborators-to-a-personal-repository (checked 2026-10-14; source screenshot capture date unknown)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自分の保存先でコードを開き、セットアップとウィークのフォルダがあるか確認します。フォルダがない場合は、作り直す前に教員へ画面を見せます。すでに書いた課題がある保存先は消しません。初回登録にはこの保存先のアドレスを使います。これは教員への招待や週次の提出とは別の操作です。ここで一時停止して、自分の保存先をお気に入りに入れてくださ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進行：この操作を学生が行うまで待ちます。到達の目印を自分の画面で示してもらい、詰まっている学生を支援してから次へ。パスワード・認証コードを見せさせません。成績条件や締切は既存の授業方針に従い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ここから保存の練習です。教員が指定したウィークのフォルダで、リードミー、ドット、エムディーを開きます。読む教材と、書くファイルを区別します。右上の鉛筆を押してください。鉛筆が見えない場合は、自分の保存先か、ログインしているかを確認します。フォークや変更提案の表示が出たら、保存せず教員に相談し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進行：この操作を学生が行うまで待ちます。到達の目印を自分の画面で示してもらい、詰まっている学生を支援してから次へ。パスワード・認証コードを見せさせません。成績条件や締切は既存の授業方針に従い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https://docs.github.com/en/repositories/working-with-files/managing-files/editing-files; https://docs.github.com/en/repositories/creating-and-managing-repositories/creating-a-repository-from-a-template; https://docs.github.com/en/repositories/managing-your-repositorys-settings-and-features/repository-access-and-collaboration/inviting-collaborators-to-a-personal-repository (checked 2026-10-14; source screenshot capture date unknown)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すでに書いた課題や見出しを残したまま、自分で確認したことの欄に、実際に行った操作を一行追記します。たとえば、ギットハブでファイルを開き直して確認しました、という内容です。まだ確認していないことは書きません。入力欄に文章があるだけでは、保存は終わっていません。ここで一時停止して、自分の言葉で一行を書いてくださ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進行：この操作を学生が行うまで待ちます。到達の目印を自分の画面で示してもらい、詰まっている学生を支援してから次へ。パスワード・認証コードを見せさせません。成績条件や締切は既存の授業方針に従い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プレビューを押して、読み手にどう見えるかを確認します。自分の追記と見出しが読めるか見ます。直す必要があればエディットへ戻ります。プレビューは表示の確認で、保存ではありません。ここで一時停止して、書いた文章が見えるか確認してくださ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進行：この操作を学生が行うまで待ちます。到達の目印を自分の画面で示してもらい、詰まっている学生を支援してから次へ。パスワード・認証コードを見せさせません。成績条件や締切は既存の授業方針に従い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https://docs.github.com/en/repositories/working-with-files/managing-files/editing-files; https://docs.github.com/en/repositories/creating-and-managing-repositories/creating-a-repository-from-a-template; https://docs.github.com/en/repositories/managing-your-repositorys-settings-and-features/repository-access-and-collaboration/inviting-collaborators-to-a-personal-repository (checked 2026-10-14; source screenshot capture date unknown)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コミット・チェンジズを押すと、保存の確認画面が開きます。説明欄へ、たとえば操作記録を追記、と入力します。この授業の自分用保存先では、コミット・ダイレクトリー・トゥ・ザ・メイン・ブランチを選び、最後のコミット・チェンジズで確定します。画面が戻ったらリードミーを開き直します。文章が残っていれば保存済みです。別のプッシュ操作は要りません。ここで一時停止して開き直してくださ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進行：この操作を学生が行うまで待ちます。到達の目印を自分の画面で示してもらい、詰まっている学生を支援してから次へ。パスワード・認証コードを見せさせません。成績条件や締切は既存の授業方針に従い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保存先のアドレスを送るだけでは、プライベートの中身を教員が読めません。自分の保存先のセッティングズから、コラボレーターズ、アド・ピープルへ進みます。授業で指定された教員のユーザーネームを最後まで照合し、候補を選んで最後の追加ボタンを押します。招待中なら、学生側の招待は送信済みです。教員が受理済みなら再招待しません。受理前は教員のアクセス確認がまだで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進行：この操作を学生が行うまで待ちます。到達の目印を自分の画面で示してもらい、詰まっている学生を支援してから次へ。パスワード・認証コードを見せさせません。成績条件や締切は既存の授業方針に従い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https://docs.github.com/en/repositories/working-with-files/managing-files/editing-files; https://docs.github.com/en/repositories/creating-and-managing-repositories/creating-a-repository-from-a-template; https://docs.github.com/en/repositories/managing-your-repositorys-settings-and-features/repository-access-and-collaboration/inviting-collaborators-to-a-personal-repository (checked 2026-10-14; source screenshot capture date unknown)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必要な課題ファイルを全部保存してから、自分の保存先のコードへ戻ります。フォルダ一覧の右上にある、時計のマークと、数字に続くコミッツを押します。小さい画面では時計だけに見えることもあります。ギットハブ全体のメニューやインサイツではありません。ここで一時停止して、自分の保存先の履歴を開いてくださ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進行：この操作を学生が行うまで待ちます。到達の目印を自分の画面で示してもらい、詰まっている学生を支援してから次へ。パスワード・認証コードを見せさせません。成績条件や締切は既存の授業方針に従い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https://github.com/tsuchiyatakahirolab/ai-data-literacy-student-template (public example captured 2026-10-14; not a student private repository)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コミッツの一覧で、自分が今の課題を全部保存した後の、最新の説明文を押します。アドレスに、スラッシュ、コミット、スラッシュと、長い英数字が入ります。日付と作者、保存の説明が合っているかも確かめます。英数字だけをコピーするボタンでは、提出用のアドレス全体をコピーできません。ここで一時停止して、コミットのページを開いてくださ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進行：この操作を学生が行うまで待ちます。到達の目印を自分の画面で示してもらい、詰まっている学生を支援してから次へ。パスワード・認証コードを見せさせません。成績条件や締切は既存の授業方針に従い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https://github.com/tsuchiyatakahirolab/ai-data-literacy-student-template (public example captured 2026-10-14; not a student private repository)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コミットのページには、主に変更の差分が出ます。右上のブラウズ・ファイルズで、その版に含まれるファイル一覧を開きます。指定のウィークのリードミーと成果物が全部あるか確かめてください。不足があれば同じ保存先へ追加して保存し、追加後の最新コミットを使います。確認後はコミットのページへ戻り、そのアドレスをコピーし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進行：この操作を学生が行うまで待ちます。到達の目印を自分の画面で示してもらい、詰まっている学生を支援してから次へ。パスワード・認証コードを見せさせません。成績条件や締切は既存の授業方針に従い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https://github.com/tsuchiyatakahirolab/ai-data-literacy-student-template (public example captured 2026-10-14; not a student private repository)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コミットのページへ戻り、ウィンドウズならコントロール、エルでアドレス欄を選び、コントロール、シーでアドレス全体をコピーします。大学の授業ページから週次フォームを開き、指定のアカウント、対象の回、アドレスを確認して送信します。最後に送信完了画面を確認してください。ギットハブへ保存しただけでは、フォームへの提出は終わっていませ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進行：この操作を学生が行うまで待ちます。到達の目印を自分の画面で示してもらい、詰まっている学生を支援してから次へ。パスワード・認証コードを見せさせません。成績条件や締切は既存の授業方針に従い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最後に、四つを別々に確かめます。自分のプライベート保存先がありますか。開き直して文章が読めますか。教員への招待は一覧にありますか。フォームの送信完了を確認しましたか。コミットのベリファイドという表示は、教員の確認完了や提出完了を意味しません。止まった人は、どの確認で止まったかを教員へ伝えます。これは画面操作の確認で、成績の判定ではありませ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進行：この操作を学生が行うまで待ちます。到達の目印を自分の画面で示してもらい、詰まっている学生を支援してから次へ。パスワード・認証コードを見せさせません。成績条件や締切は既存の授業方針に従い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学生用チェックシート handouts/github_self_check.md を使い、画面を開いて確認できた項目だけにチェックします。チェックは採点や教員の実アクセス確認とは別です。画像・記録の作り方は既存の初回準備の手順へ戻ります。送信完了を確認できない場合は重複送信せず教員に相談します。招待中は受理済みと区別します。学生の個人情報や秘密を投影しませ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  ログインとusername</a:t>
            </a:r>
          </a:p>
          <a:p xmlns:a="http://schemas.openxmlformats.org/drawingml/2006/main">
            <a:r>
              <a:t>Profileを開き、URLのusernameを読む。</a:t>
            </a:r>
          </a:p>
          <a:p xmlns:a="http://schemas.openxmlformats.org/drawingml/2006/main">
            <a:r>
              <a:t>自分のusernameを説明できる。未完了 → 操作02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  自分のPrivate保存先</a:t>
            </a:r>
          </a:p>
          <a:p xmlns:a="http://schemas.openxmlformats.org/drawingml/2006/main">
            <a:r>
              <a:t>自分のai-learningのCodeを開く。</a:t>
            </a:r>
          </a:p>
          <a:p xmlns:a="http://schemas.openxmlformats.org/drawingml/2006/main">
            <a:r>
              <a:t>Ownerが自分、Private、フォルダあり。未完了 → 操作03〜05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  初回の画像と短い記録</a:t>
            </a:r>
          </a:p>
          <a:p xmlns:a="http://schemas.openxmlformats.org/drawingml/2006/main">
            <a:r>
              <a:t>setupの画像とREADME.mdをそれぞれ開く。</a:t>
            </a:r>
          </a:p>
          <a:p xmlns:a="http://schemas.openxmlformats.org/drawingml/2006/main">
            <a:r>
              <a:t>画像が開き、自分の記録が読める。未完了 → 初回準備の手順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04  教員への招待</a:t>
            </a:r>
          </a:p>
          <a:p xmlns:a="http://schemas.openxmlformats.org/drawingml/2006/main">
            <a:r>
              <a:t>Settings → Collaboratorsで指定教員を確認。</a:t>
            </a:r>
          </a:p>
          <a:p xmlns:a="http://schemas.openxmlformats.org/drawingml/2006/main">
            <a:r>
              <a:t>招待中か受理済みか説明できる。未完了 → 操作10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学生用チェックシート handouts/github_self_check.md を使い、画面を開いて確認できた項目だけにチェックします。チェックは採点や教員の実アクセス確認とは別です。画像・記録の作り方は既存の初回準備の手順へ戻ります。送信完了を確認できない場合は重複送信せず教員に相談します。招待中は受理済みと区別します。学生の個人情報や秘密を投影しませ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05  READMEの保存</a:t>
            </a:r>
          </a:p>
          <a:p xmlns:a="http://schemas.openxmlformats.org/drawingml/2006/main">
            <a:r>
              <a:t>今週のREADME.mdを開き直し、自分の追記を読む。</a:t>
            </a:r>
          </a:p>
          <a:p xmlns:a="http://schemas.openxmlformats.org/drawingml/2006/main">
            <a:r>
              <a:t>編集欄の外に文章が残っている。未完了 → 操作06〜09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06  提出する版の内容</a:t>
            </a:r>
          </a:p>
          <a:p xmlns:a="http://schemas.openxmlformats.org/drawingml/2006/main">
            <a:r>
              <a:t>最新commit → Browse filesで今週の全ファイルを開く。</a:t>
            </a:r>
          </a:p>
          <a:p xmlns:a="http://schemas.openxmlformats.org/drawingml/2006/main">
            <a:r>
              <a:t>必要なファイルが全部ある。未完了 → 操作11〜13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07  初回登録の送信</a:t>
            </a:r>
          </a:p>
          <a:p xmlns:a="http://schemas.openxmlformats.org/drawingml/2006/main">
            <a:r>
              <a:t>自分のリポジトリURLと初回登録の受付を確認。</a:t>
            </a:r>
          </a:p>
          <a:p xmlns:a="http://schemas.openxmlformats.org/drawingml/2006/main">
            <a:r>
              <a:t>送信完了を確認できる。不明なら教員へ相談 → 手順C1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08  今週の提出</a:t>
            </a:r>
          </a:p>
          <a:p xmlns:a="http://schemas.openxmlformats.org/drawingml/2006/main">
            <a:r>
              <a:t>/commit/のURL全体と週次フォームの受付を確認。</a:t>
            </a:r>
          </a:p>
          <a:p xmlns:a="http://schemas.openxmlformats.org/drawingml/2006/main">
            <a:r>
              <a:t>指定回の送信完了を確認できる。未完了 → 操作14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ea445c4913466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5d1e3a73534a3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58ebadcdeca4b8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2e5ac936d0e438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b39e2385564e1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73d8db578bc491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4B1DCB2-A249-4134-8B28-54C21D83BE9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0166EDED-C275-4ACF-AB2F-E05F0C0B36A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DC661456-9CF4-45DD-8DB5-A198DC3DD1C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BB68DB0-F653-449D-9BF9-A1EF1DE4E0B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C74922A5-C287-46F7-B615-BED74397A5D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8C06CD58-F45F-444D-96BE-519D8F4C7FC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3932C9F-DF03-4769-9221-B7991F476A0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0AC5F340-53FC-429C-9967-208E7BC5062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9D90F2C-C4F4-4901-8ACB-A6E36B5D23E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B6D16B6-7E05-421F-A35A-526D3A2E302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3f4911353264384" /><Relationship Type="http://schemas.openxmlformats.org/officeDocument/2006/relationships/slideLayout" Target="/ppt/slideLayouts/slideLayout1.xml" Id="Rdc4072fb2bbb4ec9" /><Relationship Type="http://schemas.openxmlformats.org/officeDocument/2006/relationships/slideLayout" Target="/ppt/slideLayouts/slideLayout2.xml" Id="Rfa81545ff70046f4" /><Relationship Type="http://schemas.openxmlformats.org/officeDocument/2006/relationships/slideLayout" Target="/ppt/slideLayouts/slideLayout3.xml" Id="Rff3bda650c2d4e3d" /><Relationship Type="http://schemas.openxmlformats.org/officeDocument/2006/relationships/slideLayout" Target="/ppt/slideLayouts/slideLayout4.xml" Id="R34413a26be6e460f" /><Relationship Type="http://schemas.openxmlformats.org/officeDocument/2006/relationships/slideLayout" Target="/ppt/slideLayouts/slideLayout5.xml" Id="R98bea318556a40d7" /><Relationship Type="http://schemas.openxmlformats.org/officeDocument/2006/relationships/slideLayout" Target="/ppt/slideLayouts/slideLayout6.xml" Id="R6db52fe297514ef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c4072fb2bbb4ec9"/>
    <p:sldLayoutId xmlns:r="http://schemas.openxmlformats.org/officeDocument/2006/relationships" id="2147483650" r:id="Rfa81545ff70046f4"/>
    <p:sldLayoutId xmlns:r="http://schemas.openxmlformats.org/officeDocument/2006/relationships" id="2147483651" r:id="Rff3bda650c2d4e3d"/>
    <p:sldLayoutId xmlns:r="http://schemas.openxmlformats.org/officeDocument/2006/relationships" id="2147483652" r:id="R34413a26be6e460f"/>
    <p:sldLayoutId xmlns:r="http://schemas.openxmlformats.org/officeDocument/2006/relationships" id="2147483653" r:id="R98bea318556a40d7"/>
    <p:sldLayoutId xmlns:r="http://schemas.openxmlformats.org/officeDocument/2006/relationships" id="2147483654" r:id="R6db52fe297514ef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c9698e1272244bf" /><Relationship Type="http://schemas.openxmlformats.org/officeDocument/2006/relationships/image" Target="/ppt/media/image.png" Id="R59aa7111ca9c4f30" /><Relationship Type="http://schemas.openxmlformats.org/officeDocument/2006/relationships/hyperlink" Target="https://tsuchiyatakahiro.com" TargetMode="External" Id="Rf8f5b223ad364dff" /><Relationship Type="http://schemas.openxmlformats.org/officeDocument/2006/relationships/notesSlide" Target="/ppt/notesSlides/notesSlide1.xml" Id="R1ce041ab28ec489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caa721c6de34247" /><Relationship Type="http://schemas.openxmlformats.org/officeDocument/2006/relationships/image" Target="/ppt/media/image2.png" Id="R9972b99a784141f4" /><Relationship Type="http://schemas.openxmlformats.org/officeDocument/2006/relationships/image" Target="/ppt/media/image.jpeg" Id="Rad40b3c026b5466f" /><Relationship Type="http://schemas.openxmlformats.org/officeDocument/2006/relationships/hyperlink" Target="https://tsuchiyatakahiro.com/" TargetMode="External" Id="R8ef4cc7e674e47a3" /><Relationship Type="http://schemas.openxmlformats.org/officeDocument/2006/relationships/notesSlide" Target="/ppt/notesSlides/notesSlide2.xml" Id="R8e8ba75c925e4cf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16d58ea69994aaf" /><Relationship Type="http://schemas.openxmlformats.org/officeDocument/2006/relationships/image" Target="/ppt/media/image3.png" Id="R7049ebc78f4d4672" /><Relationship Type="http://schemas.openxmlformats.org/officeDocument/2006/relationships/hyperlink" Target="https://tsuchiyatakahiro.com/" TargetMode="External" Id="Ref61d66b4dfa47a8" /><Relationship Type="http://schemas.openxmlformats.org/officeDocument/2006/relationships/notesSlide" Target="/ppt/notesSlides/notesSlide3.xml" Id="Re4592fdb9a49475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7c2b2adcf934962" /><Relationship Type="http://schemas.openxmlformats.org/officeDocument/2006/relationships/image" Target="/ppt/media/image4.png" Id="Ra191a0a836704f1f" /><Relationship Type="http://schemas.openxmlformats.org/officeDocument/2006/relationships/image" Target="/ppt/media/image5.png" Id="Rfd6aa8d328104d4d" /><Relationship Type="http://schemas.openxmlformats.org/officeDocument/2006/relationships/hyperlink" Target="https://tsuchiyatakahiro.com/" TargetMode="External" Id="R80fa26740d314764" /><Relationship Type="http://schemas.openxmlformats.org/officeDocument/2006/relationships/notesSlide" Target="/ppt/notesSlides/notesSlide4.xml" Id="Rb0a7ecbe11d7408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4a48a6b7b9f417a" /><Relationship Type="http://schemas.openxmlformats.org/officeDocument/2006/relationships/image" Target="/ppt/media/image6.png" Id="Rcef5dada800a464a" /><Relationship Type="http://schemas.openxmlformats.org/officeDocument/2006/relationships/image" Target="/ppt/media/image7.png" Id="Rcae55d8f4d8d4790" /><Relationship Type="http://schemas.openxmlformats.org/officeDocument/2006/relationships/hyperlink" Target="https://tsuchiyatakahiro.com/" TargetMode="External" Id="R1305a212f9394d0a" /><Relationship Type="http://schemas.openxmlformats.org/officeDocument/2006/relationships/notesSlide" Target="/ppt/notesSlides/notesSlide5.xml" Id="R6ad0828582b342c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f37b1afdd4b44ef" /><Relationship Type="http://schemas.openxmlformats.org/officeDocument/2006/relationships/image" Target="/ppt/media/image8.png" Id="Ra44ad536da3d4e91" /><Relationship Type="http://schemas.openxmlformats.org/officeDocument/2006/relationships/hyperlink" Target="https://tsuchiyatakahiro.com/" TargetMode="External" Id="R47c8c8c3bac64539" /><Relationship Type="http://schemas.openxmlformats.org/officeDocument/2006/relationships/notesSlide" Target="/ppt/notesSlides/notesSlide6.xml" Id="R2a2931178c74492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caaacf25da64450" /><Relationship Type="http://schemas.openxmlformats.org/officeDocument/2006/relationships/image" Target="/ppt/media/image9.png" Id="R2a22a25bae84440f" /><Relationship Type="http://schemas.openxmlformats.org/officeDocument/2006/relationships/image" Target="/ppt/media/image10.png" Id="R1caafeccdf724ba1" /><Relationship Type="http://schemas.openxmlformats.org/officeDocument/2006/relationships/hyperlink" Target="https://tsuchiyatakahiro.com/" TargetMode="External" Id="R0cee4c46ffb24765" /><Relationship Type="http://schemas.openxmlformats.org/officeDocument/2006/relationships/notesSlide" Target="/ppt/notesSlides/notesSlide7.xml" Id="R07e34bdb09ab45d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e3f95dbab4146f6" /><Relationship Type="http://schemas.openxmlformats.org/officeDocument/2006/relationships/image" Target="/ppt/media/image11.png" Id="Rec1bb64e70b54649" /><Relationship Type="http://schemas.openxmlformats.org/officeDocument/2006/relationships/hyperlink" Target="https://tsuchiyatakahiro.com/" TargetMode="External" Id="R30bae509acae414c" /><Relationship Type="http://schemas.openxmlformats.org/officeDocument/2006/relationships/notesSlide" Target="/ppt/notesSlides/notesSlide8.xml" Id="R72d715b8b9fc4df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4e6f46f3f434152" /><Relationship Type="http://schemas.openxmlformats.org/officeDocument/2006/relationships/image" Target="/ppt/media/image12.png" Id="Rc4719c5544cc4172" /><Relationship Type="http://schemas.openxmlformats.org/officeDocument/2006/relationships/image" Target="/ppt/media/image13.png" Id="R23d5195684e4414f" /><Relationship Type="http://schemas.openxmlformats.org/officeDocument/2006/relationships/hyperlink" Target="https://tsuchiyatakahiro.com/" TargetMode="External" Id="Rd4b94536ca4a4d1f" /><Relationship Type="http://schemas.openxmlformats.org/officeDocument/2006/relationships/notesSlide" Target="/ppt/notesSlides/notesSlide9.xml" Id="Rf9ada9de294d408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0bec0ffb74d4994" /><Relationship Type="http://schemas.openxmlformats.org/officeDocument/2006/relationships/image" Target="/ppt/media/image14.png" Id="R67aa4467fc2e4fa9" /><Relationship Type="http://schemas.openxmlformats.org/officeDocument/2006/relationships/hyperlink" Target="https://tsuchiyatakahiro.com/" TargetMode="External" Id="R558dd8a433764fdf" /><Relationship Type="http://schemas.openxmlformats.org/officeDocument/2006/relationships/notesSlide" Target="/ppt/notesSlides/notesSlide10.xml" Id="R71afcb0bea9a471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07670165a5d497a" /><Relationship Type="http://schemas.openxmlformats.org/officeDocument/2006/relationships/image" Target="/ppt/media/image15.png" Id="R378079c4f54e41d4" /><Relationship Type="http://schemas.openxmlformats.org/officeDocument/2006/relationships/image" Target="/ppt/media/image16.png" Id="R7394197e16754212" /><Relationship Type="http://schemas.openxmlformats.org/officeDocument/2006/relationships/hyperlink" Target="https://tsuchiyatakahiro.com/" TargetMode="External" Id="R739c79b052874024" /><Relationship Type="http://schemas.openxmlformats.org/officeDocument/2006/relationships/notesSlide" Target="/ppt/notesSlides/notesSlide11.xml" Id="R20f7fb1b0a924bd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121ae7ec6d5414b" /><Relationship Type="http://schemas.openxmlformats.org/officeDocument/2006/relationships/image" Target="/ppt/media/image17.png" Id="Rcaf58dff54db4cc4" /><Relationship Type="http://schemas.openxmlformats.org/officeDocument/2006/relationships/image" Target="/ppt/media/image2.jpeg" Id="R512a240e3d4d47d0" /><Relationship Type="http://schemas.openxmlformats.org/officeDocument/2006/relationships/hyperlink" Target="https://tsuchiyatakahiro.com/" TargetMode="External" Id="R37de74fecd6843f2" /><Relationship Type="http://schemas.openxmlformats.org/officeDocument/2006/relationships/notesSlide" Target="/ppt/notesSlides/notesSlide12.xml" Id="R8965810f32bf4f4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20a7233391843ae" /><Relationship Type="http://schemas.openxmlformats.org/officeDocument/2006/relationships/image" Target="/ppt/media/image18.png" Id="R8db428ee6532433d" /><Relationship Type="http://schemas.openxmlformats.org/officeDocument/2006/relationships/image" Target="/ppt/media/image3.jpeg" Id="R739fde155610409a" /><Relationship Type="http://schemas.openxmlformats.org/officeDocument/2006/relationships/hyperlink" Target="https://tsuchiyatakahiro.com/" TargetMode="External" Id="Rbce84f0ce8a24f08" /><Relationship Type="http://schemas.openxmlformats.org/officeDocument/2006/relationships/notesSlide" Target="/ppt/notesSlides/notesSlide13.xml" Id="R24365ca91a574bf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89735886fd84309" /><Relationship Type="http://schemas.openxmlformats.org/officeDocument/2006/relationships/image" Target="/ppt/media/image19.png" Id="Ra58ce62f65ae489b" /><Relationship Type="http://schemas.openxmlformats.org/officeDocument/2006/relationships/image" Target="/ppt/media/image4.jpeg" Id="Rb537803877be4f3a" /><Relationship Type="http://schemas.openxmlformats.org/officeDocument/2006/relationships/hyperlink" Target="https://tsuchiyatakahiro.com/" TargetMode="External" Id="R38ddf700c2154dc7" /><Relationship Type="http://schemas.openxmlformats.org/officeDocument/2006/relationships/notesSlide" Target="/ppt/notesSlides/notesSlide14.xml" Id="R40ce623a9615440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ae9d8e274484213" /><Relationship Type="http://schemas.openxmlformats.org/officeDocument/2006/relationships/image" Target="/ppt/media/image20.png" Id="R021ded4c552c4548" /><Relationship Type="http://schemas.openxmlformats.org/officeDocument/2006/relationships/hyperlink" Target="https://tsuchiyatakahiro.com/" TargetMode="External" Id="Rf8cae0faf19045e1" /><Relationship Type="http://schemas.openxmlformats.org/officeDocument/2006/relationships/notesSlide" Target="/ppt/notesSlides/notesSlide15.xml" Id="Re9d815c6dfef481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3933bfb28924a98" /><Relationship Type="http://schemas.openxmlformats.org/officeDocument/2006/relationships/image" Target="/ppt/media/image21.png" Id="R766342ff33af444b" /><Relationship Type="http://schemas.openxmlformats.org/officeDocument/2006/relationships/hyperlink" Target="https://tsuchiyatakahiro.com/" TargetMode="External" Id="R49725fb836ac48fc" /><Relationship Type="http://schemas.openxmlformats.org/officeDocument/2006/relationships/notesSlide" Target="/ppt/notesSlides/notesSlide16.xml" Id="R15999d9521fa404e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102e5355af5479d" /><Relationship Type="http://schemas.openxmlformats.org/officeDocument/2006/relationships/image" Target="/ppt/media/image22.png" Id="Re4f3195286a44c17" /><Relationship Type="http://schemas.openxmlformats.org/officeDocument/2006/relationships/notesSlide" Target="/ppt/notesSlides/notesSlide17.xml" Id="Rb91a35c60e834024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6ca0c91f9324b9d" /><Relationship Type="http://schemas.openxmlformats.org/officeDocument/2006/relationships/image" Target="/ppt/media/image23.png" Id="R9ff4ef56d8ac4f29" /><Relationship Type="http://schemas.openxmlformats.org/officeDocument/2006/relationships/notesSlide" Target="/ppt/notesSlides/notesSlide18.xml" Id="Rf287177a71f44a5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730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F046EB-74EA-42B7-82BD-376C4CFBAE1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aa7111ca9c4f30"/>
          <a:stretch xmlns:a="http://schemas.openxmlformats.org/drawingml/2006/main"/>
        </p:blipFill>
        <p:spPr>
          <a:xfrm xmlns:a="http://schemas.openxmlformats.org/drawingml/2006/main">
            <a:off x="685800" y="240695"/>
            <a:ext cx="2286000" cy="280610"/>
          </a:xfrm>
          <a:prstGeom xmlns:a="http://schemas.openxmlformats.org/drawingml/2006/main" prst="rect">
            <a:avLst/>
          </a:prstGeom>
        </p:spPr>
      </p:pic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7D4D3959-7D1A-46A3-8269-9F8AD3AE5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28800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5100" b="1">
                <a:solidFill>
                  <a:srgbClr val="FFFFFF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defRPr sz="5100" b="1">
                <a:solidFill>
                  <a:srgbClr val="FFFFFF"/>
                </a:solidFill>
                <a:latin typeface="Meiryo"/>
                <a:ea typeface="Meiryo"/>
                <a:cs typeface="Meiryo"/>
              </a:defRPr>
            </a:pPr>
            <a:r>
              <a:rPr sz="51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GitHub 操作補習</a:t>
            </a:r>
          </a:p>
        </p:txBody>
      </p:sp>
      <p:sp>
        <p:nvSpPr>
          <p:cNvPr id="3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7F2AD30F-7ADF-4247-9123-796FAC96B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28950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850" b="0">
                <a:solidFill>
                  <a:srgbClr val="FFFFFF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defRPr sz="2850" b="0">
                <a:solidFill>
                  <a:srgbClr val="FFFFFF"/>
                </a:solidFill>
                <a:latin typeface="Meiryo"/>
                <a:ea typeface="Meiryo"/>
                <a:cs typeface="Meiryo"/>
              </a:defRPr>
            </a:pPr>
            <a:r>
              <a:rPr sz="285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自分の保存先・READMEの保存・課題提出</a:t>
            </a:r>
          </a:p>
        </p:txBody>
      </p:sp>
      <p:sp>
        <p:nvSpPr>
          <p:cNvPr id="4" name="cover-use">
            <a:extLst xmlns:a="http://schemas.openxmlformats.org/drawingml/2006/main">
              <a:ext uri="{FF2B5EF4-FFF2-40B4-BE49-F238E27FC236}">
                <a16:creationId xmlns:a16="http://schemas.microsoft.com/office/drawing/2014/main" id="{D469D459-813A-412E-B038-171ACCED2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86275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A6CED0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A6CED0"/>
                </a:solidFill>
                <a:latin typeface="Meiryo"/>
                <a:ea typeface="Meiryo"/>
                <a:cs typeface="Meiryo"/>
              </a:defRPr>
            </a:pPr>
            <a:r>
              <a:rPr sz="2250" b="0">
                <a:solidFill>
                  <a:srgbClr val="A6CED0"/>
                </a:solidFill>
                <a:latin typeface="Meiryo"/>
                <a:ea typeface="Meiryo"/>
                <a:cs typeface="Meiryo"/>
              </a:rPr>
              <a:t>15の操作を実習し、最後に自分の画面で確認します。</a:t>
            </a:r>
          </a:p>
          <a:p xmlns:a="http://schemas.openxmlformats.org/drawingml/2006/main">
            <a:pPr>
              <a:defRPr sz="2250" b="0">
                <a:solidFill>
                  <a:srgbClr val="A6CED0"/>
                </a:solidFill>
                <a:latin typeface="Meiryo"/>
                <a:ea typeface="Meiryo"/>
                <a:cs typeface="Meiryo"/>
              </a:defRPr>
            </a:pPr>
            <a:r>
              <a:rPr sz="2250" b="0">
                <a:solidFill>
                  <a:srgbClr val="A6CED0"/>
                </a:solidFill>
                <a:latin typeface="Meiryo"/>
                <a:ea typeface="Meiryo"/>
                <a:cs typeface="Meiryo"/>
              </a:rPr>
              <a:t>説明動画3本と、順番に確かめるチェックシート付き。</a:t>
            </a:r>
          </a:p>
        </p:txBody>
      </p:sp>
      <p:sp>
        <p:nvSpPr>
          <p:cNvPr id="5" name="author">
            <a:extLst xmlns:a="http://schemas.openxmlformats.org/drawingml/2006/main">
              <a:ext uri="{FF2B5EF4-FFF2-40B4-BE49-F238E27FC236}">
                <a16:creationId xmlns:a16="http://schemas.microsoft.com/office/drawing/2014/main" id="{512A5451-F529-43DE-A132-8B9AE1497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96025"/>
            <a:ext cx="1047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A6CED0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A6CED0"/>
                </a:solidFill>
                <a:latin typeface="Meiryo"/>
                <a:ea typeface="Meiryo"/>
                <a:cs typeface="Meiryo"/>
              </a:defRPr>
            </a:pPr>
            <a:r>
              <a:rPr>
                <a:hlinkClick xmlns:r="http://schemas.openxmlformats.org/officeDocument/2006/relationships" r:id="Rf8f5b223ad364dff"/>
              </a:rPr>
              <a:t>Takahiro Tsuchiya  ·  tsuchiyatakahiro.com</a:t>
            </a:r>
          </a:p>
        </p:txBody>
      </p:sp>
    </p:spTree>
    <p:extLst>
      <p:ext uri="{BB962C8B-B14F-4D97-AF65-F5344CB8AC3E}">
        <p14:creationId xmlns:p14="http://schemas.microsoft.com/office/powerpoint/2010/main" val="45085518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D73B8E-4CC0-44CA-879D-5EE6F87AA4F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72b99a784141f4"/>
          <a:stretch xmlns:a="http://schemas.openxmlformats.org/drawingml/2006/main"/>
        </p:blipFill>
        <p:spPr>
          <a:xfrm xmlns:a="http://schemas.openxmlformats.org/drawingml/2006/main">
            <a:off x="685800" y="147270"/>
            <a:ext cx="1790700" cy="219811"/>
          </a:xfrm>
          <a:prstGeom xmlns:a="http://schemas.openxmlformats.org/drawingml/2006/main" prst="rect">
            <a:avLst/>
          </a:prstGeom>
        </p:spPr>
      </p:pic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D20A57AB-A1F7-419F-9E88-64C3473DF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1025"/>
            <a:ext cx="1095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45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345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3450" b="1">
                <a:solidFill>
                  <a:srgbClr val="17303E"/>
                </a:solidFill>
                <a:latin typeface="Meiryo"/>
                <a:ea typeface="Meiryo"/>
                <a:cs typeface="Meiryo"/>
              </a:rPr>
              <a:t>いま開いている場所</a:t>
            </a:r>
          </a:p>
        </p:txBody>
      </p:sp>
      <p:sp>
        <p:nvSpPr>
          <p:cNvPr id="3" name="open-label">
            <a:extLst xmlns:a="http://schemas.openxmlformats.org/drawingml/2006/main">
              <a:ext uri="{FF2B5EF4-FFF2-40B4-BE49-F238E27FC236}">
                <a16:creationId xmlns:a16="http://schemas.microsoft.com/office/drawing/2014/main" id="{30CC974D-50CA-49D1-A5B4-FDF4CBD50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5425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800" b="1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800" b="1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800" b="1">
                <a:solidFill>
                  <a:srgbClr val="536974"/>
                </a:solidFill>
                <a:latin typeface="Meiryo"/>
                <a:ea typeface="Meiryo"/>
                <a:cs typeface="Meiryo"/>
              </a:rPr>
              <a:t>開く場所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EB907486-A4CC-4558-BC1C-0D08CFB89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85950"/>
            <a:ext cx="4953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40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240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400" b="0">
                <a:solidFill>
                  <a:srgbClr val="17303E"/>
                </a:solidFill>
                <a:latin typeface="Meiryo"/>
                <a:ea typeface="Meiryo"/>
                <a:cs typeface="Meiryo"/>
              </a:rPr>
              <a:t>画面上部の所有者と名前</a:t>
            </a:r>
          </a:p>
        </p:txBody>
      </p:sp>
      <p:sp>
        <p:nvSpPr>
          <p:cNvPr id="5" name="action-label">
            <a:extLst xmlns:a="http://schemas.openxmlformats.org/drawingml/2006/main">
              <a:ext uri="{FF2B5EF4-FFF2-40B4-BE49-F238E27FC236}">
                <a16:creationId xmlns:a16="http://schemas.microsoft.com/office/drawing/2014/main" id="{3211A5FD-3E34-48AC-AFF5-6BC44CCAD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57525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800" b="1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800" b="1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800" b="1">
                <a:solidFill>
                  <a:srgbClr val="536974"/>
                </a:solidFill>
                <a:latin typeface="Meiryo"/>
                <a:ea typeface="Meiryo"/>
                <a:cs typeface="Meiryo"/>
              </a:rPr>
              <a:t>いま行う操作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874D55F9-A1C9-4ACD-B7C3-68807191F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67100"/>
            <a:ext cx="4953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40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240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400" b="0">
                <a:solidFill>
                  <a:srgbClr val="17303E"/>
                </a:solidFill>
                <a:latin typeface="Meiryo"/>
                <a:ea typeface="Meiryo"/>
                <a:cs typeface="Meiryo"/>
              </a:rPr>
              <a:t>自分のusernameか確認。</a:t>
            </a:r>
          </a:p>
          <a:p xmlns:a="http://schemas.openxmlformats.org/drawingml/2006/main">
            <a:pPr>
              <a:buNone/>
              <a:defRPr sz="240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400" b="0">
                <a:solidFill>
                  <a:srgbClr val="17303E"/>
                </a:solidFill>
                <a:latin typeface="Meiryo"/>
                <a:ea typeface="Meiryo"/>
                <a:cs typeface="Meiryo"/>
              </a:rPr>
              <a:t>教員の教材は読む場所。</a:t>
            </a:r>
          </a:p>
        </p:txBody>
      </p:sp>
      <p:sp>
        <p:nvSpPr>
          <p:cNvPr id="7" name="check-label">
            <a:extLst xmlns:a="http://schemas.openxmlformats.org/drawingml/2006/main">
              <a:ext uri="{FF2B5EF4-FFF2-40B4-BE49-F238E27FC236}">
                <a16:creationId xmlns:a16="http://schemas.microsoft.com/office/drawing/2014/main" id="{259254C3-2DED-4FFA-93E4-F5CB97AEE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0100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800" b="1">
                <a:solidFill>
                  <a:srgbClr val="00858A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800" b="1">
                <a:solidFill>
                  <a:srgbClr val="00858A"/>
                </a:solidFill>
                <a:latin typeface="Meiryo"/>
                <a:ea typeface="Meiryo"/>
                <a:cs typeface="Meiryo"/>
              </a:defRPr>
            </a:pPr>
            <a:r>
              <a:rPr sz="1800" b="1">
                <a:solidFill>
                  <a:srgbClr val="00858A"/>
                </a:solidFill>
                <a:latin typeface="Meiryo"/>
                <a:ea typeface="Meiryo"/>
                <a:cs typeface="Meiryo"/>
              </a:rPr>
              <a:t>できた目印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F35A4A7A-A8C9-47AF-B2BB-3A9086828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10150"/>
            <a:ext cx="4953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250" b="1">
                <a:solidFill>
                  <a:srgbClr val="17303E"/>
                </a:solidFill>
                <a:latin typeface="Meiryo"/>
                <a:ea typeface="Meiryo"/>
                <a:cs typeface="Meiryo"/>
              </a:rPr>
              <a:t>自分のai-learningがあれば</a:t>
            </a:r>
          </a:p>
          <a:p xmlns:a="http://schemas.openxmlformats.org/drawingml/2006/main">
            <a:pPr>
              <a:buNone/>
              <a:defRPr sz="225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250" b="1">
                <a:solidFill>
                  <a:srgbClr val="17303E"/>
                </a:solidFill>
                <a:latin typeface="Meiryo"/>
                <a:ea typeface="Meiryo"/>
                <a:cs typeface="Meiryo"/>
              </a:rPr>
              <a:t>同じ保存先で続ける。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F09CEF-71CC-40AE-9AB3-4ABB279407D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40b3c026b5466f"/>
          <a:srcRect xmlns:a="http://schemas.openxmlformats.org/drawingml/2006/main" l="1581" t="11236" r="60474" b="66292"/>
          <a:stretch xmlns:a="http://schemas.openxmlformats.org/drawingml/2006/main"/>
        </p:blipFill>
        <p:spPr>
          <a:xfrm xmlns:a="http://schemas.openxmlformats.org/drawingml/2006/main">
            <a:off x="6096000" y="2670175"/>
            <a:ext cx="5467350" cy="1822450"/>
          </a:xfrm>
          <a:prstGeom xmlns:a="http://schemas.openxmlformats.org/drawingml/2006/main" prst="rect">
            <a:avLst/>
          </a:prstGeom>
        </p:spPr>
      </p:pic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67E88611-7431-44A3-91B0-3FC77715B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238750"/>
            <a:ext cx="54673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7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725" b="0">
                <a:solidFill>
                  <a:srgbClr val="536974"/>
                </a:solidFill>
                <a:latin typeface="Meiryo"/>
                <a:ea typeface="Meiryo"/>
                <a:cs typeface="Meiryo"/>
              </a:rPr>
              <a:t>公開ひな形の画面例。自分の保存先で操作。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6CA7CEEB-7E11-4E37-94AA-4278FFD6A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85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425" b="0">
                <a:solidFill>
                  <a:srgbClr val="536974"/>
                </a:solidFill>
                <a:latin typeface="Meiryo"/>
                <a:ea typeface="Meiryo"/>
                <a:cs typeface="Meiryo"/>
              </a:rPr>
              <a:t>GitHub操作補習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E2EAC10E-69B2-41D9-90F1-77C81C6DF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65341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>
                <a:hlinkClick xmlns:r="http://schemas.openxmlformats.org/officeDocument/2006/relationships" r:id="R8ef4cc7e674e47a3"/>
              </a:rPr>
              <a:t>tsuchiyatakahiro.com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DD11F096-0584-478E-8477-B79A1DBBE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3415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425" b="0">
                <a:solidFill>
                  <a:srgbClr val="536974"/>
                </a:solidFill>
                <a:latin typeface="Meiryo"/>
                <a:ea typeface="Meiryo"/>
                <a:cs typeface="Meiryo"/>
              </a:rPr>
              <a:t>01 / 15</a:t>
            </a:r>
          </a:p>
        </p:txBody>
      </p:sp>
    </p:spTree>
    <p:extLst>
      <p:ext uri="{BB962C8B-B14F-4D97-AF65-F5344CB8AC3E}">
        <p14:creationId xmlns:p14="http://schemas.microsoft.com/office/powerpoint/2010/main" val="3316616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35B0A3-ADD2-49ED-8D8B-1BC30CEEDED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49ebc78f4d4672"/>
          <a:stretch xmlns:a="http://schemas.openxmlformats.org/drawingml/2006/main"/>
        </p:blipFill>
        <p:spPr>
          <a:xfrm xmlns:a="http://schemas.openxmlformats.org/drawingml/2006/main">
            <a:off x="685800" y="147270"/>
            <a:ext cx="1790700" cy="219811"/>
          </a:xfrm>
          <a:prstGeom xmlns:a="http://schemas.openxmlformats.org/drawingml/2006/main" prst="rect">
            <a:avLst/>
          </a:prstGeom>
        </p:spPr>
      </p:pic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4036DCB6-0416-4A1A-95D3-F4B0660B4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1025"/>
            <a:ext cx="1095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45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345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3450" b="1">
                <a:solidFill>
                  <a:srgbClr val="17303E"/>
                </a:solidFill>
                <a:latin typeface="Meiryo"/>
                <a:ea typeface="Meiryo"/>
                <a:cs typeface="Meiryo"/>
              </a:rPr>
              <a:t>GitHubのログイン</a:t>
            </a:r>
          </a:p>
        </p:txBody>
      </p:sp>
      <p:sp>
        <p:nvSpPr>
          <p:cNvPr id="3" name="open-label">
            <a:extLst xmlns:a="http://schemas.openxmlformats.org/drawingml/2006/main">
              <a:ext uri="{FF2B5EF4-FFF2-40B4-BE49-F238E27FC236}">
                <a16:creationId xmlns:a16="http://schemas.microsoft.com/office/drawing/2014/main" id="{97EA7BD4-75F5-4383-B373-62857FB3D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5425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800" b="1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800" b="1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800" b="1">
                <a:solidFill>
                  <a:srgbClr val="536974"/>
                </a:solidFill>
                <a:latin typeface="Meiryo"/>
                <a:ea typeface="Meiryo"/>
                <a:cs typeface="Meiryo"/>
              </a:rPr>
              <a:t>開く場所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F076F21F-4138-48B2-9ADE-BFDF826ED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85950"/>
            <a:ext cx="4953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40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240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400" b="0">
                <a:solidFill>
                  <a:srgbClr val="17303E"/>
                </a:solidFill>
                <a:latin typeface="Meiryo"/>
                <a:ea typeface="Meiryo"/>
                <a:cs typeface="Meiryo"/>
              </a:rPr>
              <a:t>GitHubのSign in。</a:t>
            </a:r>
          </a:p>
          <a:p xmlns:a="http://schemas.openxmlformats.org/drawingml/2006/main">
            <a:pPr>
              <a:buNone/>
              <a:defRPr sz="240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400" b="0">
                <a:solidFill>
                  <a:srgbClr val="17303E"/>
                </a:solidFill>
                <a:latin typeface="Meiryo"/>
                <a:ea typeface="Meiryo"/>
                <a:cs typeface="Meiryo"/>
              </a:rPr>
              <a:t>初めての人はSign up。</a:t>
            </a:r>
          </a:p>
        </p:txBody>
      </p:sp>
      <p:sp>
        <p:nvSpPr>
          <p:cNvPr id="5" name="action-label">
            <a:extLst xmlns:a="http://schemas.openxmlformats.org/drawingml/2006/main">
              <a:ext uri="{FF2B5EF4-FFF2-40B4-BE49-F238E27FC236}">
                <a16:creationId xmlns:a16="http://schemas.microsoft.com/office/drawing/2014/main" id="{B0B9DC0D-5E68-4726-BD5F-C2D20EBA8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57525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800" b="1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800" b="1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800" b="1">
                <a:solidFill>
                  <a:srgbClr val="536974"/>
                </a:solidFill>
                <a:latin typeface="Meiryo"/>
                <a:ea typeface="Meiryo"/>
                <a:cs typeface="Meiryo"/>
              </a:rPr>
              <a:t>いま行う操作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5B1A8232-E2BD-4CB7-80DF-F6EE19858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67100"/>
            <a:ext cx="4953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40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240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400" b="0">
                <a:solidFill>
                  <a:srgbClr val="17303E"/>
                </a:solidFill>
                <a:latin typeface="Meiryo"/>
                <a:ea typeface="Meiryo"/>
                <a:cs typeface="Meiryo"/>
              </a:rPr>
              <a:t>既存アカウントでログイン。</a:t>
            </a:r>
          </a:p>
          <a:p xmlns:a="http://schemas.openxmlformats.org/drawingml/2006/main">
            <a:pPr>
              <a:buNone/>
              <a:defRPr sz="240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400" b="0">
                <a:solidFill>
                  <a:srgbClr val="17303E"/>
                </a:solidFill>
                <a:latin typeface="Meiryo"/>
                <a:ea typeface="Meiryo"/>
                <a:cs typeface="Meiryo"/>
              </a:rPr>
              <a:t>初めてなら確認メールも開く。</a:t>
            </a:r>
          </a:p>
        </p:txBody>
      </p:sp>
      <p:sp>
        <p:nvSpPr>
          <p:cNvPr id="7" name="check-label">
            <a:extLst xmlns:a="http://schemas.openxmlformats.org/drawingml/2006/main">
              <a:ext uri="{FF2B5EF4-FFF2-40B4-BE49-F238E27FC236}">
                <a16:creationId xmlns:a16="http://schemas.microsoft.com/office/drawing/2014/main" id="{151A71FE-7FCA-4FDA-AD37-9302DC004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0100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800" b="1">
                <a:solidFill>
                  <a:srgbClr val="00858A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800" b="1">
                <a:solidFill>
                  <a:srgbClr val="00858A"/>
                </a:solidFill>
                <a:latin typeface="Meiryo"/>
                <a:ea typeface="Meiryo"/>
                <a:cs typeface="Meiryo"/>
              </a:defRPr>
            </a:pPr>
            <a:r>
              <a:rPr sz="1800" b="1">
                <a:solidFill>
                  <a:srgbClr val="00858A"/>
                </a:solidFill>
                <a:latin typeface="Meiryo"/>
                <a:ea typeface="Meiryo"/>
                <a:cs typeface="Meiryo"/>
              </a:rPr>
              <a:t>できた目印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718E996C-ADF6-45D5-A875-7CD0E06ED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10150"/>
            <a:ext cx="4953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250" b="1">
                <a:solidFill>
                  <a:srgbClr val="17303E"/>
                </a:solidFill>
                <a:latin typeface="Meiryo"/>
                <a:ea typeface="Meiryo"/>
                <a:cs typeface="Meiryo"/>
              </a:rPr>
              <a:t>自分のusernameが分かる。</a:t>
            </a:r>
          </a:p>
          <a:p xmlns:a="http://schemas.openxmlformats.org/drawingml/2006/main">
            <a:pPr>
              <a:buNone/>
              <a:defRPr sz="225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250" b="1">
                <a:solidFill>
                  <a:srgbClr val="17303E"/>
                </a:solidFill>
                <a:latin typeface="Meiryo"/>
                <a:ea typeface="Meiryo"/>
                <a:cs typeface="Meiryo"/>
              </a:rPr>
              <a:t>大学の指定メールを確認済み。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FCE14C65-1C96-4057-90BA-B4396A6E1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81150"/>
            <a:ext cx="5467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950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950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536974"/>
                </a:solidFill>
                <a:latin typeface="Meiryo"/>
                <a:ea typeface="Meiryo"/>
                <a:cs typeface="Meiryo"/>
              </a:rPr>
              <a:t>操作・表示の確認例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6325985E-FBA0-4977-876F-8901D67F8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90750"/>
            <a:ext cx="54673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55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255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550" b="0">
                <a:solidFill>
                  <a:srgbClr val="17303E"/>
                </a:solidFill>
                <a:latin typeface="Meiryo"/>
                <a:ea typeface="Meiryo"/>
                <a:cs typeface="Meiryo"/>
              </a:rPr>
              <a:t>大学の授業ページ</a:t>
            </a:r>
          </a:p>
          <a:p xmlns:a="http://schemas.openxmlformats.org/drawingml/2006/main">
            <a:pPr>
              <a:buNone/>
              <a:defRPr sz="255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550" b="0">
                <a:solidFill>
                  <a:srgbClr val="17303E"/>
                </a:solidFill>
                <a:latin typeface="Meiryo"/>
                <a:ea typeface="Meiryo"/>
                <a:cs typeface="Meiryo"/>
              </a:rPr>
              <a:t>GitHub</a:t>
            </a:r>
          </a:p>
          <a:p xmlns:a="http://schemas.openxmlformats.org/drawingml/2006/main">
            <a:pPr>
              <a:buNone/>
              <a:defRPr sz="255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550" b="0">
                <a:solidFill>
                  <a:srgbClr val="17303E"/>
                </a:solidFill>
                <a:latin typeface="Meiryo"/>
                <a:ea typeface="Meiryo"/>
                <a:cs typeface="Meiryo"/>
              </a:rPr>
              <a:t>それぞれのログインを確認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4B3CF4E0-D474-43F9-9DEA-40D8FFF61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238750"/>
            <a:ext cx="5467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800" b="0">
                <a:solidFill>
                  <a:srgbClr val="536974"/>
                </a:solidFill>
                <a:latin typeface="Meiryo"/>
                <a:ea typeface="Meiryo"/>
                <a:cs typeface="Meiryo"/>
              </a:rPr>
              <a:t>自分の画面で確認してから次へ進みます。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F8604E26-E865-463A-842A-B3274459A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85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425" b="0">
                <a:solidFill>
                  <a:srgbClr val="536974"/>
                </a:solidFill>
                <a:latin typeface="Meiryo"/>
                <a:ea typeface="Meiryo"/>
                <a:cs typeface="Meiryo"/>
              </a:rPr>
              <a:t>GitHub操作補習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6E9E795E-044B-4159-855C-AF2EB5150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65341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>
                <a:hlinkClick xmlns:r="http://schemas.openxmlformats.org/officeDocument/2006/relationships" r:id="Ref61d66b4dfa47a8"/>
              </a:rPr>
              <a:t>tsuchiyatakahiro.com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4A9EEC15-E15F-4A0C-8F6A-CB2F7D6A3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3415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425" b="0">
                <a:solidFill>
                  <a:srgbClr val="536974"/>
                </a:solidFill>
                <a:latin typeface="Meiryo"/>
                <a:ea typeface="Meiryo"/>
                <a:cs typeface="Meiryo"/>
              </a:rPr>
              <a:t>02 / 15</a:t>
            </a:r>
          </a:p>
        </p:txBody>
      </p:sp>
    </p:spTree>
    <p:extLst>
      <p:ext uri="{BB962C8B-B14F-4D97-AF65-F5344CB8AC3E}">
        <p14:creationId xmlns:p14="http://schemas.microsoft.com/office/powerpoint/2010/main" val="6950234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FBF4FE-B138-4B37-8D8C-A22320EE3B2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91a0a836704f1f"/>
          <a:stretch xmlns:a="http://schemas.openxmlformats.org/drawingml/2006/main"/>
        </p:blipFill>
        <p:spPr>
          <a:xfrm xmlns:a="http://schemas.openxmlformats.org/drawingml/2006/main">
            <a:off x="685800" y="147270"/>
            <a:ext cx="1790700" cy="219811"/>
          </a:xfrm>
          <a:prstGeom xmlns:a="http://schemas.openxmlformats.org/drawingml/2006/main" prst="rect">
            <a:avLst/>
          </a:prstGeom>
        </p:spPr>
      </p:pic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40EDA08-A92B-4799-B64D-0BD6F388C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1025"/>
            <a:ext cx="1095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45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345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3450" b="1">
                <a:solidFill>
                  <a:srgbClr val="17303E"/>
                </a:solidFill>
                <a:latin typeface="Meiryo"/>
                <a:ea typeface="Meiryo"/>
                <a:cs typeface="Meiryo"/>
              </a:rPr>
              <a:t>ひな形から作成する</a:t>
            </a:r>
          </a:p>
        </p:txBody>
      </p:sp>
      <p:sp>
        <p:nvSpPr>
          <p:cNvPr id="3" name="open-label">
            <a:extLst xmlns:a="http://schemas.openxmlformats.org/drawingml/2006/main">
              <a:ext uri="{FF2B5EF4-FFF2-40B4-BE49-F238E27FC236}">
                <a16:creationId xmlns:a16="http://schemas.microsoft.com/office/drawing/2014/main" id="{9DC8B979-C350-4011-82C6-924786E6E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5425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800" b="1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800" b="1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800" b="1">
                <a:solidFill>
                  <a:srgbClr val="536974"/>
                </a:solidFill>
                <a:latin typeface="Meiryo"/>
                <a:ea typeface="Meiryo"/>
                <a:cs typeface="Meiryo"/>
              </a:rPr>
              <a:t>開く場所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0FF299D0-BFAC-4999-A18D-F0DFB4538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85950"/>
            <a:ext cx="4953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40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240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400" b="0">
                <a:solidFill>
                  <a:srgbClr val="17303E"/>
                </a:solidFill>
                <a:latin typeface="Meiryo"/>
                <a:ea typeface="Meiryo"/>
                <a:cs typeface="Meiryo"/>
              </a:rPr>
              <a:t>授業の学生用ひな形</a:t>
            </a:r>
          </a:p>
        </p:txBody>
      </p:sp>
      <p:sp>
        <p:nvSpPr>
          <p:cNvPr id="5" name="action-label">
            <a:extLst xmlns:a="http://schemas.openxmlformats.org/drawingml/2006/main">
              <a:ext uri="{FF2B5EF4-FFF2-40B4-BE49-F238E27FC236}">
                <a16:creationId xmlns:a16="http://schemas.microsoft.com/office/drawing/2014/main" id="{0B1F1A34-DB45-4E08-B742-49C6DEE07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57525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800" b="1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800" b="1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800" b="1">
                <a:solidFill>
                  <a:srgbClr val="536974"/>
                </a:solidFill>
                <a:latin typeface="Meiryo"/>
                <a:ea typeface="Meiryo"/>
                <a:cs typeface="Meiryo"/>
              </a:rPr>
              <a:t>いま行う操作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4118CE14-2357-4394-A392-39C768E76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67100"/>
            <a:ext cx="4953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40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240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400" b="0">
                <a:solidFill>
                  <a:srgbClr val="17303E"/>
                </a:solidFill>
                <a:latin typeface="Meiryo"/>
                <a:ea typeface="Meiryo"/>
                <a:cs typeface="Meiryo"/>
              </a:rPr>
              <a:t>Use this template</a:t>
            </a:r>
          </a:p>
          <a:p xmlns:a="http://schemas.openxmlformats.org/drawingml/2006/main">
            <a:pPr>
              <a:buNone/>
              <a:defRPr sz="240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400" b="0">
                <a:solidFill>
                  <a:srgbClr val="17303E"/>
                </a:solidFill>
                <a:latin typeface="Meiryo"/>
                <a:ea typeface="Meiryo"/>
                <a:cs typeface="Meiryo"/>
              </a:rPr>
              <a:t>Create a new repository</a:t>
            </a:r>
          </a:p>
        </p:txBody>
      </p:sp>
      <p:sp>
        <p:nvSpPr>
          <p:cNvPr id="7" name="check-label">
            <a:extLst xmlns:a="http://schemas.openxmlformats.org/drawingml/2006/main">
              <a:ext uri="{FF2B5EF4-FFF2-40B4-BE49-F238E27FC236}">
                <a16:creationId xmlns:a16="http://schemas.microsoft.com/office/drawing/2014/main" id="{08A94060-1AFE-451D-94E2-16BA8599B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0100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800" b="1">
                <a:solidFill>
                  <a:srgbClr val="00858A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800" b="1">
                <a:solidFill>
                  <a:srgbClr val="00858A"/>
                </a:solidFill>
                <a:latin typeface="Meiryo"/>
                <a:ea typeface="Meiryo"/>
                <a:cs typeface="Meiryo"/>
              </a:defRPr>
            </a:pPr>
            <a:r>
              <a:rPr sz="1800" b="1">
                <a:solidFill>
                  <a:srgbClr val="00858A"/>
                </a:solidFill>
                <a:latin typeface="Meiryo"/>
                <a:ea typeface="Meiryo"/>
                <a:cs typeface="Meiryo"/>
              </a:rPr>
              <a:t>できた目印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B2E4CE1D-8597-4CE0-A76E-8764F7703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10150"/>
            <a:ext cx="4953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250" b="1">
                <a:solidFill>
                  <a:srgbClr val="17303E"/>
                </a:solidFill>
                <a:latin typeface="Meiryo"/>
                <a:ea typeface="Meiryo"/>
                <a:cs typeface="Meiryo"/>
              </a:rPr>
              <a:t>自分用の作成画面が開く。</a:t>
            </a:r>
          </a:p>
          <a:p xmlns:a="http://schemas.openxmlformats.org/drawingml/2006/main">
            <a:pPr>
              <a:buNone/>
              <a:defRPr sz="225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250" b="1">
                <a:solidFill>
                  <a:srgbClr val="17303E"/>
                </a:solidFill>
                <a:latin typeface="Meiryo"/>
                <a:ea typeface="Meiryo"/>
                <a:cs typeface="Meiryo"/>
              </a:rPr>
              <a:t>すでに作成済みなら戻る。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D0AB8C-07D6-445B-8201-5C9A2B95D71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6aa8d328104d4d"/>
          <a:stretch xmlns:a="http://schemas.openxmlformats.org/drawingml/2006/main"/>
        </p:blipFill>
        <p:spPr>
          <a:xfrm xmlns:a="http://schemas.openxmlformats.org/drawingml/2006/main">
            <a:off x="6096000" y="2426422"/>
            <a:ext cx="5467350" cy="2309955"/>
          </a:xfrm>
          <a:prstGeom xmlns:a="http://schemas.openxmlformats.org/drawingml/2006/main" prst="rect">
            <a:avLst/>
          </a:prstGeom>
        </p:spPr>
      </p:pic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06BCB805-7167-4430-AD07-3E65163C5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238750"/>
            <a:ext cx="54673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7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725" b="0">
                <a:solidFill>
                  <a:srgbClr val="536974"/>
                </a:solidFill>
                <a:latin typeface="Meiryo"/>
                <a:ea typeface="Meiryo"/>
                <a:cs typeface="Meiryo"/>
              </a:rPr>
              <a:t>GitHub公式文書の画面例。値は例です。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87AABD83-004A-401F-8E60-8B2004559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85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425" b="0">
                <a:solidFill>
                  <a:srgbClr val="536974"/>
                </a:solidFill>
                <a:latin typeface="Meiryo"/>
                <a:ea typeface="Meiryo"/>
                <a:cs typeface="Meiryo"/>
              </a:rPr>
              <a:t>GitHub操作補習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6430F9C0-6EF8-44A6-984C-8DCFF8A70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65341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>
                <a:hlinkClick xmlns:r="http://schemas.openxmlformats.org/officeDocument/2006/relationships" r:id="R80fa26740d314764"/>
              </a:rPr>
              <a:t>tsuchiyatakahiro.com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7B472F98-C2AF-4026-938B-401C3BB97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3415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425" b="0">
                <a:solidFill>
                  <a:srgbClr val="536974"/>
                </a:solidFill>
                <a:latin typeface="Meiryo"/>
                <a:ea typeface="Meiryo"/>
                <a:cs typeface="Meiryo"/>
              </a:rPr>
              <a:t>03 / 15</a:t>
            </a:r>
          </a:p>
        </p:txBody>
      </p:sp>
    </p:spTree>
    <p:extLst>
      <p:ext uri="{BB962C8B-B14F-4D97-AF65-F5344CB8AC3E}">
        <p14:creationId xmlns:p14="http://schemas.microsoft.com/office/powerpoint/2010/main" val="14735004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18D63F-CA27-4FCA-A127-4D14529E803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f5dada800a464a"/>
          <a:stretch xmlns:a="http://schemas.openxmlformats.org/drawingml/2006/main"/>
        </p:blipFill>
        <p:spPr>
          <a:xfrm xmlns:a="http://schemas.openxmlformats.org/drawingml/2006/main">
            <a:off x="685800" y="147270"/>
            <a:ext cx="1790700" cy="219811"/>
          </a:xfrm>
          <a:prstGeom xmlns:a="http://schemas.openxmlformats.org/drawingml/2006/main" prst="rect">
            <a:avLst/>
          </a:prstGeom>
        </p:spPr>
      </p:pic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DFA2D3BE-04D9-4DC5-AB4F-DF49371AD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1025"/>
            <a:ext cx="1095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45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345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3450" b="1">
                <a:solidFill>
                  <a:srgbClr val="17303E"/>
                </a:solidFill>
                <a:latin typeface="Meiryo"/>
                <a:ea typeface="Meiryo"/>
                <a:cs typeface="Meiryo"/>
              </a:rPr>
              <a:t>所有者・名前・公開範囲</a:t>
            </a:r>
          </a:p>
        </p:txBody>
      </p:sp>
      <p:sp>
        <p:nvSpPr>
          <p:cNvPr id="3" name="open-label">
            <a:extLst xmlns:a="http://schemas.openxmlformats.org/drawingml/2006/main">
              <a:ext uri="{FF2B5EF4-FFF2-40B4-BE49-F238E27FC236}">
                <a16:creationId xmlns:a16="http://schemas.microsoft.com/office/drawing/2014/main" id="{58E9EA7B-FD83-4CEA-A500-7B721EA01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5425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800" b="1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800" b="1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800" b="1">
                <a:solidFill>
                  <a:srgbClr val="536974"/>
                </a:solidFill>
                <a:latin typeface="Meiryo"/>
                <a:ea typeface="Meiryo"/>
                <a:cs typeface="Meiryo"/>
              </a:rPr>
              <a:t>開く場所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4E9A665B-5B8F-4A9D-AB22-87F1A6AD1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85950"/>
            <a:ext cx="4953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40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240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400" b="0">
                <a:solidFill>
                  <a:srgbClr val="17303E"/>
                </a:solidFill>
                <a:latin typeface="Meiryo"/>
                <a:ea typeface="Meiryo"/>
                <a:cs typeface="Meiryo"/>
              </a:rPr>
              <a:t>作成画面のOwnerと名前</a:t>
            </a:r>
          </a:p>
        </p:txBody>
      </p:sp>
      <p:sp>
        <p:nvSpPr>
          <p:cNvPr id="5" name="action-label">
            <a:extLst xmlns:a="http://schemas.openxmlformats.org/drawingml/2006/main">
              <a:ext uri="{FF2B5EF4-FFF2-40B4-BE49-F238E27FC236}">
                <a16:creationId xmlns:a16="http://schemas.microsoft.com/office/drawing/2014/main" id="{176D895B-FFC1-49F9-8D55-146F3F87D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57525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800" b="1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800" b="1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800" b="1">
                <a:solidFill>
                  <a:srgbClr val="536974"/>
                </a:solidFill>
                <a:latin typeface="Meiryo"/>
                <a:ea typeface="Meiryo"/>
                <a:cs typeface="Meiryo"/>
              </a:rPr>
              <a:t>いま行う操作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76EE9492-4973-42BF-A1E9-37561B765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67100"/>
            <a:ext cx="4953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40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240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400" b="0">
                <a:solidFill>
                  <a:srgbClr val="17303E"/>
                </a:solidFill>
                <a:latin typeface="Meiryo"/>
                <a:ea typeface="Meiryo"/>
                <a:cs typeface="Meiryo"/>
              </a:rPr>
              <a:t>Ownerは自分、ai-learning。</a:t>
            </a:r>
          </a:p>
          <a:p xmlns:a="http://schemas.openxmlformats.org/drawingml/2006/main">
            <a:pPr>
              <a:buNone/>
              <a:defRPr sz="240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400" b="0">
                <a:solidFill>
                  <a:srgbClr val="17303E"/>
                </a:solidFill>
                <a:latin typeface="Meiryo"/>
                <a:ea typeface="Meiryo"/>
                <a:cs typeface="Meiryo"/>
              </a:rPr>
              <a:t>Privateを選んで作成。</a:t>
            </a:r>
          </a:p>
        </p:txBody>
      </p:sp>
      <p:sp>
        <p:nvSpPr>
          <p:cNvPr id="7" name="check-label">
            <a:extLst xmlns:a="http://schemas.openxmlformats.org/drawingml/2006/main">
              <a:ext uri="{FF2B5EF4-FFF2-40B4-BE49-F238E27FC236}">
                <a16:creationId xmlns:a16="http://schemas.microsoft.com/office/drawing/2014/main" id="{54825031-B31A-41C8-A6E0-A2709817D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0100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800" b="1">
                <a:solidFill>
                  <a:srgbClr val="00858A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800" b="1">
                <a:solidFill>
                  <a:srgbClr val="00858A"/>
                </a:solidFill>
                <a:latin typeface="Meiryo"/>
                <a:ea typeface="Meiryo"/>
                <a:cs typeface="Meiryo"/>
              </a:defRPr>
            </a:pPr>
            <a:r>
              <a:rPr sz="1800" b="1">
                <a:solidFill>
                  <a:srgbClr val="00858A"/>
                </a:solidFill>
                <a:latin typeface="Meiryo"/>
                <a:ea typeface="Meiryo"/>
                <a:cs typeface="Meiryo"/>
              </a:rPr>
              <a:t>できた目印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F5F7BDE0-AB71-436C-963B-E72705EDD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10150"/>
            <a:ext cx="4953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250" b="1">
                <a:solidFill>
                  <a:srgbClr val="17303E"/>
                </a:solidFill>
                <a:latin typeface="Meiryo"/>
                <a:ea typeface="Meiryo"/>
                <a:cs typeface="Meiryo"/>
              </a:rPr>
              <a:t>自分のusername / ai-learning</a:t>
            </a:r>
          </a:p>
          <a:p xmlns:a="http://schemas.openxmlformats.org/drawingml/2006/main">
            <a:pPr>
              <a:buNone/>
              <a:defRPr sz="225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250" b="1">
                <a:solidFill>
                  <a:srgbClr val="17303E"/>
                </a:solidFill>
                <a:latin typeface="Meiryo"/>
                <a:ea typeface="Meiryo"/>
                <a:cs typeface="Meiryo"/>
              </a:rPr>
              <a:t>とPrivateが表示される。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0F6E45-95F1-462B-A6BC-67DD1A07E57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e55d8f4d8d4790"/>
          <a:stretch xmlns:a="http://schemas.openxmlformats.org/drawingml/2006/main"/>
        </p:blipFill>
        <p:spPr>
          <a:xfrm xmlns:a="http://schemas.openxmlformats.org/drawingml/2006/main">
            <a:off x="6096000" y="2954933"/>
            <a:ext cx="5467350" cy="1252934"/>
          </a:xfrm>
          <a:prstGeom xmlns:a="http://schemas.openxmlformats.org/drawingml/2006/main" prst="rect">
            <a:avLst/>
          </a:prstGeom>
        </p:spPr>
      </p:pic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C41EF353-42A1-4AD3-8A49-AFB431C42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238750"/>
            <a:ext cx="54673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7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725" b="0">
                <a:solidFill>
                  <a:srgbClr val="536974"/>
                </a:solidFill>
                <a:latin typeface="Meiryo"/>
                <a:ea typeface="Meiryo"/>
                <a:cs typeface="Meiryo"/>
              </a:rPr>
              <a:t>GitHub公式文書の画面例。値は例です。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65C1643F-34B9-4E88-A3E6-AF8F37F7C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85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425" b="0">
                <a:solidFill>
                  <a:srgbClr val="536974"/>
                </a:solidFill>
                <a:latin typeface="Meiryo"/>
                <a:ea typeface="Meiryo"/>
                <a:cs typeface="Meiryo"/>
              </a:rPr>
              <a:t>GitHub操作補習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38278AF6-35B9-4727-B4C7-FBDF85297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65341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>
                <a:hlinkClick xmlns:r="http://schemas.openxmlformats.org/officeDocument/2006/relationships" r:id="R1305a212f9394d0a"/>
              </a:rPr>
              <a:t>tsuchiyatakahiro.com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2D3F26BB-0A8C-4307-992D-20DDFD7F8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3415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425" b="0">
                <a:solidFill>
                  <a:srgbClr val="536974"/>
                </a:solidFill>
                <a:latin typeface="Meiryo"/>
                <a:ea typeface="Meiryo"/>
                <a:cs typeface="Meiryo"/>
              </a:rPr>
              <a:t>04 / 15</a:t>
            </a:r>
          </a:p>
        </p:txBody>
      </p:sp>
    </p:spTree>
    <p:extLst>
      <p:ext uri="{BB962C8B-B14F-4D97-AF65-F5344CB8AC3E}">
        <p14:creationId xmlns:p14="http://schemas.microsoft.com/office/powerpoint/2010/main" val="79327955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1158E6-53CF-4181-95B0-B337632311E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4ad536da3d4e91"/>
          <a:stretch xmlns:a="http://schemas.openxmlformats.org/drawingml/2006/main"/>
        </p:blipFill>
        <p:spPr>
          <a:xfrm xmlns:a="http://schemas.openxmlformats.org/drawingml/2006/main">
            <a:off x="685800" y="147270"/>
            <a:ext cx="1790700" cy="219811"/>
          </a:xfrm>
          <a:prstGeom xmlns:a="http://schemas.openxmlformats.org/drawingml/2006/main" prst="rect">
            <a:avLst/>
          </a:prstGeom>
        </p:spPr>
      </p:pic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2908E49-3CB4-442A-84E4-4D01D30D8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1025"/>
            <a:ext cx="1095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45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345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3450" b="1">
                <a:solidFill>
                  <a:srgbClr val="17303E"/>
                </a:solidFill>
                <a:latin typeface="Meiryo"/>
                <a:ea typeface="Meiryo"/>
                <a:cs typeface="Meiryo"/>
              </a:rPr>
              <a:t>保存先ができた確認</a:t>
            </a:r>
          </a:p>
        </p:txBody>
      </p:sp>
      <p:sp>
        <p:nvSpPr>
          <p:cNvPr id="3" name="open-label">
            <a:extLst xmlns:a="http://schemas.openxmlformats.org/drawingml/2006/main">
              <a:ext uri="{FF2B5EF4-FFF2-40B4-BE49-F238E27FC236}">
                <a16:creationId xmlns:a16="http://schemas.microsoft.com/office/drawing/2014/main" id="{3A50A785-A4C7-404A-8A5B-6993B599A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5425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800" b="1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800" b="1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800" b="1">
                <a:solidFill>
                  <a:srgbClr val="536974"/>
                </a:solidFill>
                <a:latin typeface="Meiryo"/>
                <a:ea typeface="Meiryo"/>
                <a:cs typeface="Meiryo"/>
              </a:rPr>
              <a:t>開く場所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02808AA9-8CDB-4145-82C4-2902BED1A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85950"/>
            <a:ext cx="4953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40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240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400" b="0">
                <a:solidFill>
                  <a:srgbClr val="17303E"/>
                </a:solidFill>
                <a:latin typeface="Meiryo"/>
                <a:ea typeface="Meiryo"/>
                <a:cs typeface="Meiryo"/>
              </a:rPr>
              <a:t>自分のai-learningのCode</a:t>
            </a:r>
          </a:p>
        </p:txBody>
      </p:sp>
      <p:sp>
        <p:nvSpPr>
          <p:cNvPr id="5" name="action-label">
            <a:extLst xmlns:a="http://schemas.openxmlformats.org/drawingml/2006/main">
              <a:ext uri="{FF2B5EF4-FFF2-40B4-BE49-F238E27FC236}">
                <a16:creationId xmlns:a16="http://schemas.microsoft.com/office/drawing/2014/main" id="{EF810726-27FC-45DD-B20F-416BDB346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57525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800" b="1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800" b="1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800" b="1">
                <a:solidFill>
                  <a:srgbClr val="536974"/>
                </a:solidFill>
                <a:latin typeface="Meiryo"/>
                <a:ea typeface="Meiryo"/>
                <a:cs typeface="Meiryo"/>
              </a:rPr>
              <a:t>いま行う操作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599C09CC-9DAD-4D39-ACE6-FA0DE3622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67100"/>
            <a:ext cx="4953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40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240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400" b="0">
                <a:solidFill>
                  <a:srgbClr val="17303E"/>
                </a:solidFill>
                <a:latin typeface="Meiryo"/>
                <a:ea typeface="Meiryo"/>
                <a:cs typeface="Meiryo"/>
              </a:rPr>
              <a:t>setupとweek01などを確認。</a:t>
            </a:r>
          </a:p>
          <a:p xmlns:a="http://schemas.openxmlformats.org/drawingml/2006/main">
            <a:pPr>
              <a:buNone/>
              <a:defRPr sz="240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400" b="0">
                <a:solidFill>
                  <a:srgbClr val="17303E"/>
                </a:solidFill>
                <a:latin typeface="Meiryo"/>
                <a:ea typeface="Meiryo"/>
                <a:cs typeface="Meiryo"/>
              </a:rPr>
              <a:t>保存先のURLを控える。</a:t>
            </a:r>
          </a:p>
        </p:txBody>
      </p:sp>
      <p:sp>
        <p:nvSpPr>
          <p:cNvPr id="7" name="check-label">
            <a:extLst xmlns:a="http://schemas.openxmlformats.org/drawingml/2006/main">
              <a:ext uri="{FF2B5EF4-FFF2-40B4-BE49-F238E27FC236}">
                <a16:creationId xmlns:a16="http://schemas.microsoft.com/office/drawing/2014/main" id="{4D064ACE-2DCD-43CA-A060-457054593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0100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800" b="1">
                <a:solidFill>
                  <a:srgbClr val="00858A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800" b="1">
                <a:solidFill>
                  <a:srgbClr val="00858A"/>
                </a:solidFill>
                <a:latin typeface="Meiryo"/>
                <a:ea typeface="Meiryo"/>
                <a:cs typeface="Meiryo"/>
              </a:defRPr>
            </a:pPr>
            <a:r>
              <a:rPr sz="1800" b="1">
                <a:solidFill>
                  <a:srgbClr val="00858A"/>
                </a:solidFill>
                <a:latin typeface="Meiryo"/>
                <a:ea typeface="Meiryo"/>
                <a:cs typeface="Meiryo"/>
              </a:rPr>
              <a:t>できた目印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6C876BE5-CF4E-4CAD-B43B-1DABACC25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10150"/>
            <a:ext cx="4953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250" b="1">
                <a:solidFill>
                  <a:srgbClr val="17303E"/>
                </a:solidFill>
                <a:latin typeface="Meiryo"/>
                <a:ea typeface="Meiryo"/>
                <a:cs typeface="Meiryo"/>
              </a:rPr>
              <a:t>自分のフォルダ一覧がある。</a:t>
            </a:r>
          </a:p>
          <a:p xmlns:a="http://schemas.openxmlformats.org/drawingml/2006/main">
            <a:pPr>
              <a:buNone/>
              <a:defRPr sz="225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250" b="1">
                <a:solidFill>
                  <a:srgbClr val="17303E"/>
                </a:solidFill>
                <a:latin typeface="Meiryo"/>
                <a:ea typeface="Meiryo"/>
                <a:cs typeface="Meiryo"/>
              </a:rPr>
              <a:t>初回登録はこの保存先URL。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B8772D05-EA70-462A-8A2A-6ED01987E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81150"/>
            <a:ext cx="5467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950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950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536974"/>
                </a:solidFill>
                <a:latin typeface="Meiryo"/>
                <a:ea typeface="Meiryo"/>
                <a:cs typeface="Meiryo"/>
              </a:rPr>
              <a:t>操作・表示の確認例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4C5B6C9B-39AC-4A4A-BD3B-59FA0D008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90750"/>
            <a:ext cx="54673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55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255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550" b="0">
                <a:solidFill>
                  <a:srgbClr val="17303E"/>
                </a:solidFill>
                <a:latin typeface="Meiryo"/>
                <a:ea typeface="Meiryo"/>
                <a:cs typeface="Meiryo"/>
              </a:rPr>
              <a:t>自分のusername /</a:t>
            </a:r>
          </a:p>
          <a:p xmlns:a="http://schemas.openxmlformats.org/drawingml/2006/main">
            <a:pPr>
              <a:buNone/>
              <a:defRPr sz="255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550" b="0">
                <a:solidFill>
                  <a:srgbClr val="17303E"/>
                </a:solidFill>
                <a:latin typeface="Meiryo"/>
                <a:ea typeface="Meiryo"/>
                <a:cs typeface="Meiryo"/>
              </a:rPr>
              <a:t>ai-learning　Private</a:t>
            </a:r>
          </a:p>
          <a:p xmlns:a="http://schemas.openxmlformats.org/drawingml/2006/main">
            <a:pPr>
              <a:buNone/>
              <a:defRPr sz="255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550" b="0">
                <a:solidFill>
                  <a:srgbClr val="17303E"/>
                </a:solidFill>
                <a:latin typeface="Meiryo"/>
                <a:ea typeface="Meiryo"/>
                <a:cs typeface="Meiryo"/>
              </a:rPr>
              <a:t>setup、week01、…、final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190EB16D-6C8B-4183-A6D9-A8CCBAA06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238750"/>
            <a:ext cx="5467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800" b="0">
                <a:solidFill>
                  <a:srgbClr val="536974"/>
                </a:solidFill>
                <a:latin typeface="Meiryo"/>
                <a:ea typeface="Meiryo"/>
                <a:cs typeface="Meiryo"/>
              </a:rPr>
              <a:t>自分の画面で確認してから次へ進みます。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F6762084-DB2D-442E-B9AE-D6F536DCE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85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425" b="0">
                <a:solidFill>
                  <a:srgbClr val="536974"/>
                </a:solidFill>
                <a:latin typeface="Meiryo"/>
                <a:ea typeface="Meiryo"/>
                <a:cs typeface="Meiryo"/>
              </a:rPr>
              <a:t>GitHub操作補習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49DC0F16-1357-4490-BFAA-9E10B5DC5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65341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>
                <a:hlinkClick xmlns:r="http://schemas.openxmlformats.org/officeDocument/2006/relationships" r:id="R47c8c8c3bac64539"/>
              </a:rPr>
              <a:t>tsuchiyatakahiro.com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B46E9DA6-A4C1-42AF-9617-634B99EE2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3415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425" b="0">
                <a:solidFill>
                  <a:srgbClr val="536974"/>
                </a:solidFill>
                <a:latin typeface="Meiryo"/>
                <a:ea typeface="Meiryo"/>
                <a:cs typeface="Meiryo"/>
              </a:rPr>
              <a:t>05 / 15</a:t>
            </a:r>
          </a:p>
        </p:txBody>
      </p:sp>
    </p:spTree>
    <p:extLst>
      <p:ext uri="{BB962C8B-B14F-4D97-AF65-F5344CB8AC3E}">
        <p14:creationId xmlns:p14="http://schemas.microsoft.com/office/powerpoint/2010/main" val="99923871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9BF7A5-0BDC-40C9-962E-9523673F85A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22a25bae84440f"/>
          <a:stretch xmlns:a="http://schemas.openxmlformats.org/drawingml/2006/main"/>
        </p:blipFill>
        <p:spPr>
          <a:xfrm xmlns:a="http://schemas.openxmlformats.org/drawingml/2006/main">
            <a:off x="685800" y="147270"/>
            <a:ext cx="1790700" cy="219811"/>
          </a:xfrm>
          <a:prstGeom xmlns:a="http://schemas.openxmlformats.org/drawingml/2006/main" prst="rect">
            <a:avLst/>
          </a:prstGeom>
        </p:spPr>
      </p:pic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DA10F487-DEFE-45BE-8CB1-757ACD386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1025"/>
            <a:ext cx="1095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45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345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3450" b="1">
                <a:solidFill>
                  <a:srgbClr val="17303E"/>
                </a:solidFill>
                <a:latin typeface="Meiryo"/>
                <a:ea typeface="Meiryo"/>
                <a:cs typeface="Meiryo"/>
              </a:rPr>
              <a:t>READMEを開く場所</a:t>
            </a:r>
          </a:p>
        </p:txBody>
      </p:sp>
      <p:sp>
        <p:nvSpPr>
          <p:cNvPr id="3" name="open-label">
            <a:extLst xmlns:a="http://schemas.openxmlformats.org/drawingml/2006/main">
              <a:ext uri="{FF2B5EF4-FFF2-40B4-BE49-F238E27FC236}">
                <a16:creationId xmlns:a16="http://schemas.microsoft.com/office/drawing/2014/main" id="{CF2D887C-EF2F-45C0-82C1-370ABAC83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5425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800" b="1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800" b="1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800" b="1">
                <a:solidFill>
                  <a:srgbClr val="536974"/>
                </a:solidFill>
                <a:latin typeface="Meiryo"/>
                <a:ea typeface="Meiryo"/>
                <a:cs typeface="Meiryo"/>
              </a:rPr>
              <a:t>開く場所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39FB8CF2-1C5B-4C5F-9C69-01BB17AE5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85950"/>
            <a:ext cx="4953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40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240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400" b="0">
                <a:solidFill>
                  <a:srgbClr val="17303E"/>
                </a:solidFill>
                <a:latin typeface="Meiryo"/>
                <a:ea typeface="Meiryo"/>
                <a:cs typeface="Meiryo"/>
              </a:rPr>
              <a:t>自分のai-learning。</a:t>
            </a:r>
          </a:p>
          <a:p xmlns:a="http://schemas.openxmlformats.org/drawingml/2006/main">
            <a:pPr>
              <a:buNone/>
              <a:defRPr sz="240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400" b="0">
                <a:solidFill>
                  <a:srgbClr val="17303E"/>
                </a:solidFill>
                <a:latin typeface="Meiryo"/>
                <a:ea typeface="Meiryo"/>
                <a:cs typeface="Meiryo"/>
              </a:rPr>
              <a:t>教員指定のweekXXを開く。</a:t>
            </a:r>
          </a:p>
        </p:txBody>
      </p:sp>
      <p:sp>
        <p:nvSpPr>
          <p:cNvPr id="5" name="action-label">
            <a:extLst xmlns:a="http://schemas.openxmlformats.org/drawingml/2006/main">
              <a:ext uri="{FF2B5EF4-FFF2-40B4-BE49-F238E27FC236}">
                <a16:creationId xmlns:a16="http://schemas.microsoft.com/office/drawing/2014/main" id="{6E30ECFB-A5E5-4589-88CB-6DE1668CC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57525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800" b="1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800" b="1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800" b="1">
                <a:solidFill>
                  <a:srgbClr val="536974"/>
                </a:solidFill>
                <a:latin typeface="Meiryo"/>
                <a:ea typeface="Meiryo"/>
                <a:cs typeface="Meiryo"/>
              </a:rPr>
              <a:t>いま行う操作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7F275AEE-75FE-46DD-AC54-BB52992C6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67100"/>
            <a:ext cx="4953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40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240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400" b="0">
                <a:solidFill>
                  <a:srgbClr val="17303E"/>
                </a:solidFill>
                <a:latin typeface="Meiryo"/>
                <a:ea typeface="Meiryo"/>
                <a:cs typeface="Meiryo"/>
              </a:rPr>
              <a:t>README.mdを開く。</a:t>
            </a:r>
          </a:p>
          <a:p xmlns:a="http://schemas.openxmlformats.org/drawingml/2006/main">
            <a:pPr>
              <a:buNone/>
              <a:defRPr sz="240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400" b="0">
                <a:solidFill>
                  <a:srgbClr val="17303E"/>
                </a:solidFill>
                <a:latin typeface="Meiryo"/>
                <a:ea typeface="Meiryo"/>
                <a:cs typeface="Meiryo"/>
              </a:rPr>
              <a:t>右上の鉛筆を押す。</a:t>
            </a:r>
          </a:p>
        </p:txBody>
      </p:sp>
      <p:sp>
        <p:nvSpPr>
          <p:cNvPr id="7" name="check-label">
            <a:extLst xmlns:a="http://schemas.openxmlformats.org/drawingml/2006/main">
              <a:ext uri="{FF2B5EF4-FFF2-40B4-BE49-F238E27FC236}">
                <a16:creationId xmlns:a16="http://schemas.microsoft.com/office/drawing/2014/main" id="{6B0943C6-4F17-48C7-9716-CBF45FA80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0100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800" b="1">
                <a:solidFill>
                  <a:srgbClr val="00858A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800" b="1">
                <a:solidFill>
                  <a:srgbClr val="00858A"/>
                </a:solidFill>
                <a:latin typeface="Meiryo"/>
                <a:ea typeface="Meiryo"/>
                <a:cs typeface="Meiryo"/>
              </a:defRPr>
            </a:pPr>
            <a:r>
              <a:rPr sz="1800" b="1">
                <a:solidFill>
                  <a:srgbClr val="00858A"/>
                </a:solidFill>
                <a:latin typeface="Meiryo"/>
                <a:ea typeface="Meiryo"/>
                <a:cs typeface="Meiryo"/>
              </a:rPr>
              <a:t>できた目印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DD6F57B9-E0E7-4CE1-BBED-619069961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10150"/>
            <a:ext cx="4953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250" b="1">
                <a:solidFill>
                  <a:srgbClr val="17303E"/>
                </a:solidFill>
                <a:latin typeface="Meiryo"/>
                <a:ea typeface="Meiryo"/>
                <a:cs typeface="Meiryo"/>
              </a:rPr>
              <a:t>編集できる画面が開く。</a:t>
            </a:r>
          </a:p>
          <a:p xmlns:a="http://schemas.openxmlformats.org/drawingml/2006/main">
            <a:pPr>
              <a:buNone/>
              <a:defRPr sz="225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250" b="1">
                <a:solidFill>
                  <a:srgbClr val="17303E"/>
                </a:solidFill>
                <a:latin typeface="Meiryo"/>
                <a:ea typeface="Meiryo"/>
                <a:cs typeface="Meiryo"/>
              </a:rPr>
              <a:t>所有者は自分のまま。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DF281E-A292-4492-AF7C-069B07671EC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aafeccdf724ba1"/>
          <a:srcRect xmlns:a="http://schemas.openxmlformats.org/drawingml/2006/main" l="68279" t="3348" r="1138" b="74330"/>
          <a:stretch xmlns:a="http://schemas.openxmlformats.org/drawingml/2006/main"/>
        </p:blipFill>
        <p:spPr>
          <a:xfrm xmlns:a="http://schemas.openxmlformats.org/drawingml/2006/main">
            <a:off x="6096000" y="2945662"/>
            <a:ext cx="5467350" cy="1271477"/>
          </a:xfrm>
          <a:prstGeom xmlns:a="http://schemas.openxmlformats.org/drawingml/2006/main" prst="rect">
            <a:avLst/>
          </a:prstGeom>
        </p:spPr>
      </p:pic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7D1D8CD9-7FD8-419B-816A-A42C31FC8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238750"/>
            <a:ext cx="54673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7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725" b="0">
                <a:solidFill>
                  <a:srgbClr val="536974"/>
                </a:solidFill>
                <a:latin typeface="Meiryo"/>
                <a:ea typeface="Meiryo"/>
                <a:cs typeface="Meiryo"/>
              </a:rPr>
              <a:t>GitHub公式文書の画面例。値は例です。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6D0F5E07-BBF8-435A-963C-DBCB11651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85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425" b="0">
                <a:solidFill>
                  <a:srgbClr val="536974"/>
                </a:solidFill>
                <a:latin typeface="Meiryo"/>
                <a:ea typeface="Meiryo"/>
                <a:cs typeface="Meiryo"/>
              </a:rPr>
              <a:t>GitHub操作補習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6695D27E-D5A3-4572-81FF-089B934A6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65341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>
                <a:hlinkClick xmlns:r="http://schemas.openxmlformats.org/officeDocument/2006/relationships" r:id="R0cee4c46ffb24765"/>
              </a:rPr>
              <a:t>tsuchiyatakahiro.com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4D31B8CF-9579-4444-ACFD-6A6E2391F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3415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425" b="0">
                <a:solidFill>
                  <a:srgbClr val="536974"/>
                </a:solidFill>
                <a:latin typeface="Meiryo"/>
                <a:ea typeface="Meiryo"/>
                <a:cs typeface="Meiryo"/>
              </a:rPr>
              <a:t>06 / 15</a:t>
            </a:r>
          </a:p>
        </p:txBody>
      </p:sp>
    </p:spTree>
    <p:extLst>
      <p:ext uri="{BB962C8B-B14F-4D97-AF65-F5344CB8AC3E}">
        <p14:creationId xmlns:p14="http://schemas.microsoft.com/office/powerpoint/2010/main" val="47779201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57E4D2-FDFD-4015-8666-B4C46663B8D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1bb64e70b54649"/>
          <a:stretch xmlns:a="http://schemas.openxmlformats.org/drawingml/2006/main"/>
        </p:blipFill>
        <p:spPr>
          <a:xfrm xmlns:a="http://schemas.openxmlformats.org/drawingml/2006/main">
            <a:off x="685800" y="147270"/>
            <a:ext cx="1790700" cy="219811"/>
          </a:xfrm>
          <a:prstGeom xmlns:a="http://schemas.openxmlformats.org/drawingml/2006/main" prst="rect">
            <a:avLst/>
          </a:prstGeom>
        </p:spPr>
      </p:pic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87A2C7C-76BF-4670-8361-E09A538EF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1025"/>
            <a:ext cx="1095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45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345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3450" b="1">
                <a:solidFill>
                  <a:srgbClr val="17303E"/>
                </a:solidFill>
                <a:latin typeface="Meiryo"/>
                <a:ea typeface="Meiryo"/>
                <a:cs typeface="Meiryo"/>
              </a:rPr>
              <a:t>短い記録の追記</a:t>
            </a:r>
          </a:p>
        </p:txBody>
      </p:sp>
      <p:sp>
        <p:nvSpPr>
          <p:cNvPr id="3" name="open-label">
            <a:extLst xmlns:a="http://schemas.openxmlformats.org/drawingml/2006/main">
              <a:ext uri="{FF2B5EF4-FFF2-40B4-BE49-F238E27FC236}">
                <a16:creationId xmlns:a16="http://schemas.microsoft.com/office/drawing/2014/main" id="{07E6E395-B729-4BC7-A39D-C5E1AFFFD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5425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800" b="1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800" b="1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800" b="1">
                <a:solidFill>
                  <a:srgbClr val="536974"/>
                </a:solidFill>
                <a:latin typeface="Meiryo"/>
                <a:ea typeface="Meiryo"/>
                <a:cs typeface="Meiryo"/>
              </a:rPr>
              <a:t>開く場所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18CF4AD2-8AE6-42F9-8990-6C595E043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85950"/>
            <a:ext cx="4953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40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240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400" b="0">
                <a:solidFill>
                  <a:srgbClr val="17303E"/>
                </a:solidFill>
                <a:latin typeface="Meiryo"/>
                <a:ea typeface="Meiryo"/>
                <a:cs typeface="Meiryo"/>
              </a:rPr>
              <a:t>READMEの編集欄</a:t>
            </a:r>
          </a:p>
        </p:txBody>
      </p:sp>
      <p:sp>
        <p:nvSpPr>
          <p:cNvPr id="5" name="action-label">
            <a:extLst xmlns:a="http://schemas.openxmlformats.org/drawingml/2006/main">
              <a:ext uri="{FF2B5EF4-FFF2-40B4-BE49-F238E27FC236}">
                <a16:creationId xmlns:a16="http://schemas.microsoft.com/office/drawing/2014/main" id="{7C3CBB4E-2ECA-4EE3-B9A2-33340D533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57525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800" b="1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800" b="1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800" b="1">
                <a:solidFill>
                  <a:srgbClr val="536974"/>
                </a:solidFill>
                <a:latin typeface="Meiryo"/>
                <a:ea typeface="Meiryo"/>
                <a:cs typeface="Meiryo"/>
              </a:rPr>
              <a:t>いま行う操作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6AB8F422-F2BF-4E56-88FB-313082BEE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67100"/>
            <a:ext cx="4953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40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240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400" b="0">
                <a:solidFill>
                  <a:srgbClr val="17303E"/>
                </a:solidFill>
                <a:latin typeface="Meiryo"/>
                <a:ea typeface="Meiryo"/>
                <a:cs typeface="Meiryo"/>
              </a:rPr>
              <a:t>既存の見出しと課題を残す。</a:t>
            </a:r>
          </a:p>
          <a:p xmlns:a="http://schemas.openxmlformats.org/drawingml/2006/main">
            <a:pPr>
              <a:buNone/>
              <a:defRPr sz="240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400" b="0">
                <a:solidFill>
                  <a:srgbClr val="17303E"/>
                </a:solidFill>
                <a:latin typeface="Meiryo"/>
                <a:ea typeface="Meiryo"/>
                <a:cs typeface="Meiryo"/>
              </a:rPr>
              <a:t>実際に確認したことを1行追記。</a:t>
            </a:r>
          </a:p>
        </p:txBody>
      </p:sp>
      <p:sp>
        <p:nvSpPr>
          <p:cNvPr id="7" name="check-label">
            <a:extLst xmlns:a="http://schemas.openxmlformats.org/drawingml/2006/main">
              <a:ext uri="{FF2B5EF4-FFF2-40B4-BE49-F238E27FC236}">
                <a16:creationId xmlns:a16="http://schemas.microsoft.com/office/drawing/2014/main" id="{F51EE1D9-51EC-426D-A470-55AAB7591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0100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800" b="1">
                <a:solidFill>
                  <a:srgbClr val="00858A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800" b="1">
                <a:solidFill>
                  <a:srgbClr val="00858A"/>
                </a:solidFill>
                <a:latin typeface="Meiryo"/>
                <a:ea typeface="Meiryo"/>
                <a:cs typeface="Meiryo"/>
              </a:defRPr>
            </a:pPr>
            <a:r>
              <a:rPr sz="1800" b="1">
                <a:solidFill>
                  <a:srgbClr val="00858A"/>
                </a:solidFill>
                <a:latin typeface="Meiryo"/>
                <a:ea typeface="Meiryo"/>
                <a:cs typeface="Meiryo"/>
              </a:rPr>
              <a:t>できた目印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61FEE50A-C979-4C96-AD90-0A0170042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10150"/>
            <a:ext cx="4953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250" b="1">
                <a:solidFill>
                  <a:srgbClr val="17303E"/>
                </a:solidFill>
                <a:latin typeface="Meiryo"/>
                <a:ea typeface="Meiryo"/>
                <a:cs typeface="Meiryo"/>
              </a:rPr>
              <a:t>自分の文章が入力欄にある。</a:t>
            </a:r>
          </a:p>
          <a:p xmlns:a="http://schemas.openxmlformats.org/drawingml/2006/main">
            <a:pPr>
              <a:buNone/>
              <a:defRPr sz="225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250" b="1">
                <a:solidFill>
                  <a:srgbClr val="17303E"/>
                </a:solidFill>
                <a:latin typeface="Meiryo"/>
                <a:ea typeface="Meiryo"/>
                <a:cs typeface="Meiryo"/>
              </a:rPr>
              <a:t>まだ保存は終わっていない。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7D3718A4-6E43-4FC4-AB7C-39DF1DE3F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81150"/>
            <a:ext cx="5467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950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950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536974"/>
                </a:solidFill>
                <a:latin typeface="Meiryo"/>
                <a:ea typeface="Meiryo"/>
                <a:cs typeface="Meiryo"/>
              </a:rPr>
              <a:t>操作・表示の確認例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D591722D-2152-47A6-B797-9C6775FCF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90750"/>
            <a:ext cx="54673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55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255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550" b="0">
                <a:solidFill>
                  <a:srgbClr val="17303E"/>
                </a:solidFill>
                <a:latin typeface="Meiryo"/>
                <a:ea typeface="Meiryo"/>
                <a:cs typeface="Meiryo"/>
              </a:rPr>
              <a:t>追記する文章の例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55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550" b="0">
                <a:solidFill>
                  <a:srgbClr val="17303E"/>
                </a:solidFill>
                <a:latin typeface="Meiryo"/>
                <a:ea typeface="Meiryo"/>
                <a:cs typeface="Meiryo"/>
              </a:rPr>
              <a:t>ファイルを開き直して、</a:t>
            </a:r>
          </a:p>
          <a:p xmlns:a="http://schemas.openxmlformats.org/drawingml/2006/main">
            <a:pPr>
              <a:buNone/>
              <a:defRPr sz="255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550" b="0">
                <a:solidFill>
                  <a:srgbClr val="17303E"/>
                </a:solidFill>
                <a:latin typeface="Meiryo"/>
                <a:ea typeface="Meiryo"/>
                <a:cs typeface="Meiryo"/>
              </a:rPr>
              <a:t>自分の追記を確認しました。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032589B7-EA83-4D7A-95E5-FC7D8DB06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238750"/>
            <a:ext cx="5467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800" b="0">
                <a:solidFill>
                  <a:srgbClr val="536974"/>
                </a:solidFill>
                <a:latin typeface="Meiryo"/>
                <a:ea typeface="Meiryo"/>
                <a:cs typeface="Meiryo"/>
              </a:rPr>
              <a:t>自分の画面で確認してから次へ進みます。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80CCDF67-D42E-42B0-A391-CC42C1A2F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85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425" b="0">
                <a:solidFill>
                  <a:srgbClr val="536974"/>
                </a:solidFill>
                <a:latin typeface="Meiryo"/>
                <a:ea typeface="Meiryo"/>
                <a:cs typeface="Meiryo"/>
              </a:rPr>
              <a:t>GitHub操作補習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3ECFFB58-987E-4C49-A9D2-630051D3D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65341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>
                <a:hlinkClick xmlns:r="http://schemas.openxmlformats.org/officeDocument/2006/relationships" r:id="R30bae509acae414c"/>
              </a:rPr>
              <a:t>tsuchiyatakahiro.com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19F15B8B-10AA-42BF-B4AF-585826414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3415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425" b="0">
                <a:solidFill>
                  <a:srgbClr val="536974"/>
                </a:solidFill>
                <a:latin typeface="Meiryo"/>
                <a:ea typeface="Meiryo"/>
                <a:cs typeface="Meiryo"/>
              </a:rPr>
              <a:t>07 / 15</a:t>
            </a:r>
          </a:p>
        </p:txBody>
      </p:sp>
    </p:spTree>
    <p:extLst>
      <p:ext uri="{BB962C8B-B14F-4D97-AF65-F5344CB8AC3E}">
        <p14:creationId xmlns:p14="http://schemas.microsoft.com/office/powerpoint/2010/main" val="212558686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572420-8F16-4002-9A93-DC05E0B95B8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719c5544cc4172"/>
          <a:stretch xmlns:a="http://schemas.openxmlformats.org/drawingml/2006/main"/>
        </p:blipFill>
        <p:spPr>
          <a:xfrm xmlns:a="http://schemas.openxmlformats.org/drawingml/2006/main">
            <a:off x="685800" y="147270"/>
            <a:ext cx="1790700" cy="219811"/>
          </a:xfrm>
          <a:prstGeom xmlns:a="http://schemas.openxmlformats.org/drawingml/2006/main" prst="rect">
            <a:avLst/>
          </a:prstGeom>
        </p:spPr>
      </p:pic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FAA8BB6C-8760-4ED5-BB58-B0CA413A1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1025"/>
            <a:ext cx="1095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45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345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3450" b="1">
                <a:solidFill>
                  <a:srgbClr val="17303E"/>
                </a:solidFill>
                <a:latin typeface="Meiryo"/>
                <a:ea typeface="Meiryo"/>
                <a:cs typeface="Meiryo"/>
              </a:rPr>
              <a:t>Previewで見え方を確認</a:t>
            </a:r>
          </a:p>
        </p:txBody>
      </p:sp>
      <p:sp>
        <p:nvSpPr>
          <p:cNvPr id="3" name="open-label">
            <a:extLst xmlns:a="http://schemas.openxmlformats.org/drawingml/2006/main">
              <a:ext uri="{FF2B5EF4-FFF2-40B4-BE49-F238E27FC236}">
                <a16:creationId xmlns:a16="http://schemas.microsoft.com/office/drawing/2014/main" id="{D863E51E-E5A6-44F6-8318-68563745B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5425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800" b="1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800" b="1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800" b="1">
                <a:solidFill>
                  <a:srgbClr val="536974"/>
                </a:solidFill>
                <a:latin typeface="Meiryo"/>
                <a:ea typeface="Meiryo"/>
                <a:cs typeface="Meiryo"/>
              </a:rPr>
              <a:t>開く場所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FDEA8757-962A-4078-9160-1C9E5574C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85950"/>
            <a:ext cx="4953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40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240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400" b="0">
                <a:solidFill>
                  <a:srgbClr val="17303E"/>
                </a:solidFill>
                <a:latin typeface="Meiryo"/>
                <a:ea typeface="Meiryo"/>
                <a:cs typeface="Meiryo"/>
              </a:rPr>
              <a:t>編集画面のPreview</a:t>
            </a:r>
          </a:p>
        </p:txBody>
      </p:sp>
      <p:sp>
        <p:nvSpPr>
          <p:cNvPr id="5" name="action-label">
            <a:extLst xmlns:a="http://schemas.openxmlformats.org/drawingml/2006/main">
              <a:ext uri="{FF2B5EF4-FFF2-40B4-BE49-F238E27FC236}">
                <a16:creationId xmlns:a16="http://schemas.microsoft.com/office/drawing/2014/main" id="{737430A5-C93A-47EA-920F-7FCD6E010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57525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800" b="1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800" b="1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800" b="1">
                <a:solidFill>
                  <a:srgbClr val="536974"/>
                </a:solidFill>
                <a:latin typeface="Meiryo"/>
                <a:ea typeface="Meiryo"/>
                <a:cs typeface="Meiryo"/>
              </a:rPr>
              <a:t>いま行う操作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3DCE44D7-3E74-4CAE-BDC1-8B6374328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67100"/>
            <a:ext cx="4953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40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240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400" b="0">
                <a:solidFill>
                  <a:srgbClr val="17303E"/>
                </a:solidFill>
                <a:latin typeface="Meiryo"/>
                <a:ea typeface="Meiryo"/>
                <a:cs typeface="Meiryo"/>
              </a:rPr>
              <a:t>表示を確認する。</a:t>
            </a:r>
          </a:p>
          <a:p xmlns:a="http://schemas.openxmlformats.org/drawingml/2006/main">
            <a:pPr>
              <a:buNone/>
              <a:defRPr sz="240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400" b="0">
                <a:solidFill>
                  <a:srgbClr val="17303E"/>
                </a:solidFill>
                <a:latin typeface="Meiryo"/>
                <a:ea typeface="Meiryo"/>
                <a:cs typeface="Meiryo"/>
              </a:rPr>
              <a:t>必要ならEditに戻って直す。</a:t>
            </a:r>
          </a:p>
        </p:txBody>
      </p:sp>
      <p:sp>
        <p:nvSpPr>
          <p:cNvPr id="7" name="check-label">
            <a:extLst xmlns:a="http://schemas.openxmlformats.org/drawingml/2006/main">
              <a:ext uri="{FF2B5EF4-FFF2-40B4-BE49-F238E27FC236}">
                <a16:creationId xmlns:a16="http://schemas.microsoft.com/office/drawing/2014/main" id="{278E5424-677D-4B2C-BBDE-8B3750E73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0100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800" b="1">
                <a:solidFill>
                  <a:srgbClr val="00858A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800" b="1">
                <a:solidFill>
                  <a:srgbClr val="00858A"/>
                </a:solidFill>
                <a:latin typeface="Meiryo"/>
                <a:ea typeface="Meiryo"/>
                <a:cs typeface="Meiryo"/>
              </a:defRPr>
            </a:pPr>
            <a:r>
              <a:rPr sz="1800" b="1">
                <a:solidFill>
                  <a:srgbClr val="00858A"/>
                </a:solidFill>
                <a:latin typeface="Meiryo"/>
                <a:ea typeface="Meiryo"/>
                <a:cs typeface="Meiryo"/>
              </a:rPr>
              <a:t>できた目印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85BF1987-597C-4A10-8C25-B2132D674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10150"/>
            <a:ext cx="4953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250" b="1">
                <a:solidFill>
                  <a:srgbClr val="17303E"/>
                </a:solidFill>
                <a:latin typeface="Meiryo"/>
                <a:ea typeface="Meiryo"/>
                <a:cs typeface="Meiryo"/>
              </a:rPr>
              <a:t>自分の追記が読める。</a:t>
            </a:r>
          </a:p>
          <a:p xmlns:a="http://schemas.openxmlformats.org/drawingml/2006/main">
            <a:pPr>
              <a:buNone/>
              <a:defRPr sz="225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250" b="1">
                <a:solidFill>
                  <a:srgbClr val="17303E"/>
                </a:solidFill>
                <a:latin typeface="Meiryo"/>
                <a:ea typeface="Meiryo"/>
                <a:cs typeface="Meiryo"/>
              </a:rPr>
              <a:t>Previewだけでは未保存。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1D7A22-7500-4FDA-884F-60B4EE4D024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d5195684e4414f"/>
          <a:stretch xmlns:a="http://schemas.openxmlformats.org/drawingml/2006/main"/>
        </p:blipFill>
        <p:spPr>
          <a:xfrm xmlns:a="http://schemas.openxmlformats.org/drawingml/2006/main">
            <a:off x="6096000" y="3030868"/>
            <a:ext cx="5467350" cy="1101064"/>
          </a:xfrm>
          <a:prstGeom xmlns:a="http://schemas.openxmlformats.org/drawingml/2006/main" prst="rect">
            <a:avLst/>
          </a:prstGeom>
        </p:spPr>
      </p:pic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07302546-88D8-4A23-87AC-86D569907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238750"/>
            <a:ext cx="54673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7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725" b="0">
                <a:solidFill>
                  <a:srgbClr val="536974"/>
                </a:solidFill>
                <a:latin typeface="Meiryo"/>
                <a:ea typeface="Meiryo"/>
                <a:cs typeface="Meiryo"/>
              </a:rPr>
              <a:t>GitHub公式文書の画面例。値は例です。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F0DCACA4-4C0C-4C6D-B51B-6A2605525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85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425" b="0">
                <a:solidFill>
                  <a:srgbClr val="536974"/>
                </a:solidFill>
                <a:latin typeface="Meiryo"/>
                <a:ea typeface="Meiryo"/>
                <a:cs typeface="Meiryo"/>
              </a:rPr>
              <a:t>GitHub操作補習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B87D4C15-9136-488B-82AC-72C9C6AD1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65341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>
                <a:hlinkClick xmlns:r="http://schemas.openxmlformats.org/officeDocument/2006/relationships" r:id="Rd4b94536ca4a4d1f"/>
              </a:rPr>
              <a:t>tsuchiyatakahiro.com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58EF84B2-C430-4148-90BF-56220F2FA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3415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425" b="0">
                <a:solidFill>
                  <a:srgbClr val="536974"/>
                </a:solidFill>
                <a:latin typeface="Meiryo"/>
                <a:ea typeface="Meiryo"/>
                <a:cs typeface="Meiryo"/>
              </a:rPr>
              <a:t>08 / 15</a:t>
            </a:r>
          </a:p>
        </p:txBody>
      </p:sp>
    </p:spTree>
    <p:extLst>
      <p:ext uri="{BB962C8B-B14F-4D97-AF65-F5344CB8AC3E}">
        <p14:creationId xmlns:p14="http://schemas.microsoft.com/office/powerpoint/2010/main" val="42236978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A93772-56A1-4202-B70C-11B0871B5F3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aa4467fc2e4fa9"/>
          <a:stretch xmlns:a="http://schemas.openxmlformats.org/drawingml/2006/main"/>
        </p:blipFill>
        <p:spPr>
          <a:xfrm xmlns:a="http://schemas.openxmlformats.org/drawingml/2006/main">
            <a:off x="685800" y="147270"/>
            <a:ext cx="1790700" cy="219811"/>
          </a:xfrm>
          <a:prstGeom xmlns:a="http://schemas.openxmlformats.org/drawingml/2006/main" prst="rect">
            <a:avLst/>
          </a:prstGeom>
        </p:spPr>
      </p:pic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FA1926C2-4CED-4202-BBE9-3031D5A6F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1025"/>
            <a:ext cx="1095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45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345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3450" b="1">
                <a:solidFill>
                  <a:srgbClr val="17303E"/>
                </a:solidFill>
                <a:latin typeface="Meiryo"/>
                <a:ea typeface="Meiryo"/>
                <a:cs typeface="Meiryo"/>
              </a:rPr>
              <a:t>Commit changesで保存</a:t>
            </a:r>
          </a:p>
        </p:txBody>
      </p:sp>
      <p:sp>
        <p:nvSpPr>
          <p:cNvPr id="3" name="open-label">
            <a:extLst xmlns:a="http://schemas.openxmlformats.org/drawingml/2006/main">
              <a:ext uri="{FF2B5EF4-FFF2-40B4-BE49-F238E27FC236}">
                <a16:creationId xmlns:a16="http://schemas.microsoft.com/office/drawing/2014/main" id="{08B84C9E-986F-44A9-A40E-359D1E7C8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5425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800" b="1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800" b="1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800" b="1">
                <a:solidFill>
                  <a:srgbClr val="536974"/>
                </a:solidFill>
                <a:latin typeface="Meiryo"/>
                <a:ea typeface="Meiryo"/>
                <a:cs typeface="Meiryo"/>
              </a:rPr>
              <a:t>開く場所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3BDE614B-76C8-40E2-9E0C-B75ADB403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85950"/>
            <a:ext cx="4953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40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240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400" b="0">
                <a:solidFill>
                  <a:srgbClr val="17303E"/>
                </a:solidFill>
                <a:latin typeface="Meiryo"/>
                <a:ea typeface="Meiryo"/>
                <a:cs typeface="Meiryo"/>
              </a:rPr>
              <a:t>編集画面のCommit changes…</a:t>
            </a:r>
          </a:p>
        </p:txBody>
      </p:sp>
      <p:sp>
        <p:nvSpPr>
          <p:cNvPr id="5" name="action-label">
            <a:extLst xmlns:a="http://schemas.openxmlformats.org/drawingml/2006/main">
              <a:ext uri="{FF2B5EF4-FFF2-40B4-BE49-F238E27FC236}">
                <a16:creationId xmlns:a16="http://schemas.microsoft.com/office/drawing/2014/main" id="{B96666D6-5B8D-4AB8-B86B-5334C5116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57525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800" b="1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800" b="1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800" b="1">
                <a:solidFill>
                  <a:srgbClr val="536974"/>
                </a:solidFill>
                <a:latin typeface="Meiryo"/>
                <a:ea typeface="Meiryo"/>
                <a:cs typeface="Meiryo"/>
              </a:rPr>
              <a:t>いま行う操作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E45AC934-6160-4023-AC53-78AE64A64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67100"/>
            <a:ext cx="4953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40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240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400" b="0">
                <a:solidFill>
                  <a:srgbClr val="17303E"/>
                </a:solidFill>
                <a:latin typeface="Meiryo"/>
                <a:ea typeface="Meiryo"/>
                <a:cs typeface="Meiryo"/>
              </a:rPr>
              <a:t>保存画面で説明を入力。</a:t>
            </a:r>
          </a:p>
          <a:p xmlns:a="http://schemas.openxmlformats.org/drawingml/2006/main">
            <a:pPr>
              <a:buNone/>
              <a:defRPr sz="240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400" b="0">
                <a:solidFill>
                  <a:srgbClr val="17303E"/>
                </a:solidFill>
                <a:latin typeface="Meiryo"/>
                <a:ea typeface="Meiryo"/>
                <a:cs typeface="Meiryo"/>
              </a:rPr>
              <a:t>mainへ保存し、再度確定。</a:t>
            </a:r>
          </a:p>
        </p:txBody>
      </p:sp>
      <p:sp>
        <p:nvSpPr>
          <p:cNvPr id="7" name="check-label">
            <a:extLst xmlns:a="http://schemas.openxmlformats.org/drawingml/2006/main">
              <a:ext uri="{FF2B5EF4-FFF2-40B4-BE49-F238E27FC236}">
                <a16:creationId xmlns:a16="http://schemas.microsoft.com/office/drawing/2014/main" id="{10940117-18B5-4AAC-8A9D-C5EFFC2C3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0100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800" b="1">
                <a:solidFill>
                  <a:srgbClr val="00858A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800" b="1">
                <a:solidFill>
                  <a:srgbClr val="00858A"/>
                </a:solidFill>
                <a:latin typeface="Meiryo"/>
                <a:ea typeface="Meiryo"/>
                <a:cs typeface="Meiryo"/>
              </a:defRPr>
            </a:pPr>
            <a:r>
              <a:rPr sz="1800" b="1">
                <a:solidFill>
                  <a:srgbClr val="00858A"/>
                </a:solidFill>
                <a:latin typeface="Meiryo"/>
                <a:ea typeface="Meiryo"/>
                <a:cs typeface="Meiryo"/>
              </a:rPr>
              <a:t>できた目印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9EBA0285-D6DF-4C7A-92EC-2288A8FD4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10150"/>
            <a:ext cx="4953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250" b="1">
                <a:solidFill>
                  <a:srgbClr val="17303E"/>
                </a:solidFill>
                <a:latin typeface="Meiryo"/>
                <a:ea typeface="Meiryo"/>
                <a:cs typeface="Meiryo"/>
              </a:rPr>
              <a:t>READMEを開き直すと</a:t>
            </a:r>
          </a:p>
          <a:p xmlns:a="http://schemas.openxmlformats.org/drawingml/2006/main">
            <a:pPr>
              <a:buNone/>
              <a:defRPr sz="225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250" b="1">
                <a:solidFill>
                  <a:srgbClr val="17303E"/>
                </a:solidFill>
                <a:latin typeface="Meiryo"/>
                <a:ea typeface="Meiryo"/>
                <a:cs typeface="Meiryo"/>
              </a:rPr>
              <a:t>追記した文章が残っている。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5B897805-2537-4F3F-AC91-4D9E1E835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81150"/>
            <a:ext cx="5467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950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950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536974"/>
                </a:solidFill>
                <a:latin typeface="Meiryo"/>
                <a:ea typeface="Meiryo"/>
                <a:cs typeface="Meiryo"/>
              </a:rPr>
              <a:t>操作・表示の確認例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42E4ED1E-4D1F-4FF7-8469-D1E1870DF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90750"/>
            <a:ext cx="54673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55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255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550" b="0">
                <a:solidFill>
                  <a:srgbClr val="17303E"/>
                </a:solidFill>
                <a:latin typeface="Meiryo"/>
                <a:ea typeface="Meiryo"/>
                <a:cs typeface="Meiryo"/>
              </a:rPr>
              <a:t>1　Commit changes…</a:t>
            </a:r>
          </a:p>
          <a:p xmlns:a="http://schemas.openxmlformats.org/drawingml/2006/main">
            <a:pPr>
              <a:buNone/>
              <a:defRPr sz="255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550" b="0">
                <a:solidFill>
                  <a:srgbClr val="17303E"/>
                </a:solidFill>
                <a:latin typeface="Meiryo"/>
                <a:ea typeface="Meiryo"/>
                <a:cs typeface="Meiryo"/>
              </a:rPr>
              <a:t>2　保存の説明とmainを確認</a:t>
            </a:r>
          </a:p>
          <a:p xmlns:a="http://schemas.openxmlformats.org/drawingml/2006/main">
            <a:pPr>
              <a:buNone/>
              <a:defRPr sz="255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550" b="0">
                <a:solidFill>
                  <a:srgbClr val="17303E"/>
                </a:solidFill>
                <a:latin typeface="Meiryo"/>
                <a:ea typeface="Meiryo"/>
                <a:cs typeface="Meiryo"/>
              </a:rPr>
              <a:t>3　Commit changesで確定</a:t>
            </a:r>
          </a:p>
          <a:p xmlns:a="http://schemas.openxmlformats.org/drawingml/2006/main">
            <a:pPr>
              <a:buNone/>
              <a:defRPr sz="255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550" b="0">
                <a:solidFill>
                  <a:srgbClr val="17303E"/>
                </a:solidFill>
                <a:latin typeface="Meiryo"/>
                <a:ea typeface="Meiryo"/>
                <a:cs typeface="Meiryo"/>
              </a:rPr>
              <a:t>4　READMEを開き直す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530C5C50-2982-4DFA-BE50-84333F24A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238750"/>
            <a:ext cx="5467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800" b="0">
                <a:solidFill>
                  <a:srgbClr val="536974"/>
                </a:solidFill>
                <a:latin typeface="Meiryo"/>
                <a:ea typeface="Meiryo"/>
                <a:cs typeface="Meiryo"/>
              </a:rPr>
              <a:t>自分の画面で確認してから次へ進みます。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4EF4E766-ECD5-4B13-B2BA-A42959462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85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425" b="0">
                <a:solidFill>
                  <a:srgbClr val="536974"/>
                </a:solidFill>
                <a:latin typeface="Meiryo"/>
                <a:ea typeface="Meiryo"/>
                <a:cs typeface="Meiryo"/>
              </a:rPr>
              <a:t>GitHub操作補習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CD047536-C868-4022-916C-E9E9C1E8D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65341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>
                <a:hlinkClick xmlns:r="http://schemas.openxmlformats.org/officeDocument/2006/relationships" r:id="R558dd8a433764fdf"/>
              </a:rPr>
              <a:t>tsuchiyatakahiro.com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928A50C2-55F8-4E44-BC8F-DEDAD9677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3415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425" b="0">
                <a:solidFill>
                  <a:srgbClr val="536974"/>
                </a:solidFill>
                <a:latin typeface="Meiryo"/>
                <a:ea typeface="Meiryo"/>
                <a:cs typeface="Meiryo"/>
              </a:rPr>
              <a:t>09 / 15</a:t>
            </a:r>
          </a:p>
        </p:txBody>
      </p:sp>
    </p:spTree>
    <p:extLst>
      <p:ext uri="{BB962C8B-B14F-4D97-AF65-F5344CB8AC3E}">
        <p14:creationId xmlns:p14="http://schemas.microsoft.com/office/powerpoint/2010/main" val="72171637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99CB1F-5715-44AF-A1C6-AF573A658A8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8079c4f54e41d4"/>
          <a:stretch xmlns:a="http://schemas.openxmlformats.org/drawingml/2006/main"/>
        </p:blipFill>
        <p:spPr>
          <a:xfrm xmlns:a="http://schemas.openxmlformats.org/drawingml/2006/main">
            <a:off x="685800" y="147270"/>
            <a:ext cx="1790700" cy="219811"/>
          </a:xfrm>
          <a:prstGeom xmlns:a="http://schemas.openxmlformats.org/drawingml/2006/main" prst="rect">
            <a:avLst/>
          </a:prstGeom>
        </p:spPr>
      </p:pic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BAB2867D-D5F2-4C33-8CBD-70854D447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1025"/>
            <a:ext cx="1095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45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345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3450" b="1">
                <a:solidFill>
                  <a:srgbClr val="17303E"/>
                </a:solidFill>
                <a:latin typeface="Meiryo"/>
                <a:ea typeface="Meiryo"/>
                <a:cs typeface="Meiryo"/>
              </a:rPr>
              <a:t>教員への招待</a:t>
            </a:r>
          </a:p>
        </p:txBody>
      </p:sp>
      <p:sp>
        <p:nvSpPr>
          <p:cNvPr id="3" name="open-label">
            <a:extLst xmlns:a="http://schemas.openxmlformats.org/drawingml/2006/main">
              <a:ext uri="{FF2B5EF4-FFF2-40B4-BE49-F238E27FC236}">
                <a16:creationId xmlns:a16="http://schemas.microsoft.com/office/drawing/2014/main" id="{0E5CFE84-CAF2-495E-B56D-A3091E8AE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5425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800" b="1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800" b="1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800" b="1">
                <a:solidFill>
                  <a:srgbClr val="536974"/>
                </a:solidFill>
                <a:latin typeface="Meiryo"/>
                <a:ea typeface="Meiryo"/>
                <a:cs typeface="Meiryo"/>
              </a:rPr>
              <a:t>開く場所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9B6FF566-63A3-4B33-84BD-66DB02163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85950"/>
            <a:ext cx="4953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40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240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400" b="0">
                <a:solidFill>
                  <a:srgbClr val="17303E"/>
                </a:solidFill>
                <a:latin typeface="Meiryo"/>
                <a:ea typeface="Meiryo"/>
                <a:cs typeface="Meiryo"/>
              </a:rPr>
              <a:t>自分のai-learningのSettings</a:t>
            </a:r>
          </a:p>
        </p:txBody>
      </p:sp>
      <p:sp>
        <p:nvSpPr>
          <p:cNvPr id="5" name="action-label">
            <a:extLst xmlns:a="http://schemas.openxmlformats.org/drawingml/2006/main">
              <a:ext uri="{FF2B5EF4-FFF2-40B4-BE49-F238E27FC236}">
                <a16:creationId xmlns:a16="http://schemas.microsoft.com/office/drawing/2014/main" id="{D59DB108-C7C8-43AE-8715-0FDFE1F6E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57525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800" b="1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800" b="1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800" b="1">
                <a:solidFill>
                  <a:srgbClr val="536974"/>
                </a:solidFill>
                <a:latin typeface="Meiryo"/>
                <a:ea typeface="Meiryo"/>
                <a:cs typeface="Meiryo"/>
              </a:rPr>
              <a:t>いま行う操作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6F16B492-F039-4F0E-AC9C-48CBA4A6E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67100"/>
            <a:ext cx="4953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40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240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400" b="0">
                <a:solidFill>
                  <a:srgbClr val="17303E"/>
                </a:solidFill>
                <a:latin typeface="Meiryo"/>
                <a:ea typeface="Meiryo"/>
                <a:cs typeface="Meiryo"/>
              </a:rPr>
              <a:t>Collaborators、Add people。</a:t>
            </a:r>
          </a:p>
          <a:p xmlns:a="http://schemas.openxmlformats.org/drawingml/2006/main">
            <a:pPr>
              <a:buNone/>
              <a:defRPr sz="240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400" b="0">
                <a:solidFill>
                  <a:srgbClr val="17303E"/>
                </a:solidFill>
                <a:latin typeface="Meiryo"/>
                <a:ea typeface="Meiryo"/>
                <a:cs typeface="Meiryo"/>
              </a:rPr>
              <a:t>担当教員のusernameを招待。</a:t>
            </a:r>
          </a:p>
        </p:txBody>
      </p:sp>
      <p:sp>
        <p:nvSpPr>
          <p:cNvPr id="7" name="check-label">
            <a:extLst xmlns:a="http://schemas.openxmlformats.org/drawingml/2006/main">
              <a:ext uri="{FF2B5EF4-FFF2-40B4-BE49-F238E27FC236}">
                <a16:creationId xmlns:a16="http://schemas.microsoft.com/office/drawing/2014/main" id="{05BC39A8-73CB-4417-938B-96917302A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0100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800" b="1">
                <a:solidFill>
                  <a:srgbClr val="00858A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800" b="1">
                <a:solidFill>
                  <a:srgbClr val="00858A"/>
                </a:solidFill>
                <a:latin typeface="Meiryo"/>
                <a:ea typeface="Meiryo"/>
                <a:cs typeface="Meiryo"/>
              </a:defRPr>
            </a:pPr>
            <a:r>
              <a:rPr sz="1800" b="1">
                <a:solidFill>
                  <a:srgbClr val="00858A"/>
                </a:solidFill>
                <a:latin typeface="Meiryo"/>
                <a:ea typeface="Meiryo"/>
                <a:cs typeface="Meiryo"/>
              </a:rPr>
              <a:t>できた目印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EC8E0D7C-8061-4C60-B4E9-B1E25342D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10150"/>
            <a:ext cx="4953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250" b="1">
                <a:solidFill>
                  <a:srgbClr val="17303E"/>
                </a:solidFill>
                <a:latin typeface="Meiryo"/>
                <a:ea typeface="Meiryo"/>
                <a:cs typeface="Meiryo"/>
              </a:rPr>
              <a:t>教員がPending invite</a:t>
            </a:r>
          </a:p>
          <a:p xmlns:a="http://schemas.openxmlformats.org/drawingml/2006/main">
            <a:pPr>
              <a:buNone/>
              <a:defRPr sz="225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250" b="1">
                <a:solidFill>
                  <a:srgbClr val="17303E"/>
                </a:solidFill>
                <a:latin typeface="Meiryo"/>
                <a:ea typeface="Meiryo"/>
                <a:cs typeface="Meiryo"/>
              </a:rPr>
              <a:t>または受理済みで一覧にいる。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44CF6F-0E96-4478-9ED4-4651B99F685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94197e16754212"/>
          <a:srcRect xmlns:a="http://schemas.openxmlformats.org/drawingml/2006/main" l="72917" t="8451" r="694" b="3521"/>
          <a:stretch xmlns:a="http://schemas.openxmlformats.org/drawingml/2006/main"/>
        </p:blipFill>
        <p:spPr>
          <a:xfrm xmlns:a="http://schemas.openxmlformats.org/drawingml/2006/main">
            <a:off x="6096000" y="2682165"/>
            <a:ext cx="5467350" cy="1798470"/>
          </a:xfrm>
          <a:prstGeom xmlns:a="http://schemas.openxmlformats.org/drawingml/2006/main" prst="rect">
            <a:avLst/>
          </a:prstGeom>
        </p:spPr>
      </p:pic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D419FD3C-27FA-47B7-98D6-C689F4E30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238750"/>
            <a:ext cx="54673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7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725" b="0">
                <a:solidFill>
                  <a:srgbClr val="536974"/>
                </a:solidFill>
                <a:latin typeface="Meiryo"/>
                <a:ea typeface="Meiryo"/>
                <a:cs typeface="Meiryo"/>
              </a:rPr>
              <a:t>GitHub公式文書の画面例。値は例です。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89C1D653-768D-42FC-B3B3-0E23AE43C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85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425" b="0">
                <a:solidFill>
                  <a:srgbClr val="536974"/>
                </a:solidFill>
                <a:latin typeface="Meiryo"/>
                <a:ea typeface="Meiryo"/>
                <a:cs typeface="Meiryo"/>
              </a:rPr>
              <a:t>GitHub操作補習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50A4222E-CB0A-48D4-A0AC-0C2D6BCA1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65341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>
                <a:hlinkClick xmlns:r="http://schemas.openxmlformats.org/officeDocument/2006/relationships" r:id="R739c79b052874024"/>
              </a:rPr>
              <a:t>tsuchiyatakahiro.com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A5F64BCB-0AFA-4FFD-AEA2-A6640D2E5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3415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425" b="0">
                <a:solidFill>
                  <a:srgbClr val="536974"/>
                </a:solidFill>
                <a:latin typeface="Meiryo"/>
                <a:ea typeface="Meiryo"/>
                <a:cs typeface="Meiryo"/>
              </a:rPr>
              <a:t>10 / 15</a:t>
            </a:r>
          </a:p>
        </p:txBody>
      </p:sp>
    </p:spTree>
    <p:extLst>
      <p:ext uri="{BB962C8B-B14F-4D97-AF65-F5344CB8AC3E}">
        <p14:creationId xmlns:p14="http://schemas.microsoft.com/office/powerpoint/2010/main" val="156181551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78A256-AB28-414C-B051-E7007DF2DBF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f58dff54db4cc4"/>
          <a:stretch xmlns:a="http://schemas.openxmlformats.org/drawingml/2006/main"/>
        </p:blipFill>
        <p:spPr>
          <a:xfrm xmlns:a="http://schemas.openxmlformats.org/drawingml/2006/main">
            <a:off x="685800" y="147270"/>
            <a:ext cx="1790700" cy="219811"/>
          </a:xfrm>
          <a:prstGeom xmlns:a="http://schemas.openxmlformats.org/drawingml/2006/main" prst="rect">
            <a:avLst/>
          </a:prstGeom>
        </p:spPr>
      </p:pic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A008C599-7E90-4D8D-B025-546FECDDE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1025"/>
            <a:ext cx="1095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45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345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3450" b="1">
                <a:solidFill>
                  <a:srgbClr val="17303E"/>
                </a:solidFill>
                <a:latin typeface="Meiryo"/>
                <a:ea typeface="Meiryo"/>
                <a:cs typeface="Meiryo"/>
              </a:rPr>
              <a:t>履歴の入口</a:t>
            </a:r>
          </a:p>
        </p:txBody>
      </p:sp>
      <p:sp>
        <p:nvSpPr>
          <p:cNvPr id="3" name="open-label">
            <a:extLst xmlns:a="http://schemas.openxmlformats.org/drawingml/2006/main">
              <a:ext uri="{FF2B5EF4-FFF2-40B4-BE49-F238E27FC236}">
                <a16:creationId xmlns:a16="http://schemas.microsoft.com/office/drawing/2014/main" id="{3511EB43-DD8D-473E-81A6-A79F4E164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5425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800" b="1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800" b="1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800" b="1">
                <a:solidFill>
                  <a:srgbClr val="536974"/>
                </a:solidFill>
                <a:latin typeface="Meiryo"/>
                <a:ea typeface="Meiryo"/>
                <a:cs typeface="Meiryo"/>
              </a:rPr>
              <a:t>開く場所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D9900FD1-021D-4272-ACED-944265438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85950"/>
            <a:ext cx="4953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40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240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400" b="0">
                <a:solidFill>
                  <a:srgbClr val="17303E"/>
                </a:solidFill>
                <a:latin typeface="Meiryo"/>
                <a:ea typeface="Meiryo"/>
                <a:cs typeface="Meiryo"/>
              </a:rPr>
              <a:t>自分の保存先のCode。</a:t>
            </a:r>
          </a:p>
          <a:p xmlns:a="http://schemas.openxmlformats.org/drawingml/2006/main">
            <a:pPr>
              <a:buNone/>
              <a:defRPr sz="240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400" b="0">
                <a:solidFill>
                  <a:srgbClr val="17303E"/>
                </a:solidFill>
                <a:latin typeface="Meiryo"/>
                <a:ea typeface="Meiryo"/>
                <a:cs typeface="Meiryo"/>
              </a:rPr>
              <a:t>フォルダ一覧の最上位。</a:t>
            </a:r>
          </a:p>
        </p:txBody>
      </p:sp>
      <p:sp>
        <p:nvSpPr>
          <p:cNvPr id="5" name="action-label">
            <a:extLst xmlns:a="http://schemas.openxmlformats.org/drawingml/2006/main">
              <a:ext uri="{FF2B5EF4-FFF2-40B4-BE49-F238E27FC236}">
                <a16:creationId xmlns:a16="http://schemas.microsoft.com/office/drawing/2014/main" id="{52CA7C62-D518-478C-9A01-E342E6335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57525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800" b="1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800" b="1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800" b="1">
                <a:solidFill>
                  <a:srgbClr val="536974"/>
                </a:solidFill>
                <a:latin typeface="Meiryo"/>
                <a:ea typeface="Meiryo"/>
                <a:cs typeface="Meiryo"/>
              </a:rPr>
              <a:t>いま行う操作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349FDCC7-C9AF-4E55-8661-1002539B4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67100"/>
            <a:ext cx="4953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40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240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400" b="0">
                <a:solidFill>
                  <a:srgbClr val="17303E"/>
                </a:solidFill>
                <a:latin typeface="Meiryo"/>
                <a:ea typeface="Meiryo"/>
                <a:cs typeface="Meiryo"/>
              </a:rPr>
              <a:t>一覧右上の時計アイコンと</a:t>
            </a:r>
          </a:p>
          <a:p xmlns:a="http://schemas.openxmlformats.org/drawingml/2006/main">
            <a:pPr>
              <a:buNone/>
              <a:defRPr sz="240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400" b="0">
                <a:solidFill>
                  <a:srgbClr val="17303E"/>
                </a:solidFill>
                <a:latin typeface="Meiryo"/>
                <a:ea typeface="Meiryo"/>
                <a:cs typeface="Meiryo"/>
              </a:rPr>
              <a:t>「○ Commits」を押す。</a:t>
            </a:r>
          </a:p>
        </p:txBody>
      </p:sp>
      <p:sp>
        <p:nvSpPr>
          <p:cNvPr id="7" name="check-label">
            <a:extLst xmlns:a="http://schemas.openxmlformats.org/drawingml/2006/main">
              <a:ext uri="{FF2B5EF4-FFF2-40B4-BE49-F238E27FC236}">
                <a16:creationId xmlns:a16="http://schemas.microsoft.com/office/drawing/2014/main" id="{12B13A06-69B8-4EA3-B5C7-F45ADBBBD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0100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800" b="1">
                <a:solidFill>
                  <a:srgbClr val="00858A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800" b="1">
                <a:solidFill>
                  <a:srgbClr val="00858A"/>
                </a:solidFill>
                <a:latin typeface="Meiryo"/>
                <a:ea typeface="Meiryo"/>
                <a:cs typeface="Meiryo"/>
              </a:defRPr>
            </a:pPr>
            <a:r>
              <a:rPr sz="1800" b="1">
                <a:solidFill>
                  <a:srgbClr val="00858A"/>
                </a:solidFill>
                <a:latin typeface="Meiryo"/>
                <a:ea typeface="Meiryo"/>
                <a:cs typeface="Meiryo"/>
              </a:rPr>
              <a:t>できた目印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F689576D-7DA7-4345-B603-07F351D54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10150"/>
            <a:ext cx="4953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250" b="1">
                <a:solidFill>
                  <a:srgbClr val="17303E"/>
                </a:solidFill>
                <a:latin typeface="Meiryo"/>
                <a:ea typeface="Meiryo"/>
                <a:cs typeface="Meiryo"/>
              </a:rPr>
              <a:t>Commitsという一覧が開く。</a:t>
            </a:r>
          </a:p>
          <a:p xmlns:a="http://schemas.openxmlformats.org/drawingml/2006/main">
            <a:pPr>
              <a:buNone/>
              <a:defRPr sz="225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250" b="1">
                <a:solidFill>
                  <a:srgbClr val="17303E"/>
                </a:solidFill>
                <a:latin typeface="Meiryo"/>
                <a:ea typeface="Meiryo"/>
                <a:cs typeface="Meiryo"/>
              </a:rPr>
              <a:t>教員の履歴に移っていない。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38143C-0E48-4011-B4FE-B7C1719648F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2a240e3d4d47d0"/>
          <a:stretch xmlns:a="http://schemas.openxmlformats.org/drawingml/2006/main"/>
        </p:blipFill>
        <p:spPr>
          <a:xfrm xmlns:a="http://schemas.openxmlformats.org/drawingml/2006/main">
            <a:off x="6096000" y="2105216"/>
            <a:ext cx="5467350" cy="2952369"/>
          </a:xfrm>
          <a:prstGeom xmlns:a="http://schemas.openxmlformats.org/drawingml/2006/main" prst="rect">
            <a:avLst/>
          </a:prstGeom>
        </p:spPr>
      </p:pic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8430EE04-B2D3-45E0-9F95-C238C4BF1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238750"/>
            <a:ext cx="54673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7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725" b="0">
                <a:solidFill>
                  <a:srgbClr val="536974"/>
                </a:solidFill>
                <a:latin typeface="Meiryo"/>
                <a:ea typeface="Meiryo"/>
                <a:cs typeface="Meiryo"/>
              </a:rPr>
              <a:t>公開ひな形の画面例。自分の保存先で操作。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555AF977-1054-4A32-82D7-2CA248878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85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425" b="0">
                <a:solidFill>
                  <a:srgbClr val="536974"/>
                </a:solidFill>
                <a:latin typeface="Meiryo"/>
                <a:ea typeface="Meiryo"/>
                <a:cs typeface="Meiryo"/>
              </a:rPr>
              <a:t>GitHub操作補習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28502552-8DAA-4EB3-BB9A-F56AE1B28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65341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>
                <a:hlinkClick xmlns:r="http://schemas.openxmlformats.org/officeDocument/2006/relationships" r:id="R37de74fecd6843f2"/>
              </a:rPr>
              <a:t>tsuchiyatakahiro.com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A2547B71-B3B9-42C2-89B8-03009AA96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3415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425" b="0">
                <a:solidFill>
                  <a:srgbClr val="536974"/>
                </a:solidFill>
                <a:latin typeface="Meiryo"/>
                <a:ea typeface="Meiryo"/>
                <a:cs typeface="Meiryo"/>
              </a:rPr>
              <a:t>11 / 15</a:t>
            </a:r>
          </a:p>
        </p:txBody>
      </p:sp>
    </p:spTree>
    <p:extLst>
      <p:ext uri="{BB962C8B-B14F-4D97-AF65-F5344CB8AC3E}">
        <p14:creationId xmlns:p14="http://schemas.microsoft.com/office/powerpoint/2010/main" val="63950428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C9BCB7-62CB-4E96-980A-1BDEC5ACA2D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b428ee6532433d"/>
          <a:stretch xmlns:a="http://schemas.openxmlformats.org/drawingml/2006/main"/>
        </p:blipFill>
        <p:spPr>
          <a:xfrm xmlns:a="http://schemas.openxmlformats.org/drawingml/2006/main">
            <a:off x="685800" y="147270"/>
            <a:ext cx="1790700" cy="219811"/>
          </a:xfrm>
          <a:prstGeom xmlns:a="http://schemas.openxmlformats.org/drawingml/2006/main" prst="rect">
            <a:avLst/>
          </a:prstGeom>
        </p:spPr>
      </p:pic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9BEAF46-C9BA-4A81-BCD7-C6271D188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1025"/>
            <a:ext cx="1095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45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345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3450" b="1">
                <a:solidFill>
                  <a:srgbClr val="17303E"/>
                </a:solidFill>
                <a:latin typeface="Meiryo"/>
                <a:ea typeface="Meiryo"/>
                <a:cs typeface="Meiryo"/>
              </a:rPr>
              <a:t>最新のcommitを開く</a:t>
            </a:r>
          </a:p>
        </p:txBody>
      </p:sp>
      <p:sp>
        <p:nvSpPr>
          <p:cNvPr id="3" name="open-label">
            <a:extLst xmlns:a="http://schemas.openxmlformats.org/drawingml/2006/main">
              <a:ext uri="{FF2B5EF4-FFF2-40B4-BE49-F238E27FC236}">
                <a16:creationId xmlns:a16="http://schemas.microsoft.com/office/drawing/2014/main" id="{EB04410B-EA07-423E-A597-6B7E0F9BC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5425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800" b="1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800" b="1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800" b="1">
                <a:solidFill>
                  <a:srgbClr val="536974"/>
                </a:solidFill>
                <a:latin typeface="Meiryo"/>
                <a:ea typeface="Meiryo"/>
                <a:cs typeface="Meiryo"/>
              </a:rPr>
              <a:t>開く場所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2AC7236C-41A0-4288-B7A4-BCBF4EA81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85950"/>
            <a:ext cx="4953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40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240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400" b="0">
                <a:solidFill>
                  <a:srgbClr val="17303E"/>
                </a:solidFill>
                <a:latin typeface="Meiryo"/>
                <a:ea typeface="Meiryo"/>
                <a:cs typeface="Meiryo"/>
              </a:rPr>
              <a:t>Commitsの一覧</a:t>
            </a:r>
          </a:p>
        </p:txBody>
      </p:sp>
      <p:sp>
        <p:nvSpPr>
          <p:cNvPr id="5" name="action-label">
            <a:extLst xmlns:a="http://schemas.openxmlformats.org/drawingml/2006/main">
              <a:ext uri="{FF2B5EF4-FFF2-40B4-BE49-F238E27FC236}">
                <a16:creationId xmlns:a16="http://schemas.microsoft.com/office/drawing/2014/main" id="{6577C72F-AF0F-499E-B755-9417927C9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57525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800" b="1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800" b="1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800" b="1">
                <a:solidFill>
                  <a:srgbClr val="536974"/>
                </a:solidFill>
                <a:latin typeface="Meiryo"/>
                <a:ea typeface="Meiryo"/>
                <a:cs typeface="Meiryo"/>
              </a:rPr>
              <a:t>いま行う操作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C3944000-34E2-46BB-838D-0AFDE8DBC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67100"/>
            <a:ext cx="4953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40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240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400" b="0">
                <a:solidFill>
                  <a:srgbClr val="17303E"/>
                </a:solidFill>
                <a:latin typeface="Meiryo"/>
                <a:ea typeface="Meiryo"/>
                <a:cs typeface="Meiryo"/>
              </a:rPr>
              <a:t>今の課題を全部保存した後の</a:t>
            </a:r>
          </a:p>
          <a:p xmlns:a="http://schemas.openxmlformats.org/drawingml/2006/main">
            <a:pPr>
              <a:buNone/>
              <a:defRPr sz="240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400" b="0">
                <a:solidFill>
                  <a:srgbClr val="17303E"/>
                </a:solidFill>
                <a:latin typeface="Meiryo"/>
                <a:ea typeface="Meiryo"/>
                <a:cs typeface="Meiryo"/>
              </a:rPr>
              <a:t>一番上の説明文を押す。</a:t>
            </a:r>
          </a:p>
        </p:txBody>
      </p:sp>
      <p:sp>
        <p:nvSpPr>
          <p:cNvPr id="7" name="check-label">
            <a:extLst xmlns:a="http://schemas.openxmlformats.org/drawingml/2006/main">
              <a:ext uri="{FF2B5EF4-FFF2-40B4-BE49-F238E27FC236}">
                <a16:creationId xmlns:a16="http://schemas.microsoft.com/office/drawing/2014/main" id="{81796063-DAA7-449E-B925-8576EAAEF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0100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800" b="1">
                <a:solidFill>
                  <a:srgbClr val="00858A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800" b="1">
                <a:solidFill>
                  <a:srgbClr val="00858A"/>
                </a:solidFill>
                <a:latin typeface="Meiryo"/>
                <a:ea typeface="Meiryo"/>
                <a:cs typeface="Meiryo"/>
              </a:defRPr>
            </a:pPr>
            <a:r>
              <a:rPr sz="1800" b="1">
                <a:solidFill>
                  <a:srgbClr val="00858A"/>
                </a:solidFill>
                <a:latin typeface="Meiryo"/>
                <a:ea typeface="Meiryo"/>
                <a:cs typeface="Meiryo"/>
              </a:rPr>
              <a:t>できた目印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12E808AA-A41F-437E-A283-8E80AA35D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10150"/>
            <a:ext cx="4953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250" b="1">
                <a:solidFill>
                  <a:srgbClr val="17303E"/>
                </a:solidFill>
                <a:latin typeface="Meiryo"/>
                <a:ea typeface="Meiryo"/>
                <a:cs typeface="Meiryo"/>
              </a:rPr>
              <a:t>URLに/commit/と英数字。</a:t>
            </a:r>
          </a:p>
          <a:p xmlns:a="http://schemas.openxmlformats.org/drawingml/2006/main">
            <a:pPr>
              <a:buNone/>
              <a:defRPr sz="225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250" b="1">
                <a:solidFill>
                  <a:srgbClr val="17303E"/>
                </a:solidFill>
                <a:latin typeface="Meiryo"/>
                <a:ea typeface="Meiryo"/>
                <a:cs typeface="Meiryo"/>
              </a:rPr>
              <a:t>作者・日時・内容も確認。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B2CBC8-ADE2-4368-A587-6887529A7C4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9fde155610409a"/>
          <a:srcRect xmlns:a="http://schemas.openxmlformats.org/drawingml/2006/main" l="5138" t="46348" r="39526" b="42416"/>
          <a:stretch xmlns:a="http://schemas.openxmlformats.org/drawingml/2006/main"/>
        </p:blipFill>
        <p:spPr>
          <a:xfrm xmlns:a="http://schemas.openxmlformats.org/drawingml/2006/main">
            <a:off x="6096000" y="3268980"/>
            <a:ext cx="5467350" cy="624840"/>
          </a:xfrm>
          <a:prstGeom xmlns:a="http://schemas.openxmlformats.org/drawingml/2006/main" prst="rect">
            <a:avLst/>
          </a:prstGeom>
        </p:spPr>
      </p:pic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FAC228B4-09BB-40EE-9711-C2562C65E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238750"/>
            <a:ext cx="54673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7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725" b="0">
                <a:solidFill>
                  <a:srgbClr val="536974"/>
                </a:solidFill>
                <a:latin typeface="Meiryo"/>
                <a:ea typeface="Meiryo"/>
                <a:cs typeface="Meiryo"/>
              </a:rPr>
              <a:t>公開ひな形の画面例。自分の保存先で操作。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72E386AA-1387-4A3F-BF6B-2FF395E3A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85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425" b="0">
                <a:solidFill>
                  <a:srgbClr val="536974"/>
                </a:solidFill>
                <a:latin typeface="Meiryo"/>
                <a:ea typeface="Meiryo"/>
                <a:cs typeface="Meiryo"/>
              </a:rPr>
              <a:t>GitHub操作補習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DB749774-B9E9-4724-83A7-B373600BF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65341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>
                <a:hlinkClick xmlns:r="http://schemas.openxmlformats.org/officeDocument/2006/relationships" r:id="Rbce84f0ce8a24f08"/>
              </a:rPr>
              <a:t>tsuchiyatakahiro.com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279154E0-BC6A-4484-A6AA-D29F9DA18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3415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425" b="0">
                <a:solidFill>
                  <a:srgbClr val="536974"/>
                </a:solidFill>
                <a:latin typeface="Meiryo"/>
                <a:ea typeface="Meiryo"/>
                <a:cs typeface="Meiryo"/>
              </a:rPr>
              <a:t>12 / 15</a:t>
            </a:r>
          </a:p>
        </p:txBody>
      </p:sp>
    </p:spTree>
    <p:extLst>
      <p:ext uri="{BB962C8B-B14F-4D97-AF65-F5344CB8AC3E}">
        <p14:creationId xmlns:p14="http://schemas.microsoft.com/office/powerpoint/2010/main" val="98263513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3A66B9-B271-408F-B09D-5B5F3D35A76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8ce62f65ae489b"/>
          <a:stretch xmlns:a="http://schemas.openxmlformats.org/drawingml/2006/main"/>
        </p:blipFill>
        <p:spPr>
          <a:xfrm xmlns:a="http://schemas.openxmlformats.org/drawingml/2006/main">
            <a:off x="685800" y="147270"/>
            <a:ext cx="1790700" cy="219811"/>
          </a:xfrm>
          <a:prstGeom xmlns:a="http://schemas.openxmlformats.org/drawingml/2006/main" prst="rect">
            <a:avLst/>
          </a:prstGeom>
        </p:spPr>
      </p:pic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0EE29007-4E3B-428E-AFC4-04CB44D42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1025"/>
            <a:ext cx="1095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45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345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3450" b="1">
                <a:solidFill>
                  <a:srgbClr val="17303E"/>
                </a:solidFill>
                <a:latin typeface="Meiryo"/>
                <a:ea typeface="Meiryo"/>
                <a:cs typeface="Meiryo"/>
              </a:rPr>
              <a:t>提出する版の中身</a:t>
            </a:r>
          </a:p>
        </p:txBody>
      </p:sp>
      <p:sp>
        <p:nvSpPr>
          <p:cNvPr id="3" name="open-label">
            <a:extLst xmlns:a="http://schemas.openxmlformats.org/drawingml/2006/main">
              <a:ext uri="{FF2B5EF4-FFF2-40B4-BE49-F238E27FC236}">
                <a16:creationId xmlns:a16="http://schemas.microsoft.com/office/drawing/2014/main" id="{D7A391CD-C341-4AA3-BD81-9962FACB1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5425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800" b="1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800" b="1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800" b="1">
                <a:solidFill>
                  <a:srgbClr val="536974"/>
                </a:solidFill>
                <a:latin typeface="Meiryo"/>
                <a:ea typeface="Meiryo"/>
                <a:cs typeface="Meiryo"/>
              </a:rPr>
              <a:t>開く場所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D600B3C2-29F7-42DB-A6D3-2118CF87E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85950"/>
            <a:ext cx="4953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40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240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400" b="0">
                <a:solidFill>
                  <a:srgbClr val="17303E"/>
                </a:solidFill>
                <a:latin typeface="Meiryo"/>
                <a:ea typeface="Meiryo"/>
                <a:cs typeface="Meiryo"/>
              </a:rPr>
              <a:t>commitページのBrowse files</a:t>
            </a:r>
          </a:p>
        </p:txBody>
      </p:sp>
      <p:sp>
        <p:nvSpPr>
          <p:cNvPr id="5" name="action-label">
            <a:extLst xmlns:a="http://schemas.openxmlformats.org/drawingml/2006/main">
              <a:ext uri="{FF2B5EF4-FFF2-40B4-BE49-F238E27FC236}">
                <a16:creationId xmlns:a16="http://schemas.microsoft.com/office/drawing/2014/main" id="{62A385D5-E4F9-4D9A-BADD-10865738B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57525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800" b="1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800" b="1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800" b="1">
                <a:solidFill>
                  <a:srgbClr val="536974"/>
                </a:solidFill>
                <a:latin typeface="Meiryo"/>
                <a:ea typeface="Meiryo"/>
                <a:cs typeface="Meiryo"/>
              </a:rPr>
              <a:t>いま行う操作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0DD68D25-9346-442E-9295-813F0D6D1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67100"/>
            <a:ext cx="4953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40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240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400" b="0">
                <a:solidFill>
                  <a:srgbClr val="17303E"/>
                </a:solidFill>
                <a:latin typeface="Meiryo"/>
                <a:ea typeface="Meiryo"/>
                <a:cs typeface="Meiryo"/>
              </a:rPr>
              <a:t>その版のweekXXを開く。</a:t>
            </a:r>
          </a:p>
          <a:p xmlns:a="http://schemas.openxmlformats.org/drawingml/2006/main">
            <a:pPr>
              <a:buNone/>
              <a:defRPr sz="240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400" b="0">
                <a:solidFill>
                  <a:srgbClr val="17303E"/>
                </a:solidFill>
                <a:latin typeface="Meiryo"/>
                <a:ea typeface="Meiryo"/>
                <a:cs typeface="Meiryo"/>
              </a:rPr>
              <a:t>READMEと成果物を確認。</a:t>
            </a:r>
          </a:p>
        </p:txBody>
      </p:sp>
      <p:sp>
        <p:nvSpPr>
          <p:cNvPr id="7" name="check-label">
            <a:extLst xmlns:a="http://schemas.openxmlformats.org/drawingml/2006/main">
              <a:ext uri="{FF2B5EF4-FFF2-40B4-BE49-F238E27FC236}">
                <a16:creationId xmlns:a16="http://schemas.microsoft.com/office/drawing/2014/main" id="{F7BFBBB6-903F-44FE-9E7E-78FE13B78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0100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800" b="1">
                <a:solidFill>
                  <a:srgbClr val="00858A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800" b="1">
                <a:solidFill>
                  <a:srgbClr val="00858A"/>
                </a:solidFill>
                <a:latin typeface="Meiryo"/>
                <a:ea typeface="Meiryo"/>
                <a:cs typeface="Meiryo"/>
              </a:defRPr>
            </a:pPr>
            <a:r>
              <a:rPr sz="1800" b="1">
                <a:solidFill>
                  <a:srgbClr val="00858A"/>
                </a:solidFill>
                <a:latin typeface="Meiryo"/>
                <a:ea typeface="Meiryo"/>
                <a:cs typeface="Meiryo"/>
              </a:rPr>
              <a:t>できた目印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7FD2EB02-289D-487D-A30F-BE81D0CF2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10150"/>
            <a:ext cx="4953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250" b="1">
                <a:solidFill>
                  <a:srgbClr val="17303E"/>
                </a:solidFill>
                <a:latin typeface="Meiryo"/>
                <a:ea typeface="Meiryo"/>
                <a:cs typeface="Meiryo"/>
              </a:rPr>
              <a:t>必要なファイルが全部ある。</a:t>
            </a:r>
          </a:p>
          <a:p xmlns:a="http://schemas.openxmlformats.org/drawingml/2006/main">
            <a:pPr>
              <a:buNone/>
              <a:defRPr sz="225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250" b="1">
                <a:solidFill>
                  <a:srgbClr val="17303E"/>
                </a:solidFill>
                <a:latin typeface="Meiryo"/>
                <a:ea typeface="Meiryo"/>
                <a:cs typeface="Meiryo"/>
              </a:rPr>
              <a:t>追加したら最新commitを使う。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65ACEA-427B-4844-AD7E-C4E93837E20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37803877be4f3a"/>
          <a:stretch xmlns:a="http://schemas.openxmlformats.org/drawingml/2006/main"/>
        </p:blipFill>
        <p:spPr>
          <a:xfrm xmlns:a="http://schemas.openxmlformats.org/drawingml/2006/main">
            <a:off x="6096000" y="2401396"/>
            <a:ext cx="5467350" cy="2360007"/>
          </a:xfrm>
          <a:prstGeom xmlns:a="http://schemas.openxmlformats.org/drawingml/2006/main" prst="rect">
            <a:avLst/>
          </a:prstGeom>
        </p:spPr>
      </p:pic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4D6C299A-08C9-4C66-AE50-073624ABB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238750"/>
            <a:ext cx="54673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7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725" b="0">
                <a:solidFill>
                  <a:srgbClr val="536974"/>
                </a:solidFill>
                <a:latin typeface="Meiryo"/>
                <a:ea typeface="Meiryo"/>
                <a:cs typeface="Meiryo"/>
              </a:rPr>
              <a:t>公開ひな形の画面例。自分の保存先で操作。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412DB190-EEFA-4010-9062-76AC0F734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85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425" b="0">
                <a:solidFill>
                  <a:srgbClr val="536974"/>
                </a:solidFill>
                <a:latin typeface="Meiryo"/>
                <a:ea typeface="Meiryo"/>
                <a:cs typeface="Meiryo"/>
              </a:rPr>
              <a:t>GitHub操作補習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611DD7C1-0D28-4B9E-8BD7-6EB2204C1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65341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>
                <a:hlinkClick xmlns:r="http://schemas.openxmlformats.org/officeDocument/2006/relationships" r:id="R38ddf700c2154dc7"/>
              </a:rPr>
              <a:t>tsuchiyatakahiro.com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E03086CF-F977-48EC-B9A3-4FF735FA7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3415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425" b="0">
                <a:solidFill>
                  <a:srgbClr val="536974"/>
                </a:solidFill>
                <a:latin typeface="Meiryo"/>
                <a:ea typeface="Meiryo"/>
                <a:cs typeface="Meiryo"/>
              </a:rPr>
              <a:t>13 / 15</a:t>
            </a:r>
          </a:p>
        </p:txBody>
      </p:sp>
    </p:spTree>
    <p:extLst>
      <p:ext uri="{BB962C8B-B14F-4D97-AF65-F5344CB8AC3E}">
        <p14:creationId xmlns:p14="http://schemas.microsoft.com/office/powerpoint/2010/main" val="16148970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323151-8A6E-49AB-8800-478B7774E78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1ded4c552c4548"/>
          <a:stretch xmlns:a="http://schemas.openxmlformats.org/drawingml/2006/main"/>
        </p:blipFill>
        <p:spPr>
          <a:xfrm xmlns:a="http://schemas.openxmlformats.org/drawingml/2006/main">
            <a:off x="685800" y="147270"/>
            <a:ext cx="1790700" cy="219811"/>
          </a:xfrm>
          <a:prstGeom xmlns:a="http://schemas.openxmlformats.org/drawingml/2006/main" prst="rect">
            <a:avLst/>
          </a:prstGeom>
        </p:spPr>
      </p:pic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7CE42710-0DF9-4A7E-8FD4-2C838FEF5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1025"/>
            <a:ext cx="1095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45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345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3450" b="1">
                <a:solidFill>
                  <a:srgbClr val="17303E"/>
                </a:solidFill>
                <a:latin typeface="Meiryo"/>
                <a:ea typeface="Meiryo"/>
                <a:cs typeface="Meiryo"/>
              </a:rPr>
              <a:t>フォームから提出</a:t>
            </a:r>
          </a:p>
        </p:txBody>
      </p:sp>
      <p:sp>
        <p:nvSpPr>
          <p:cNvPr id="3" name="open-label">
            <a:extLst xmlns:a="http://schemas.openxmlformats.org/drawingml/2006/main">
              <a:ext uri="{FF2B5EF4-FFF2-40B4-BE49-F238E27FC236}">
                <a16:creationId xmlns:a16="http://schemas.microsoft.com/office/drawing/2014/main" id="{FA552252-748D-4E7E-862F-E24669103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5425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800" b="1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800" b="1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800" b="1">
                <a:solidFill>
                  <a:srgbClr val="536974"/>
                </a:solidFill>
                <a:latin typeface="Meiryo"/>
                <a:ea typeface="Meiryo"/>
                <a:cs typeface="Meiryo"/>
              </a:rPr>
              <a:t>開く場所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D3A6F7E9-140C-46B1-B3D9-25F22605C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85950"/>
            <a:ext cx="4953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40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240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400" b="0">
                <a:solidFill>
                  <a:srgbClr val="17303E"/>
                </a:solidFill>
                <a:latin typeface="Meiryo"/>
                <a:ea typeface="Meiryo"/>
                <a:cs typeface="Meiryo"/>
              </a:rPr>
              <a:t>確認したcommitのページ。</a:t>
            </a:r>
          </a:p>
          <a:p xmlns:a="http://schemas.openxmlformats.org/drawingml/2006/main">
            <a:pPr>
              <a:buNone/>
              <a:defRPr sz="240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400" b="0">
                <a:solidFill>
                  <a:srgbClr val="17303E"/>
                </a:solidFill>
                <a:latin typeface="Meiryo"/>
                <a:ea typeface="Meiryo"/>
                <a:cs typeface="Meiryo"/>
              </a:rPr>
              <a:t>授業の週次フォーム。</a:t>
            </a:r>
          </a:p>
        </p:txBody>
      </p:sp>
      <p:sp>
        <p:nvSpPr>
          <p:cNvPr id="5" name="action-label">
            <a:extLst xmlns:a="http://schemas.openxmlformats.org/drawingml/2006/main">
              <a:ext uri="{FF2B5EF4-FFF2-40B4-BE49-F238E27FC236}">
                <a16:creationId xmlns:a16="http://schemas.microsoft.com/office/drawing/2014/main" id="{11B02380-A4BA-4A08-8D94-1B082AD59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57525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800" b="1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800" b="1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800" b="1">
                <a:solidFill>
                  <a:srgbClr val="536974"/>
                </a:solidFill>
                <a:latin typeface="Meiryo"/>
                <a:ea typeface="Meiryo"/>
                <a:cs typeface="Meiryo"/>
              </a:rPr>
              <a:t>いま行う操作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EA154D8C-5A45-42FE-9E14-57AC29A94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67100"/>
            <a:ext cx="4953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40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240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400" b="0">
                <a:solidFill>
                  <a:srgbClr val="17303E"/>
                </a:solidFill>
                <a:latin typeface="Meiryo"/>
                <a:ea typeface="Meiryo"/>
                <a:cs typeface="Meiryo"/>
              </a:rPr>
              <a:t>URL欄から全体をコピー。</a:t>
            </a:r>
          </a:p>
          <a:p xmlns:a="http://schemas.openxmlformats.org/drawingml/2006/main">
            <a:pPr>
              <a:buNone/>
              <a:defRPr sz="240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400" b="0">
                <a:solidFill>
                  <a:srgbClr val="17303E"/>
                </a:solidFill>
                <a:latin typeface="Meiryo"/>
                <a:ea typeface="Meiryo"/>
                <a:cs typeface="Meiryo"/>
              </a:rPr>
              <a:t>対象回を選んで送信。</a:t>
            </a:r>
          </a:p>
        </p:txBody>
      </p:sp>
      <p:sp>
        <p:nvSpPr>
          <p:cNvPr id="7" name="check-label">
            <a:extLst xmlns:a="http://schemas.openxmlformats.org/drawingml/2006/main">
              <a:ext uri="{FF2B5EF4-FFF2-40B4-BE49-F238E27FC236}">
                <a16:creationId xmlns:a16="http://schemas.microsoft.com/office/drawing/2014/main" id="{D1810DDA-A407-4035-BADB-7875B40A3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0100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800" b="1">
                <a:solidFill>
                  <a:srgbClr val="00858A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800" b="1">
                <a:solidFill>
                  <a:srgbClr val="00858A"/>
                </a:solidFill>
                <a:latin typeface="Meiryo"/>
                <a:ea typeface="Meiryo"/>
                <a:cs typeface="Meiryo"/>
              </a:defRPr>
            </a:pPr>
            <a:r>
              <a:rPr sz="1800" b="1">
                <a:solidFill>
                  <a:srgbClr val="00858A"/>
                </a:solidFill>
                <a:latin typeface="Meiryo"/>
                <a:ea typeface="Meiryo"/>
                <a:cs typeface="Meiryo"/>
              </a:rPr>
              <a:t>できた目印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28FEC0F7-BB83-43F9-9C75-F21BD26D6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10150"/>
            <a:ext cx="4953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250" b="1">
                <a:solidFill>
                  <a:srgbClr val="17303E"/>
                </a:solidFill>
                <a:latin typeface="Meiryo"/>
                <a:ea typeface="Meiryo"/>
                <a:cs typeface="Meiryo"/>
              </a:rPr>
              <a:t>送信完了画面が出る。</a:t>
            </a:r>
          </a:p>
          <a:p xmlns:a="http://schemas.openxmlformats.org/drawingml/2006/main">
            <a:pPr>
              <a:buNone/>
              <a:defRPr sz="225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250" b="1">
                <a:solidFill>
                  <a:srgbClr val="17303E"/>
                </a:solidFill>
                <a:latin typeface="Meiryo"/>
                <a:ea typeface="Meiryo"/>
                <a:cs typeface="Meiryo"/>
              </a:rPr>
              <a:t>GitHubの保存とは別に確認。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18A6C6ED-B416-42F6-B875-AAF594C97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81150"/>
            <a:ext cx="5467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950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950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536974"/>
                </a:solidFill>
                <a:latin typeface="Meiryo"/>
                <a:ea typeface="Meiryo"/>
                <a:cs typeface="Meiryo"/>
              </a:rPr>
              <a:t>操作・表示の確認例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4D766623-AE00-475B-B6D9-4FAB0ACF0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90750"/>
            <a:ext cx="54673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55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255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550" b="0">
                <a:solidFill>
                  <a:srgbClr val="17303E"/>
                </a:solidFill>
                <a:latin typeface="Meiryo"/>
                <a:ea typeface="Meiryo"/>
                <a:cs typeface="Meiryo"/>
              </a:rPr>
              <a:t>初回登録</a:t>
            </a:r>
          </a:p>
          <a:p xmlns:a="http://schemas.openxmlformats.org/drawingml/2006/main">
            <a:pPr>
              <a:buNone/>
              <a:defRPr sz="255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550" b="0">
                <a:solidFill>
                  <a:srgbClr val="17303E"/>
                </a:solidFill>
                <a:latin typeface="Meiryo"/>
                <a:ea typeface="Meiryo"/>
                <a:cs typeface="Meiryo"/>
              </a:rPr>
              <a:t>リポジトリURL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55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550" b="0">
                <a:solidFill>
                  <a:srgbClr val="17303E"/>
                </a:solidFill>
                <a:latin typeface="Meiryo"/>
                <a:ea typeface="Meiryo"/>
                <a:cs typeface="Meiryo"/>
              </a:rPr>
              <a:t>毎週・最終課題</a:t>
            </a:r>
          </a:p>
          <a:p xmlns:a="http://schemas.openxmlformats.org/drawingml/2006/main">
            <a:pPr>
              <a:buNone/>
              <a:defRPr sz="255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550" b="0">
                <a:solidFill>
                  <a:srgbClr val="17303E"/>
                </a:solidFill>
                <a:latin typeface="Meiryo"/>
                <a:ea typeface="Meiryo"/>
                <a:cs typeface="Meiryo"/>
              </a:rPr>
              <a:t>/commit/を含むURL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7C7CCC1B-47C3-4A52-8FCF-324078308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238750"/>
            <a:ext cx="5467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800" b="0">
                <a:solidFill>
                  <a:srgbClr val="536974"/>
                </a:solidFill>
                <a:latin typeface="Meiryo"/>
                <a:ea typeface="Meiryo"/>
                <a:cs typeface="Meiryo"/>
              </a:rPr>
              <a:t>自分の画面で確認してから次へ進みます。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D4CA014E-5FE6-43BF-9602-188D47007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85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425" b="0">
                <a:solidFill>
                  <a:srgbClr val="536974"/>
                </a:solidFill>
                <a:latin typeface="Meiryo"/>
                <a:ea typeface="Meiryo"/>
                <a:cs typeface="Meiryo"/>
              </a:rPr>
              <a:t>GitHub操作補習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E11949D0-7344-460F-AEAC-AE2204C08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65341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>
                <a:hlinkClick xmlns:r="http://schemas.openxmlformats.org/officeDocument/2006/relationships" r:id="Rf8cae0faf19045e1"/>
              </a:rPr>
              <a:t>tsuchiyatakahiro.com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4A70D48E-BA5C-4EC1-A710-50066E2EB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3415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425" b="0">
                <a:solidFill>
                  <a:srgbClr val="536974"/>
                </a:solidFill>
                <a:latin typeface="Meiryo"/>
                <a:ea typeface="Meiryo"/>
                <a:cs typeface="Meiryo"/>
              </a:rPr>
              <a:t>14 / 15</a:t>
            </a:r>
          </a:p>
        </p:txBody>
      </p:sp>
    </p:spTree>
    <p:extLst>
      <p:ext uri="{BB962C8B-B14F-4D97-AF65-F5344CB8AC3E}">
        <p14:creationId xmlns:p14="http://schemas.microsoft.com/office/powerpoint/2010/main" val="211511541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334B8A-EFF0-45A9-BB66-7B80E2F093D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6342ff33af444b"/>
          <a:stretch xmlns:a="http://schemas.openxmlformats.org/drawingml/2006/main"/>
        </p:blipFill>
        <p:spPr>
          <a:xfrm xmlns:a="http://schemas.openxmlformats.org/drawingml/2006/main">
            <a:off x="685800" y="147270"/>
            <a:ext cx="1790700" cy="219811"/>
          </a:xfrm>
          <a:prstGeom xmlns:a="http://schemas.openxmlformats.org/drawingml/2006/main" prst="rect">
            <a:avLst/>
          </a:prstGeom>
        </p:spPr>
      </p:pic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104949C-F076-4721-9707-F7A233BD0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1025"/>
            <a:ext cx="1095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45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345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3450" b="1">
                <a:solidFill>
                  <a:srgbClr val="17303E"/>
                </a:solidFill>
                <a:latin typeface="Meiryo"/>
                <a:ea typeface="Meiryo"/>
                <a:cs typeface="Meiryo"/>
              </a:rPr>
              <a:t>最後の到達確認</a:t>
            </a:r>
          </a:p>
        </p:txBody>
      </p:sp>
      <p:sp>
        <p:nvSpPr>
          <p:cNvPr id="3" name="open-label">
            <a:extLst xmlns:a="http://schemas.openxmlformats.org/drawingml/2006/main">
              <a:ext uri="{FF2B5EF4-FFF2-40B4-BE49-F238E27FC236}">
                <a16:creationId xmlns:a16="http://schemas.microsoft.com/office/drawing/2014/main" id="{47A01191-66E8-4717-8F71-F3DED9B7D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5425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800" b="1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800" b="1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800" b="1">
                <a:solidFill>
                  <a:srgbClr val="536974"/>
                </a:solidFill>
                <a:latin typeface="Meiryo"/>
                <a:ea typeface="Meiryo"/>
                <a:cs typeface="Meiryo"/>
              </a:rPr>
              <a:t>開く場所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B0D6FCA4-6127-4B91-A905-32DD3D53B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85950"/>
            <a:ext cx="4953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40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240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400" b="0">
                <a:solidFill>
                  <a:srgbClr val="17303E"/>
                </a:solidFill>
                <a:latin typeface="Meiryo"/>
                <a:ea typeface="Meiryo"/>
                <a:cs typeface="Meiryo"/>
              </a:rPr>
              <a:t>自分の保存先と送信結果</a:t>
            </a:r>
          </a:p>
        </p:txBody>
      </p:sp>
      <p:sp>
        <p:nvSpPr>
          <p:cNvPr id="5" name="action-label">
            <a:extLst xmlns:a="http://schemas.openxmlformats.org/drawingml/2006/main">
              <a:ext uri="{FF2B5EF4-FFF2-40B4-BE49-F238E27FC236}">
                <a16:creationId xmlns:a16="http://schemas.microsoft.com/office/drawing/2014/main" id="{C7F3D0CE-CD3F-4EC3-8C96-475D75C0D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57525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800" b="1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800" b="1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800" b="1">
                <a:solidFill>
                  <a:srgbClr val="536974"/>
                </a:solidFill>
                <a:latin typeface="Meiryo"/>
                <a:ea typeface="Meiryo"/>
                <a:cs typeface="Meiryo"/>
              </a:rPr>
              <a:t>いま行う操作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B2E9D00A-8AA8-4482-B216-ECB806E31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67100"/>
            <a:ext cx="4953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40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240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400" b="0">
                <a:solidFill>
                  <a:srgbClr val="17303E"/>
                </a:solidFill>
                <a:latin typeface="Meiryo"/>
                <a:ea typeface="Meiryo"/>
                <a:cs typeface="Meiryo"/>
              </a:rPr>
              <a:t>自分のPrivate、保存内容、</a:t>
            </a:r>
          </a:p>
          <a:p xmlns:a="http://schemas.openxmlformats.org/drawingml/2006/main">
            <a:pPr>
              <a:buNone/>
              <a:defRPr sz="240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400" b="0">
                <a:solidFill>
                  <a:srgbClr val="17303E"/>
                </a:solidFill>
                <a:latin typeface="Meiryo"/>
                <a:ea typeface="Meiryo"/>
                <a:cs typeface="Meiryo"/>
              </a:rPr>
              <a:t>教員の招待、提出URLを確認。</a:t>
            </a:r>
          </a:p>
        </p:txBody>
      </p:sp>
      <p:sp>
        <p:nvSpPr>
          <p:cNvPr id="7" name="check-label">
            <a:extLst xmlns:a="http://schemas.openxmlformats.org/drawingml/2006/main">
              <a:ext uri="{FF2B5EF4-FFF2-40B4-BE49-F238E27FC236}">
                <a16:creationId xmlns:a16="http://schemas.microsoft.com/office/drawing/2014/main" id="{D864C689-A593-486C-9394-DF14B8A53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0100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800" b="1">
                <a:solidFill>
                  <a:srgbClr val="00858A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800" b="1">
                <a:solidFill>
                  <a:srgbClr val="00858A"/>
                </a:solidFill>
                <a:latin typeface="Meiryo"/>
                <a:ea typeface="Meiryo"/>
                <a:cs typeface="Meiryo"/>
              </a:defRPr>
            </a:pPr>
            <a:r>
              <a:rPr sz="1800" b="1">
                <a:solidFill>
                  <a:srgbClr val="00858A"/>
                </a:solidFill>
                <a:latin typeface="Meiryo"/>
                <a:ea typeface="Meiryo"/>
                <a:cs typeface="Meiryo"/>
              </a:rPr>
              <a:t>できた目印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E8873FAF-B8D1-404B-8723-FE62C64F1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10150"/>
            <a:ext cx="4953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250" b="1">
                <a:solidFill>
                  <a:srgbClr val="17303E"/>
                </a:solidFill>
                <a:latin typeface="Meiryo"/>
                <a:ea typeface="Meiryo"/>
                <a:cs typeface="Meiryo"/>
              </a:rPr>
              <a:t>初回準備・保存・招待・提出を</a:t>
            </a:r>
          </a:p>
          <a:p xmlns:a="http://schemas.openxmlformats.org/drawingml/2006/main">
            <a:pPr>
              <a:buNone/>
              <a:defRPr sz="225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250" b="1">
                <a:solidFill>
                  <a:srgbClr val="17303E"/>
                </a:solidFill>
                <a:latin typeface="Meiryo"/>
                <a:ea typeface="Meiryo"/>
                <a:cs typeface="Meiryo"/>
              </a:rPr>
              <a:t>それぞれ説明できる。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B45E242D-D39C-4627-B66A-087793368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81150"/>
            <a:ext cx="5467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950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950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536974"/>
                </a:solidFill>
                <a:latin typeface="Meiryo"/>
                <a:ea typeface="Meiryo"/>
                <a:cs typeface="Meiryo"/>
              </a:rPr>
              <a:t>操作・表示の確認例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74408074-4E31-4DDC-A28B-F8E8FEAF4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90750"/>
            <a:ext cx="54673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55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255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550" b="0">
                <a:solidFill>
                  <a:srgbClr val="17303E"/>
                </a:solidFill>
                <a:latin typeface="Meiryo"/>
                <a:ea typeface="Meiryo"/>
                <a:cs typeface="Meiryo"/>
              </a:rPr>
              <a:t>自分のPrivate保存先</a:t>
            </a:r>
          </a:p>
          <a:p xmlns:a="http://schemas.openxmlformats.org/drawingml/2006/main">
            <a:pPr>
              <a:buNone/>
              <a:defRPr sz="255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550" b="0">
                <a:solidFill>
                  <a:srgbClr val="17303E"/>
                </a:solidFill>
                <a:latin typeface="Meiryo"/>
                <a:ea typeface="Meiryo"/>
                <a:cs typeface="Meiryo"/>
              </a:rPr>
              <a:t>開き直せる保存内容</a:t>
            </a:r>
          </a:p>
          <a:p xmlns:a="http://schemas.openxmlformats.org/drawingml/2006/main">
            <a:pPr>
              <a:buNone/>
              <a:defRPr sz="255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550" b="0">
                <a:solidFill>
                  <a:srgbClr val="17303E"/>
                </a:solidFill>
                <a:latin typeface="Meiryo"/>
                <a:ea typeface="Meiryo"/>
                <a:cs typeface="Meiryo"/>
              </a:rPr>
              <a:t>教員への招待送信</a:t>
            </a:r>
          </a:p>
          <a:p xmlns:a="http://schemas.openxmlformats.org/drawingml/2006/main">
            <a:pPr>
              <a:buNone/>
              <a:defRPr sz="2550" b="0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550" b="0">
                <a:solidFill>
                  <a:srgbClr val="17303E"/>
                </a:solidFill>
                <a:latin typeface="Meiryo"/>
                <a:ea typeface="Meiryo"/>
                <a:cs typeface="Meiryo"/>
              </a:rPr>
              <a:t>フォームの送信完了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79D91236-3254-4EE5-9FEE-46D40E837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238750"/>
            <a:ext cx="5467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800" b="0">
                <a:solidFill>
                  <a:srgbClr val="536974"/>
                </a:solidFill>
                <a:latin typeface="Meiryo"/>
                <a:ea typeface="Meiryo"/>
                <a:cs typeface="Meiryo"/>
              </a:rPr>
              <a:t>自分の画面で確認してから次へ進みます。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2391DA2A-F52A-40D4-94BE-46C0E4D04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85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425" b="0">
                <a:solidFill>
                  <a:srgbClr val="536974"/>
                </a:solidFill>
                <a:latin typeface="Meiryo"/>
                <a:ea typeface="Meiryo"/>
                <a:cs typeface="Meiryo"/>
              </a:rPr>
              <a:t>GitHub操作補習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9F7D717A-B2E0-4AF3-A704-2BBE4B03E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65341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>
                <a:hlinkClick xmlns:r="http://schemas.openxmlformats.org/officeDocument/2006/relationships" r:id="R49725fb836ac48fc"/>
              </a:rPr>
              <a:t>tsuchiyatakahiro.com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932FD44D-9623-4BBD-955A-F329632B2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3415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buNone/>
              <a:defRPr sz="142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425" b="0">
                <a:solidFill>
                  <a:srgbClr val="536974"/>
                </a:solidFill>
                <a:latin typeface="Meiryo"/>
                <a:ea typeface="Meiryo"/>
                <a:cs typeface="Meiryo"/>
              </a:rPr>
              <a:t>15 / 15</a:t>
            </a:r>
          </a:p>
        </p:txBody>
      </p:sp>
    </p:spTree>
    <p:extLst>
      <p:ext uri="{BB962C8B-B14F-4D97-AF65-F5344CB8AC3E}">
        <p14:creationId xmlns:p14="http://schemas.microsoft.com/office/powerpoint/2010/main" val="191427329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BA92E6-275A-43BD-84CE-B60C400A9A9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f3195286a44c17"/>
          <a:stretch xmlns:a="http://schemas.openxmlformats.org/drawingml/2006/main"/>
        </p:blipFill>
        <p:spPr>
          <a:xfrm xmlns:a="http://schemas.openxmlformats.org/drawingml/2006/main">
            <a:off x="685800" y="240695"/>
            <a:ext cx="2286000" cy="280610"/>
          </a:xfrm>
          <a:prstGeom xmlns:a="http://schemas.openxmlformats.org/drawingml/2006/main" prst="rect">
            <a:avLst/>
          </a:prstGeom>
        </p:spPr>
      </p:pic>
      <p:sp>
        <p:nvSpPr>
          <p:cNvPr id="2" name="check-title">
            <a:extLst xmlns:a="http://schemas.openxmlformats.org/drawingml/2006/main">
              <a:ext uri="{FF2B5EF4-FFF2-40B4-BE49-F238E27FC236}">
                <a16:creationId xmlns:a16="http://schemas.microsoft.com/office/drawing/2014/main" id="{4687B313-1425-4022-9AFF-D7D4E4F07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71525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3300" b="1">
                <a:solidFill>
                  <a:srgbClr val="17303E"/>
                </a:solidFill>
                <a:latin typeface="Meiryo"/>
                <a:ea typeface="Meiryo"/>
                <a:cs typeface="Meiryo"/>
              </a:rPr>
              <a:t>自己確認①  アカウントと初回準備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4B33B490-D9A3-4D45-A0D1-10912AECA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950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536974"/>
                </a:solidFill>
                <a:latin typeface="Meiryo"/>
                <a:ea typeface="Meiryo"/>
                <a:cs typeface="Meiryo"/>
              </a:rPr>
              <a:t>番号順に画面を開く → 確かめる → できた項目にチェック。</a:t>
            </a:r>
          </a:p>
        </p:txBody>
      </p:sp>
      <p:sp>
        <p:nvSpPr>
          <p:cNvPr id="4" name="check-1">
            <a:extLst xmlns:a="http://schemas.openxmlformats.org/drawingml/2006/main">
              <a:ext uri="{FF2B5EF4-FFF2-40B4-BE49-F238E27FC236}">
                <a16:creationId xmlns:a16="http://schemas.microsoft.com/office/drawing/2014/main" id="{8CFE03EE-115A-4746-9D4B-08F0DAFD7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62175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0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100" b="1">
                <a:solidFill>
                  <a:srgbClr val="17303E"/>
                </a:solidFill>
                <a:latin typeface="Meiryo"/>
                <a:ea typeface="Meiryo"/>
                <a:cs typeface="Meiryo"/>
              </a:rPr>
              <a:t>01  ログインとusername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06F27FC1-9FED-4FD0-B9C9-3C4178E8B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05075"/>
            <a:ext cx="108204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875" b="0">
                <a:solidFill>
                  <a:srgbClr val="536974"/>
                </a:solidFill>
                <a:latin typeface="Meiryo"/>
                <a:ea typeface="Meiryo"/>
                <a:cs typeface="Meiryo"/>
              </a:rPr>
              <a:t>Profileを開き、URLのusernameを読む。</a:t>
            </a:r>
          </a:p>
          <a:p xmlns:a="http://schemas.openxmlformats.org/drawingml/2006/main">
            <a:pPr>
              <a:defRPr sz="187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875" b="0">
                <a:solidFill>
                  <a:srgbClr val="536974"/>
                </a:solidFill>
                <a:latin typeface="Meiryo"/>
                <a:ea typeface="Meiryo"/>
                <a:cs typeface="Meiryo"/>
              </a:rPr>
              <a:t>自分のusernameを説明できる。未完了 → 操作02</a:t>
            </a:r>
          </a:p>
        </p:txBody>
      </p:sp>
      <p:sp>
        <p:nvSpPr>
          <p:cNvPr id="6" name="check-2">
            <a:extLst xmlns:a="http://schemas.openxmlformats.org/drawingml/2006/main">
              <a:ext uri="{FF2B5EF4-FFF2-40B4-BE49-F238E27FC236}">
                <a16:creationId xmlns:a16="http://schemas.microsoft.com/office/drawing/2014/main" id="{AD124FE1-15CC-483A-B51E-66D38A901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76575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0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100" b="1">
                <a:solidFill>
                  <a:srgbClr val="17303E"/>
                </a:solidFill>
                <a:latin typeface="Meiryo"/>
                <a:ea typeface="Meiryo"/>
                <a:cs typeface="Meiryo"/>
              </a:rPr>
              <a:t>02  自分のPrivate保存先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32DD9C41-5360-4DC6-ACC4-BA6C65E8B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19475"/>
            <a:ext cx="108204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875" b="0">
                <a:solidFill>
                  <a:srgbClr val="536974"/>
                </a:solidFill>
                <a:latin typeface="Meiryo"/>
                <a:ea typeface="Meiryo"/>
                <a:cs typeface="Meiryo"/>
              </a:rPr>
              <a:t>自分のai-learningのCodeを開く。</a:t>
            </a:r>
          </a:p>
          <a:p xmlns:a="http://schemas.openxmlformats.org/drawingml/2006/main">
            <a:pPr>
              <a:defRPr sz="187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875" b="0">
                <a:solidFill>
                  <a:srgbClr val="536974"/>
                </a:solidFill>
                <a:latin typeface="Meiryo"/>
                <a:ea typeface="Meiryo"/>
                <a:cs typeface="Meiryo"/>
              </a:rPr>
              <a:t>Ownerが自分、Private、フォルダあり。未完了 → 操作03〜05</a:t>
            </a:r>
          </a:p>
        </p:txBody>
      </p:sp>
      <p:sp>
        <p:nvSpPr>
          <p:cNvPr id="8" name="check-3">
            <a:extLst xmlns:a="http://schemas.openxmlformats.org/drawingml/2006/main">
              <a:ext uri="{FF2B5EF4-FFF2-40B4-BE49-F238E27FC236}">
                <a16:creationId xmlns:a16="http://schemas.microsoft.com/office/drawing/2014/main" id="{63F4A962-AC06-4CF8-8CCE-F8379641C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90975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0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100" b="1">
                <a:solidFill>
                  <a:srgbClr val="17303E"/>
                </a:solidFill>
                <a:latin typeface="Meiryo"/>
                <a:ea typeface="Meiryo"/>
                <a:cs typeface="Meiryo"/>
              </a:rPr>
              <a:t>03  初回の画像と短い記録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BD427D98-2BF9-442E-BB20-66C66C902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33875"/>
            <a:ext cx="108204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875" b="0">
                <a:solidFill>
                  <a:srgbClr val="536974"/>
                </a:solidFill>
                <a:latin typeface="Meiryo"/>
                <a:ea typeface="Meiryo"/>
                <a:cs typeface="Meiryo"/>
              </a:rPr>
              <a:t>setupの画像とREADME.mdをそれぞれ開く。</a:t>
            </a:r>
          </a:p>
          <a:p xmlns:a="http://schemas.openxmlformats.org/drawingml/2006/main">
            <a:pPr>
              <a:defRPr sz="187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875" b="0">
                <a:solidFill>
                  <a:srgbClr val="536974"/>
                </a:solidFill>
                <a:latin typeface="Meiryo"/>
                <a:ea typeface="Meiryo"/>
                <a:cs typeface="Meiryo"/>
              </a:rPr>
              <a:t>画像が開き、自分の記録が読める。未完了 → 初回準備の手順</a:t>
            </a:r>
          </a:p>
        </p:txBody>
      </p:sp>
      <p:sp>
        <p:nvSpPr>
          <p:cNvPr id="10" name="check-4">
            <a:extLst xmlns:a="http://schemas.openxmlformats.org/drawingml/2006/main">
              <a:ext uri="{FF2B5EF4-FFF2-40B4-BE49-F238E27FC236}">
                <a16:creationId xmlns:a16="http://schemas.microsoft.com/office/drawing/2014/main" id="{A7E78AFA-2347-4989-976D-702181DF7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05375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0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100" b="1">
                <a:solidFill>
                  <a:srgbClr val="17303E"/>
                </a:solidFill>
                <a:latin typeface="Meiryo"/>
                <a:ea typeface="Meiryo"/>
                <a:cs typeface="Meiryo"/>
              </a:rPr>
              <a:t>04  教員への招待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F4B267A0-CDB4-486C-9B58-8A7108E30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48275"/>
            <a:ext cx="108204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875" b="0">
                <a:solidFill>
                  <a:srgbClr val="536974"/>
                </a:solidFill>
                <a:latin typeface="Meiryo"/>
                <a:ea typeface="Meiryo"/>
                <a:cs typeface="Meiryo"/>
              </a:rPr>
              <a:t>Settings → Collaboratorsで指定教員を確認。</a:t>
            </a:r>
          </a:p>
          <a:p xmlns:a="http://schemas.openxmlformats.org/drawingml/2006/main">
            <a:pPr>
              <a:defRPr sz="187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875" b="0">
                <a:solidFill>
                  <a:srgbClr val="536974"/>
                </a:solidFill>
                <a:latin typeface="Meiryo"/>
                <a:ea typeface="Meiryo"/>
                <a:cs typeface="Meiryo"/>
              </a:rPr>
              <a:t>招待中か受理済みか説明できる。未完了 → 操作10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C83C3EAE-5E7C-4BD8-A9FD-D0D68DD23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72200"/>
            <a:ext cx="108204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650" b="0">
                <a:solidFill>
                  <a:srgbClr val="00858A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00858A"/>
                </a:solidFill>
                <a:latin typeface="Meiryo"/>
                <a:ea typeface="Meiryo"/>
                <a:cs typeface="Meiryo"/>
              </a:defRPr>
            </a:pPr>
            <a:r>
              <a:rPr sz="1650" b="0">
                <a:solidFill>
                  <a:srgbClr val="00858A"/>
                </a:solidFill>
                <a:latin typeface="Meiryo"/>
                <a:ea typeface="Meiryo"/>
                <a:cs typeface="Meiryo"/>
              </a:rPr>
              <a:t>未完了は戻る手順へ。分からない項目は番号と画面の文を教員に伝えます。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DB95DB74-B82D-4FB1-8D54-E8085D20D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43675"/>
            <a:ext cx="476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350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350" b="0">
                <a:solidFill>
                  <a:srgbClr val="536974"/>
                </a:solidFill>
                <a:latin typeface="Meiryo"/>
                <a:ea typeface="Meiryo"/>
                <a:cs typeface="Meiryo"/>
              </a:rPr>
              <a:t>tsuchiyatakahiro.com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03ECE0D8-6117-4F61-B2B1-89B5D3D28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6543675"/>
            <a:ext cx="2143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350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350" b="0">
                <a:solidFill>
                  <a:srgbClr val="536974"/>
                </a:solidFill>
                <a:latin typeface="Meiryo"/>
                <a:ea typeface="Meiryo"/>
                <a:cs typeface="Meiryo"/>
              </a:rPr>
              <a:t>自己確認 1 / 2</a:t>
            </a:r>
          </a:p>
        </p:txBody>
      </p:sp>
    </p:spTree>
    <p:extLst>
      <p:ext uri="{BB962C8B-B14F-4D97-AF65-F5344CB8AC3E}">
        <p14:creationId xmlns:p14="http://schemas.microsoft.com/office/powerpoint/2010/main" val="128663798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B9D133-777A-4448-ACCB-9AFA5068B91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f4ef56d8ac4f29"/>
          <a:stretch xmlns:a="http://schemas.openxmlformats.org/drawingml/2006/main"/>
        </p:blipFill>
        <p:spPr>
          <a:xfrm xmlns:a="http://schemas.openxmlformats.org/drawingml/2006/main">
            <a:off x="685800" y="240695"/>
            <a:ext cx="2286000" cy="280610"/>
          </a:xfrm>
          <a:prstGeom xmlns:a="http://schemas.openxmlformats.org/drawingml/2006/main" prst="rect">
            <a:avLst/>
          </a:prstGeom>
        </p:spPr>
      </p:pic>
      <p:sp>
        <p:nvSpPr>
          <p:cNvPr id="2" name="check-title">
            <a:extLst xmlns:a="http://schemas.openxmlformats.org/drawingml/2006/main">
              <a:ext uri="{FF2B5EF4-FFF2-40B4-BE49-F238E27FC236}">
                <a16:creationId xmlns:a16="http://schemas.microsoft.com/office/drawing/2014/main" id="{DE94282A-9B82-4FBB-88AE-0FBA43C4E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71525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3300" b="1">
                <a:solidFill>
                  <a:srgbClr val="17303E"/>
                </a:solidFill>
                <a:latin typeface="Meiryo"/>
                <a:ea typeface="Meiryo"/>
                <a:cs typeface="Meiryo"/>
              </a:rPr>
              <a:t>自己確認②  保存した版と提出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76AD16BC-DC75-4C97-9F7C-0DEDC18D2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950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536974"/>
                </a:solidFill>
                <a:latin typeface="Meiryo"/>
                <a:ea typeface="Meiryo"/>
                <a:cs typeface="Meiryo"/>
              </a:rPr>
              <a:t>番号順に画面を開く → 確かめる → できた項目にチェック。</a:t>
            </a:r>
          </a:p>
        </p:txBody>
      </p:sp>
      <p:sp>
        <p:nvSpPr>
          <p:cNvPr id="4" name="check-5">
            <a:extLst xmlns:a="http://schemas.openxmlformats.org/drawingml/2006/main">
              <a:ext uri="{FF2B5EF4-FFF2-40B4-BE49-F238E27FC236}">
                <a16:creationId xmlns:a16="http://schemas.microsoft.com/office/drawing/2014/main" id="{2AC1E6F7-1D0A-487D-BFFF-CC39F2B65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62175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0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100" b="1">
                <a:solidFill>
                  <a:srgbClr val="17303E"/>
                </a:solidFill>
                <a:latin typeface="Meiryo"/>
                <a:ea typeface="Meiryo"/>
                <a:cs typeface="Meiryo"/>
              </a:rPr>
              <a:t>05  READMEの保存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11E4E222-2C0A-464D-AE43-B03C53BD5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05075"/>
            <a:ext cx="108204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875" b="0">
                <a:solidFill>
                  <a:srgbClr val="536974"/>
                </a:solidFill>
                <a:latin typeface="Meiryo"/>
                <a:ea typeface="Meiryo"/>
                <a:cs typeface="Meiryo"/>
              </a:rPr>
              <a:t>今週のREADME.mdを開き直し、自分の追記を読む。</a:t>
            </a:r>
          </a:p>
          <a:p xmlns:a="http://schemas.openxmlformats.org/drawingml/2006/main">
            <a:pPr>
              <a:defRPr sz="187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875" b="0">
                <a:solidFill>
                  <a:srgbClr val="536974"/>
                </a:solidFill>
                <a:latin typeface="Meiryo"/>
                <a:ea typeface="Meiryo"/>
                <a:cs typeface="Meiryo"/>
              </a:rPr>
              <a:t>編集欄の外に文章が残っている。未完了 → 操作06〜09</a:t>
            </a:r>
          </a:p>
        </p:txBody>
      </p:sp>
      <p:sp>
        <p:nvSpPr>
          <p:cNvPr id="6" name="check-6">
            <a:extLst xmlns:a="http://schemas.openxmlformats.org/drawingml/2006/main">
              <a:ext uri="{FF2B5EF4-FFF2-40B4-BE49-F238E27FC236}">
                <a16:creationId xmlns:a16="http://schemas.microsoft.com/office/drawing/2014/main" id="{D6F2BAC0-7E57-48AD-84E4-23B513B27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76575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0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100" b="1">
                <a:solidFill>
                  <a:srgbClr val="17303E"/>
                </a:solidFill>
                <a:latin typeface="Meiryo"/>
                <a:ea typeface="Meiryo"/>
                <a:cs typeface="Meiryo"/>
              </a:rPr>
              <a:t>06  提出する版の内容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F0B95DD8-310C-45DB-91EF-8E2064164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19475"/>
            <a:ext cx="108204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875" b="0">
                <a:solidFill>
                  <a:srgbClr val="536974"/>
                </a:solidFill>
                <a:latin typeface="Meiryo"/>
                <a:ea typeface="Meiryo"/>
                <a:cs typeface="Meiryo"/>
              </a:rPr>
              <a:t>最新commit → Browse filesで今週の全ファイルを開く。</a:t>
            </a:r>
          </a:p>
          <a:p xmlns:a="http://schemas.openxmlformats.org/drawingml/2006/main">
            <a:pPr>
              <a:defRPr sz="187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875" b="0">
                <a:solidFill>
                  <a:srgbClr val="536974"/>
                </a:solidFill>
                <a:latin typeface="Meiryo"/>
                <a:ea typeface="Meiryo"/>
                <a:cs typeface="Meiryo"/>
              </a:rPr>
              <a:t>必要なファイルが全部ある。未完了 → 操作11〜13</a:t>
            </a:r>
          </a:p>
        </p:txBody>
      </p:sp>
      <p:sp>
        <p:nvSpPr>
          <p:cNvPr id="8" name="check-7">
            <a:extLst xmlns:a="http://schemas.openxmlformats.org/drawingml/2006/main">
              <a:ext uri="{FF2B5EF4-FFF2-40B4-BE49-F238E27FC236}">
                <a16:creationId xmlns:a16="http://schemas.microsoft.com/office/drawing/2014/main" id="{56824A36-A815-44C8-98B5-D1FC2DC0D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90975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0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100" b="1">
                <a:solidFill>
                  <a:srgbClr val="17303E"/>
                </a:solidFill>
                <a:latin typeface="Meiryo"/>
                <a:ea typeface="Meiryo"/>
                <a:cs typeface="Meiryo"/>
              </a:rPr>
              <a:t>07  初回登録の送信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1C16A2FC-C74F-4953-8B9C-6C24C88A7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33875"/>
            <a:ext cx="108204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875" b="0">
                <a:solidFill>
                  <a:srgbClr val="536974"/>
                </a:solidFill>
                <a:latin typeface="Meiryo"/>
                <a:ea typeface="Meiryo"/>
                <a:cs typeface="Meiryo"/>
              </a:rPr>
              <a:t>自分のリポジトリURLと初回登録の受付を確認。</a:t>
            </a:r>
          </a:p>
          <a:p xmlns:a="http://schemas.openxmlformats.org/drawingml/2006/main">
            <a:pPr>
              <a:defRPr sz="187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875" b="0">
                <a:solidFill>
                  <a:srgbClr val="536974"/>
                </a:solidFill>
                <a:latin typeface="Meiryo"/>
                <a:ea typeface="Meiryo"/>
                <a:cs typeface="Meiryo"/>
              </a:rPr>
              <a:t>送信完了を確認できる。不明なら教員へ相談 → 手順C1</a:t>
            </a:r>
          </a:p>
        </p:txBody>
      </p:sp>
      <p:sp>
        <p:nvSpPr>
          <p:cNvPr id="10" name="check-8">
            <a:extLst xmlns:a="http://schemas.openxmlformats.org/drawingml/2006/main">
              <a:ext uri="{FF2B5EF4-FFF2-40B4-BE49-F238E27FC236}">
                <a16:creationId xmlns:a16="http://schemas.microsoft.com/office/drawing/2014/main" id="{6EECF904-74C1-4A66-8D69-D4EF2A7EF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05375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0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17303E"/>
                </a:solidFill>
                <a:latin typeface="Meiryo"/>
                <a:ea typeface="Meiryo"/>
                <a:cs typeface="Meiryo"/>
              </a:defRPr>
            </a:pPr>
            <a:r>
              <a:rPr sz="2100" b="1">
                <a:solidFill>
                  <a:srgbClr val="17303E"/>
                </a:solidFill>
                <a:latin typeface="Meiryo"/>
                <a:ea typeface="Meiryo"/>
                <a:cs typeface="Meiryo"/>
              </a:rPr>
              <a:t>08  今週の提出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6D54BAA4-4D92-473B-8903-D451E9A52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48275"/>
            <a:ext cx="108204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875" b="0">
                <a:solidFill>
                  <a:srgbClr val="536974"/>
                </a:solidFill>
                <a:latin typeface="Meiryo"/>
                <a:ea typeface="Meiryo"/>
                <a:cs typeface="Meiryo"/>
              </a:rPr>
              <a:t>/commit/のURL全体と週次フォームの受付を確認。</a:t>
            </a:r>
          </a:p>
          <a:p xmlns:a="http://schemas.openxmlformats.org/drawingml/2006/main">
            <a:pPr>
              <a:defRPr sz="1875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875" b="0">
                <a:solidFill>
                  <a:srgbClr val="536974"/>
                </a:solidFill>
                <a:latin typeface="Meiryo"/>
                <a:ea typeface="Meiryo"/>
                <a:cs typeface="Meiryo"/>
              </a:rPr>
              <a:t>指定回の送信完了を確認できる。未完了 → 操作14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208CE5CA-4C05-46B6-AF0E-7525799FC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72200"/>
            <a:ext cx="108204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650" b="0">
                <a:solidFill>
                  <a:srgbClr val="00858A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00858A"/>
                </a:solidFill>
                <a:latin typeface="Meiryo"/>
                <a:ea typeface="Meiryo"/>
                <a:cs typeface="Meiryo"/>
              </a:defRPr>
            </a:pPr>
            <a:r>
              <a:rPr sz="1650" b="0">
                <a:solidFill>
                  <a:srgbClr val="00858A"/>
                </a:solidFill>
                <a:latin typeface="Meiryo"/>
                <a:ea typeface="Meiryo"/>
                <a:cs typeface="Meiryo"/>
              </a:rPr>
              <a:t>未完了は戻る手順へ。分からない項目は番号と画面の文を教員に伝えます。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3D540A40-46AB-4789-99FB-BC0A28AD1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43675"/>
            <a:ext cx="476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350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350" b="0">
                <a:solidFill>
                  <a:srgbClr val="536974"/>
                </a:solidFill>
                <a:latin typeface="Meiryo"/>
                <a:ea typeface="Meiryo"/>
                <a:cs typeface="Meiryo"/>
              </a:rPr>
              <a:t>tsuchiyatakahiro.com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37E1EC73-491B-4D88-92AF-384439276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6543675"/>
            <a:ext cx="2143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350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36974"/>
                </a:solidFill>
                <a:latin typeface="Meiryo"/>
                <a:ea typeface="Meiryo"/>
                <a:cs typeface="Meiryo"/>
              </a:defRPr>
            </a:pPr>
            <a:r>
              <a:rPr sz="1350" b="0">
                <a:solidFill>
                  <a:srgbClr val="536974"/>
                </a:solidFill>
                <a:latin typeface="Meiryo"/>
                <a:ea typeface="Meiryo"/>
                <a:cs typeface="Meiryo"/>
              </a:rPr>
              <a:t>自己確認 2 / 2</a:t>
            </a:r>
          </a:p>
        </p:txBody>
      </p:sp>
    </p:spTree>
    <p:extLst>
      <p:ext uri="{BB962C8B-B14F-4D97-AF65-F5344CB8AC3E}">
        <p14:creationId xmlns:p14="http://schemas.microsoft.com/office/powerpoint/2010/main" val="185912408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2026-10-14T04:13:02.6740000Z</dcterms:created>
  <dcterms:modified xsi:type="dcterms:W3CDTF">2026-10-14T04:13:02.6740000Z</dcterms:modified>
</coreProperties>
</file>