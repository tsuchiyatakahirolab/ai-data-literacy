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800" kern="1200" lang="ja-JP">
        <a:solidFill>
          <a:schemeClr val="tx1"/>
        </a:solidFill>
        <a:latin typeface="Meiryo"/>
        <a:ea typeface="Meiryo"/>
        <a:cs typeface="Meiryo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5282F153-3F37-0F45-9E97-73ACFA13230C}" type="datetimeFigureOut">
              <a:rPr lang="ja-JP">
                <a:latin typeface="Meiryo"/>
                <a:ea typeface="Meiryo"/>
                <a:cs typeface="Meiryo"/>
              </a:rPr>
              <a:t>7/23/19</a:t>
            </a:fld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ja-JP">
                <a:latin typeface="Meiryo"/>
                <a:ea typeface="Meiryo"/>
                <a:cs typeface="Meiryo"/>
              </a:rPr>
              <a:t>Click to edit Master text styles</a:t>
            </a:r>
          </a:p>
          <a:p>
            <a:pPr lvl="1"/>
            <a:r>
              <a:rPr lang="ja-JP">
                <a:latin typeface="Meiryo"/>
                <a:ea typeface="Meiryo"/>
                <a:cs typeface="Meiryo"/>
              </a:rPr>
              <a:t>Second level</a:t>
            </a:r>
          </a:p>
          <a:p>
            <a:pPr lvl="2"/>
            <a:r>
              <a:rPr lang="ja-JP">
                <a:latin typeface="Meiryo"/>
                <a:ea typeface="Meiryo"/>
                <a:cs typeface="Meiryo"/>
              </a:rPr>
              <a:t>Third level</a:t>
            </a:r>
          </a:p>
          <a:p>
            <a:pPr lvl="3"/>
            <a:r>
              <a:rPr lang="ja-JP">
                <a:latin typeface="Meiryo"/>
                <a:ea typeface="Meiryo"/>
                <a:cs typeface="Meiryo"/>
              </a:rPr>
              <a:t>Fourth level</a:t>
            </a:r>
          </a:p>
          <a:p>
            <a:pPr lvl="4"/>
            <a:r>
              <a:rPr lang="ja-JP">
                <a:latin typeface="Meiryo"/>
                <a:ea typeface="Meiryo"/>
                <a:cs typeface="Meiryo"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endParaRPr lang="ja-JP">
              <a:latin typeface="Meiryo"/>
              <a:ea typeface="Meiryo"/>
              <a:cs typeface="Meiryo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lang="ja-JP">
                <a:latin typeface="Meiryo"/>
                <a:ea typeface="Meiryo"/>
                <a:cs typeface="Meiryo"/>
              </a:defRPr>
            </a:lvl1pPr>
          </a:lstStyle>
          <a:p>
            <a:fld id="{CE5E9CC1-C706-0F49-92D6-E571CC5EEA8F}" type="slidenum">
              <a:rPr lang="ja-JP">
                <a:latin typeface="Meiryo"/>
                <a:ea typeface="Meiryo"/>
                <a:cs typeface="Meiryo"/>
              </a:rPr>
              <a:t>‹#›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1pPr>
    <a:lvl2pPr marL="457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2pPr>
    <a:lvl3pPr marL="914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3pPr>
    <a:lvl4pPr marL="1371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4pPr>
    <a:lvl5pPr marL="18288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5pPr>
    <a:lvl6pPr marL="22860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6pPr>
    <a:lvl7pPr marL="27432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7pPr>
    <a:lvl8pPr marL="32004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8pPr>
    <a:lvl9pPr marL="3657600" algn="l" defTabSz="914400" rtl="0" eaLnBrk="1" latinLnBrk="0" hangingPunct="1">
      <a:defRPr sz="1200" kern="1200" lang="ja-JP">
        <a:solidFill>
          <a:schemeClr val="tx1"/>
        </a:solidFill>
        <a:latin typeface="Meiryo"/>
        <a:ea typeface="Meiryo"/>
        <a:cs typeface="Meiryo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OpenAI「ChatGPT capabilities overview」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Google「Upload &amp; analyze files in Gemini Apps」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OpenAI「ChatGPT capabilities overview」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https://help.openai.com/en/articles/9260256-chatgpt-capabilities-overview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Google「Upload &amp; analyze files in Gemini Apps」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https://support.google.com/gemini/answer/14903178?co=GENIE.Platform%3DDesktop&amp;hl=en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5ページ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5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6ページ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6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7ページ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7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8ページ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コピー用の依頼文はhandouts/にある。指示文は例であり、長さや特定の語句を暗記させない。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8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9ページ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9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10ページ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10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11ページ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スライドの指示に沿って操作を待つ。学生の画面で結果を確認してから次へ進む。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11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12ページ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AIとの会話全文、共有リンク、無意味な再試行回数は求めない。変更が不要だった場合も確認した対象と結果を書けばよい。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12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13ページ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Desktopを使った学生はPush origin後にGitHubで確認する。フォーム送信完了画面まで確認。教員の閲覧権限は別途必要。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操作に詰まった学生には、表示中の画面と止まった箇所を確認する。パスワードや認証コードは見せさせない。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【参考資料】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GitHub Docs「Editing files」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https://docs.github.com/en/repositories/working-with-files/managing-files/editing-files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確認日：2026-09-17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13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ns2="http://schemas.microsoft.com/office/powerpoint/2010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200">
                <a:latin typeface="Meiryo"/>
                <a:ea typeface="Meiryo"/>
                <a:cs typeface="Meiryo"/>
              </a:rPr>
              <a:t>【進行】AIの使い道を広げる / 14ページ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到達点：説明・書き換え・計画を試し、自分が確認したことを記録する。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このチェックは暗記テストではない。ファイルと画面を見ながら自己確認させる。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/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【アイコンの利用条件】</a:t>
            </a:r>
            <a:endParaRPr sz="1200">
              <a:latin typeface="Meiryo"/>
              <a:ea typeface="Meiryo"/>
              <a:cs typeface="Meiryo"/>
            </a:endParaRPr>
          </a:p>
          <a:p>
            <a:r>
              <a:rPr sz="1200">
                <a:latin typeface="Meiryo"/>
                <a:ea typeface="Meiryo"/>
                <a:cs typeface="Meiryo"/>
              </a:rPr>
              <a:t>Lucideアイコンのライセンスはassets/icons/lucide/LICENSE.txtを参照。</a:t>
            </a:r>
            <a:endParaRPr sz="1200">
              <a:latin typeface="Meiryo"/>
              <a:ea typeface="Meiryo"/>
              <a:cs typeface="Meiry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ja-JP">
                <a:latin typeface="Meiryo"/>
                <a:ea typeface="Meiryo"/>
                <a:cs typeface="Meiryo"/>
              </a:rPr>
              <a:t>14</a:t>
            </a:fld>
            <a:endParaRPr lang="ja-JP">
              <a:latin typeface="Meiryo"/>
              <a:ea typeface="Meiryo"/>
              <a:cs typeface="Meiryo"/>
            </a:endParaRPr>
          </a:p>
        </p:txBody>
      </p:sp>
    </p:spTree>
    <p:extLst>
      <p:ext uri="{BB962C8B-B14F-4D97-AF65-F5344CB8AC3E}">
        <ns2:creationId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ns0:Relationships xmlns:ns0="http://schemas.openxmlformats.org/package/2006/relationships"><ns0:Relationship Id="rId1" Type="http://schemas.openxmlformats.org/officeDocument/2006/relationships/slideLayout" Target="../slideLayouts/slideLayout1.xml" /><ns0:Relationship Id="rId2" Type="http://schemas.openxmlformats.org/officeDocument/2006/relationships/theme" Target="../theme/theme1.xml" /><ns0:Relationship Id="rIdPersonalAuthorLogo" Type="http://schemas.openxmlformats.org/officeDocument/2006/relationships/image" Target="../media/personal-author-logo.png" /></ns0:Relationships>
</file>

<file path=ppt/slideMasters/slideMaster1.xml><?xml version="1.0" encoding="utf-8"?>
<p:sldMaster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685800" y="85748"/>
            <a:ext cx="1714500" cy="210457"/>
          </a:xfrm>
          <a:prstGeom prst="rect">
            <a:avLst/>
          </a:prstGeom>
        </p:spPr>
      </p:pic>
      <p:sp>
        <p:nvSpPr>
          <p:cNvPr id="3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60748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60748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lang="ja-JP">
          <a:solidFill>
            <a:schemeClr val="tx1"/>
          </a:solidFill>
          <a:latin typeface="Meiryo"/>
          <a:ea typeface="Meiryo"/>
          <a:cs typeface="Meiryo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Meiryo" pitchFamily="34" charset="0"/>
        <a:buChar char="•"/>
        <a:defRPr sz="32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742950" indent="-285750" algn="l" defTabSz="914400" rtl="0" eaLnBrk="1" latinLnBrk="0" hangingPunct="1">
        <a:spcBef>
          <a:spcPct val="20000"/>
        </a:spcBef>
        <a:buFont typeface="Meiryo" pitchFamily="34" charset="0"/>
        <a:buChar char="–"/>
        <a:defRPr sz="2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1143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4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600200" indent="-228600" algn="l" defTabSz="914400" rtl="0" eaLnBrk="1" latinLnBrk="0" hangingPunct="1">
        <a:spcBef>
          <a:spcPct val="20000"/>
        </a:spcBef>
        <a:buFont typeface="Meiryo" pitchFamily="34" charset="0"/>
        <a:buChar char="–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2057400" indent="-228600" algn="l" defTabSz="914400" rtl="0" eaLnBrk="1" latinLnBrk="0" hangingPunct="1">
        <a:spcBef>
          <a:spcPct val="20000"/>
        </a:spcBef>
        <a:buFont typeface="Meiryo" pitchFamily="34" charset="0"/>
        <a:buChar char="»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5146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9718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4290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886200" indent="-228600" algn="l" defTabSz="914400" rtl="0" eaLnBrk="1" latinLnBrk="0" hangingPunct="1">
        <a:spcBef>
          <a:spcPct val="20000"/>
        </a:spcBef>
        <a:buFont typeface="Meiryo" pitchFamily="34" charset="0"/>
        <a:buChar char="•"/>
        <a:defRPr sz="2000" kern="1200" lang="ja-JP">
          <a:solidFill>
            <a:schemeClr val="tx1"/>
          </a:solidFill>
          <a:latin typeface="Meiryo"/>
          <a:ea typeface="Meiryo"/>
          <a:cs typeface="Meiryo"/>
        </a:defRPr>
      </a:lvl9pPr>
    </p:bodyStyle>
    <p:otherStyle>
      <a:defPPr>
        <a:defRPr lang="ja-JP">
          <a:latin typeface="Meiryo"/>
          <a:ea typeface="Meiryo"/>
          <a:cs typeface="Meiryo"/>
        </a:defRPr>
      </a:defPPr>
      <a:lvl1pPr marL="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1pPr>
      <a:lvl2pPr marL="457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2pPr>
      <a:lvl3pPr marL="914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3pPr>
      <a:lvl4pPr marL="1371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4pPr>
      <a:lvl5pPr marL="18288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5pPr>
      <a:lvl6pPr marL="22860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6pPr>
      <a:lvl7pPr marL="27432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7pPr>
      <a:lvl8pPr marL="32004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8pPr>
      <a:lvl9pPr marL="3657600" algn="l" defTabSz="914400" rtl="0" eaLnBrk="1" latinLnBrk="0" hangingPunct="1">
        <a:defRPr sz="1800" kern="1200" lang="ja-JP">
          <a:solidFill>
            <a:schemeClr val="tx1"/>
          </a:solidFill>
          <a:latin typeface="Meiryo"/>
          <a:ea typeface="Meiryo"/>
          <a:cs typeface="Meiryo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1" Type="http://schemas.openxmlformats.org/officeDocument/2006/relationships/image" Target="../media/image-1-1.png" /><ns0:Relationship Id="rId2" Type="http://schemas.openxmlformats.org/officeDocument/2006/relationships/slideLayout" Target="../slideLayouts/slideLayout1.xml" /><ns0:Relationship Id="rId3" Type="http://schemas.openxmlformats.org/officeDocument/2006/relationships/notesSlide" Target="../notesSlides/notesSlide1.xml" /><ns0:Relationship Id="rIdPersonalAuthorLogo" Type="http://schemas.openxmlformats.org/officeDocument/2006/relationships/image" Target="../media/personal-author-logo-white.png" /></ns0: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1.png"/><Relationship Id="rId3" Type="http://schemas.openxmlformats.org/officeDocument/2006/relationships/image" Target="../media/image-14-1.png"/><Relationship Id="rId4" Type="http://schemas.openxmlformats.org/officeDocument/2006/relationships/image" Target="../media/image-14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B39"/>
          </a:solidFill>
          <a:ln w="12700">
            <a:solidFill>
              <a:srgbClr val="132B3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007F82"/>
          </a:solidFill>
          <a:ln w="12700">
            <a:solidFill>
              <a:srgbClr val="007F8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13232" y="557784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B1D6D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第01回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13232" y="1554480"/>
            <a:ext cx="94183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AIには、</a:t>
            </a:r>
            <a:endParaRPr lang="ja-JP" sz="4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4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何を任せられる？</a:t>
            </a:r>
            <a:endParaRPr lang="ja-JP" sz="4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749808" y="4169664"/>
            <a:ext cx="9692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第1回｜質問するだけでなく、</a:t>
            </a:r>
            <a:endParaRPr lang="ja-JP" sz="26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説明・書き換え・整理を試します。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7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7312" y="566928"/>
            <a:ext cx="841248" cy="84124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49808" y="6281928"/>
            <a:ext cx="9144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D9E7E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大学生のためのAI・データリテラシー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" descr="TSUCHIYA TAKAHIRO white logo supplied in Brandeis cover; original bytes reused"/>
          <p:cNvPicPr>
            <a:picLocks noChangeAspect="1"/>
          </p:cNvPicPr>
          <p:nvPr/>
        </p:nvPicPr>
        <p:blipFill>
          <a:blip r:embed="rIdPersonalAuthorLogo"/>
          <a:stretch/>
        </p:blipFill>
        <p:spPr>
          <a:xfrm>
            <a:off x="3810000" y="109728"/>
            <a:ext cx="4572000" cy="561219"/>
          </a:xfrm>
          <a:prstGeom prst="rect">
            <a:avLst/>
          </a:prstGeom>
        </p:spPr>
      </p:pic>
      <p:sp>
        <p:nvSpPr>
          <p:cNvPr id="11" name="Personal author website">
            <a:extLst>
              <a:ext uri="{FF2B5EF4-FFF2-40B4-BE49-F238E27FC236}">
                <ns3:creationId id="{2B199CB2-0940-4D13-9CAC-E3F074FAA0ED}"/>
              </a:ext>
            </a:extLst>
          </p:cNvPr>
          <p:cNvSpPr>
            <a:spLocks noGrp="1"/>
          </p:cNvSpPr>
          <p:nvPr/>
        </p:nvSpPr>
        <p:spPr>
          <a:xfrm>
            <a:off x="6286500" y="6477000"/>
            <a:ext cx="40005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>
                <a:solidFill>
                  <a:srgbClr val="AECFD2"/>
                </a:solidFill>
                <a:latin typeface="Meiryo"/>
                <a:ea typeface="Meiryo"/>
                <a:cs typeface="Meiryo"/>
              </a:defRPr>
            </a:pPr>
            <a:r>
              <a:rPr sz="1800">
                <a:solidFill>
                  <a:srgbClr val="AECFD2"/>
                </a:solidFill>
                <a:latin typeface="Meiryo"/>
                <a:ea typeface="Meiryo"/>
                <a:cs typeface="Meiryo"/>
              </a:rPr>
              <a:t>tsuchiyatakahiro.com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今日、持ち帰るもの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3つの使い道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同じAIを使い、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3つの仕事を試す。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searc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自分の確認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確かめたことを、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1つ記録する。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fol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最初の提出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短い記録をGitHubへ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AIを「できること」で見てみよう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message-circ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892808"/>
            <a:ext cx="429768" cy="4297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話す・説明する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337304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8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5904" y="1892808"/>
            <a:ext cx="429768" cy="4297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565904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資料を読む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8034528" y="1636776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1" name="Image 2" descr="Lucide sear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3128" y="1892808"/>
            <a:ext cx="429768" cy="4297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263128" y="2542032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情報を調べる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Shape 8"/>
          <p:cNvSpPr/>
          <p:nvPr/>
        </p:nvSpPr>
        <p:spPr>
          <a:xfrm>
            <a:off x="640080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4" name="Image 3" descr="Lucide chart-colum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913632"/>
            <a:ext cx="429768" cy="4297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68680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数字を扱う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Shape 10"/>
          <p:cNvSpPr/>
          <p:nvPr/>
        </p:nvSpPr>
        <p:spPr>
          <a:xfrm>
            <a:off x="4337304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7" name="Image 4" descr="Lucide imag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5904" y="3913632"/>
            <a:ext cx="429768" cy="429768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565904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画像などを作る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19" name="Shape 12"/>
          <p:cNvSpPr/>
          <p:nvPr/>
        </p:nvSpPr>
        <p:spPr>
          <a:xfrm>
            <a:off x="8034528" y="3657600"/>
            <a:ext cx="3514344" cy="1819656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20" name="Image 5" descr="Lucide list-check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3128" y="3913632"/>
            <a:ext cx="429768" cy="4297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8263128" y="4562856"/>
            <a:ext cx="3057144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5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作業を組み立てる</a:t>
            </a:r>
            <a:endParaRPr lang="ja-JP" sz="2500" dirty="0">
              <a:latin typeface="Meiryo"/>
              <a:ea typeface="Meiryo"/>
              <a:cs typeface="Meiryo"/>
            </a:endParaRPr>
          </a:p>
        </p:txBody>
      </p:sp>
      <p:sp>
        <p:nvSpPr>
          <p:cNvPr id="22" name="Text 14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同じAIに複数の機能がある。利用できる機能は環境によって異なる。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24" name="Text 16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サービス名と機能を分けて考える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サービスを選ぶ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GeminiやChatGPTなど、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使えるAIを1つ開く。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3種類の契約は要らない。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仕事に合う機能を使う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説明を聞く。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同じ文章を書き換える。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順序や条件を整理する。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演習の準備をする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大学のGeminiか、普段使うAIでよい。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新しい会話を始める。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氏名・学籍番号・友人の情報は入れない。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演習シートを開く。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handouts/week01.mdから依頼文をコピーできる。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05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説明してもらう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大学1年生です。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「平均」とは何かを、身近な例を使って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150字程度で説明してください。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使われた例を、自分でも説明できるか確認しよう。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06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同じ説明を変えてもらう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今の説明を、小学生にも分かるように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書き換えてください。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数値の意味は変えないでください。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何が変わり、何が変わらなかったかを比べよう。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07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順番を考えてもらう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499616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9047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AIに送ってみよう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084832"/>
            <a:ext cx="10908792" cy="2871216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50976" y="2350008"/>
            <a:ext cx="10287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課題を30分で終えるため、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「資料を読む・要点を整理する・確認する」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に時間を分けてください。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合計が30分になるようにしてください。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230368"/>
            <a:ext cx="338328" cy="3383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25296" y="51663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時間を自分で足して、30分になるか確かめよう。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08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「良かった」を、確認の記録に変える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358384" cy="3986784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05256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これだけでは伝わらない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905256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分かりやすかった。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役に立った。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190488" y="1554480"/>
            <a:ext cx="5358384" cy="3986784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55664" y="18470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何を確かめたかを書く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455664" y="2944368"/>
            <a:ext cx="48280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AIが提案した時間を足した。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10＋15＋5＝30分だった。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配分を変える必要はなかった。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09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答えが出ても、課題はまだ終わらない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17904"/>
            <a:ext cx="10908792" cy="4050792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5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01368"/>
            <a:ext cx="43891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27632" y="1810512"/>
            <a:ext cx="9546336" cy="3639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説明は、自分で言い直せるか。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予定は、条件を満たしているか。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今日は1か所でよいので、</a:t>
            </a:r>
            <a:endParaRPr lang="ja-JP" sz="27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7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結果を自分で確かめよう。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10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使えない機能があっても進められる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keyboar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819656"/>
            <a:ext cx="530352" cy="5303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96112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音声が使えない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96112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文字で同じ依頼を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送ってよい。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46448" y="1536192"/>
            <a:ext cx="3496056" cy="3977640"/>
          </a:xfrm>
          <a:prstGeom prst="rect">
            <a:avLst/>
          </a:prstGeom>
          <a:solidFill>
            <a:srgbClr val="EAF4F3"/>
          </a:solidFill>
          <a:ln w="12700">
            <a:solidFill>
              <a:srgbClr val="EAF4F3"/>
            </a:solidFill>
            <a:prstDash val="solid"/>
          </a:ln>
        </p:spPr>
      </p:sp>
      <p:pic>
        <p:nvPicPr>
          <p:cNvPr id="9" name="Image 1" descr="Lucide file-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80" y="181965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602480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添付できない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4602480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短い文章の会話で、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課題に取り組める。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52816" y="1536192"/>
            <a:ext cx="3496056" cy="3977640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13" name="Image 2" descr="Lucide triangle-ale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8848" y="1819656"/>
            <a:ext cx="530352" cy="53035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08848" y="2660904"/>
            <a:ext cx="2983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上限に達した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0"/>
          <p:cNvSpPr txBox="1"/>
          <p:nvPr/>
        </p:nvSpPr>
        <p:spPr>
          <a:xfrm>
            <a:off x="8308848" y="3639312"/>
            <a:ext cx="298399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出た結果を確認。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制限があった点も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記録に残す。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1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2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11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成果物と確認したことを残す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554480"/>
            <a:ext cx="5257800" cy="4041648"/>
          </a:xfrm>
          <a:prstGeom prst="rect">
            <a:avLst/>
          </a:prstGeom>
          <a:solidFill>
            <a:srgbClr val="F7F8FA"/>
          </a:solidFill>
          <a:ln w="12700">
            <a:solidFill>
              <a:srgbClr val="F7F8FA"/>
            </a:solidFill>
            <a:prstDash val="solid"/>
          </a:ln>
        </p:spPr>
      </p:sp>
      <p:pic>
        <p:nvPicPr>
          <p:cNvPr id="5" name="Image 0" descr="Lucide f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544" y="1828800"/>
            <a:ext cx="448056" cy="4480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72768" y="1819656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7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week01/</a:t>
            </a:r>
            <a:endParaRPr lang="ja-JP" sz="27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950976" y="2660904"/>
            <a:ext cx="45902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README.md：</a:t>
            </a:r>
            <a:endParaRPr lang="ja-JP" sz="22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2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試した3つの使い道</a:t>
            </a:r>
            <a:endParaRPr lang="ja-JP" sz="2200" dirty="0">
              <a:latin typeface="Meiryo"/>
              <a:ea typeface="Meiryo"/>
              <a:cs typeface="Meiryo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6391656" y="180136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READMEの利用記録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6400800" y="2779776"/>
            <a:ext cx="4809744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AIに任せたこと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自分で確かめたこと</a:t>
            </a:r>
            <a:endParaRPr lang="ja-JP" sz="2400" dirty="0">
              <a:latin typeface="Meiryo"/>
              <a:ea typeface="Meiryo"/>
              <a:cs typeface="Meiryo"/>
            </a:endParaRPr>
          </a:p>
          <a:p>
            <a:pPr indent="0" marL="0">
              <a:lnSpc>
                <a:spcPct val="106000"/>
              </a:lnSpc>
              <a:buNone/>
            </a:pPr>
            <a:r>
              <a:rPr lang="ja-JP" altLang="en-US" sz="24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確認できなかったこと</a:t>
            </a:r>
            <a:endParaRPr lang="ja-JP" sz="24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Text 8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12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保存した版のURLを提出する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04088" y="1572768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1737360" y="1508760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GitHubで変更を確定する。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737360" y="2212848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更新したファイルを確認し、commitする。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0" y="2752344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4088" y="2926080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737360" y="2862072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そのcommitのページを開く。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737360" y="3566160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URLに /commit/ があることを確認する。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737360" y="4105656"/>
            <a:ext cx="9738360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4088" y="4279392"/>
            <a:ext cx="749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200" b="1" dirty="0">
                <a:solidFill>
                  <a:srgbClr val="007F8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ja-JP" sz="32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737360" y="4215384"/>
            <a:ext cx="9235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8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授業の提出フォームを送る。</a:t>
            </a:r>
            <a:endParaRPr lang="ja-JP" sz="2800" dirty="0">
              <a:latin typeface="Meiryo"/>
              <a:ea typeface="Meiryo"/>
              <a:cs typeface="Meiryo"/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1737360" y="4919472"/>
            <a:ext cx="9235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3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大学アカウントで開き、Week 01を選ぶ。</a:t>
            </a:r>
            <a:endParaRPr lang="ja-JP" sz="2300" dirty="0">
              <a:latin typeface="Meiryo"/>
              <a:ea typeface="Meiryo"/>
              <a:cs typeface="Meiryo"/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67512" y="5779008"/>
            <a:ext cx="108447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ブラウザでcommitした場合、別のpush操作は不要。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13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21792" y="493776"/>
            <a:ext cx="10936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3400" b="1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提出する前に、ここを確認する</a:t>
            </a:r>
            <a:endParaRPr lang="ja-JP" sz="3400" dirty="0">
              <a:latin typeface="Meiryo"/>
              <a:ea typeface="Meiryo"/>
              <a:cs typeface="Meiryo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40080" y="1243584"/>
            <a:ext cx="10908792" cy="0"/>
          </a:xfrm>
          <a:prstGeom prst="line">
            <a:avLst/>
          </a:prstGeom>
          <a:noFill/>
          <a:ln w="12700">
            <a:solidFill>
              <a:srgbClr val="CBD7DC"/>
            </a:solidFill>
            <a:prstDash val="solid"/>
          </a:ln>
        </p:spPr>
      </p:sp>
      <p:pic>
        <p:nvPicPr>
          <p:cNvPr id="4" name="Image 0" descr="Lucide circle-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82496"/>
            <a:ext cx="402336" cy="40233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35608" y="1645920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3つの機能を試した結果を短く書いた。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6" name="Image 1" descr="Lucide circle-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633472"/>
            <a:ext cx="402336" cy="40233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35608" y="2596896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自分で確認した対象と結果を書いた。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8" name="Image 2" descr="Lucide circle-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84448"/>
            <a:ext cx="402336" cy="402336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435608" y="3547872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個人情報を入力・保存していない。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pic>
        <p:nvPicPr>
          <p:cNvPr id="10" name="Image 3" descr="Lucide circle-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535424"/>
            <a:ext cx="402336" cy="402336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435608" y="4498848"/>
            <a:ext cx="9884664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2600" dirty="0">
                <a:solidFill>
                  <a:srgbClr val="1B2D3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成果物のあるcommit URLを送った。</a:t>
            </a:r>
            <a:endParaRPr lang="ja-JP" sz="2600" dirty="0">
              <a:latin typeface="Meiryo"/>
              <a:ea typeface="Meiryo"/>
              <a:cs typeface="Meiryo"/>
            </a:endParaRPr>
          </a:p>
        </p:txBody>
      </p:sp>
      <p:sp>
        <p:nvSpPr>
          <p:cNvPr id="12" name="Text 6"/>
          <p:cNvSpPr txBox="1"/>
          <p:nvPr/>
        </p:nvSpPr>
        <p:spPr>
          <a:xfrm>
            <a:off x="667512" y="642823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データ科学入門｜演習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8412480" y="64282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6000"/>
              </a:lnSpc>
              <a:buNone/>
            </a:pPr>
            <a:r>
              <a:rPr lang="ja-JP" altLang="en-US" sz="1800" dirty="0">
                <a:solidFill>
                  <a:srgbClr val="4D62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第1回  14 / 14</a:t>
            </a:r>
            <a:endParaRPr lang="ja-JP" sz="1800" dirty="0">
              <a:latin typeface="Meiryo"/>
              <a:ea typeface="Meiryo"/>
              <a:cs typeface="Meiry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ajorFont>
      <a:minorFont>
        <a:latin typeface="Meiryo"/>
        <a:ea typeface="Meiryo"/>
        <a:cs typeface="Meiryo"/>
        <a:font script="Jpan" typeface="Meiryo"/>
        <a:font script="Hang" typeface="Meiryo"/>
        <a:font script="Hans" typeface="Meiryo"/>
        <a:font script="Hant" typeface="Meiryo"/>
        <a:font script="Arab" typeface="Meiryo"/>
        <a:font script="Hebr" typeface="Meiryo"/>
        <a:font script="Thai" typeface="Meiryo"/>
        <a:font script="Ethi" typeface="Meiryo"/>
        <a:font script="Beng" typeface="Meiryo"/>
        <a:font script="Gujr" typeface="Meiryo"/>
        <a:font script="Khmr" typeface="Meiryo"/>
        <a:font script="Knda" typeface="Meiryo"/>
        <a:font script="Guru" typeface="Meiryo"/>
        <a:font script="Cans" typeface="Meiryo"/>
        <a:font script="Cher" typeface="Meiryo"/>
        <a:font script="Yiii" typeface="Meiryo"/>
        <a:font script="Tibt" typeface="Meiryo"/>
        <a:font script="Thaa" typeface="Meiryo"/>
        <a:font script="Deva" typeface="Meiryo"/>
        <a:font script="Telu" typeface="Meiryo"/>
        <a:font script="Taml" typeface="Meiryo"/>
        <a:font script="Syrc" typeface="Meiryo"/>
        <a:font script="Orya" typeface="Meiryo"/>
        <a:font script="Mlym" typeface="Meiryo"/>
        <a:font script="Laoo" typeface="Meiryo"/>
        <a:font script="Sinh" typeface="Meiryo"/>
        <a:font script="Mong" typeface="Meiryo"/>
        <a:font script="Viet" typeface="Meiryo"/>
        <a:font script="Uigh" typeface="Meiryo"/>
        <a:font script="Geor" typeface="Meiryo"/>
        <a:font script="Armn" typeface="Meiryo"/>
        <a:font script="Bugi" typeface="Meiryo"/>
        <a:font script="Bopo" typeface="Meiryo"/>
        <a:font script="Java" typeface="Meiryo"/>
        <a:font script="Lisu" typeface="Meiryo"/>
        <a:font script="Mymr" typeface="Meiryo"/>
        <a:font script="Nkoo" typeface="Meiryo"/>
        <a:font script="Olck" typeface="Meiryo"/>
        <a:font script="Osma" typeface="Meiryo"/>
        <a:font script="Phag" typeface="Meiryo"/>
        <a:font script="Syrn" typeface="Meiryo"/>
        <a:font script="Syrj" typeface="Meiryo"/>
        <a:font script="Syre" typeface="Meiryo"/>
        <a:font script="Sora" typeface="Meiryo"/>
        <a:font script="Tale" typeface="Meiryo"/>
        <a:font script="Talu" typeface="Meiryo"/>
        <a:font script="Tfng" typeface="Meiryo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Tsuchiya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AIの使い道を広げる</dc:title>
  <dc:subject>AI・データリテラシー／学生向け演習</dc:subject>
  <dc:creator>Takahiro Tsuchiya</dc:creator>
  <cp:lastModifiedBy>Takahiro Tsuchiya</cp:lastModifiedBy>
  <cp:revision>1</cp:revision>
  <dcterms:created xsi:type="dcterms:W3CDTF">2026-09-17T11:31:39Z</dcterms:created>
  <dcterms:modified xsi:type="dcterms:W3CDTF">2026-09-17T11:31:39Z</dcterms:modified>
</cp:coreProperties>
</file>